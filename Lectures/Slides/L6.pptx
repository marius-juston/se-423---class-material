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5"/>
  </p:notesMasterIdLst>
  <p:sldIdLst>
    <p:sldId id="256" r:id="rId2"/>
    <p:sldId id="310" r:id="rId3"/>
    <p:sldId id="257" r:id="rId4"/>
    <p:sldId id="258" r:id="rId5"/>
    <p:sldId id="311" r:id="rId6"/>
    <p:sldId id="313" r:id="rId7"/>
    <p:sldId id="314" r:id="rId8"/>
    <p:sldId id="316" r:id="rId9"/>
    <p:sldId id="318" r:id="rId10"/>
    <p:sldId id="315" r:id="rId11"/>
    <p:sldId id="320" r:id="rId12"/>
    <p:sldId id="319" r:id="rId13"/>
    <p:sldId id="312" r:id="rId14"/>
    <p:sldId id="323" r:id="rId15"/>
    <p:sldId id="324" r:id="rId16"/>
    <p:sldId id="325" r:id="rId17"/>
    <p:sldId id="326" r:id="rId18"/>
    <p:sldId id="321" r:id="rId19"/>
    <p:sldId id="327" r:id="rId20"/>
    <p:sldId id="329" r:id="rId21"/>
    <p:sldId id="328" r:id="rId22"/>
    <p:sldId id="341" r:id="rId23"/>
    <p:sldId id="353" r:id="rId24"/>
    <p:sldId id="342" r:id="rId25"/>
    <p:sldId id="344" r:id="rId26"/>
    <p:sldId id="347" r:id="rId27"/>
    <p:sldId id="348" r:id="rId28"/>
    <p:sldId id="345" r:id="rId29"/>
    <p:sldId id="349" r:id="rId30"/>
    <p:sldId id="350" r:id="rId31"/>
    <p:sldId id="354" r:id="rId32"/>
    <p:sldId id="356" r:id="rId33"/>
    <p:sldId id="357" r:id="rId34"/>
    <p:sldId id="336" r:id="rId35"/>
    <p:sldId id="337" r:id="rId36"/>
    <p:sldId id="339" r:id="rId37"/>
    <p:sldId id="346" r:id="rId38"/>
    <p:sldId id="330" r:id="rId39"/>
    <p:sldId id="352" r:id="rId40"/>
    <p:sldId id="358" r:id="rId41"/>
    <p:sldId id="360" r:id="rId42"/>
    <p:sldId id="361" r:id="rId43"/>
    <p:sldId id="362" r:id="rId44"/>
    <p:sldId id="363" r:id="rId45"/>
    <p:sldId id="364" r:id="rId46"/>
    <p:sldId id="365" r:id="rId47"/>
    <p:sldId id="366" r:id="rId48"/>
    <p:sldId id="367" r:id="rId49"/>
    <p:sldId id="368" r:id="rId50"/>
    <p:sldId id="369" r:id="rId51"/>
    <p:sldId id="351" r:id="rId52"/>
    <p:sldId id="331" r:id="rId53"/>
    <p:sldId id="332" r:id="rId54"/>
    <p:sldId id="333" r:id="rId55"/>
    <p:sldId id="334" r:id="rId56"/>
    <p:sldId id="370" r:id="rId57"/>
    <p:sldId id="371" r:id="rId58"/>
    <p:sldId id="372" r:id="rId59"/>
    <p:sldId id="335" r:id="rId60"/>
    <p:sldId id="373" r:id="rId61"/>
    <p:sldId id="374" r:id="rId62"/>
    <p:sldId id="375" r:id="rId63"/>
    <p:sldId id="376" r:id="rId64"/>
    <p:sldId id="377" r:id="rId65"/>
    <p:sldId id="385" r:id="rId66"/>
    <p:sldId id="378" r:id="rId67"/>
    <p:sldId id="380" r:id="rId68"/>
    <p:sldId id="384" r:id="rId69"/>
    <p:sldId id="381" r:id="rId70"/>
    <p:sldId id="382" r:id="rId71"/>
    <p:sldId id="383" r:id="rId72"/>
    <p:sldId id="271" r:id="rId73"/>
    <p:sldId id="270" r:id="rId7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6"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88" autoAdjust="0"/>
  </p:normalViewPr>
  <p:slideViewPr>
    <p:cSldViewPr snapToGrid="0">
      <p:cViewPr varScale="1">
        <p:scale>
          <a:sx n="144" d="100"/>
          <a:sy n="144" d="100"/>
        </p:scale>
        <p:origin x="8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560CD-FFDE-70C6-6183-A453F3E98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7E4E91-ED9F-DE16-BEB6-F07455961A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63A7F12-DA54-6672-271A-7F884E56D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943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4939FE2-9982-6513-8AE2-E7AB5B723F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8AF4933-71B1-FAA3-0317-227D7A2A56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F2D7440-60CC-B22F-0FA1-0A65840F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4275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630E4B3-6A97-9DD2-90CE-7D44EFA43F9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64285DA-872D-2945-9BF2-F355C50DD1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D76530A-1B0F-7242-84C3-8F754C885E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7495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346909-97D3-6083-8379-EDC1BD4A26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3CAFF19-DF70-A91F-7918-E5D237286B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AE4DA5A-AD55-344D-87C5-110E18AED8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5116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B06B8AF-430C-C6E6-4063-7E87CC8C09A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68ED08C-AF77-54A7-592E-0169A0B490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2D49FAD-3CDB-FA83-DA4F-CE14934094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9313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C7B6A95-A4A5-1D5B-CB38-3824DAD14BE3}"/>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C64A4D9E-15D8-E41B-E397-E4A0A47B2F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37A43E3D-B35E-39F9-8CEC-6FA708310F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3169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F2CCB68-1B95-879B-3DD5-B813581853C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2009411-6539-2C85-585C-01D87CF65D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6E7ED08-3F9C-C89D-A856-D63ED7A3A5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8229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F44CCE0-B0FB-EC47-D70D-F45B25C1FE8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D4BBB88-E417-7B4B-FF12-C5F1F368A2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5C5D0CA-20C3-9795-438D-F9B08E500E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1437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2D9F338-228F-28E7-B0B9-0F1795771CA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26713FA-3ED7-477C-9D03-D53FA82180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CF9338F-1807-ADD8-400E-2A5D7D1D38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6843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176BD63-DE5F-58F1-801A-80F72A1B8C8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1ECA20E-A21F-6373-06D3-D62CFC5BFB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11A3295-CF3D-C714-567B-08C8CE9A41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6523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043C70C-2673-731E-5063-998308B710C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8B21352-99DC-71D9-D5D8-73CD7F673F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6140669-098F-11C8-BCD3-DD7B5EBE52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5918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7450B53-A8F5-9712-ED0B-0A53B240B40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37A4377-4B3B-EAF0-9A9B-AABD4759F6B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0F34715-4F90-B133-EF3E-51DBA8D6CC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7909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82ACDF8-5473-7433-9308-E6D9DB5B5874}"/>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2C05F31A-18BB-FE9C-2D22-38958029072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7C0B9D9-44F5-59F4-FAD7-AE176A5FB7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2395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73894E-EA74-1955-8AAA-FB73ED7DA5A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FDCEFB-7087-BE10-3BED-731EB161EB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1B8D359-69DD-8FA4-FF21-8B7CF9FB27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2175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1BBF410-F97E-4541-10DB-E401C4ECF29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291D2C-9232-B076-DB2E-94E2BB2B114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8C68878-4E12-D62C-1B63-2453D9104B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858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939739A-BA3E-0EA5-46A7-A6988490B24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A461D4-90B0-51A2-D44A-1010F1C50E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1C9784F-92EA-E5A3-C07E-CA0C2A299A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2390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ACD94F4-0947-21A0-21DC-D3554A20A7F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7BC8D85-EF8C-0DA6-5A83-1298D99F28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2C76DE6-115A-6ABF-F260-E38C6A90B0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8566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A26F9D6-8DF7-0CB0-2A87-04F67DB692D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9E94C35-3634-0BB3-F2E0-9A04B900DA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774A44A-421B-B165-D22B-E816A645C3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9968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DCC765C-8591-A660-3F97-9516500DCF2B}"/>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6028E7CA-3AF0-69B2-3ECA-78A3FE089E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78C65FC9-11B8-80B7-688A-0F94D55494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1474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985983D-8D57-B75A-5F1B-5F8CF41367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F6BFC8B-437B-7EAA-7145-F52C0753AD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342051F-E676-7108-9132-FDEA4EFA22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1715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68CEC7-776F-A080-676C-1458E97BC76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3C15642-90E6-8640-5CF4-E7FD12E967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9B4EF2E-548F-414D-DE27-51B0AE7F41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4179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2D1B6B-CB8E-EEEC-BCE6-6354011C126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03FEF1-FC0B-107D-5119-2F615DEF0E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6DB3852-C3D5-E29F-4920-28CF61FDE7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00893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AB5C517-0DCE-F465-35E8-CB1BC0F17E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1C13D48-4709-01CA-D434-D953FDDE0A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87A850F-748E-C10F-B547-1EE31918C5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3139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9462063-56A1-F443-AF86-7FD2FDA8446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688A281-F9A2-C1F9-9308-EB800B6149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13B42D6-7644-FDB3-D580-8310EF11B3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70259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6FD8C3-1827-C884-243A-8903AE4FC5B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7E5E6FD-23E3-549E-7318-F70FD7B572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3E52F4E-AC5B-8EE9-5D29-1FABEFD570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62793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0F1B6AD-151E-B889-B034-B398DCE0DAB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FDD3E68-D7FB-E6A4-142C-95518852D4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61A05C8-9155-B7D0-AB27-8EE9FC3EAA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46089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E897AC8-2B47-6D18-6993-D8C46A060FD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E4B153-ECD0-1226-7C14-6A052506EB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1B62B67-1A69-276E-86A2-3C9B7CE713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61402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5E2229B-F581-7E2E-E53C-2C80C7D1B7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000DF05-720B-5ECD-223A-2059A410B9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CEC9E94-0D75-2C89-E0B6-6D5D4C017B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97196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906544D-9CAB-F481-2513-EEC9017A60F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B57219C-C010-18EE-E9BF-95A8D0C039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B5B6F70-2C54-6909-D170-8FCB2D847F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81411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E4B3795-02FF-0AD6-4767-F6A8B020C0D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140B4F0-F823-3D69-C29C-7B96E7DE21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85A2D11-4370-C931-0944-CC3B5B8431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45929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6B5372-0759-CA76-948A-5DEF3D94B4C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6974B07-7183-96B8-19DF-4B3088E568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ADB4937-C7CF-75BE-4D86-9755F6477B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06191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82584BC-2A57-D156-F04E-04C6052FA36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CB1110A-EA3A-F862-EA40-5A112A93C6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54C8876-0B14-5AD6-EC32-FDCEA02B78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0581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7846D17-73D7-5D99-0EF1-55C43C18058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B09C704-EE08-A348-9FFF-72D5CA1C58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5C94509-6D44-569D-2D94-0455B50B9E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3218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08DD1E6-79B3-9A93-2270-743AE9DD173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10EC9FC-38F9-2A8E-D59F-50B3E13D8D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B2B33E3-2005-CDE5-22CD-E9B4F976FC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5722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225F85C-48F9-3FD6-E224-2E22AABA8C05}"/>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D2633DDF-C182-83D1-BA2C-C704BE82FB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E8AB940E-C142-4C16-3EA5-9F2FFFCF58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37157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C4293F6-0447-8CD8-015A-68618109722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5A287C-01E7-DA21-D33F-66027B8600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E33463A-CB51-5082-FCC8-F0EFF7DDCD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85340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2D709C4-4C3D-62B1-BC0D-4BE3717AA47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0A9BE4C-CF27-BED5-F31F-63D36E3B11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1C723D6-9F32-D55C-29EF-90EAF14BFE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36911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8EDAA3F-B398-D04C-036B-A856C9BDD27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2E5D0D-29F2-069D-8C35-EE6A9B6412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48B3675-F80F-D648-03DC-08272480F6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94134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5752107-7391-DB17-ED79-C30D4A6A6A9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358447-DE16-B0A6-18C9-4BF24E27FF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717C792-CF47-6F83-E20C-2EE66BD379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77751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1440F0-AAB3-9C47-F1FF-4238584E9C7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866D522-46A9-5DC4-429B-92649685AF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97B8C61-0EA5-4035-2598-7836E87D56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25113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6FAC977-F05B-DBAD-6508-62DB02E1CB1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2850503-DBE9-ADD1-8943-D63D1E81E8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AFEEC26-932D-4C7B-EA83-CBFFCFB85C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31722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8BDE9C-6FA4-46A9-4D1B-8D2C0964034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C3659EF-F386-53AD-8DEF-D7A395FCBC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F8E25B5-7A7C-4648-5595-E6E9FDFCAF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56775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913C4D1-EF4B-6658-8CBD-693F8E08B50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3A13553-F799-3B82-0939-6B7E43D4A95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BBD1039-CEE2-42D2-A193-760880A86A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6440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CA18368-54CC-4CBC-523A-375BED23B214}"/>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F61C95C1-C50E-C96A-EF17-19C2795430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83DF2326-9F66-1F24-4958-1F9B3E1015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81027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365A59-DF9B-6544-708E-C3CAE73B60E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F5D2EFC-E632-9DE8-AFBC-86FF34F2EC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2691C48-2E95-B23C-15EC-5DA6FE2FF2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05694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590D3CA-4583-3022-75DF-CE524C2A2D7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DFD6693-37DC-3F47-C791-AD126FC04B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6AADE5E-C165-01E8-20AA-50453CC1EC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63000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C6BAC96-DA34-2065-E41B-1C5BDA7D4E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D8402DF-3352-6773-799F-D689AF4EEB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4ADBD5D-B8D1-3877-6C9D-E5B328837F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86305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56B25F8-6A12-E288-571C-214444991FBC}"/>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3BF7E24-B75E-8476-0E3D-5F7E6C5476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C6F21C10-EBE5-E88E-2CC8-3EF78A421F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07278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2273E5C-284F-9D29-809E-BD942C44768D}"/>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38BCD7D5-71C5-B90C-4F69-466EEAC1FC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FF80F812-93AD-E08F-A6AA-05F642D3A1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14375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4AC50B-6EBA-FA69-323E-6CA9E8DED23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4B451BE-1608-9B4A-5BF7-BD0FE07079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370DB3F-16BC-7887-813A-08FFBB451B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21783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E3E7C6-9C41-1915-C0BB-FEFCDD67B33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E29F96E-8BFC-1BD5-6C92-A60AD6054C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2C625B8-997C-F5A5-3E4C-7D5120893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88541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769DCAC-4789-5962-3DD6-18D0D6891EF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FD8088E-8026-83F0-3B65-EB9507409F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A5BBB26-5EA4-0B4D-E94D-3610D66ADE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50635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A0A7872-64BF-4F7F-0B62-A41B4313D62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081DBE4-EAF2-44EA-A435-E146BE4193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F1D7E34-6639-1921-ACBB-F424B95A63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8882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3F81BC7-C46E-822E-F9AC-59481C98F4B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089D625-0C7F-69CF-F7DF-EF66F772CF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2614F3E-141C-886A-56C2-AFBB679FEE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05654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7BFBA2F-81D2-834A-A408-C18D81736DD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B15FB1C-D264-C357-691A-71C760032C7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95CB64D-07B1-CEC1-7550-8FE7F26DB4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43353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1E321A1-39BC-15EB-5188-A435B672CB6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40601A4-AA79-D4CB-5024-D378ECDFE2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E5CE31F-5B91-E217-E961-40C7A3BDCD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19942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80C1EA4-1EC8-3DC1-BC2D-E4C6898C085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9C03BAB-903E-9E3D-437A-D3A38B095D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86CA47D-7CA0-915F-9320-CAFB5BD46D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85416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D2D04A6-D813-EF02-970C-FD85B43C355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E1AD28B-B00C-EC19-674C-B049E0DB02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8B3BF9F-1695-DA2C-F3BD-7E89367468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87391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8A635D3-3A12-1A47-D1AD-53A1039F118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6B55496-1820-579B-DF67-8B7817E086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0D4F835-C77A-4A00-49CB-9D8206F7AB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30119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4E8D115-34C2-664B-71CD-E071AB2F68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0FEF2D-CD11-3139-7460-571F664790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37E271C-707F-7A8A-DE3F-9B8E4A2814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832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A30273-8BBA-5CF7-EF01-5191204BCBB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3D9034A-6CE9-69EE-638D-3403D946EF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7C0D415-811A-0B34-4D56-D4984B15F2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98612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5EFED3D-03FE-59E8-3CCB-11757736DAA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C163EBB-16AA-5BD2-470B-09A25AE6C8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BD12B96-9AA4-09FE-EF22-1961E8A7FA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583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4DD43F9-C1A6-0E24-B681-0AB74F3A2D45}"/>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123BA83E-6857-C36C-A8E0-55C42A7B59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B3B898DC-954D-F726-2A34-C51EF469F6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8783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1CD8FDF-229E-286C-9560-C636EAA27B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16E3077-61B0-BEA1-9AD9-3CB44823D8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775E1E8-19AD-77CC-B44E-401AD27699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20848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1CD8FDF-229E-286C-9560-C636EAA27B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16E3077-61B0-BEA1-9AD9-3CB44823D8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775E1E8-19AD-77CC-B44E-401AD27699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999345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1A9939D-61A5-04C4-B25D-81AB8606E83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E326B15-99DA-7F30-80C4-A207D3379C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1156A98-C6FF-077E-F2B7-495727BF0B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59771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F1B0C24-1DC6-9A33-46DB-7FFE87F00C8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4DCB08F-010A-92BA-1455-0FAE5D909A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277ABC9-E62B-3F5D-9FBB-A0CE85556D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68256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2985D8A-EABB-6AA3-CA60-A6542FAF50E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CDE3EA7-C8AE-D5C1-0E45-0DB1B5FCF9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5CC8904-213E-8A1F-8DF2-EA648964C1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309573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Homeworks/HW2.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LabVIEW2.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akm.com/global/en/products/rotation-angle-sensor/tutorial/optical-encoder/"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ww.akm.com/global/en/products/rotation-angle-sensor/tutorial/type-mechanism-2/"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www.akm.com/global/en/products/rotation-angle-sensor/tutorial/type-mechanism-2/" TargetMode="External"/><Relationship Id="rId4" Type="http://schemas.openxmlformats.org/officeDocument/2006/relationships/image" Target="../media/image10.gif"/></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gif"/><Relationship Id="rId4" Type="http://schemas.openxmlformats.org/officeDocument/2006/relationships/hyperlink" Target="https://www.akm.com/global/en/products/rotation-angle-sensor/tutorial/type-mechanism-2/"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akm.com/global/en/products/rotation-angle-sensor/tutorial/type-mechanism-2/" TargetMode="External"/><Relationship Id="rId5" Type="http://schemas.openxmlformats.org/officeDocument/2006/relationships/image" Target="../media/image11.gif"/><Relationship Id="rId4" Type="http://schemas.openxmlformats.org/officeDocument/2006/relationships/image" Target="../media/image10.gif"/></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analog.com/media/en/training-seminars/tutorials/mt-029.pdf" TargetMode="External"/><Relationship Id="rId5" Type="http://schemas.openxmlformats.org/officeDocument/2006/relationships/image" Target="../media/image20.sv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www.akm.com/global/en/products/rotation-angle-sensor/tutorial/type-mechanism-2/"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ideo" Target="https://www.youtube.com/embed/VKmMoT5hpVY?feature=oembed" TargetMode="External"/><Relationship Id="rId6" Type="http://schemas.openxmlformats.org/officeDocument/2006/relationships/hyperlink" Target="https://youtu.be/VKmMoT5hpVY" TargetMode="External"/><Relationship Id="rId5" Type="http://schemas.openxmlformats.org/officeDocument/2006/relationships/image" Target="../media/image22.jpe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3.gif"/><Relationship Id="rId4" Type="http://schemas.openxmlformats.org/officeDocument/2006/relationships/hyperlink" Target="https://www.akm.com/global/en/products/rotation-angle-sensor/tutorial/type-mechanism-2/"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3.sv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hyperlink" Target="https://www.rls.si/eng/fileuploader/download/download/?d=1&amp;id=88&amp;title=Data+sheet%3A+AM4096+%E2%80%93+12+bit+angular+magnetic+encoder+IC+%28AM4096D02%29"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hyperlink" Target="https://www.rls.si/eng/am4096-12-bit-rotary-magnetic-encoder-chip" TargetMode="External"/><Relationship Id="rId5" Type="http://schemas.openxmlformats.org/officeDocument/2006/relationships/image" Target="../media/image35.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hyperlink" Target="https://www.rls.si/eng/fileuploader/download/download/?d=1&amp;id=88&amp;title=Data+sheet%3A+AM4096+%E2%80%93+12+bit+angular+magnetic+encoder+IC+%28AM4096D02%29"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video" Target="https://www.youtube.com/embed/IO5RBfq_5Uo?feature=oembed" TargetMode="External"/><Relationship Id="rId6" Type="http://schemas.openxmlformats.org/officeDocument/2006/relationships/hyperlink" Target="https://youtu.be/IO5RBfq_5Uo?si=KMDtMRWZ-Gs9MQLh" TargetMode="External"/><Relationship Id="rId5" Type="http://schemas.openxmlformats.org/officeDocument/2006/relationships/image" Target="../media/image43.jpe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45.svg"/><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47.svg"/><Relationship Id="rId4" Type="http://schemas.openxmlformats.org/officeDocument/2006/relationships/image" Target="../media/image46.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49.svg"/><Relationship Id="rId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51.svg"/><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53.svg"/><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www.ti.com/lit/an/spraa88a/spraa88a.pdf?ts=1770424620716"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video" Target="https://www.youtube.com/embed/3N_4VpzmKY0?feature=oembed" TargetMode="External"/><Relationship Id="rId5" Type="http://schemas.openxmlformats.org/officeDocument/2006/relationships/image" Target="../media/image59.jpe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61.svg"/><Relationship Id="rId4" Type="http://schemas.openxmlformats.org/officeDocument/2006/relationships/image" Target="../media/image60.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hyperlink" Target="https://www.sparkfun.com/servos" TargetMode="External"/><Relationship Id="rId4" Type="http://schemas.openxmlformats.org/officeDocument/2006/relationships/image" Target="../media/image62.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sparkfun.com/servo-hitec-hs-85mg-micro-size.html" TargetMode="Externa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4.svg"/><Relationship Id="rId4" Type="http://schemas.openxmlformats.org/officeDocument/2006/relationships/image" Target="../media/image63.png"/></Relationships>
</file>

<file path=ppt/slides/_rels/slide7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txBox="1"/>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spcBef>
                <a:spcPts val="600"/>
              </a:spcBef>
              <a:buSzPts val="4500"/>
            </a:pPr>
            <a:r>
              <a:rPr lang="en-US" sz="4500" b="1" dirty="0">
                <a:solidFill>
                  <a:schemeClr val="lt1"/>
                </a:solidFill>
              </a:rPr>
              <a:t>SE 423: Introduction to Mechatronics</a:t>
            </a:r>
            <a:endParaRPr lang="en-US" sz="4500" dirty="0"/>
          </a:p>
          <a:p>
            <a:pPr marL="0" marR="0" lvl="0" indent="0" algn="ctr" rtl="0">
              <a:lnSpc>
                <a:spcPct val="100000"/>
              </a:lnSpc>
              <a:spcBef>
                <a:spcPts val="600"/>
              </a:spcBef>
              <a:spcAft>
                <a:spcPts val="0"/>
              </a:spcAft>
              <a:buNone/>
            </a:pPr>
            <a:r>
              <a:rPr lang="en-US" sz="2500" dirty="0">
                <a:solidFill>
                  <a:schemeClr val="lt1"/>
                </a:solidFill>
              </a:rPr>
              <a:t>Lecture 6: Encoders &amp; PWM</a:t>
            </a:r>
            <a:endParaRPr dirty="0"/>
          </a:p>
          <a:p>
            <a:pPr marL="0" marR="0" lvl="0" indent="0" algn="ctr" rtl="0">
              <a:lnSpc>
                <a:spcPct val="100000"/>
              </a:lnSpc>
              <a:spcBef>
                <a:spcPts val="600"/>
              </a:spcBef>
              <a:spcAft>
                <a:spcPts val="0"/>
              </a:spcAft>
              <a:buNone/>
            </a:pPr>
            <a:endParaRPr sz="1800" b="0" i="0" u="none" strike="noStrike" cap="none" dirty="0">
              <a:solidFill>
                <a:schemeClr val="lt1"/>
              </a:solidFill>
              <a:latin typeface="Arial"/>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rial"/>
                <a:ea typeface="Arial"/>
                <a:cs typeface="Arial"/>
                <a:sym typeface="Arial"/>
              </a:rPr>
              <a:t>Marius Juston</a:t>
            </a:r>
            <a:endParaRPr sz="1800" b="0" i="0" u="none" strike="noStrike" cap="none" dirty="0">
              <a:solidFill>
                <a:srgbClr val="000000"/>
              </a:solidFill>
              <a:latin typeface="Arial"/>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rial"/>
                <a:ea typeface="Arial"/>
                <a:cs typeface="Arial"/>
                <a:sym typeface="Arial"/>
              </a:rPr>
              <a:t>Monday, February 9</a:t>
            </a:r>
            <a:r>
              <a:rPr lang="en-US" sz="1800" b="0" i="0" u="none" strike="noStrike" cap="none" baseline="30000" dirty="0">
                <a:solidFill>
                  <a:schemeClr val="lt1"/>
                </a:solidFill>
                <a:latin typeface="Arial"/>
                <a:ea typeface="Arial"/>
                <a:cs typeface="Arial"/>
                <a:sym typeface="Arial"/>
              </a:rPr>
              <a:t>th</a:t>
            </a:r>
            <a:r>
              <a:rPr lang="en-US" sz="1800" b="0" i="0" u="none" strike="noStrike" cap="none" dirty="0">
                <a:solidFill>
                  <a:schemeClr val="lt1"/>
                </a:solidFill>
                <a:latin typeface="Arial"/>
                <a:ea typeface="Arial"/>
                <a:cs typeface="Arial"/>
                <a:sym typeface="Arial"/>
              </a:rPr>
              <a:t>, 2026</a:t>
            </a:r>
            <a:endParaRPr sz="1800" b="0" i="0" u="none" strike="noStrike" cap="none" dirty="0">
              <a:solidFill>
                <a:schemeClr val="lt1"/>
              </a:solidFill>
              <a:latin typeface="Arial"/>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1D3E48-EB5B-86EE-C4D9-54116487B2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CC2F8C-3A4A-AD98-3682-D9499379E41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rial"/>
                <a:ea typeface="Arial"/>
                <a:cs typeface="Arial"/>
                <a:sym typeface="Arial"/>
              </a:rPr>
              <a:t>Office Hours:</a:t>
            </a:r>
            <a:endParaRPr lang="en-US" sz="2600" b="1" dirty="0">
              <a:solidFill>
                <a:srgbClr val="E84B36"/>
              </a:solidFill>
              <a:latin typeface="Arial"/>
              <a:ea typeface="Arial"/>
              <a:cs typeface="Arial"/>
              <a:sym typeface="Arial"/>
            </a:endParaRPr>
          </a:p>
          <a:p>
            <a:pPr marL="285750" indent="-285750">
              <a:lnSpc>
                <a:spcPct val="100000"/>
              </a:lnSpc>
              <a:spcBef>
                <a:spcPts val="0"/>
              </a:spcBef>
              <a:buSzPts val="3000"/>
            </a:pPr>
            <a:r>
              <a:rPr lang="en-US" sz="1800" b="1" dirty="0">
                <a:solidFill>
                  <a:schemeClr val="dk1"/>
                </a:solidFill>
                <a:latin typeface="Arial"/>
                <a:ea typeface="Arial"/>
                <a:cs typeface="Arial"/>
                <a:sym typeface="Arial"/>
              </a:rPr>
              <a:t>Monday: </a:t>
            </a:r>
            <a:r>
              <a:rPr lang="en-US" sz="1800" dirty="0">
                <a:solidFill>
                  <a:schemeClr val="dk1"/>
                </a:solidFill>
                <a:latin typeface="Arial"/>
                <a:ea typeface="Arial"/>
                <a:cs typeface="Arial"/>
                <a:sym typeface="Arial"/>
              </a:rPr>
              <a:t>4-6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Neel</a:t>
            </a:r>
          </a:p>
          <a:p>
            <a:pPr marL="285750" indent="-285750">
              <a:lnSpc>
                <a:spcPct val="100000"/>
              </a:lnSpc>
              <a:spcBef>
                <a:spcPts val="0"/>
              </a:spcBef>
              <a:buSzPts val="3000"/>
            </a:pPr>
            <a:r>
              <a:rPr lang="en-US" sz="1800" b="1" dirty="0">
                <a:latin typeface="Arial"/>
                <a:ea typeface="Arial"/>
                <a:cs typeface="Arial"/>
                <a:sym typeface="Arial"/>
              </a:rPr>
              <a:t>Tuesday: </a:t>
            </a:r>
            <a:r>
              <a:rPr lang="en-US" sz="1800" dirty="0">
                <a:latin typeface="Arial"/>
                <a:ea typeface="Arial"/>
                <a:cs typeface="Arial"/>
                <a:sym typeface="Arial"/>
              </a:rPr>
              <a:t>11-1 PM</a:t>
            </a:r>
            <a:r>
              <a:rPr lang="en-US" sz="1800" b="1" dirty="0">
                <a:latin typeface="Arial"/>
                <a:ea typeface="Arial"/>
                <a:cs typeface="Arial"/>
                <a:sym typeface="Arial"/>
              </a:rPr>
              <a:t>, </a:t>
            </a:r>
            <a:r>
              <a:rPr lang="en-US" sz="1800" dirty="0">
                <a:latin typeface="Arial"/>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latin typeface="Arial"/>
                <a:ea typeface="Arial"/>
                <a:cs typeface="Arial"/>
                <a:sym typeface="Arial"/>
              </a:rPr>
              <a:t>1-3 PM</a:t>
            </a:r>
            <a:r>
              <a:rPr lang="en-US" sz="1800" b="1" dirty="0">
                <a:latin typeface="Arial"/>
                <a:ea typeface="Arial"/>
                <a:cs typeface="Arial"/>
                <a:sym typeface="Arial"/>
              </a:rPr>
              <a:t>, </a:t>
            </a:r>
            <a:r>
              <a:rPr lang="en-US" sz="1800" dirty="0">
                <a:latin typeface="Arial"/>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solidFill>
                  <a:schemeClr val="dk1"/>
                </a:solidFill>
                <a:latin typeface="Arial"/>
                <a:ea typeface="Arial"/>
                <a:cs typeface="Arial"/>
                <a:sym typeface="Arial"/>
              </a:rPr>
              <a:t>2-5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Dan &amp; Marius</a:t>
            </a:r>
          </a:p>
          <a:p>
            <a:pPr marL="285750" indent="-285750">
              <a:lnSpc>
                <a:spcPct val="100000"/>
              </a:lnSpc>
              <a:spcBef>
                <a:spcPts val="0"/>
              </a:spcBef>
              <a:buSzPts val="3000"/>
            </a:pPr>
            <a:endParaRPr lang="en-US" sz="1800" b="1" dirty="0">
              <a:latin typeface="Arial"/>
              <a:ea typeface="Arial"/>
              <a:cs typeface="Arial"/>
              <a:sym typeface="Arial"/>
            </a:endParaRPr>
          </a:p>
          <a:p>
            <a:pPr marL="0" indent="0">
              <a:lnSpc>
                <a:spcPct val="100000"/>
              </a:lnSpc>
              <a:spcBef>
                <a:spcPts val="0"/>
              </a:spcBef>
              <a:buSzPts val="3000"/>
              <a:buNone/>
            </a:pPr>
            <a:r>
              <a:rPr lang="en-US" sz="1800" b="1" dirty="0">
                <a:solidFill>
                  <a:srgbClr val="E84B36"/>
                </a:solidFill>
                <a:latin typeface="Arial"/>
                <a:ea typeface="Arial"/>
                <a:cs typeface="Arial"/>
                <a:sym typeface="Arial"/>
              </a:rPr>
              <a:t>Lab: </a:t>
            </a:r>
            <a:r>
              <a:rPr lang="en-US" sz="1800" dirty="0">
                <a:latin typeface="Arial"/>
                <a:ea typeface="Arial"/>
                <a:cs typeface="Arial"/>
                <a:sym typeface="Arial"/>
              </a:rPr>
              <a:t>Starting Lab 3 this week. This a 3-week lab!</a:t>
            </a:r>
            <a:endParaRPr lang="en-US" sz="1800" dirty="0">
              <a:solidFill>
                <a:srgbClr val="E84B36"/>
              </a:solidFill>
              <a:latin typeface="Arial"/>
              <a:ea typeface="Arial"/>
              <a:cs typeface="Arial"/>
              <a:sym typeface="Arial"/>
            </a:endParaRPr>
          </a:p>
          <a:p>
            <a:pPr marL="0" indent="0">
              <a:lnSpc>
                <a:spcPct val="100000"/>
              </a:lnSpc>
              <a:spcBef>
                <a:spcPts val="0"/>
              </a:spcBef>
              <a:buSzPts val="3000"/>
              <a:buNone/>
            </a:pPr>
            <a:endParaRPr lang="en-US" sz="1800" b="1" dirty="0">
              <a:solidFill>
                <a:srgbClr val="E84B36"/>
              </a:solidFill>
              <a:latin typeface="Arial"/>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rial"/>
                <a:ea typeface="Arial"/>
                <a:cs typeface="Arial"/>
                <a:sym typeface="Arial"/>
              </a:rPr>
              <a:t>Homeworks</a:t>
            </a:r>
            <a:r>
              <a:rPr lang="en-US" sz="1800" b="1" dirty="0">
                <a:solidFill>
                  <a:srgbClr val="E84B36"/>
                </a:solidFill>
                <a:latin typeface="Arial"/>
                <a:ea typeface="Arial"/>
                <a:cs typeface="Arial"/>
                <a:sym typeface="Arial"/>
              </a:rPr>
              <a:t>:</a:t>
            </a:r>
          </a:p>
          <a:p>
            <a:pPr marL="285750" indent="-285750">
              <a:lnSpc>
                <a:spcPct val="100000"/>
              </a:lnSpc>
              <a:spcBef>
                <a:spcPts val="0"/>
              </a:spcBef>
              <a:buSzPts val="3000"/>
            </a:pPr>
            <a:r>
              <a:rPr lang="en-US" sz="1800" dirty="0">
                <a:latin typeface="Arial"/>
                <a:ea typeface="Arial"/>
                <a:cs typeface="Arial"/>
                <a:sym typeface="Arial"/>
              </a:rPr>
              <a:t>Check-offs for </a:t>
            </a:r>
            <a:r>
              <a:rPr lang="en-US" sz="1800" dirty="0">
                <a:latin typeface="Arial"/>
                <a:ea typeface="Arial"/>
                <a:cs typeface="Arial"/>
                <a:sym typeface="Arial"/>
                <a:hlinkClick r:id="rId3"/>
              </a:rPr>
              <a:t>homework 2</a:t>
            </a:r>
            <a:r>
              <a:rPr lang="en-US" sz="1800" dirty="0">
                <a:latin typeface="Arial"/>
                <a:ea typeface="Arial"/>
                <a:cs typeface="Arial"/>
                <a:sym typeface="Arial"/>
              </a:rPr>
              <a:t> Ex 1 &amp; 2 are due </a:t>
            </a:r>
            <a:r>
              <a:rPr lang="en-US" sz="1800" b="1" dirty="0">
                <a:latin typeface="Arial"/>
                <a:ea typeface="Arial"/>
                <a:cs typeface="Arial"/>
                <a:sym typeface="Arial"/>
              </a:rPr>
              <a:t>February 17, 5PM (The end of office hours)</a:t>
            </a:r>
          </a:p>
          <a:p>
            <a:pPr marL="285750" indent="-285750">
              <a:lnSpc>
                <a:spcPct val="100000"/>
              </a:lnSpc>
              <a:spcBef>
                <a:spcPts val="0"/>
              </a:spcBef>
              <a:buSzPts val="3000"/>
            </a:pPr>
            <a:r>
              <a:rPr lang="en-US" sz="1800" dirty="0">
                <a:latin typeface="Arial"/>
                <a:ea typeface="Arial"/>
                <a:cs typeface="Arial"/>
                <a:sym typeface="Arial"/>
              </a:rPr>
              <a:t>Check-offs for </a:t>
            </a:r>
            <a:r>
              <a:rPr lang="en-US" sz="1800" dirty="0">
                <a:latin typeface="Arial"/>
                <a:ea typeface="Arial"/>
                <a:cs typeface="Arial"/>
                <a:sym typeface="Arial"/>
                <a:hlinkClick r:id="rId3"/>
              </a:rPr>
              <a:t>homework 2</a:t>
            </a:r>
            <a:r>
              <a:rPr lang="en-US" sz="1800" dirty="0">
                <a:latin typeface="Arial"/>
                <a:ea typeface="Arial"/>
                <a:cs typeface="Arial"/>
                <a:sym typeface="Arial"/>
              </a:rPr>
              <a:t> Ex 3 &amp; 4 are due </a:t>
            </a:r>
            <a:r>
              <a:rPr lang="en-US" sz="1800" b="1" dirty="0">
                <a:latin typeface="Arial"/>
                <a:ea typeface="Arial"/>
                <a:cs typeface="Arial"/>
                <a:sym typeface="Arial"/>
              </a:rPr>
              <a:t>February 24, 5PM (The end of office hours)</a:t>
            </a:r>
            <a:endParaRPr lang="en-US" sz="1800" dirty="0">
              <a:latin typeface="Arial"/>
              <a:ea typeface="Arial"/>
              <a:cs typeface="Arial"/>
              <a:sym typeface="Arial"/>
            </a:endParaRPr>
          </a:p>
          <a:p>
            <a:pPr marL="285750" indent="-285750">
              <a:lnSpc>
                <a:spcPct val="100000"/>
              </a:lnSpc>
              <a:spcBef>
                <a:spcPts val="0"/>
              </a:spcBef>
              <a:buSzPts val="3000"/>
            </a:pPr>
            <a:r>
              <a:rPr lang="en-US" sz="1800" dirty="0">
                <a:latin typeface="Arial"/>
                <a:ea typeface="Arial"/>
                <a:cs typeface="Arial"/>
                <a:sym typeface="Arial"/>
              </a:rPr>
              <a:t>Answers and code submissions for homework 2 are due </a:t>
            </a:r>
            <a:r>
              <a:rPr lang="en-US" sz="1800" b="1" dirty="0">
                <a:latin typeface="Arial"/>
                <a:ea typeface="Arial"/>
                <a:cs typeface="Arial"/>
                <a:sym typeface="Arial"/>
              </a:rPr>
              <a:t>February 17, 9AM</a:t>
            </a:r>
          </a:p>
          <a:p>
            <a:pPr marL="285750" indent="-285750">
              <a:lnSpc>
                <a:spcPct val="100000"/>
              </a:lnSpc>
              <a:spcBef>
                <a:spcPts val="0"/>
              </a:spcBef>
              <a:buSzPts val="3000"/>
            </a:pPr>
            <a:endParaRPr lang="en-US" sz="1800" dirty="0">
              <a:latin typeface="Arial"/>
              <a:ea typeface="Arial"/>
              <a:cs typeface="Arial"/>
              <a:sym typeface="Arial"/>
            </a:endParaRPr>
          </a:p>
          <a:p>
            <a:pPr marL="0" indent="0">
              <a:lnSpc>
                <a:spcPct val="100000"/>
              </a:lnSpc>
              <a:spcBef>
                <a:spcPts val="0"/>
              </a:spcBef>
              <a:buSzPts val="3000"/>
              <a:buNone/>
            </a:pPr>
            <a:r>
              <a:rPr lang="en-US" sz="1800" b="1" dirty="0">
                <a:solidFill>
                  <a:srgbClr val="E84B36"/>
                </a:solidFill>
                <a:latin typeface="Arial"/>
                <a:ea typeface="Arial"/>
                <a:cs typeface="Arial"/>
                <a:sym typeface="Arial"/>
              </a:rPr>
              <a:t>LabVIEW:</a:t>
            </a:r>
          </a:p>
          <a:p>
            <a:pPr marL="285750" indent="-285750">
              <a:lnSpc>
                <a:spcPct val="100000"/>
              </a:lnSpc>
              <a:spcBef>
                <a:spcPts val="0"/>
              </a:spcBef>
              <a:buSzPts val="3000"/>
            </a:pPr>
            <a:r>
              <a:rPr lang="en-US" sz="1800" dirty="0">
                <a:latin typeface="Arial"/>
                <a:ea typeface="Arial"/>
                <a:cs typeface="Arial"/>
                <a:sym typeface="Arial"/>
              </a:rPr>
              <a:t>All check-offs for </a:t>
            </a:r>
            <a:r>
              <a:rPr lang="en-US" sz="1800" dirty="0">
                <a:latin typeface="Arial"/>
                <a:ea typeface="Arial"/>
                <a:cs typeface="Arial"/>
                <a:sym typeface="Arial"/>
                <a:hlinkClick r:id="rId4"/>
              </a:rPr>
              <a:t>LabVIEW 2</a:t>
            </a:r>
            <a:r>
              <a:rPr lang="en-US" sz="1800" dirty="0">
                <a:latin typeface="Arial"/>
                <a:ea typeface="Arial"/>
                <a:cs typeface="Arial"/>
                <a:sym typeface="Arial"/>
              </a:rPr>
              <a:t> are due </a:t>
            </a:r>
            <a:r>
              <a:rPr lang="en-US" sz="1800" b="1" dirty="0">
                <a:latin typeface="Arial"/>
                <a:ea typeface="Arial"/>
                <a:cs typeface="Arial"/>
                <a:sym typeface="Arial"/>
              </a:rPr>
              <a:t>February 26, 5PM</a:t>
            </a:r>
          </a:p>
          <a:p>
            <a:pPr marL="285750" indent="-285750">
              <a:lnSpc>
                <a:spcPct val="100000"/>
              </a:lnSpc>
              <a:spcBef>
                <a:spcPts val="0"/>
              </a:spcBef>
              <a:buSzPts val="3000"/>
            </a:pPr>
            <a:endParaRPr lang="en-US" sz="1800" b="1" dirty="0">
              <a:latin typeface="Arial"/>
              <a:ea typeface="Arial"/>
              <a:cs typeface="Arial"/>
              <a:sym typeface="Arial"/>
            </a:endParaRPr>
          </a:p>
        </p:txBody>
      </p:sp>
      <p:sp>
        <p:nvSpPr>
          <p:cNvPr id="119" name="Google Shape;119;p29">
            <a:extLst>
              <a:ext uri="{FF2B5EF4-FFF2-40B4-BE49-F238E27FC236}">
                <a16:creationId xmlns:a16="http://schemas.microsoft.com/office/drawing/2014/main" id="{19848B8C-9075-59EA-79FA-AF5B8BFAF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AE21486-AEEC-E367-96A5-81B49AD32D6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Reminders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8CCE647-4D9B-354D-A2E9-718CA28CD750}"/>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C87A64-580A-4863-38B3-4D1504C83F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649EAB-2DB3-2DA4-9AD9-5D94AEE695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1F8E2C-2780-2776-E8ED-542B082247F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628D6E-10A9-03E9-659C-F8F2D0023C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EB3CD3-0F72-FD08-8FA5-00AD37965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79584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27"/>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rial"/>
                <a:ea typeface="Arial"/>
                <a:cs typeface="Arial"/>
                <a:sym typeface="Arial"/>
              </a:rPr>
              <a:t>Questions?</a:t>
            </a:r>
            <a:endParaRPr sz="1400" b="0" i="0" u="none" strike="noStrike" cap="none" dirty="0">
              <a:solidFill>
                <a:srgbClr val="000000"/>
              </a:solidFill>
              <a:latin typeface="Arial"/>
              <a:ea typeface="Arial"/>
              <a:cs typeface="Arial"/>
              <a:sym typeface="Arial"/>
            </a:endParaRPr>
          </a:p>
        </p:txBody>
      </p:sp>
      <p:sp>
        <p:nvSpPr>
          <p:cNvPr id="90" name="Google Shape;90;p27"/>
          <p:cNvSpPr txBox="1"/>
          <p:nvPr/>
        </p:nvSpPr>
        <p:spPr>
          <a:xfrm>
            <a:off x="1441528" y="3232230"/>
            <a:ext cx="9308941" cy="113873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rial"/>
                <a:ea typeface="Arial"/>
                <a:cs typeface="Arial"/>
                <a:sym typeface="Arial"/>
              </a:rPr>
              <a:t>Homework, Lab, LabVIEW questions? </a:t>
            </a:r>
          </a:p>
          <a:p>
            <a:pPr marL="0" marR="0" lvl="0" indent="0" algn="ctr" rtl="0">
              <a:lnSpc>
                <a:spcPct val="100000"/>
              </a:lnSpc>
              <a:spcBef>
                <a:spcPts val="0"/>
              </a:spcBef>
              <a:spcAft>
                <a:spcPts val="0"/>
              </a:spcAft>
              <a:buClr>
                <a:srgbClr val="000000"/>
              </a:buClr>
              <a:buSzPts val="2800"/>
              <a:buFont typeface="Arial"/>
              <a:buNone/>
            </a:pPr>
            <a:r>
              <a:rPr lang="en-US" sz="2000" b="0" i="0" u="none" strike="noStrike" cap="none" dirty="0">
                <a:solidFill>
                  <a:schemeClr val="lt1"/>
                </a:solidFill>
                <a:latin typeface="Arial"/>
                <a:ea typeface="Arial"/>
                <a:cs typeface="Arial"/>
                <a:sym typeface="Arial"/>
              </a:rPr>
              <a:t>(All submission times / days are final! Be early, as you see these HW can be very long! </a:t>
            </a:r>
            <a:r>
              <a:rPr lang="en-US" sz="2000" dirty="0">
                <a:solidFill>
                  <a:schemeClr val="lt1"/>
                </a:solidFill>
              </a:rPr>
              <a:t>The times / days are always on Canvas / </a:t>
            </a:r>
            <a:r>
              <a:rPr lang="en-US" sz="2000" dirty="0" err="1">
                <a:solidFill>
                  <a:schemeClr val="lt1"/>
                </a:solidFill>
              </a:rPr>
              <a:t>Gradescope</a:t>
            </a:r>
            <a:r>
              <a:rPr lang="en-US" sz="2000" dirty="0">
                <a:solidFill>
                  <a:schemeClr val="lt1"/>
                </a:solidFill>
              </a:rPr>
              <a:t> / Lectures</a:t>
            </a:r>
            <a:r>
              <a:rPr lang="en-US" sz="2000" b="0" i="0" u="none" strike="noStrike" cap="none" dirty="0">
                <a:solidFill>
                  <a:schemeClr val="lt1"/>
                </a:solidFill>
                <a:latin typeface="Arial"/>
                <a:ea typeface="Arial"/>
                <a:cs typeface="Arial"/>
                <a:sym typeface="Arial"/>
              </a:rPr>
              <a:t>)</a:t>
            </a:r>
            <a:endParaRPr b="0" i="0" u="none" strike="noStrike" cap="none" dirty="0">
              <a:solidFill>
                <a:schemeClr val="lt1"/>
              </a:solidFill>
              <a:latin typeface="Arial"/>
              <a:ea typeface="Arial"/>
              <a:cs typeface="Arial"/>
              <a:sym typeface="Arial"/>
            </a:endParaRPr>
          </a:p>
        </p:txBody>
      </p:sp>
      <p:grpSp>
        <p:nvGrpSpPr>
          <p:cNvPr id="91" name="Google Shape;91;p27"/>
          <p:cNvGrpSpPr/>
          <p:nvPr/>
        </p:nvGrpSpPr>
        <p:grpSpPr>
          <a:xfrm>
            <a:off x="3943790" y="26769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txBox="1"/>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Optical Encoder</a:t>
            </a:r>
            <a:endParaRPr dirty="0"/>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A848DA8-FE3E-0830-9B59-1AFC92F14F0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6616D9C-4999-23D7-D15F-73DE36E2415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solidFill>
                  <a:schemeClr val="dk1"/>
                </a:solidFill>
                <a:latin typeface="Arial"/>
                <a:ea typeface="Arial"/>
                <a:cs typeface="Arial"/>
                <a:sym typeface="Arial"/>
              </a:rPr>
              <a:t>How do we measure angular position or motion of a shaft into a digital value?</a:t>
            </a:r>
            <a:r>
              <a:rPr lang="en-US" sz="2400" dirty="0">
                <a:latin typeface="Arial"/>
                <a:ea typeface="Arial"/>
                <a:cs typeface="Arial"/>
                <a:sym typeface="Arial"/>
              </a:rPr>
              <a:t> Ideas?</a:t>
            </a:r>
          </a:p>
          <a:p>
            <a:pPr marL="0" lvl="0" indent="0" algn="l" rtl="0">
              <a:lnSpc>
                <a:spcPct val="100000"/>
              </a:lnSpc>
              <a:spcBef>
                <a:spcPts val="0"/>
              </a:spcBef>
              <a:spcAft>
                <a:spcPts val="0"/>
              </a:spcAft>
              <a:buSzPts val="3000"/>
              <a:buNone/>
            </a:pPr>
            <a:endParaRPr lang="en-US" sz="24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400" dirty="0">
                <a:solidFill>
                  <a:schemeClr val="dk1"/>
                </a:solidFill>
                <a:latin typeface="Arial"/>
                <a:ea typeface="Arial"/>
                <a:cs typeface="Arial"/>
                <a:sym typeface="Arial"/>
              </a:rPr>
              <a:t>The optical encoder is composed of a light emitting device (</a:t>
            </a:r>
            <a:r>
              <a:rPr lang="en-US" sz="2400" b="1" dirty="0">
                <a:solidFill>
                  <a:schemeClr val="dk1"/>
                </a:solidFill>
                <a:latin typeface="Arial"/>
                <a:ea typeface="Arial"/>
                <a:cs typeface="Arial"/>
                <a:sym typeface="Arial"/>
              </a:rPr>
              <a:t>LED</a:t>
            </a:r>
            <a:r>
              <a:rPr lang="en-US" sz="2400" dirty="0">
                <a:solidFill>
                  <a:schemeClr val="dk1"/>
                </a:solidFill>
                <a:latin typeface="Arial"/>
                <a:ea typeface="Arial"/>
                <a:cs typeface="Arial"/>
                <a:sym typeface="Arial"/>
              </a:rPr>
              <a:t>), </a:t>
            </a:r>
            <a:r>
              <a:rPr lang="en-US" sz="2400" b="1" dirty="0">
                <a:solidFill>
                  <a:schemeClr val="dk1"/>
                </a:solidFill>
                <a:latin typeface="Arial"/>
                <a:ea typeface="Arial"/>
                <a:cs typeface="Arial"/>
                <a:sym typeface="Arial"/>
              </a:rPr>
              <a:t>photo sensors</a:t>
            </a:r>
            <a:r>
              <a:rPr lang="en-US" sz="2400" dirty="0">
                <a:solidFill>
                  <a:schemeClr val="dk1"/>
                </a:solidFill>
                <a:latin typeface="Arial"/>
                <a:ea typeface="Arial"/>
                <a:cs typeface="Arial"/>
                <a:sym typeface="Arial"/>
              </a:rPr>
              <a:t>, and a disc called a </a:t>
            </a:r>
            <a:r>
              <a:rPr lang="en-US" sz="2400" b="1" dirty="0">
                <a:solidFill>
                  <a:schemeClr val="dk1"/>
                </a:solidFill>
                <a:latin typeface="Arial"/>
                <a:ea typeface="Arial"/>
                <a:cs typeface="Arial"/>
                <a:sym typeface="Arial"/>
              </a:rPr>
              <a:t>code wheel </a:t>
            </a:r>
            <a:r>
              <a:rPr lang="en-US" sz="2400" dirty="0">
                <a:solidFill>
                  <a:schemeClr val="dk1"/>
                </a:solidFill>
                <a:latin typeface="Arial"/>
                <a:ea typeface="Arial"/>
                <a:cs typeface="Arial"/>
                <a:sym typeface="Arial"/>
              </a:rPr>
              <a:t>with slits (holes) in the radial direction and detects rotational position information as an optical pulse signal.</a:t>
            </a:r>
          </a:p>
          <a:p>
            <a:pPr marL="0" lvl="0" indent="0" algn="l" rtl="0">
              <a:lnSpc>
                <a:spcPct val="100000"/>
              </a:lnSpc>
              <a:spcBef>
                <a:spcPts val="0"/>
              </a:spcBef>
              <a:spcAft>
                <a:spcPts val="0"/>
              </a:spcAft>
              <a:buSzPts val="3000"/>
              <a:buNone/>
            </a:pPr>
            <a:endParaRPr lang="en-US" sz="24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400" dirty="0">
                <a:solidFill>
                  <a:schemeClr val="dk1"/>
                </a:solidFill>
                <a:latin typeface="Arial"/>
                <a:ea typeface="Arial"/>
                <a:cs typeface="Arial"/>
                <a:sym typeface="Arial"/>
              </a:rPr>
              <a:t>When a code wheel attached to a rotating shaft such as a motor rotates, an optical pulse is generated depending on whether light emitted from a fixed light emitting element passes through a slit of the code wheel or not.</a:t>
            </a:r>
          </a:p>
          <a:p>
            <a:pPr marL="0" lvl="0" indent="0" algn="l" rtl="0">
              <a:lnSpc>
                <a:spcPct val="100000"/>
              </a:lnSpc>
              <a:spcBef>
                <a:spcPts val="0"/>
              </a:spcBef>
              <a:spcAft>
                <a:spcPts val="0"/>
              </a:spcAft>
              <a:buSzPts val="3000"/>
              <a:buNone/>
            </a:pPr>
            <a:endParaRPr lang="en-US" sz="24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400" dirty="0">
                <a:solidFill>
                  <a:schemeClr val="dk1"/>
                </a:solidFill>
                <a:latin typeface="Arial"/>
                <a:ea typeface="Arial"/>
                <a:cs typeface="Arial"/>
                <a:sym typeface="Arial"/>
              </a:rPr>
              <a:t>Photo sensor detects the optical pulse, converts it into an electrical signal, and outputs it.</a:t>
            </a:r>
          </a:p>
        </p:txBody>
      </p:sp>
      <p:sp>
        <p:nvSpPr>
          <p:cNvPr id="119" name="Google Shape;119;p29">
            <a:extLst>
              <a:ext uri="{FF2B5EF4-FFF2-40B4-BE49-F238E27FC236}">
                <a16:creationId xmlns:a16="http://schemas.microsoft.com/office/drawing/2014/main" id="{F63EBF5B-66AE-EEAF-5A56-9801F1570D8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CD176F3-86E7-F051-6C6A-1E87EA4A3DC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C411FD3-A65D-CD5F-9BA5-3DF9BF104C2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B29439B-6E5A-1701-840F-2B8D6714A87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555167C-BD54-0119-099E-3D530B73F9E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DA8207-3E4D-71B1-46E7-BDDE09E15C2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0DC9077-521E-6CE8-5EC1-3A81FCF26A3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00CBD5-C52D-B33F-10E2-7C783D82A6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28917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622F817-1DE4-6947-566F-A73DC43F0FA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26E88ED-7384-EF6D-9E61-294ED4EBA78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926B4B84-CD52-3786-3F3C-D3CE49A30A6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86127ED-B973-10E9-7F19-2EA3D4FFBCB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0057AE-F914-B075-D3FA-ED1BC52A282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C52B4AF-83CF-E735-21CB-5716A062973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2173034-BDF7-2BFD-94EB-F379DEB67DA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4B8CE2-7B8F-429B-69CC-1E8E4B72B12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142CC48-CE26-6740-B6AB-67863560072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2052" name="Picture 4" descr="04 Principle and advantages of optical encoder | Tutorials | Rotation Angle  Sensors | Products | Asahi Kasei Microdevices (AKM)">
            <a:extLst>
              <a:ext uri="{FF2B5EF4-FFF2-40B4-BE49-F238E27FC236}">
                <a16:creationId xmlns:a16="http://schemas.microsoft.com/office/drawing/2014/main" id="{E085C5D8-D434-61DF-7AD5-ECFC5D548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2528" y="1241564"/>
            <a:ext cx="5326944" cy="4794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F01B12A-4675-2D31-D5C9-9414A2F79BFF}"/>
              </a:ext>
            </a:extLst>
          </p:cNvPr>
          <p:cNvSpPr txBox="1"/>
          <p:nvPr/>
        </p:nvSpPr>
        <p:spPr>
          <a:xfrm>
            <a:off x="3435082" y="6035814"/>
            <a:ext cx="5324390" cy="253916"/>
          </a:xfrm>
          <a:prstGeom prst="rect">
            <a:avLst/>
          </a:prstGeom>
          <a:noFill/>
        </p:spPr>
        <p:txBody>
          <a:bodyPr wrap="square" rtlCol="0">
            <a:spAutoFit/>
          </a:bodyPr>
          <a:lstStyle/>
          <a:p>
            <a:pPr algn="ctr"/>
            <a:r>
              <a:rPr lang="en-US" sz="1050" dirty="0">
                <a:hlinkClick r:id="rId5"/>
              </a:rPr>
              <a:t>https://www.akm.com/global/en/products/rotation-angle-sensor/tutorial/optical-encoder/</a:t>
            </a:r>
            <a:r>
              <a:rPr lang="en-US" sz="1050" dirty="0"/>
              <a:t> </a:t>
            </a:r>
          </a:p>
        </p:txBody>
      </p:sp>
    </p:spTree>
    <p:extLst>
      <p:ext uri="{BB962C8B-B14F-4D97-AF65-F5344CB8AC3E}">
        <p14:creationId xmlns:p14="http://schemas.microsoft.com/office/powerpoint/2010/main" val="3056085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BD647A5-11CB-6DF5-85B7-EE526CF29AF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D54E0B6-0B7B-132F-4A7E-6FD22A05084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solidFill>
                  <a:schemeClr val="dk1"/>
                </a:solidFill>
                <a:latin typeface="+mj-lt"/>
                <a:ea typeface="Arial"/>
                <a:cs typeface="Arial"/>
                <a:sym typeface="Arial"/>
              </a:rPr>
              <a:t>2 Different types of optical encoders,</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endParaRPr lang="en-US" sz="2000" dirty="0">
              <a:solidFill>
                <a:schemeClr val="dk1"/>
              </a:solidFill>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solidFill>
                  <a:schemeClr val="dk1"/>
                </a:solidFill>
                <a:latin typeface="+mj-lt"/>
                <a:ea typeface="Arial"/>
                <a:cs typeface="Arial"/>
                <a:sym typeface="Arial"/>
              </a:rPr>
              <a:t>An </a:t>
            </a:r>
            <a:r>
              <a:rPr lang="en-US" sz="2000" b="1" dirty="0">
                <a:solidFill>
                  <a:schemeClr val="dk1"/>
                </a:solidFill>
                <a:latin typeface="+mj-lt"/>
                <a:ea typeface="Arial"/>
                <a:cs typeface="Arial"/>
                <a:sym typeface="Arial"/>
              </a:rPr>
              <a:t>incremental</a:t>
            </a:r>
            <a:r>
              <a:rPr lang="en-US" sz="2000" dirty="0">
                <a:solidFill>
                  <a:schemeClr val="dk1"/>
                </a:solidFill>
                <a:latin typeface="+mj-lt"/>
                <a:ea typeface="Arial"/>
                <a:cs typeface="Arial"/>
                <a:sym typeface="Arial"/>
              </a:rPr>
              <a:t> optical encoder:</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285750" indent="-285750">
              <a:lnSpc>
                <a:spcPct val="100000"/>
              </a:lnSpc>
              <a:spcBef>
                <a:spcPts val="0"/>
              </a:spcBef>
              <a:buSzPts val="3000"/>
            </a:pPr>
            <a:r>
              <a:rPr lang="en-US" sz="2000" dirty="0">
                <a:solidFill>
                  <a:schemeClr val="dk1"/>
                </a:solidFill>
                <a:latin typeface="+mj-lt"/>
                <a:ea typeface="Arial"/>
                <a:cs typeface="Arial"/>
                <a:sym typeface="Arial"/>
              </a:rPr>
              <a:t>The code disc divided into sectors that are alternately transparent and opaque. </a:t>
            </a:r>
          </a:p>
          <a:p>
            <a:pPr marL="285750" indent="-285750">
              <a:lnSpc>
                <a:spcPct val="100000"/>
              </a:lnSpc>
              <a:spcBef>
                <a:spcPts val="0"/>
              </a:spcBef>
              <a:buSzPts val="3000"/>
            </a:pPr>
            <a:r>
              <a:rPr lang="en-US" sz="2000" dirty="0">
                <a:solidFill>
                  <a:schemeClr val="dk1"/>
                </a:solidFill>
                <a:latin typeface="+mj-lt"/>
                <a:ea typeface="Arial"/>
                <a:cs typeface="Arial"/>
                <a:sym typeface="Arial"/>
              </a:rPr>
              <a:t>A light source is positioned on one side of the disc, and a light sensor on the other side. </a:t>
            </a:r>
          </a:p>
          <a:p>
            <a:pPr marL="285750" indent="-285750">
              <a:lnSpc>
                <a:spcPct val="100000"/>
              </a:lnSpc>
              <a:spcBef>
                <a:spcPts val="0"/>
              </a:spcBef>
              <a:buSzPts val="3000"/>
            </a:pPr>
            <a:r>
              <a:rPr lang="en-US" sz="2000" dirty="0">
                <a:solidFill>
                  <a:schemeClr val="dk1"/>
                </a:solidFill>
                <a:latin typeface="+mj-lt"/>
                <a:ea typeface="Arial"/>
                <a:cs typeface="Arial"/>
                <a:sym typeface="Arial"/>
              </a:rPr>
              <a:t>As the disc rotates, the output from the detector switches alternately on and off, depending on whether the sector appearing between the light source and the detector is transparent or opaque. </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solidFill>
                <a:schemeClr val="dk1"/>
              </a:solidFill>
              <a:latin typeface="+mj-lt"/>
              <a:ea typeface="Arial"/>
              <a:cs typeface="Arial"/>
              <a:sym typeface="Arial"/>
            </a:endParaRPr>
          </a:p>
          <a:p>
            <a:pPr marL="0" indent="0">
              <a:lnSpc>
                <a:spcPct val="100000"/>
              </a:lnSpc>
              <a:spcBef>
                <a:spcPts val="0"/>
              </a:spcBef>
              <a:buSzPts val="3000"/>
              <a:buNone/>
            </a:pPr>
            <a:r>
              <a:rPr lang="en-US" sz="2000" dirty="0">
                <a:latin typeface="+mj-lt"/>
              </a:rPr>
              <a:t>The encoder produces a stream of square wave pulses which, when counted, indicate the angular position of the shaft.</a:t>
            </a:r>
          </a:p>
        </p:txBody>
      </p:sp>
      <p:sp>
        <p:nvSpPr>
          <p:cNvPr id="119" name="Google Shape;119;p29">
            <a:extLst>
              <a:ext uri="{FF2B5EF4-FFF2-40B4-BE49-F238E27FC236}">
                <a16:creationId xmlns:a16="http://schemas.microsoft.com/office/drawing/2014/main" id="{0DCC1397-87C6-A018-E00C-0903A0F696E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52B32E97-A388-5D70-6121-D6CDAF1A51A4}"/>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50909CB-F550-1D95-DE9C-05E3593158B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85F69F-0F9A-6324-F80E-E286E357E1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28274F-9D20-9ACE-556C-BCE26AF4D8D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5ABB36-0399-CB54-E569-6340916C26D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7A6DC35-72D5-7C67-F1A2-7CA6926AAB5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ACD2E0F-8636-AC50-3E58-0AAEDECF25C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710049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1D2E858-566D-EFAE-CB85-0B0A779AB83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FB02168-56A0-4A4B-E138-0A97387182C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4F0FA01-E215-0301-E4FE-40E58E88CAC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 - Resolution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E809CFA-4FC5-D3D8-3AD6-39D90978C4F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9775456-D617-145F-83B8-FC417B46CA8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1AA960F-5637-5FB6-7A05-45C1160410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B7E7D1-426D-8206-15F6-EDF5C2EE78C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D6879AF-86CE-8D3B-C7F9-10C17C99702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EFD6E72-B45D-1F16-385D-2304AF82FB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
        <p:nvSpPr>
          <p:cNvPr id="2" name="TextBox 1">
            <a:extLst>
              <a:ext uri="{FF2B5EF4-FFF2-40B4-BE49-F238E27FC236}">
                <a16:creationId xmlns:a16="http://schemas.microsoft.com/office/drawing/2014/main" id="{E92796CA-B4E1-C6E8-8A3F-C925B633A3F6}"/>
              </a:ext>
            </a:extLst>
          </p:cNvPr>
          <p:cNvSpPr txBox="1"/>
          <p:nvPr/>
        </p:nvSpPr>
        <p:spPr>
          <a:xfrm>
            <a:off x="3346450" y="5864883"/>
            <a:ext cx="5499100" cy="253916"/>
          </a:xfrm>
          <a:prstGeom prst="rect">
            <a:avLst/>
          </a:prstGeom>
          <a:noFill/>
        </p:spPr>
        <p:txBody>
          <a:bodyPr wrap="square" rtlCol="0">
            <a:spAutoFit/>
          </a:bodyPr>
          <a:lstStyle/>
          <a:p>
            <a:pPr algn="ctr"/>
            <a:r>
              <a:rPr lang="en-US" sz="1050" dirty="0">
                <a:hlinkClick r:id="rId4"/>
              </a:rPr>
              <a:t>https://www.akm.com/global/en/products/rotation-angle-sensor/tutorial/type-mechanism-2/</a:t>
            </a:r>
            <a:r>
              <a:rPr lang="en-US" sz="1050" dirty="0"/>
              <a:t> </a:t>
            </a:r>
          </a:p>
        </p:txBody>
      </p:sp>
      <p:pic>
        <p:nvPicPr>
          <p:cNvPr id="3074" name="Picture 2" descr="Figure 2a. 4-slit incremental type rotary encoder">
            <a:extLst>
              <a:ext uri="{FF2B5EF4-FFF2-40B4-BE49-F238E27FC236}">
                <a16:creationId xmlns:a16="http://schemas.microsoft.com/office/drawing/2014/main" id="{2503CA4C-C9A0-28CA-2BEA-45E1383091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400" y="1371600"/>
            <a:ext cx="5486400" cy="41148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igure 2b. 8-slit incremental type rotary encoder">
            <a:extLst>
              <a:ext uri="{FF2B5EF4-FFF2-40B4-BE49-F238E27FC236}">
                <a16:creationId xmlns:a16="http://schemas.microsoft.com/office/drawing/2014/main" id="{ABCBC115-5896-42BA-872A-0975D754F9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99200" y="1371600"/>
            <a:ext cx="5486400" cy="41148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8ABA92-73FE-ED31-8233-8797572526F0}"/>
              </a:ext>
            </a:extLst>
          </p:cNvPr>
          <p:cNvSpPr txBox="1"/>
          <p:nvPr/>
        </p:nvSpPr>
        <p:spPr>
          <a:xfrm>
            <a:off x="1312637" y="5501216"/>
            <a:ext cx="3435350" cy="307777"/>
          </a:xfrm>
          <a:prstGeom prst="rect">
            <a:avLst/>
          </a:prstGeom>
          <a:noFill/>
        </p:spPr>
        <p:txBody>
          <a:bodyPr wrap="square" rtlCol="0">
            <a:spAutoFit/>
          </a:bodyPr>
          <a:lstStyle/>
          <a:p>
            <a:r>
              <a:rPr lang="en-US" dirty="0"/>
              <a:t>4-slit incremental type rotary encoder</a:t>
            </a:r>
          </a:p>
        </p:txBody>
      </p:sp>
      <p:sp>
        <p:nvSpPr>
          <p:cNvPr id="4" name="TextBox 3">
            <a:extLst>
              <a:ext uri="{FF2B5EF4-FFF2-40B4-BE49-F238E27FC236}">
                <a16:creationId xmlns:a16="http://schemas.microsoft.com/office/drawing/2014/main" id="{318BAE68-F809-9571-D9A2-601F046623ED}"/>
              </a:ext>
            </a:extLst>
          </p:cNvPr>
          <p:cNvSpPr txBox="1"/>
          <p:nvPr/>
        </p:nvSpPr>
        <p:spPr>
          <a:xfrm>
            <a:off x="7357837" y="5508203"/>
            <a:ext cx="3435350" cy="307777"/>
          </a:xfrm>
          <a:prstGeom prst="rect">
            <a:avLst/>
          </a:prstGeom>
          <a:noFill/>
        </p:spPr>
        <p:txBody>
          <a:bodyPr wrap="square" rtlCol="0">
            <a:spAutoFit/>
          </a:bodyPr>
          <a:lstStyle/>
          <a:p>
            <a:r>
              <a:rPr lang="en-US" dirty="0"/>
              <a:t>8-slit incremental type rotary encoder</a:t>
            </a:r>
          </a:p>
        </p:txBody>
      </p:sp>
    </p:spTree>
    <p:extLst>
      <p:ext uri="{BB962C8B-B14F-4D97-AF65-F5344CB8AC3E}">
        <p14:creationId xmlns:p14="http://schemas.microsoft.com/office/powerpoint/2010/main" val="3004795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F5C9FE3A-B845-0A38-B280-3467573D11F6}"/>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0FE80EC5-1BA1-A1CF-1D80-53EDD5D622E0}"/>
              </a:ext>
            </a:extLst>
          </p:cNvPr>
          <p:cNvSpPr txBox="1"/>
          <p:nvPr/>
        </p:nvSpPr>
        <p:spPr>
          <a:xfrm>
            <a:off x="2206906" y="2459524"/>
            <a:ext cx="7778187"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rial"/>
                <a:ea typeface="Arial"/>
                <a:cs typeface="Arial"/>
                <a:sym typeface="Arial"/>
              </a:rPr>
              <a:t>What are some problems?</a:t>
            </a:r>
            <a:endParaRPr sz="1400" b="0" i="0" u="none" strike="noStrike" cap="none" dirty="0">
              <a:solidFill>
                <a:srgbClr val="000000"/>
              </a:solidFill>
              <a:latin typeface="Arial"/>
              <a:ea typeface="Arial"/>
              <a:cs typeface="Arial"/>
              <a:sym typeface="Arial"/>
            </a:endParaRPr>
          </a:p>
        </p:txBody>
      </p:sp>
      <p:grpSp>
        <p:nvGrpSpPr>
          <p:cNvPr id="91" name="Google Shape;91;p27">
            <a:extLst>
              <a:ext uri="{FF2B5EF4-FFF2-40B4-BE49-F238E27FC236}">
                <a16:creationId xmlns:a16="http://schemas.microsoft.com/office/drawing/2014/main" id="{E67DDCCD-0B89-9E78-21E7-022CEC2625B9}"/>
              </a:ext>
            </a:extLst>
          </p:cNvPr>
          <p:cNvGrpSpPr/>
          <p:nvPr/>
        </p:nvGrpSpPr>
        <p:grpSpPr>
          <a:xfrm>
            <a:off x="4165129" y="2021113"/>
            <a:ext cx="3861740" cy="322845"/>
            <a:chOff x="3943790" y="2676939"/>
            <a:chExt cx="3861740" cy="322845"/>
          </a:xfrm>
        </p:grpSpPr>
        <p:cxnSp>
          <p:nvCxnSpPr>
            <p:cNvPr id="92" name="Google Shape;92;p27">
              <a:extLst>
                <a:ext uri="{FF2B5EF4-FFF2-40B4-BE49-F238E27FC236}">
                  <a16:creationId xmlns:a16="http://schemas.microsoft.com/office/drawing/2014/main" id="{32668ADE-B08B-C835-5039-189AF54C35B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8EE84682-F891-830B-D25C-091FD3529792}"/>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D254C8B6-3C02-4DE1-84E6-D7C8E9E137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2F2CB220-E57E-4615-4508-D7A14BFBDC5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D9C08BE8-B02F-8D2C-7379-78B4F2DC2D1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EBC6B91F-1B53-7F60-E149-19A86A0EC1A8}"/>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CD85645-7814-1040-5C9B-65150B5BA9B5}"/>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37D3BFD4-C721-E6EB-2996-37333A4D3A9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141349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D427FA-B6EA-596D-A34E-E8CAB20C72B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28F8E85-3DB7-8918-B05E-E86595991AE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DEB8168-1F32-196A-7701-3E7EB83A938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 - Direction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5EF54FC-1652-1807-FBC8-04361EDAF93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4408AD-12AB-B91C-DE03-A2BC31C90F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84963CD-EF7E-BD84-A5D8-49AE6EF8B6C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43D0122-21E6-94C7-D386-615CA0C3B1E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CD924D7-EF5B-2959-2960-062CD7761D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0F20049-271B-A1E1-92E8-B124C4BFBB5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098" name="Picture 2" descr="Figure 3a. Waveforms of phase A and B in clockwise">
            <a:extLst>
              <a:ext uri="{FF2B5EF4-FFF2-40B4-BE49-F238E27FC236}">
                <a16:creationId xmlns:a16="http://schemas.microsoft.com/office/drawing/2014/main" id="{8FFC8881-B788-D82E-2842-B06E2B8DD8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960120"/>
            <a:ext cx="5486400" cy="4937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7435BA5-3A61-5339-89D4-0F152E78518A}"/>
              </a:ext>
            </a:extLst>
          </p:cNvPr>
          <p:cNvSpPr txBox="1"/>
          <p:nvPr/>
        </p:nvSpPr>
        <p:spPr>
          <a:xfrm>
            <a:off x="3346450" y="6179839"/>
            <a:ext cx="5499100" cy="253916"/>
          </a:xfrm>
          <a:prstGeom prst="rect">
            <a:avLst/>
          </a:prstGeom>
          <a:noFill/>
        </p:spPr>
        <p:txBody>
          <a:bodyPr wrap="square" rtlCol="0">
            <a:spAutoFit/>
          </a:bodyPr>
          <a:lstStyle/>
          <a:p>
            <a:pPr algn="ctr"/>
            <a:r>
              <a:rPr lang="en-US" sz="1050" dirty="0">
                <a:hlinkClick r:id="rId5"/>
              </a:rPr>
              <a:t>https://www.akm.com/global/en/products/rotation-angle-sensor/tutorial/type-mechanism-2/</a:t>
            </a:r>
            <a:r>
              <a:rPr lang="en-US" sz="1050" dirty="0"/>
              <a:t> </a:t>
            </a:r>
          </a:p>
        </p:txBody>
      </p:sp>
    </p:spTree>
    <p:extLst>
      <p:ext uri="{BB962C8B-B14F-4D97-AF65-F5344CB8AC3E}">
        <p14:creationId xmlns:p14="http://schemas.microsoft.com/office/powerpoint/2010/main" val="4292105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678DE01-1D2D-881A-02C7-1AC59318EEC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DDB6EDE-0B2B-D704-5ED9-648EE5265F1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208F073-D361-13DB-9947-D22B4BAAA9A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 - Direction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50BB72F-3058-4529-1F6C-0608B1EA896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BC4DDB3-6566-ECDB-0575-7E4E9498C3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3817C3E-A11B-9374-AA89-F41DAA06F42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8207735-BAB0-6164-3FA4-FE9BEE16377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66D0B9F-1B82-9706-94D0-FAFD884411E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97A17D0-4095-A086-0C44-40E7B1E186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
        <p:nvSpPr>
          <p:cNvPr id="2" name="TextBox 1">
            <a:extLst>
              <a:ext uri="{FF2B5EF4-FFF2-40B4-BE49-F238E27FC236}">
                <a16:creationId xmlns:a16="http://schemas.microsoft.com/office/drawing/2014/main" id="{0B2D354C-807B-891C-4475-FC1423D71401}"/>
              </a:ext>
            </a:extLst>
          </p:cNvPr>
          <p:cNvSpPr txBox="1"/>
          <p:nvPr/>
        </p:nvSpPr>
        <p:spPr>
          <a:xfrm>
            <a:off x="3346450" y="6179839"/>
            <a:ext cx="5499100" cy="253916"/>
          </a:xfrm>
          <a:prstGeom prst="rect">
            <a:avLst/>
          </a:prstGeom>
          <a:noFill/>
        </p:spPr>
        <p:txBody>
          <a:bodyPr wrap="square" rtlCol="0">
            <a:spAutoFit/>
          </a:bodyPr>
          <a:lstStyle/>
          <a:p>
            <a:pPr algn="ctr"/>
            <a:r>
              <a:rPr lang="en-US" sz="1050" dirty="0">
                <a:hlinkClick r:id="rId4"/>
              </a:rPr>
              <a:t>https://www.akm.com/global/en/products/rotation-angle-sensor/tutorial/type-mechanism-2/</a:t>
            </a:r>
            <a:r>
              <a:rPr lang="en-US" sz="1050" dirty="0"/>
              <a:t> </a:t>
            </a:r>
          </a:p>
        </p:txBody>
      </p:sp>
      <p:pic>
        <p:nvPicPr>
          <p:cNvPr id="3" name="Picture 4" descr="Figure 3b. Waveforms of phase A and B in counterclockwise">
            <a:extLst>
              <a:ext uri="{FF2B5EF4-FFF2-40B4-BE49-F238E27FC236}">
                <a16:creationId xmlns:a16="http://schemas.microsoft.com/office/drawing/2014/main" id="{C2235EBB-6C90-DBE3-1B47-38AFD35D26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8623" y="960120"/>
            <a:ext cx="5486400" cy="4937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308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8734313-8BE2-C43C-9DB3-0E305EBF1B7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B713D0F-08EB-9804-47EF-969599147F9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84E9422-2D4C-0730-A9B3-6082E2405F3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 - Direction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5967D4E-D6D0-3FAC-5DE9-BCD0B215AEC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E5BB9F7-E3A3-5940-31C1-BFF18C1FF14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D135C6-22C5-6EF2-9FAF-5A8AB0D336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1717450-FCD3-34B9-10D4-E03923C3F2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47EBCF8-9CC9-9FF9-118D-9651304FCD2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429E300-E870-B1B7-B79F-43224A3215B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098" name="Picture 2" descr="Figure 3a. Waveforms of phase A and B in clockwise">
            <a:extLst>
              <a:ext uri="{FF2B5EF4-FFF2-40B4-BE49-F238E27FC236}">
                <a16:creationId xmlns:a16="http://schemas.microsoft.com/office/drawing/2014/main" id="{D2EC7600-8AC7-F09B-1F53-AE9E5FDF7A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 y="1054250"/>
            <a:ext cx="5486400" cy="493776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Figure 3b. Waveforms of phase A and B in counterclockwise">
            <a:extLst>
              <a:ext uri="{FF2B5EF4-FFF2-40B4-BE49-F238E27FC236}">
                <a16:creationId xmlns:a16="http://schemas.microsoft.com/office/drawing/2014/main" id="{DBAADA90-402A-E9F4-1454-F003B9F016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9200" y="1054250"/>
            <a:ext cx="5486400" cy="4937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E78C1A1-CF49-421C-6CF4-D27388057E49}"/>
              </a:ext>
            </a:extLst>
          </p:cNvPr>
          <p:cNvSpPr txBox="1"/>
          <p:nvPr/>
        </p:nvSpPr>
        <p:spPr>
          <a:xfrm>
            <a:off x="3346450" y="6179839"/>
            <a:ext cx="5499100" cy="253916"/>
          </a:xfrm>
          <a:prstGeom prst="rect">
            <a:avLst/>
          </a:prstGeom>
          <a:noFill/>
        </p:spPr>
        <p:txBody>
          <a:bodyPr wrap="square" rtlCol="0">
            <a:spAutoFit/>
          </a:bodyPr>
          <a:lstStyle/>
          <a:p>
            <a:pPr algn="ctr"/>
            <a:r>
              <a:rPr lang="en-US" sz="1050" dirty="0">
                <a:hlinkClick r:id="rId6"/>
              </a:rPr>
              <a:t>https://www.akm.com/global/en/products/rotation-angle-sensor/tutorial/type-mechanism-2/</a:t>
            </a:r>
            <a:r>
              <a:rPr lang="en-US" sz="1050" dirty="0"/>
              <a:t> </a:t>
            </a:r>
          </a:p>
        </p:txBody>
      </p:sp>
    </p:spTree>
    <p:extLst>
      <p:ext uri="{BB962C8B-B14F-4D97-AF65-F5344CB8AC3E}">
        <p14:creationId xmlns:p14="http://schemas.microsoft.com/office/powerpoint/2010/main" val="1613476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DAE5D4C-60F0-A320-2DE8-31FBE0ADEEA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1BBB689-C2F8-88C6-F04B-914345C257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solidFill>
                  <a:schemeClr val="dk1"/>
                </a:solidFill>
                <a:latin typeface="Arial"/>
                <a:ea typeface="Arial"/>
                <a:cs typeface="Arial"/>
                <a:sym typeface="Arial"/>
              </a:rPr>
              <a:t>To encode the direction you have 2 channels, each of them offset by a phase of 90 degrees</a:t>
            </a:r>
          </a:p>
          <a:p>
            <a:pPr marL="285750" indent="-285750">
              <a:lnSpc>
                <a:spcPct val="100000"/>
              </a:lnSpc>
              <a:spcBef>
                <a:spcPts val="0"/>
              </a:spcBef>
              <a:buSzPts val="3000"/>
            </a:pPr>
            <a:r>
              <a:rPr lang="en-US" sz="1800" dirty="0">
                <a:latin typeface="Arial"/>
                <a:ea typeface="Arial"/>
                <a:cs typeface="Arial"/>
                <a:sym typeface="Arial"/>
              </a:rPr>
              <a:t>The rotational direction can be determined depending on which pulse of the phase A or phase B rises B.</a:t>
            </a:r>
          </a:p>
          <a:p>
            <a:pPr marL="285750" indent="-285750">
              <a:lnSpc>
                <a:spcPct val="100000"/>
              </a:lnSpc>
              <a:spcBef>
                <a:spcPts val="0"/>
              </a:spcBef>
              <a:buSzPts val="3000"/>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endParaRPr lang="en-US" sz="1800" dirty="0">
              <a:latin typeface="Arial"/>
              <a:ea typeface="Arial"/>
              <a:cs typeface="Arial"/>
              <a:sym typeface="Arial"/>
            </a:endParaRPr>
          </a:p>
          <a:p>
            <a:pPr marL="285750" indent="-285750">
              <a:lnSpc>
                <a:spcPct val="100000"/>
              </a:lnSpc>
              <a:spcBef>
                <a:spcPts val="0"/>
              </a:spcBef>
              <a:buSzPts val="3000"/>
            </a:pPr>
            <a:r>
              <a:rPr lang="en-US" sz="1800" dirty="0">
                <a:solidFill>
                  <a:schemeClr val="dk1"/>
                </a:solidFill>
                <a:latin typeface="Arial"/>
                <a:ea typeface="Arial"/>
                <a:cs typeface="Arial"/>
                <a:sym typeface="Arial"/>
              </a:rPr>
              <a:t>By subtracting the number of pulses in reverse rotation, the amount of rotation can be accurately determined.</a:t>
            </a:r>
          </a:p>
        </p:txBody>
      </p:sp>
      <p:sp>
        <p:nvSpPr>
          <p:cNvPr id="119" name="Google Shape;119;p29">
            <a:extLst>
              <a:ext uri="{FF2B5EF4-FFF2-40B4-BE49-F238E27FC236}">
                <a16:creationId xmlns:a16="http://schemas.microsoft.com/office/drawing/2014/main" id="{B2AFE923-E67F-C4AB-BCFE-918B0AE4C83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0DD7552-06FF-6C4D-93F9-0AAB0987DE5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 - Direction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742A0C2-0CFE-3F40-4A2B-3CFD54AA624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77A227E-3C74-1663-9C7A-6000E1D7C1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0F145C5-F2F0-A74A-EED3-DB28EFDBB13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43203F5-7910-9F59-FE86-A00EA86B291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AA1E331-EE11-D9B6-5106-E20D0653917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FFAF191-4E50-1600-A4B2-A8D01CCFA39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1E944887-F44C-FAD5-F9BE-FC50F812B1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4450" y="2063079"/>
            <a:ext cx="7023100" cy="2991714"/>
          </a:xfrm>
          <a:prstGeom prst="rect">
            <a:avLst/>
          </a:prstGeom>
        </p:spPr>
      </p:pic>
    </p:spTree>
    <p:extLst>
      <p:ext uri="{BB962C8B-B14F-4D97-AF65-F5344CB8AC3E}">
        <p14:creationId xmlns:p14="http://schemas.microsoft.com/office/powerpoint/2010/main" val="1371091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FFA381C-874E-700B-64FB-21E1E0AF9C0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A59449C-24F1-B034-0422-9E294A7D503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solidFill>
                      <a:schemeClr val="dk1"/>
                    </a:solidFill>
                    <a:latin typeface="Arial"/>
                    <a:ea typeface="Arial"/>
                    <a:cs typeface="Arial"/>
                    <a:sym typeface="Arial"/>
                  </a:rPr>
                  <a:t>The combined output of (A, B), forms a 2-bit </a:t>
                </a:r>
                <a:r>
                  <a:rPr lang="en-US" sz="2400" b="1" dirty="0">
                    <a:solidFill>
                      <a:schemeClr val="dk1"/>
                    </a:solidFill>
                    <a:latin typeface="Arial"/>
                    <a:ea typeface="Arial"/>
                    <a:cs typeface="Arial"/>
                    <a:sym typeface="Arial"/>
                  </a:rPr>
                  <a:t>Gray code sequence</a:t>
                </a:r>
                <a:r>
                  <a:rPr lang="en-US" sz="2400" dirty="0">
                    <a:solidFill>
                      <a:schemeClr val="dk1"/>
                    </a:solidFill>
                    <a:latin typeface="Arial"/>
                    <a:ea typeface="Arial"/>
                    <a:cs typeface="Arial"/>
                    <a:sym typeface="Arial"/>
                  </a:rPr>
                  <a:t> (only 1 bit changes each timestep).</a:t>
                </a:r>
              </a:p>
              <a:p>
                <a:pPr marL="285750" indent="-285750">
                  <a:lnSpc>
                    <a:spcPct val="100000"/>
                  </a:lnSpc>
                  <a:spcBef>
                    <a:spcPts val="0"/>
                  </a:spcBef>
                  <a:buSzPts val="3000"/>
                </a:pPr>
                <a:r>
                  <a:rPr lang="en-US" sz="2400" dirty="0">
                    <a:latin typeface="Arial"/>
                    <a:ea typeface="Arial"/>
                    <a:cs typeface="Arial"/>
                    <a:sym typeface="Arial"/>
                  </a:rPr>
                  <a:t>The states cycle through 4 quadrants (00, 01, 10, 11)</a:t>
                </a:r>
              </a:p>
              <a:p>
                <a:pPr marL="285750" indent="-285750">
                  <a:lnSpc>
                    <a:spcPct val="100000"/>
                  </a:lnSpc>
                  <a:spcBef>
                    <a:spcPts val="0"/>
                  </a:spcBef>
                  <a:buSzPts val="3000"/>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If </a:t>
                </a:r>
                <a:r>
                  <a:rPr lang="en-US" sz="2400" b="1" dirty="0">
                    <a:latin typeface="Arial"/>
                    <a:ea typeface="Arial"/>
                    <a:cs typeface="Arial"/>
                    <a:sym typeface="Arial"/>
                  </a:rPr>
                  <a:t>clockwise </a:t>
                </a:r>
                <a:r>
                  <a:rPr lang="en-US" sz="2400" dirty="0">
                    <a:latin typeface="Arial"/>
                    <a:ea typeface="Arial"/>
                    <a:cs typeface="Arial"/>
                    <a:sym typeface="Arial"/>
                  </a:rPr>
                  <a:t>(CW): A leads B, the sequence is:</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gn="ctr">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(0, 0)</m:t>
                      </m:r>
                      <m:r>
                        <a:rPr lang="en-US" sz="2400" b="0" i="1" smtClean="0">
                          <a:solidFill>
                            <a:schemeClr val="dk1"/>
                          </a:solidFill>
                          <a:latin typeface="Cambria Math" panose="02040503050406030204" pitchFamily="18" charset="0"/>
                          <a:ea typeface="Cambria Math" panose="02040503050406030204" pitchFamily="18" charset="0"/>
                          <a:cs typeface="Arial"/>
                          <a:sym typeface="Arial"/>
                        </a:rPr>
                        <m:t>→</m:t>
                      </m:r>
                      <m:r>
                        <a:rPr lang="en-US" sz="2400" i="1" dirty="0">
                          <a:latin typeface="Cambria Math" panose="02040503050406030204" pitchFamily="18" charset="0"/>
                          <a:ea typeface="Arial"/>
                          <a:cs typeface="Arial"/>
                          <a:sym typeface="Arial"/>
                        </a:rPr>
                        <m:t>(1,0)</m:t>
                      </m:r>
                      <m:r>
                        <a:rPr lang="en-US" sz="2400" i="1">
                          <a:latin typeface="Cambria Math" panose="02040503050406030204" pitchFamily="18" charset="0"/>
                          <a:ea typeface="Cambria Math" panose="02040503050406030204" pitchFamily="18" charset="0"/>
                          <a:cs typeface="Arial"/>
                          <a:sym typeface="Arial"/>
                        </a:rPr>
                        <m:t>→(1,1)→(0,1)→(0,0)</m:t>
                      </m:r>
                    </m:oMath>
                  </m:oMathPara>
                </a14:m>
                <a:endParaRPr lang="en-US" sz="2400" dirty="0">
                  <a:solidFill>
                    <a:schemeClr val="dk1"/>
                  </a:solidFill>
                  <a:latin typeface="Arial"/>
                  <a:ea typeface="Arial"/>
                  <a:cs typeface="Arial"/>
                  <a:sym typeface="Arial"/>
                </a:endParaRPr>
              </a:p>
              <a:p>
                <a:pPr marL="0" indent="0" algn="ctr">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If </a:t>
                </a:r>
                <a:r>
                  <a:rPr lang="en-US" sz="2400" b="1" dirty="0">
                    <a:latin typeface="Arial"/>
                    <a:ea typeface="Arial"/>
                    <a:cs typeface="Arial"/>
                    <a:sym typeface="Arial"/>
                  </a:rPr>
                  <a:t>counter-clockwise</a:t>
                </a:r>
                <a:r>
                  <a:rPr lang="en-US" sz="2400" dirty="0">
                    <a:latin typeface="Arial"/>
                    <a:ea typeface="Arial"/>
                    <a:cs typeface="Arial"/>
                    <a:sym typeface="Arial"/>
                  </a:rPr>
                  <a:t> (CCW): B leads C, the sequence is:</a:t>
                </a:r>
              </a:p>
              <a:p>
                <a:pPr marL="0" indent="0">
                  <a:lnSpc>
                    <a:spcPct val="100000"/>
                  </a:lnSpc>
                  <a:spcBef>
                    <a:spcPts val="0"/>
                  </a:spcBef>
                  <a:buSzPts val="3000"/>
                  <a:buNone/>
                </a:pPr>
                <a:endParaRPr lang="en-US" sz="2400" dirty="0">
                  <a:latin typeface="Arial"/>
                  <a:ea typeface="Arial"/>
                  <a:cs typeface="Arial"/>
                  <a:sym typeface="Arial"/>
                </a:endParaRPr>
              </a:p>
              <a:p>
                <a:pPr marL="0" indent="0" algn="ctr">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Arial"/>
                          <a:cs typeface="Arial"/>
                          <a:sym typeface="Arial"/>
                        </a:rPr>
                        <m:t>(0, 0)</m:t>
                      </m:r>
                      <m:r>
                        <a:rPr lang="en-US" sz="2400" i="1">
                          <a:latin typeface="Cambria Math" panose="02040503050406030204" pitchFamily="18" charset="0"/>
                          <a:ea typeface="Cambria Math" panose="02040503050406030204" pitchFamily="18" charset="0"/>
                          <a:cs typeface="Arial"/>
                          <a:sym typeface="Arial"/>
                        </a:rPr>
                        <m:t>→</m:t>
                      </m:r>
                      <m:r>
                        <a:rPr lang="en-US" sz="2400" i="1" dirty="0">
                          <a:latin typeface="Cambria Math" panose="02040503050406030204" pitchFamily="18" charset="0"/>
                          <a:ea typeface="Arial"/>
                          <a:cs typeface="Arial"/>
                          <a:sym typeface="Arial"/>
                        </a:rPr>
                        <m:t>(</m:t>
                      </m:r>
                      <m:r>
                        <a:rPr lang="en-US" sz="2400" b="0" i="1" dirty="0" smtClean="0">
                          <a:latin typeface="Cambria Math" panose="02040503050406030204" pitchFamily="18" charset="0"/>
                          <a:ea typeface="Arial"/>
                          <a:cs typeface="Arial"/>
                          <a:sym typeface="Arial"/>
                        </a:rPr>
                        <m:t>0</m:t>
                      </m:r>
                      <m:r>
                        <a:rPr lang="en-US" sz="2400" i="1" dirty="0">
                          <a:latin typeface="Cambria Math" panose="02040503050406030204" pitchFamily="18" charset="0"/>
                          <a:ea typeface="Arial"/>
                          <a:cs typeface="Arial"/>
                          <a:sym typeface="Arial"/>
                        </a:rPr>
                        <m:t>,</m:t>
                      </m:r>
                      <m:r>
                        <a:rPr lang="en-US" sz="2400" b="0" i="1" dirty="0" smtClean="0">
                          <a:latin typeface="Cambria Math" panose="02040503050406030204" pitchFamily="18" charset="0"/>
                          <a:ea typeface="Arial"/>
                          <a:cs typeface="Arial"/>
                          <a:sym typeface="Arial"/>
                        </a:rPr>
                        <m:t>1</m:t>
                      </m:r>
                      <m:r>
                        <a:rPr lang="en-US" sz="2400" i="1" dirty="0">
                          <a:latin typeface="Cambria Math" panose="02040503050406030204" pitchFamily="18" charset="0"/>
                          <a:ea typeface="Arial"/>
                          <a:cs typeface="Arial"/>
                          <a:sym typeface="Arial"/>
                        </a:rPr>
                        <m:t>)</m:t>
                      </m:r>
                      <m:r>
                        <a:rPr lang="en-US" sz="2400" i="1">
                          <a:latin typeface="Cambria Math" panose="02040503050406030204" pitchFamily="18" charset="0"/>
                          <a:ea typeface="Cambria Math" panose="02040503050406030204" pitchFamily="18" charset="0"/>
                          <a:cs typeface="Arial"/>
                          <a:sym typeface="Arial"/>
                        </a:rPr>
                        <m:t>→(</m:t>
                      </m:r>
                      <m:r>
                        <a:rPr lang="en-US" sz="2400" b="0" i="1" smtClean="0">
                          <a:latin typeface="Cambria Math" panose="02040503050406030204" pitchFamily="18" charset="0"/>
                          <a:ea typeface="Cambria Math" panose="02040503050406030204" pitchFamily="18" charset="0"/>
                          <a:cs typeface="Arial"/>
                          <a:sym typeface="Arial"/>
                        </a:rPr>
                        <m:t>1</m:t>
                      </m:r>
                      <m:r>
                        <a:rPr lang="en-US" sz="2400" i="1">
                          <a:latin typeface="Cambria Math" panose="02040503050406030204" pitchFamily="18" charset="0"/>
                          <a:ea typeface="Cambria Math" panose="02040503050406030204" pitchFamily="18" charset="0"/>
                          <a:cs typeface="Arial"/>
                          <a:sym typeface="Arial"/>
                        </a:rPr>
                        <m:t>,1)→(</m:t>
                      </m:r>
                      <m:r>
                        <a:rPr lang="en-US" sz="2400" b="0" i="1" smtClean="0">
                          <a:latin typeface="Cambria Math" panose="02040503050406030204" pitchFamily="18" charset="0"/>
                          <a:ea typeface="Cambria Math" panose="02040503050406030204" pitchFamily="18" charset="0"/>
                          <a:cs typeface="Arial"/>
                          <a:sym typeface="Arial"/>
                        </a:rPr>
                        <m:t>1</m:t>
                      </m:r>
                      <m:r>
                        <a:rPr lang="en-US" sz="2400" i="1">
                          <a:latin typeface="Cambria Math" panose="02040503050406030204" pitchFamily="18" charset="0"/>
                          <a:ea typeface="Cambria Math" panose="02040503050406030204" pitchFamily="18" charset="0"/>
                          <a:cs typeface="Arial"/>
                          <a:sym typeface="Arial"/>
                        </a:rPr>
                        <m:t>,</m:t>
                      </m:r>
                      <m:r>
                        <a:rPr lang="en-US" sz="2400" b="0" i="1" smtClean="0">
                          <a:latin typeface="Cambria Math" panose="02040503050406030204" pitchFamily="18" charset="0"/>
                          <a:ea typeface="Cambria Math" panose="02040503050406030204" pitchFamily="18" charset="0"/>
                          <a:cs typeface="Arial"/>
                          <a:sym typeface="Arial"/>
                        </a:rPr>
                        <m:t>0</m:t>
                      </m:r>
                      <m:r>
                        <a:rPr lang="en-US" sz="2400" i="1">
                          <a:latin typeface="Cambria Math" panose="02040503050406030204" pitchFamily="18" charset="0"/>
                          <a:ea typeface="Cambria Math" panose="02040503050406030204" pitchFamily="18" charset="0"/>
                          <a:cs typeface="Arial"/>
                          <a:sym typeface="Arial"/>
                        </a:rPr>
                        <m:t>)→(0,0)</m:t>
                      </m:r>
                    </m:oMath>
                  </m:oMathPara>
                </a14:m>
                <a:endParaRPr lang="en-US" sz="24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4A59449C-24F1-B034-0422-9E294A7D503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240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4DB6FF5-481E-49B0-C9F5-B05132B6EFA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C4C81D0-FF94-E63B-7369-FA24F8779B0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 - Direction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E430338-C187-9628-5777-4F46E18A10A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20D5564-7365-7081-1676-9F7E841146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C1430A2-62D5-D4B5-A4CE-B37BB11619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8F63EB0-2D0A-31D8-934D-5DAB453B9F0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895AD9E-E86F-9C65-4E26-0C522520CC1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8003B19-530D-43F0-78E7-756C2EC4A35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
        <p:nvSpPr>
          <p:cNvPr id="3" name="TextBox 2">
            <a:extLst>
              <a:ext uri="{FF2B5EF4-FFF2-40B4-BE49-F238E27FC236}">
                <a16:creationId xmlns:a16="http://schemas.microsoft.com/office/drawing/2014/main" id="{DDC7F80F-E1AE-4309-9209-ADF038A218B6}"/>
              </a:ext>
            </a:extLst>
          </p:cNvPr>
          <p:cNvSpPr txBox="1"/>
          <p:nvPr/>
        </p:nvSpPr>
        <p:spPr>
          <a:xfrm>
            <a:off x="9857736" y="5583171"/>
            <a:ext cx="1835427" cy="738664"/>
          </a:xfrm>
          <a:prstGeom prst="rect">
            <a:avLst/>
          </a:prstGeom>
          <a:noFill/>
        </p:spPr>
        <p:txBody>
          <a:bodyPr wrap="square" rtlCol="0">
            <a:spAutoFit/>
          </a:bodyPr>
          <a:lstStyle/>
          <a:p>
            <a:r>
              <a:rPr lang="en-US" dirty="0"/>
              <a:t>If I do not have an animation, I did not have time to make it.</a:t>
            </a:r>
          </a:p>
        </p:txBody>
      </p:sp>
    </p:spTree>
    <p:extLst>
      <p:ext uri="{BB962C8B-B14F-4D97-AF65-F5344CB8AC3E}">
        <p14:creationId xmlns:p14="http://schemas.microsoft.com/office/powerpoint/2010/main" val="148387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32E30A7-9BE1-BBB5-D602-91CC2906F78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5E49BA9-5693-9B72-6920-AD645062FF9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84F87489-EF82-AA8A-B5E2-BA9CD83F11B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 - Direction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DEAD23A-0D54-ACE7-B9F2-361014FC932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A8C285E-DA5D-BBFE-4017-BB3EFA7E37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E67F593-29C2-A2BF-1E99-32D29FA34BF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044636A-19BB-9514-8050-FF8DFD1A725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2CB45DD-CCAC-EC4A-F8FB-F901998DB20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C815A73-2763-C6CD-A026-19D02B1EAF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8" name="Graphic 7">
            <a:extLst>
              <a:ext uri="{FF2B5EF4-FFF2-40B4-BE49-F238E27FC236}">
                <a16:creationId xmlns:a16="http://schemas.microsoft.com/office/drawing/2014/main" id="{72EF6654-5103-A01A-DBAD-9C9F47B5C5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818" y="1544654"/>
            <a:ext cx="8550995" cy="4073732"/>
          </a:xfrm>
          <a:prstGeom prst="rect">
            <a:avLst/>
          </a:prstGeom>
        </p:spPr>
      </p:pic>
      <p:pic>
        <p:nvPicPr>
          <p:cNvPr id="3" name="Graphic 2">
            <a:extLst>
              <a:ext uri="{FF2B5EF4-FFF2-40B4-BE49-F238E27FC236}">
                <a16:creationId xmlns:a16="http://schemas.microsoft.com/office/drawing/2014/main" id="{C2253F07-688A-FE18-A290-EEAD46E118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06631" y="1939610"/>
            <a:ext cx="3257550" cy="3283821"/>
          </a:xfrm>
          <a:prstGeom prst="rect">
            <a:avLst/>
          </a:prstGeom>
        </p:spPr>
      </p:pic>
    </p:spTree>
    <p:extLst>
      <p:ext uri="{BB962C8B-B14F-4D97-AF65-F5344CB8AC3E}">
        <p14:creationId xmlns:p14="http://schemas.microsoft.com/office/powerpoint/2010/main" val="2706199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2A759C84-A86A-FF47-EC01-0364D347F7B8}"/>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39C725A2-3704-B6CA-F32C-06092F3069EE}"/>
              </a:ext>
            </a:extLst>
          </p:cNvPr>
          <p:cNvSpPr txBox="1"/>
          <p:nvPr/>
        </p:nvSpPr>
        <p:spPr>
          <a:xfrm>
            <a:off x="2206906" y="2459524"/>
            <a:ext cx="7778187"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rial"/>
                <a:ea typeface="Arial"/>
                <a:cs typeface="Arial"/>
                <a:sym typeface="Arial"/>
              </a:rPr>
              <a:t>What if you turn the robot off?</a:t>
            </a:r>
            <a:endParaRPr sz="1400" b="0" i="0" u="none" strike="noStrike" cap="none" dirty="0">
              <a:solidFill>
                <a:srgbClr val="000000"/>
              </a:solidFill>
              <a:latin typeface="Arial"/>
              <a:ea typeface="Arial"/>
              <a:cs typeface="Arial"/>
              <a:sym typeface="Arial"/>
            </a:endParaRPr>
          </a:p>
        </p:txBody>
      </p:sp>
      <p:grpSp>
        <p:nvGrpSpPr>
          <p:cNvPr id="91" name="Google Shape;91;p27">
            <a:extLst>
              <a:ext uri="{FF2B5EF4-FFF2-40B4-BE49-F238E27FC236}">
                <a16:creationId xmlns:a16="http://schemas.microsoft.com/office/drawing/2014/main" id="{A99A7060-7C35-9067-EFB0-DE55880E5372}"/>
              </a:ext>
            </a:extLst>
          </p:cNvPr>
          <p:cNvGrpSpPr/>
          <p:nvPr/>
        </p:nvGrpSpPr>
        <p:grpSpPr>
          <a:xfrm>
            <a:off x="4165129" y="2021113"/>
            <a:ext cx="3861740" cy="322845"/>
            <a:chOff x="3943790" y="2676939"/>
            <a:chExt cx="3861740" cy="322845"/>
          </a:xfrm>
        </p:grpSpPr>
        <p:cxnSp>
          <p:nvCxnSpPr>
            <p:cNvPr id="92" name="Google Shape;92;p27">
              <a:extLst>
                <a:ext uri="{FF2B5EF4-FFF2-40B4-BE49-F238E27FC236}">
                  <a16:creationId xmlns:a16="http://schemas.microsoft.com/office/drawing/2014/main" id="{5726F905-5BA0-8EFE-7AA8-58C7AB383DE9}"/>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B109BBE0-692B-A2CF-FFA8-13BA513B1F7C}"/>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E414F1E4-C789-82F1-4B6E-33FAAC0B14C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5E73979-7FF9-A6F7-DDD4-85E81B0F2E4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B569C05F-EC70-B5E0-6769-015DAA2FB7F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D3C43AA6-ABAA-0D21-7C78-EBEA11E94F0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EE3A3866-4246-67D6-B46D-97C02CABE7DD}"/>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DEB1E326-B5EC-2C10-A25A-C032F8FA5E8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48256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A3B45F-A037-90B7-B0F4-9A5BC8BE34B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23AB0B9-E5B6-48CB-A959-B0E4D0DFB04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solidFill>
                  <a:schemeClr val="dk1"/>
                </a:solidFill>
                <a:latin typeface="+mj-lt"/>
                <a:ea typeface="Arial"/>
                <a:cs typeface="Arial"/>
                <a:sym typeface="Arial"/>
              </a:rPr>
              <a:t>An </a:t>
            </a:r>
            <a:r>
              <a:rPr lang="en-US" sz="2000" b="1" dirty="0">
                <a:solidFill>
                  <a:schemeClr val="dk1"/>
                </a:solidFill>
                <a:latin typeface="+mj-lt"/>
                <a:ea typeface="Arial"/>
                <a:cs typeface="Arial"/>
                <a:sym typeface="Arial"/>
              </a:rPr>
              <a:t>absolute </a:t>
            </a:r>
            <a:r>
              <a:rPr lang="en-US" sz="2000" dirty="0">
                <a:solidFill>
                  <a:schemeClr val="dk1"/>
                </a:solidFill>
                <a:latin typeface="+mj-lt"/>
                <a:ea typeface="Arial"/>
                <a:cs typeface="Arial"/>
                <a:sym typeface="Arial"/>
              </a:rPr>
              <a:t>optical encoder </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285750" indent="-285750">
              <a:lnSpc>
                <a:spcPct val="100000"/>
              </a:lnSpc>
              <a:spcBef>
                <a:spcPts val="0"/>
              </a:spcBef>
              <a:buSzPts val="3000"/>
            </a:pPr>
            <a:r>
              <a:rPr lang="en-US" sz="2000" dirty="0">
                <a:solidFill>
                  <a:schemeClr val="dk1"/>
                </a:solidFill>
                <a:latin typeface="+mj-lt"/>
                <a:ea typeface="Arial"/>
                <a:cs typeface="Arial"/>
                <a:sym typeface="Arial"/>
              </a:rPr>
              <a:t>An absolute optical encoder's disc is divided up into N sectors</a:t>
            </a:r>
            <a:endParaRPr lang="en-US" sz="2000" dirty="0">
              <a:latin typeface="+mj-lt"/>
              <a:ea typeface="Arial"/>
              <a:cs typeface="Arial"/>
              <a:sym typeface="Arial"/>
            </a:endParaRPr>
          </a:p>
          <a:p>
            <a:pPr marL="742950" lvl="1" indent="-285750">
              <a:lnSpc>
                <a:spcPct val="100000"/>
              </a:lnSpc>
              <a:spcBef>
                <a:spcPts val="0"/>
              </a:spcBef>
              <a:buSzPts val="3000"/>
            </a:pPr>
            <a:r>
              <a:rPr lang="en-US" sz="2000" dirty="0">
                <a:solidFill>
                  <a:schemeClr val="dk1"/>
                </a:solidFill>
                <a:latin typeface="+mj-lt"/>
                <a:ea typeface="Arial"/>
                <a:cs typeface="Arial"/>
                <a:sym typeface="Arial"/>
              </a:rPr>
              <a:t>Each sector is further divided radially along its length into opaque and transparent sections, forming a unique N-bit digital word with a maximum count of 2N – 1. </a:t>
            </a:r>
          </a:p>
          <a:p>
            <a:pPr marL="285750" indent="-285750">
              <a:lnSpc>
                <a:spcPct val="100000"/>
              </a:lnSpc>
              <a:spcBef>
                <a:spcPts val="0"/>
              </a:spcBef>
              <a:buSzPts val="3000"/>
            </a:pPr>
            <a:r>
              <a:rPr lang="en-US" sz="2000" dirty="0">
                <a:solidFill>
                  <a:schemeClr val="dk1"/>
                </a:solidFill>
                <a:latin typeface="+mj-lt"/>
                <a:ea typeface="Arial"/>
                <a:cs typeface="Arial"/>
                <a:sym typeface="Arial"/>
              </a:rPr>
              <a:t>The digital word formed radially by each sector increments in value from one sector to the next, usually employing </a:t>
            </a:r>
            <a:r>
              <a:rPr lang="en-US" sz="2000" b="1" dirty="0">
                <a:solidFill>
                  <a:schemeClr val="dk1"/>
                </a:solidFill>
                <a:latin typeface="+mj-lt"/>
                <a:ea typeface="Arial"/>
                <a:cs typeface="Arial"/>
                <a:sym typeface="Arial"/>
              </a:rPr>
              <a:t>Gray code</a:t>
            </a:r>
            <a:r>
              <a:rPr lang="en-US" sz="2000" dirty="0">
                <a:solidFill>
                  <a:schemeClr val="dk1"/>
                </a:solidFill>
                <a:latin typeface="+mj-lt"/>
                <a:ea typeface="Arial"/>
                <a:cs typeface="Arial"/>
                <a:sym typeface="Arial"/>
              </a:rPr>
              <a:t>. </a:t>
            </a:r>
          </a:p>
          <a:p>
            <a:pPr marL="285750" indent="-285750">
              <a:lnSpc>
                <a:spcPct val="100000"/>
              </a:lnSpc>
              <a:spcBef>
                <a:spcPts val="0"/>
              </a:spcBef>
              <a:buSzPts val="3000"/>
            </a:pPr>
            <a:r>
              <a:rPr lang="en-US" sz="2000" b="1" dirty="0">
                <a:solidFill>
                  <a:schemeClr val="dk1"/>
                </a:solidFill>
                <a:latin typeface="+mj-lt"/>
                <a:ea typeface="Arial"/>
                <a:cs typeface="Arial"/>
                <a:sym typeface="Arial"/>
              </a:rPr>
              <a:t>Binary coding </a:t>
            </a:r>
            <a:r>
              <a:rPr lang="en-US" sz="2000" dirty="0">
                <a:solidFill>
                  <a:schemeClr val="dk1"/>
                </a:solidFill>
                <a:latin typeface="+mj-lt"/>
                <a:ea typeface="Arial"/>
                <a:cs typeface="Arial"/>
                <a:sym typeface="Arial"/>
              </a:rPr>
              <a:t>could be used but can produce large errors if a single bit is incorrectly interpreted by the sensors.</a:t>
            </a:r>
          </a:p>
          <a:p>
            <a:pPr marL="285750" indent="-285750">
              <a:lnSpc>
                <a:spcPct val="100000"/>
              </a:lnSpc>
              <a:spcBef>
                <a:spcPts val="0"/>
              </a:spcBef>
              <a:buSzPts val="3000"/>
            </a:pPr>
            <a:r>
              <a:rPr lang="en-US" sz="2000" dirty="0">
                <a:solidFill>
                  <a:schemeClr val="dk1"/>
                </a:solidFill>
                <a:latin typeface="+mj-lt"/>
                <a:ea typeface="Arial"/>
                <a:cs typeface="Arial"/>
                <a:sym typeface="Arial"/>
              </a:rPr>
              <a:t>Gray code overcomes this defect: the maximum error produced by an error in any single bit of the Gray code is only 1 LSB after the Gray code is converted into binary code. </a:t>
            </a:r>
          </a:p>
          <a:p>
            <a:pPr marL="285750" indent="-285750">
              <a:lnSpc>
                <a:spcPct val="100000"/>
              </a:lnSpc>
              <a:spcBef>
                <a:spcPts val="0"/>
              </a:spcBef>
              <a:buSzPts val="3000"/>
            </a:pPr>
            <a:r>
              <a:rPr lang="en-US" sz="2000" dirty="0">
                <a:solidFill>
                  <a:schemeClr val="dk1"/>
                </a:solidFill>
                <a:latin typeface="+mj-lt"/>
                <a:ea typeface="Arial"/>
                <a:cs typeface="Arial"/>
                <a:sym typeface="Arial"/>
              </a:rPr>
              <a:t>A set of N light sensors responds to the </a:t>
            </a:r>
            <a:r>
              <a:rPr lang="en-US" sz="2000" b="1" dirty="0">
                <a:solidFill>
                  <a:schemeClr val="dk1"/>
                </a:solidFill>
                <a:latin typeface="+mj-lt"/>
                <a:ea typeface="Arial"/>
                <a:cs typeface="Arial"/>
                <a:sym typeface="Arial"/>
              </a:rPr>
              <a:t>N-bit digital word </a:t>
            </a:r>
            <a:r>
              <a:rPr lang="en-US" sz="2000" dirty="0">
                <a:solidFill>
                  <a:schemeClr val="dk1"/>
                </a:solidFill>
                <a:latin typeface="+mj-lt"/>
                <a:ea typeface="Arial"/>
                <a:cs typeface="Arial"/>
                <a:sym typeface="Arial"/>
              </a:rPr>
              <a:t>which corresponds to the </a:t>
            </a:r>
            <a:r>
              <a:rPr lang="en-US" sz="2000" b="1" dirty="0">
                <a:solidFill>
                  <a:schemeClr val="dk1"/>
                </a:solidFill>
                <a:latin typeface="+mj-lt"/>
                <a:ea typeface="Arial"/>
                <a:cs typeface="Arial"/>
                <a:sym typeface="Arial"/>
              </a:rPr>
              <a:t>disc's absolute angular position</a:t>
            </a:r>
            <a:r>
              <a:rPr lang="en-US" sz="2000" dirty="0">
                <a:solidFill>
                  <a:schemeClr val="dk1"/>
                </a:solidFill>
                <a:latin typeface="+mj-lt"/>
                <a:ea typeface="Arial"/>
                <a:cs typeface="Arial"/>
                <a:sym typeface="Arial"/>
              </a:rPr>
              <a:t>. </a:t>
            </a:r>
          </a:p>
        </p:txBody>
      </p:sp>
      <p:sp>
        <p:nvSpPr>
          <p:cNvPr id="119" name="Google Shape;119;p29">
            <a:extLst>
              <a:ext uri="{FF2B5EF4-FFF2-40B4-BE49-F238E27FC236}">
                <a16:creationId xmlns:a16="http://schemas.microsoft.com/office/drawing/2014/main" id="{C3AB5FE0-6CC1-BD6D-8AD0-7B7BE91246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E765958-CBAD-6B74-263E-19882E26BEE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C78CF3E-BFED-E5A9-BCF8-1B5EFBA59F3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1BE144C-F6AE-212D-0966-30E69C394A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1422487-7FC3-6456-0B00-8F3FE088B84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999A7AC-D414-E65B-B5B9-4347EFBCCC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854B9C3-6CDE-1650-869D-BCDD9148756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779C0FD-571F-B317-D34B-910CEEA0DAF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4213104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F289058-954C-FB24-B250-6E9402CFE38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81A67D4-FEFE-71DA-1915-E64D64D473E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FADF018-A81B-C169-E1F2-071EBE78054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1C4C1A6-A72C-7978-D449-2E3656A66CF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B576D3D-BFBF-2DF6-057F-F7B4F7A47C7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350B03-3EB1-6774-690E-1CB3B0E93A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9B88A7-C58B-0353-DFE3-13D34B71FF8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6E4339E-3F1A-6551-F54C-0237B70F77E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BB96DA0-9A22-C3C1-FB30-CD15CD1A9D8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C16E2DE4-C380-655A-EAA4-316930318A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69194" y="1000048"/>
            <a:ext cx="6453613" cy="5392506"/>
          </a:xfrm>
          <a:prstGeom prst="rect">
            <a:avLst/>
          </a:prstGeom>
        </p:spPr>
      </p:pic>
      <p:sp>
        <p:nvSpPr>
          <p:cNvPr id="4" name="TextBox 3">
            <a:extLst>
              <a:ext uri="{FF2B5EF4-FFF2-40B4-BE49-F238E27FC236}">
                <a16:creationId xmlns:a16="http://schemas.microsoft.com/office/drawing/2014/main" id="{8E4D3AAD-6488-87E2-EEBA-81B0235D3EFE}"/>
              </a:ext>
            </a:extLst>
          </p:cNvPr>
          <p:cNvSpPr txBox="1"/>
          <p:nvPr/>
        </p:nvSpPr>
        <p:spPr>
          <a:xfrm>
            <a:off x="3872948" y="6358962"/>
            <a:ext cx="4446105" cy="261610"/>
          </a:xfrm>
          <a:prstGeom prst="rect">
            <a:avLst/>
          </a:prstGeom>
          <a:noFill/>
        </p:spPr>
        <p:txBody>
          <a:bodyPr wrap="square" rtlCol="0">
            <a:spAutoFit/>
          </a:bodyPr>
          <a:lstStyle/>
          <a:p>
            <a:pPr algn="ctr"/>
            <a:r>
              <a:rPr lang="en-US" sz="1050" dirty="0">
                <a:hlinkClick r:id="rId6"/>
              </a:rPr>
              <a:t>https://www.analog.com/media/en/training-seminars/tutorials/mt-029.pdf</a:t>
            </a:r>
            <a:r>
              <a:rPr lang="en-US" sz="1050" dirty="0"/>
              <a:t> </a:t>
            </a:r>
          </a:p>
        </p:txBody>
      </p:sp>
    </p:spTree>
    <p:extLst>
      <p:ext uri="{BB962C8B-B14F-4D97-AF65-F5344CB8AC3E}">
        <p14:creationId xmlns:p14="http://schemas.microsoft.com/office/powerpoint/2010/main" val="1938493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2B7A068-3897-C21F-39F0-96FEC886A96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864A8B0-2D45-46EC-DB9A-7AFF530F645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71158F0-1A40-9E63-FBC2-C9A928A1872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34411F6-82EB-17CA-2158-6358D33CBBF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B1B08CD-5189-1B8D-AF8F-2EB9D4A17D1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B86683A-3FA3-2685-DB21-09BDB045BFA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E95C861-39C8-3933-3862-859D0202F8A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CA809CE-363F-3F63-B2A5-23DCF7C728A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1403FC8-6C96-ADB0-87EF-A11F86D43F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
        <p:nvSpPr>
          <p:cNvPr id="4" name="TextBox 3">
            <a:extLst>
              <a:ext uri="{FF2B5EF4-FFF2-40B4-BE49-F238E27FC236}">
                <a16:creationId xmlns:a16="http://schemas.microsoft.com/office/drawing/2014/main" id="{54108CD0-26BE-03BE-8B3B-B00576570A3D}"/>
              </a:ext>
            </a:extLst>
          </p:cNvPr>
          <p:cNvSpPr txBox="1"/>
          <p:nvPr/>
        </p:nvSpPr>
        <p:spPr>
          <a:xfrm>
            <a:off x="3238499" y="6255804"/>
            <a:ext cx="5715002" cy="253916"/>
          </a:xfrm>
          <a:prstGeom prst="rect">
            <a:avLst/>
          </a:prstGeom>
          <a:noFill/>
        </p:spPr>
        <p:txBody>
          <a:bodyPr wrap="square" rtlCol="0">
            <a:spAutoFit/>
          </a:bodyPr>
          <a:lstStyle/>
          <a:p>
            <a:r>
              <a:rPr lang="en-US" sz="1050" dirty="0">
                <a:hlinkClick r:id="rId4"/>
              </a:rPr>
              <a:t>https://www.akm.com/global/en/products/rotation-angle-sensor/tutorial/type-mechanism-2/</a:t>
            </a:r>
            <a:r>
              <a:rPr lang="en-US" sz="1050" dirty="0"/>
              <a:t> </a:t>
            </a:r>
          </a:p>
        </p:txBody>
      </p:sp>
      <p:pic>
        <p:nvPicPr>
          <p:cNvPr id="8194" name="Picture 2" descr="Figure 4b. Absolute rotary encoder with 5 rows of slits">
            <a:extLst>
              <a:ext uri="{FF2B5EF4-FFF2-40B4-BE49-F238E27FC236}">
                <a16:creationId xmlns:a16="http://schemas.microsoft.com/office/drawing/2014/main" id="{39F42D80-8E3C-7788-7EF7-17AEA31373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2904" y="1072273"/>
            <a:ext cx="8486192" cy="509171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3BE46AB-2AA2-E35F-063F-C15DD649FC0D}"/>
              </a:ext>
            </a:extLst>
          </p:cNvPr>
          <p:cNvSpPr txBox="1"/>
          <p:nvPr/>
        </p:nvSpPr>
        <p:spPr>
          <a:xfrm>
            <a:off x="2657061" y="872218"/>
            <a:ext cx="6877879" cy="400110"/>
          </a:xfrm>
          <a:prstGeom prst="rect">
            <a:avLst/>
          </a:prstGeom>
          <a:noFill/>
        </p:spPr>
        <p:txBody>
          <a:bodyPr wrap="square" rtlCol="0">
            <a:spAutoFit/>
          </a:bodyPr>
          <a:lstStyle/>
          <a:p>
            <a:pPr algn="ctr"/>
            <a:r>
              <a:rPr lang="en-US" sz="2000" dirty="0"/>
              <a:t>What type of encoding is this? Gray or binary?</a:t>
            </a:r>
          </a:p>
        </p:txBody>
      </p:sp>
    </p:spTree>
    <p:extLst>
      <p:ext uri="{BB962C8B-B14F-4D97-AF65-F5344CB8AC3E}">
        <p14:creationId xmlns:p14="http://schemas.microsoft.com/office/powerpoint/2010/main" val="129755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6C55353-89AC-27C9-5422-D933A1794CA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5CF1FDD-F4FB-2D37-7E64-A8B03483764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4CEDC5C-D567-A8AE-3E3C-E4FE01FB189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F19BA606-CAED-305C-2BDF-B9B8AA5BE81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A7DC89E-64E1-AFBB-39EC-149A9081B1F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9720C46-3C04-0465-D891-23E573CF12A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F98F4C6-59BD-5BA0-87B1-5611896CE26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09E18DF-FFF1-4EBF-D891-17F4BDDC91A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748D8E5-92F6-3BC6-14E7-7DE07F78671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Online Media 2" title="Gray Code's Error Reduction with Encoders">
            <a:hlinkClick r:id="" action="ppaction://media"/>
            <a:extLst>
              <a:ext uri="{FF2B5EF4-FFF2-40B4-BE49-F238E27FC236}">
                <a16:creationId xmlns:a16="http://schemas.microsoft.com/office/drawing/2014/main" id="{D2C9E5D5-CAAC-223E-3F23-7EEEFA886AB2}"/>
              </a:ext>
            </a:extLst>
          </p:cNvPr>
          <p:cNvPicPr>
            <a:picLocks noRot="1" noChangeAspect="1"/>
          </p:cNvPicPr>
          <p:nvPr>
            <a:videoFile r:link="rId1"/>
          </p:nvPr>
        </p:nvPicPr>
        <p:blipFill>
          <a:blip r:embed="rId5"/>
          <a:stretch>
            <a:fillRect/>
          </a:stretch>
        </p:blipFill>
        <p:spPr>
          <a:xfrm>
            <a:off x="1499354" y="951730"/>
            <a:ext cx="9193292" cy="5194222"/>
          </a:xfrm>
          <a:prstGeom prst="rect">
            <a:avLst/>
          </a:prstGeom>
        </p:spPr>
      </p:pic>
      <p:sp>
        <p:nvSpPr>
          <p:cNvPr id="5" name="TextBox 4">
            <a:extLst>
              <a:ext uri="{FF2B5EF4-FFF2-40B4-BE49-F238E27FC236}">
                <a16:creationId xmlns:a16="http://schemas.microsoft.com/office/drawing/2014/main" id="{2852A0B5-7EFB-FA26-6613-49C02DA41C20}"/>
              </a:ext>
            </a:extLst>
          </p:cNvPr>
          <p:cNvSpPr txBox="1"/>
          <p:nvPr/>
        </p:nvSpPr>
        <p:spPr>
          <a:xfrm>
            <a:off x="5091113" y="6176442"/>
            <a:ext cx="2009775" cy="246221"/>
          </a:xfrm>
          <a:prstGeom prst="rect">
            <a:avLst/>
          </a:prstGeom>
          <a:noFill/>
        </p:spPr>
        <p:txBody>
          <a:bodyPr wrap="square" rtlCol="0">
            <a:spAutoFit/>
          </a:bodyPr>
          <a:lstStyle/>
          <a:p>
            <a:pPr algn="ctr"/>
            <a:r>
              <a:rPr lang="en-US" sz="1000" dirty="0">
                <a:hlinkClick r:id="rId6"/>
              </a:rPr>
              <a:t>https://youtu.be/VKmMoT5hpVY</a:t>
            </a:r>
            <a:r>
              <a:rPr lang="en-US" sz="1000" dirty="0"/>
              <a:t> </a:t>
            </a:r>
          </a:p>
        </p:txBody>
      </p:sp>
    </p:spTree>
    <p:extLst>
      <p:ext uri="{BB962C8B-B14F-4D97-AF65-F5344CB8AC3E}">
        <p14:creationId xmlns:p14="http://schemas.microsoft.com/office/powerpoint/2010/main" val="365788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36276E6-E9DB-31B8-B3DE-F1A202B3DD7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C1A57E9-9EB7-8BCB-9D39-268EB50B9B2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F8B2962-7F91-6416-4E27-DD6A50B24A8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C4DA5FB-49B3-AFB8-EA34-B2D788ED0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1DFDBF1-E2EE-B73C-D0AB-40D70E4C675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31E89E-FFCF-8B24-88F3-C76568824B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32F7779-4AA6-8A9A-258B-3FFF0A939E9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BD2347-5509-FBFD-F0FB-ACE6E92B5ED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2B89F1A-184D-1949-7905-BFF8F103CD6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
        <p:nvSpPr>
          <p:cNvPr id="4" name="TextBox 3">
            <a:extLst>
              <a:ext uri="{FF2B5EF4-FFF2-40B4-BE49-F238E27FC236}">
                <a16:creationId xmlns:a16="http://schemas.microsoft.com/office/drawing/2014/main" id="{477A870E-AEE1-96FD-29BC-7F179664AD64}"/>
              </a:ext>
            </a:extLst>
          </p:cNvPr>
          <p:cNvSpPr txBox="1"/>
          <p:nvPr/>
        </p:nvSpPr>
        <p:spPr>
          <a:xfrm>
            <a:off x="3238499" y="6255804"/>
            <a:ext cx="5715002" cy="253916"/>
          </a:xfrm>
          <a:prstGeom prst="rect">
            <a:avLst/>
          </a:prstGeom>
          <a:noFill/>
        </p:spPr>
        <p:txBody>
          <a:bodyPr wrap="square" rtlCol="0">
            <a:spAutoFit/>
          </a:bodyPr>
          <a:lstStyle/>
          <a:p>
            <a:pPr algn="ctr"/>
            <a:r>
              <a:rPr lang="en-US" sz="1050" dirty="0">
                <a:hlinkClick r:id="rId4"/>
              </a:rPr>
              <a:t>https://www.akm.com/global/en/products/rotation-angle-sensor/tutorial/type-mechanism-2/</a:t>
            </a:r>
            <a:r>
              <a:rPr lang="en-US" sz="1050" dirty="0"/>
              <a:t> </a:t>
            </a:r>
          </a:p>
        </p:txBody>
      </p:sp>
      <p:pic>
        <p:nvPicPr>
          <p:cNvPr id="9218" name="Picture 2" descr="Figure 7. Parallel output signal and serial converted output signal">
            <a:extLst>
              <a:ext uri="{FF2B5EF4-FFF2-40B4-BE49-F238E27FC236}">
                <a16:creationId xmlns:a16="http://schemas.microsoft.com/office/drawing/2014/main" id="{660DFC84-6DC7-7D59-E703-23FA4CA73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3500" y="1047750"/>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44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E3CD54E4-0C40-6FD3-F5CA-EA773DDF0825}"/>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1D243276-44E0-78BB-E292-76C70CE8DD5C}"/>
              </a:ext>
            </a:extLst>
          </p:cNvPr>
          <p:cNvSpPr txBox="1"/>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err="1">
                <a:solidFill>
                  <a:srgbClr val="15264B"/>
                </a:solidFill>
                <a:latin typeface="Arial"/>
                <a:ea typeface="Arial"/>
                <a:cs typeface="Arial"/>
                <a:sym typeface="Arial"/>
              </a:rPr>
              <a:t>eQEP</a:t>
            </a:r>
            <a:endParaRPr dirty="0"/>
          </a:p>
        </p:txBody>
      </p:sp>
      <p:grpSp>
        <p:nvGrpSpPr>
          <p:cNvPr id="105" name="Google Shape;105;p28">
            <a:extLst>
              <a:ext uri="{FF2B5EF4-FFF2-40B4-BE49-F238E27FC236}">
                <a16:creationId xmlns:a16="http://schemas.microsoft.com/office/drawing/2014/main" id="{8C57526A-F674-E7E2-1E2B-063F26C56CFC}"/>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DDBA8EF-D573-40BB-25D8-A8EC3126AF3E}"/>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48AA3ABB-4ACB-BA1A-A383-88C4C5898958}"/>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D65C8EBB-366E-6FBB-C8A7-AC7FD3D110AD}"/>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52F1C70A-E698-4990-1918-3C787FC1F84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2CC0A40-8000-2887-27F0-91773BDE8855}"/>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3D3B9A8-4EB9-455F-6546-31B4F65AB8FB}"/>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22F12F8-0022-8E54-0EEB-63EF4BF1C4C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89574333-BC8E-D993-12BD-E3422E3884C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738642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2C62D51-0FC3-64FD-11B1-D69631BBC8B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F426973-59C7-93F9-A9F8-9D051F9C6A7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Arial"/>
                <a:cs typeface="Arial"/>
                <a:sym typeface="Arial"/>
              </a:rPr>
              <a:t>The </a:t>
            </a:r>
            <a:r>
              <a:rPr lang="en-US" sz="2000" dirty="0" err="1">
                <a:latin typeface="+mj-lt"/>
                <a:ea typeface="Arial"/>
                <a:cs typeface="Arial"/>
                <a:sym typeface="Arial"/>
              </a:rPr>
              <a:t>eQEP</a:t>
            </a:r>
            <a:r>
              <a:rPr lang="en-US" sz="2000" dirty="0">
                <a:latin typeface="+mj-lt"/>
                <a:ea typeface="Arial"/>
                <a:cs typeface="Arial"/>
                <a:sym typeface="Arial"/>
              </a:rPr>
              <a:t> peripheral is used to read data from an </a:t>
            </a:r>
            <a:r>
              <a:rPr lang="en-US" sz="2000" b="1" dirty="0">
                <a:latin typeface="+mj-lt"/>
                <a:ea typeface="Arial"/>
                <a:cs typeface="Arial"/>
                <a:sym typeface="Arial"/>
              </a:rPr>
              <a:t>incremental </a:t>
            </a:r>
            <a:r>
              <a:rPr lang="en-US" sz="2000" dirty="0">
                <a:latin typeface="+mj-lt"/>
                <a:ea typeface="Arial"/>
                <a:cs typeface="Arial"/>
                <a:sym typeface="Arial"/>
              </a:rPr>
              <a:t>optical encoder only. </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As such what is the main data that needs to be read in?</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The 2 phase signals!</a:t>
            </a:r>
          </a:p>
          <a:p>
            <a:pPr marL="0" indent="0">
              <a:lnSpc>
                <a:spcPct val="100000"/>
              </a:lnSpc>
              <a:spcBef>
                <a:spcPts val="0"/>
              </a:spcBef>
              <a:buSzPts val="3000"/>
              <a:buNone/>
            </a:pPr>
            <a:endParaRPr lang="en-US" sz="2000" dirty="0">
              <a:latin typeface="+mj-lt"/>
              <a:ea typeface="Arial"/>
              <a:cs typeface="Arial"/>
              <a:sym typeface="Arial"/>
            </a:endParaRPr>
          </a:p>
          <a:p>
            <a:pPr marL="34290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p:txBody>
      </p:sp>
      <p:sp>
        <p:nvSpPr>
          <p:cNvPr id="119" name="Google Shape;119;p29">
            <a:extLst>
              <a:ext uri="{FF2B5EF4-FFF2-40B4-BE49-F238E27FC236}">
                <a16:creationId xmlns:a16="http://schemas.microsoft.com/office/drawing/2014/main" id="{91B6396A-A0D6-0DA0-166D-4291599B3A4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246EBBF-AEB6-B3D2-2367-2A65123BC93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5C96124-B606-737A-C16B-61A46CDB3E5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8B016EC-15DC-E26C-EDD8-25DF9251A53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233945A-C99F-E520-ED86-AA4780117FA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5E1061D-15CD-F006-D62F-D04057C8E2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AB776D6-5E6E-2CF5-420C-D854B12A528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0935D2F-30AD-5B16-F142-84F08F9F63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34889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92ED69E-0B20-FB79-833A-1A5B1156356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BE1EDAB-C51A-3ACB-860C-E0705D49A9B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BBB01D6-6A2E-CF42-8AB5-E583AD51911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r>
              <a:rPr lang="en-US" sz="2400" dirty="0">
                <a:solidFill>
                  <a:schemeClr val="lt1"/>
                </a:solidFill>
              </a:rPr>
              <a:t> – Overview diagram</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70ADD0D-391C-230B-661A-3A2FA0A5A69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79C5838-F436-978A-E6DA-995E6482C16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5EA185A-AB80-2EB8-351F-1340697FEA6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013ED7E-8AEE-9113-10CF-674FD9722E6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5990B77-95CE-D897-9ADD-39484CA8F0A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71E4D37-0C5D-8B23-7BFA-38EEC2BD83E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04C35D3B-231B-85B9-DB11-2976AD0EF3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8913" y="983446"/>
            <a:ext cx="6734174" cy="5540590"/>
          </a:xfrm>
          <a:prstGeom prst="rect">
            <a:avLst/>
          </a:prstGeom>
        </p:spPr>
      </p:pic>
      <p:sp>
        <p:nvSpPr>
          <p:cNvPr id="10" name="Rectangle 9">
            <a:extLst>
              <a:ext uri="{FF2B5EF4-FFF2-40B4-BE49-F238E27FC236}">
                <a16:creationId xmlns:a16="http://schemas.microsoft.com/office/drawing/2014/main" id="{C8050F2B-AB9B-7C63-52E3-9CC8D6F3612F}"/>
              </a:ext>
            </a:extLst>
          </p:cNvPr>
          <p:cNvSpPr/>
          <p:nvPr/>
        </p:nvSpPr>
        <p:spPr>
          <a:xfrm>
            <a:off x="6648999" y="3975652"/>
            <a:ext cx="860635" cy="17227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36BCE8C-FDC1-5AD0-3100-212CB50DFDF8}"/>
              </a:ext>
            </a:extLst>
          </p:cNvPr>
          <p:cNvCxnSpPr>
            <a:cxnSpLocks/>
            <a:stCxn id="13" idx="2"/>
            <a:endCxn id="10" idx="0"/>
          </p:cNvCxnSpPr>
          <p:nvPr/>
        </p:nvCxnSpPr>
        <p:spPr>
          <a:xfrm flipH="1">
            <a:off x="7079317" y="3016332"/>
            <a:ext cx="1834267" cy="9593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14E513E-DA77-2A93-88A4-62B911988D05}"/>
              </a:ext>
            </a:extLst>
          </p:cNvPr>
          <p:cNvSpPr txBox="1"/>
          <p:nvPr/>
        </p:nvSpPr>
        <p:spPr>
          <a:xfrm>
            <a:off x="7846770" y="2493112"/>
            <a:ext cx="2133627" cy="523220"/>
          </a:xfrm>
          <a:prstGeom prst="rect">
            <a:avLst/>
          </a:prstGeom>
          <a:noFill/>
        </p:spPr>
        <p:txBody>
          <a:bodyPr wrap="square" rtlCol="0">
            <a:spAutoFit/>
          </a:bodyPr>
          <a:lstStyle/>
          <a:p>
            <a:r>
              <a:rPr lang="en-US" dirty="0">
                <a:solidFill>
                  <a:srgbClr val="FF0000"/>
                </a:solidFill>
              </a:rPr>
              <a:t>Does the decoding base on the phase signal</a:t>
            </a:r>
          </a:p>
        </p:txBody>
      </p:sp>
    </p:spTree>
    <p:extLst>
      <p:ext uri="{BB962C8B-B14F-4D97-AF65-F5344CB8AC3E}">
        <p14:creationId xmlns:p14="http://schemas.microsoft.com/office/powerpoint/2010/main" val="349316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0801B3-E655-E3DE-5EE3-EE36267FA4F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94B0474-A6FD-FC09-3FAF-84EC4B5FAC2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ctr" anchorCtr="0">
            <a:noAutofit/>
          </a:bodyPr>
          <a:lstStyle/>
          <a:p>
            <a:pPr marL="114300" indent="0" algn="l">
              <a:buNone/>
            </a:pPr>
            <a:r>
              <a:rPr lang="en-US" sz="1800" dirty="0">
                <a:solidFill>
                  <a:srgbClr val="3F7F5F"/>
                </a:solidFill>
                <a:latin typeface="Consolas" panose="020B0609020204030204" pitchFamily="49" charset="0"/>
              </a:rPr>
              <a:t>// setup eQEP1 pins for input</a:t>
            </a:r>
          </a:p>
          <a:p>
            <a:pPr marL="114300" indent="0" algn="l">
              <a:buNone/>
            </a:pPr>
            <a:r>
              <a:rPr lang="en-US" sz="1800" dirty="0">
                <a:solidFill>
                  <a:srgbClr val="000000"/>
                </a:solidFill>
                <a:latin typeface="Consolas" panose="020B0609020204030204" pitchFamily="49" charset="0"/>
              </a:rPr>
              <a:t>EALLOW;</a:t>
            </a:r>
          </a:p>
          <a:p>
            <a:pPr marL="114300" indent="0" algn="l">
              <a:buNone/>
            </a:pPr>
            <a:r>
              <a:rPr lang="en-US" sz="1800" dirty="0">
                <a:solidFill>
                  <a:srgbClr val="3F7F5F"/>
                </a:solidFill>
                <a:latin typeface="Consolas" panose="020B0609020204030204" pitchFamily="49" charset="0"/>
              </a:rPr>
              <a:t>//Disable internal pull-up for the selected output pins for reduced power consumption</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GPAPUD</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GPIO20</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Disable pull-up on GPIO20 (EQEP1A)</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GPAPUD</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GPIO21</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Disable pull-up on GPIO21 (EQEP1B)</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GPAQSEL2</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GPIO20</a:t>
            </a:r>
            <a:r>
              <a:rPr lang="en-US" sz="1800" dirty="0">
                <a:solidFill>
                  <a:srgbClr val="000000"/>
                </a:solidFill>
                <a:latin typeface="Consolas" panose="020B0609020204030204" pitchFamily="49" charset="0"/>
              </a:rPr>
              <a:t> = 2;   </a:t>
            </a:r>
            <a:r>
              <a:rPr lang="en-US" sz="1800" dirty="0">
                <a:solidFill>
                  <a:srgbClr val="3F7F5F"/>
                </a:solidFill>
                <a:latin typeface="Consolas" panose="020B0609020204030204" pitchFamily="49" charset="0"/>
              </a:rPr>
              <a:t>// Qual every 6 samples</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GPAQSEL2</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GPIO21</a:t>
            </a:r>
            <a:r>
              <a:rPr lang="en-US" sz="1800" dirty="0">
                <a:solidFill>
                  <a:srgbClr val="000000"/>
                </a:solidFill>
                <a:latin typeface="Consolas" panose="020B0609020204030204" pitchFamily="49" charset="0"/>
              </a:rPr>
              <a:t> = 2;   </a:t>
            </a:r>
            <a:r>
              <a:rPr lang="en-US" sz="1800" dirty="0">
                <a:solidFill>
                  <a:srgbClr val="3F7F5F"/>
                </a:solidFill>
                <a:latin typeface="Consolas" panose="020B0609020204030204" pitchFamily="49" charset="0"/>
              </a:rPr>
              <a:t>// Qual every 6 samples</a:t>
            </a:r>
          </a:p>
          <a:p>
            <a:pPr marL="114300" indent="0" algn="l">
              <a:buNone/>
            </a:pPr>
            <a:r>
              <a:rPr lang="en-US" sz="1800" dirty="0">
                <a:solidFill>
                  <a:srgbClr val="000000"/>
                </a:solidFill>
                <a:latin typeface="Consolas" panose="020B0609020204030204" pitchFamily="49" charset="0"/>
              </a:rPr>
              <a:t>EDIS;</a:t>
            </a:r>
            <a:endParaRPr lang="en-US" sz="1800" b="0" dirty="0">
              <a:solidFill>
                <a:srgbClr val="3B3B3B"/>
              </a:solidFill>
              <a:effectLst/>
              <a:latin typeface="Consolas" panose="020B0609020204030204" pitchFamily="49" charset="0"/>
            </a:endParaRPr>
          </a:p>
        </p:txBody>
      </p:sp>
      <p:sp>
        <p:nvSpPr>
          <p:cNvPr id="119" name="Google Shape;119;p29">
            <a:extLst>
              <a:ext uri="{FF2B5EF4-FFF2-40B4-BE49-F238E27FC236}">
                <a16:creationId xmlns:a16="http://schemas.microsoft.com/office/drawing/2014/main" id="{C240B9D8-9716-E45F-F65B-292CCED4FAB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3770E55-B10E-752F-EF58-AC588C6A54CB}"/>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44ABF717-126E-C7B3-E29B-4950C01D49B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DB8D74D-CC10-80B2-AAC5-FFDA24F21D2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578F0C-8684-2D0A-A185-7FFB5B9BF04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969C77B-BE32-4D78-68FA-53B6A51847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4D29149-0385-2CAE-D76D-D8A4F66FB96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C21AF02-5C1C-7BBF-FF6D-94B4EC4EDD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346829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7FDF758-082D-AD8A-2276-18BADEA960A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AB7F1AA-D7BF-3138-FC1A-BD2E5936CFA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The number of times the signal is sampled is either three samples or six samples as specified in the qualification selection (GPAQSEL1, GPAQSEL2, GPBQSEL1, and GPBQSEL2) registers. When three or six consecutive cycles are the same, then the input change will be passed through to the MCU.</a:t>
            </a:r>
          </a:p>
          <a:p>
            <a:pPr marL="114300" indent="0">
              <a:buNone/>
            </a:pPr>
            <a:endParaRPr lang="en-US" sz="1800" dirty="0">
              <a:latin typeface="+mj-lt"/>
            </a:endParaRPr>
          </a:p>
          <a:p>
            <a:pPr marL="114300" indent="0">
              <a:buNone/>
            </a:pPr>
            <a:r>
              <a:rPr lang="en-US" sz="1800" dirty="0">
                <a:latin typeface="+mj-lt"/>
              </a:rPr>
              <a:t>All the samples must be </a:t>
            </a:r>
            <a:r>
              <a:rPr lang="en-US" sz="1800" b="1" dirty="0">
                <a:latin typeface="+mj-lt"/>
              </a:rPr>
              <a:t>consistent within that sampling period </a:t>
            </a:r>
            <a:r>
              <a:rPr lang="en-US" sz="1800" dirty="0">
                <a:latin typeface="+mj-lt"/>
              </a:rPr>
              <a:t>to change its output for the next output range.</a:t>
            </a:r>
          </a:p>
          <a:p>
            <a:pPr marL="114300" indent="0">
              <a:buNone/>
            </a:pPr>
            <a:endParaRPr lang="en-US" sz="1800" dirty="0">
              <a:latin typeface="+mj-lt"/>
            </a:endParaRPr>
          </a:p>
          <a:p>
            <a:pPr marL="114300" indent="0">
              <a:buNone/>
            </a:pPr>
            <a:r>
              <a:rPr lang="en-US" sz="1800" dirty="0">
                <a:latin typeface="+mj-lt"/>
              </a:rPr>
              <a:t>Helps with reducing noise as a random change would not change the result.</a:t>
            </a:r>
          </a:p>
        </p:txBody>
      </p:sp>
      <p:sp>
        <p:nvSpPr>
          <p:cNvPr id="119" name="Google Shape;119;p29">
            <a:extLst>
              <a:ext uri="{FF2B5EF4-FFF2-40B4-BE49-F238E27FC236}">
                <a16:creationId xmlns:a16="http://schemas.microsoft.com/office/drawing/2014/main" id="{69EF0A18-6D5A-2FC6-7FF9-08D02B9E709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13C0DDD-FA35-2E26-4F31-02095837B28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r>
              <a:rPr lang="en-US" sz="2400" dirty="0">
                <a:solidFill>
                  <a:schemeClr val="lt1"/>
                </a:solidFill>
              </a:rPr>
              <a:t> - </a:t>
            </a:r>
            <a:r>
              <a:rPr lang="en-US" sz="2400" dirty="0" err="1">
                <a:solidFill>
                  <a:schemeClr val="lt1"/>
                </a:solidFill>
              </a:rPr>
              <a:t>QPxQSELn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73ECAC6-C7FC-FA2C-0F8E-A0812B9C29B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29DB398-C798-FF11-6D85-285149736D0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CE1C3AC-DBF0-2AA1-DAB2-956EA819A68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5B46A49-53EA-EFEF-0DDA-E3599149DBF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11410A7-8074-34AB-AB63-7B47DFEEE30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C3E05F-6ECF-CBB9-1E8C-858F0B0F4C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192861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64BBAA3-E76D-7EF2-AA2C-245C5A5DD54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A44DE4F-D4BB-B939-9450-6D8F85CCEEF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E186937-83C2-5550-A6A4-7B3A48D3A1F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r>
              <a:rPr lang="en-US" sz="2400" dirty="0">
                <a:solidFill>
                  <a:schemeClr val="lt1"/>
                </a:solidFill>
              </a:rPr>
              <a:t> - </a:t>
            </a:r>
            <a:r>
              <a:rPr lang="en-US" sz="2400" dirty="0" err="1">
                <a:solidFill>
                  <a:schemeClr val="lt1"/>
                </a:solidFill>
              </a:rPr>
              <a:t>QPxQSELn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50405E8-15E5-FB7A-1C33-64114F76236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9AA0FF7-25B7-4516-1A34-E596433AEF5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677B58A-CF70-F7B6-F335-10D31ED9E7B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F4DB08C-0D2A-CDE2-446F-961243DFACD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3F595AF-3325-D859-CE61-28F42E4056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D699630-5C88-D440-DA72-31F1540885F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5DF49792-1753-1EF4-6C86-6062DEE964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0597" y="1158044"/>
            <a:ext cx="10990805" cy="4946982"/>
          </a:xfrm>
          <a:prstGeom prst="rect">
            <a:avLst/>
          </a:prstGeom>
        </p:spPr>
      </p:pic>
      <p:grpSp>
        <p:nvGrpSpPr>
          <p:cNvPr id="19" name="Group 18">
            <a:extLst>
              <a:ext uri="{FF2B5EF4-FFF2-40B4-BE49-F238E27FC236}">
                <a16:creationId xmlns:a16="http://schemas.microsoft.com/office/drawing/2014/main" id="{4BD283F9-8A3E-BA24-AB99-6424865E7189}"/>
              </a:ext>
            </a:extLst>
          </p:cNvPr>
          <p:cNvGrpSpPr/>
          <p:nvPr/>
        </p:nvGrpSpPr>
        <p:grpSpPr>
          <a:xfrm>
            <a:off x="376808" y="1666875"/>
            <a:ext cx="4823842" cy="1866245"/>
            <a:chOff x="376808" y="1666875"/>
            <a:chExt cx="4823842" cy="1866245"/>
          </a:xfrm>
        </p:grpSpPr>
        <p:sp>
          <p:nvSpPr>
            <p:cNvPr id="6" name="Rectangle 5">
              <a:extLst>
                <a:ext uri="{FF2B5EF4-FFF2-40B4-BE49-F238E27FC236}">
                  <a16:creationId xmlns:a16="http://schemas.microsoft.com/office/drawing/2014/main" id="{CFCC6E0D-F993-F1A1-7004-03359FEF062C}"/>
                </a:ext>
              </a:extLst>
            </p:cNvPr>
            <p:cNvSpPr/>
            <p:nvPr/>
          </p:nvSpPr>
          <p:spPr>
            <a:xfrm>
              <a:off x="2990850" y="1666875"/>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80F5A011-D0FB-FEB1-3754-D16DE0C0C715}"/>
                </a:ext>
              </a:extLst>
            </p:cNvPr>
            <p:cNvCxnSpPr>
              <a:cxnSpLocks/>
              <a:stCxn id="9" idx="3"/>
              <a:endCxn id="6" idx="2"/>
            </p:cNvCxnSpPr>
            <p:nvPr/>
          </p:nvCxnSpPr>
          <p:spPr>
            <a:xfrm flipV="1">
              <a:off x="2662164" y="2276475"/>
              <a:ext cx="1433586" cy="9950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C0F585C-AADA-CEBF-A9D7-4420E873BFA0}"/>
                </a:ext>
              </a:extLst>
            </p:cNvPr>
            <p:cNvSpPr txBox="1"/>
            <p:nvPr/>
          </p:nvSpPr>
          <p:spPr>
            <a:xfrm>
              <a:off x="376808" y="3009900"/>
              <a:ext cx="2285356" cy="523220"/>
            </a:xfrm>
            <a:prstGeom prst="rect">
              <a:avLst/>
            </a:prstGeom>
            <a:noFill/>
          </p:spPr>
          <p:txBody>
            <a:bodyPr wrap="square" rtlCol="0">
              <a:spAutoFit/>
            </a:bodyPr>
            <a:lstStyle/>
            <a:p>
              <a:r>
                <a:rPr lang="en-US" dirty="0">
                  <a:solidFill>
                    <a:srgbClr val="FF0000"/>
                  </a:solidFill>
                </a:rPr>
                <a:t>All samples are 0, change output next cycle to be 0!</a:t>
              </a:r>
            </a:p>
          </p:txBody>
        </p:sp>
      </p:grpSp>
      <p:grpSp>
        <p:nvGrpSpPr>
          <p:cNvPr id="24" name="Group 23">
            <a:extLst>
              <a:ext uri="{FF2B5EF4-FFF2-40B4-BE49-F238E27FC236}">
                <a16:creationId xmlns:a16="http://schemas.microsoft.com/office/drawing/2014/main" id="{A0479891-0663-9584-308E-53B84E1CBC2E}"/>
              </a:ext>
            </a:extLst>
          </p:cNvPr>
          <p:cNvGrpSpPr/>
          <p:nvPr/>
        </p:nvGrpSpPr>
        <p:grpSpPr>
          <a:xfrm>
            <a:off x="4095750" y="2276475"/>
            <a:ext cx="3314700" cy="3728281"/>
            <a:chOff x="4095750" y="2276475"/>
            <a:chExt cx="3314700" cy="3728281"/>
          </a:xfrm>
        </p:grpSpPr>
        <p:sp>
          <p:nvSpPr>
            <p:cNvPr id="18" name="Rectangle 17">
              <a:extLst>
                <a:ext uri="{FF2B5EF4-FFF2-40B4-BE49-F238E27FC236}">
                  <a16:creationId xmlns:a16="http://schemas.microsoft.com/office/drawing/2014/main" id="{7B69F33C-A986-9D6D-20FA-2F3281F8C0D6}"/>
                </a:ext>
              </a:extLst>
            </p:cNvPr>
            <p:cNvSpPr/>
            <p:nvPr/>
          </p:nvSpPr>
          <p:spPr>
            <a:xfrm>
              <a:off x="5200650" y="5395156"/>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1F15D8CB-0B0E-8469-6298-0682DDA39675}"/>
                </a:ext>
              </a:extLst>
            </p:cNvPr>
            <p:cNvCxnSpPr>
              <a:stCxn id="6" idx="2"/>
              <a:endCxn id="18" idx="0"/>
            </p:cNvCxnSpPr>
            <p:nvPr/>
          </p:nvCxnSpPr>
          <p:spPr>
            <a:xfrm>
              <a:off x="4095750" y="2276475"/>
              <a:ext cx="2209800" cy="3118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2919934-3565-1C0F-F86C-97868B027D9A}"/>
                </a:ext>
              </a:extLst>
            </p:cNvPr>
            <p:cNvSpPr txBox="1"/>
            <p:nvPr/>
          </p:nvSpPr>
          <p:spPr>
            <a:xfrm>
              <a:off x="5410200" y="5531090"/>
              <a:ext cx="1790700" cy="307777"/>
            </a:xfrm>
            <a:prstGeom prst="rect">
              <a:avLst/>
            </a:prstGeom>
            <a:noFill/>
          </p:spPr>
          <p:txBody>
            <a:bodyPr wrap="square" rtlCol="0">
              <a:spAutoFit/>
            </a:bodyPr>
            <a:lstStyle/>
            <a:p>
              <a:r>
                <a:rPr lang="en-US" dirty="0">
                  <a:solidFill>
                    <a:srgbClr val="FF0000"/>
                  </a:solidFill>
                </a:rPr>
                <a:t>Set GPIO value to 0</a:t>
              </a:r>
            </a:p>
          </p:txBody>
        </p:sp>
      </p:grpSp>
      <p:grpSp>
        <p:nvGrpSpPr>
          <p:cNvPr id="25" name="Group 24">
            <a:extLst>
              <a:ext uri="{FF2B5EF4-FFF2-40B4-BE49-F238E27FC236}">
                <a16:creationId xmlns:a16="http://schemas.microsoft.com/office/drawing/2014/main" id="{A13FB011-C719-E0A5-2737-2AC41EA1F644}"/>
              </a:ext>
            </a:extLst>
          </p:cNvPr>
          <p:cNvGrpSpPr/>
          <p:nvPr/>
        </p:nvGrpSpPr>
        <p:grpSpPr>
          <a:xfrm>
            <a:off x="2662164" y="1666875"/>
            <a:ext cx="4748286" cy="2278767"/>
            <a:chOff x="452364" y="1666875"/>
            <a:chExt cx="4748286" cy="2278767"/>
          </a:xfrm>
        </p:grpSpPr>
        <p:sp>
          <p:nvSpPr>
            <p:cNvPr id="26" name="Rectangle 25">
              <a:extLst>
                <a:ext uri="{FF2B5EF4-FFF2-40B4-BE49-F238E27FC236}">
                  <a16:creationId xmlns:a16="http://schemas.microsoft.com/office/drawing/2014/main" id="{AB891892-6A16-C719-06BB-43C7D519D6B6}"/>
                </a:ext>
              </a:extLst>
            </p:cNvPr>
            <p:cNvSpPr/>
            <p:nvPr/>
          </p:nvSpPr>
          <p:spPr>
            <a:xfrm>
              <a:off x="2990850" y="1666875"/>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1FCB4E3E-FFB7-E7A6-2E95-27D0E460C2CB}"/>
                </a:ext>
              </a:extLst>
            </p:cNvPr>
            <p:cNvCxnSpPr>
              <a:cxnSpLocks/>
              <a:stCxn id="28" idx="3"/>
              <a:endCxn id="26" idx="2"/>
            </p:cNvCxnSpPr>
            <p:nvPr/>
          </p:nvCxnSpPr>
          <p:spPr>
            <a:xfrm flipV="1">
              <a:off x="2737720" y="2276475"/>
              <a:ext cx="1358030" cy="12998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3DBF222-7138-F845-67F2-5BE224D9C588}"/>
                </a:ext>
              </a:extLst>
            </p:cNvPr>
            <p:cNvSpPr txBox="1"/>
            <p:nvPr/>
          </p:nvSpPr>
          <p:spPr>
            <a:xfrm>
              <a:off x="452364" y="3206978"/>
              <a:ext cx="2285356" cy="738664"/>
            </a:xfrm>
            <a:prstGeom prst="rect">
              <a:avLst/>
            </a:prstGeom>
            <a:noFill/>
          </p:spPr>
          <p:txBody>
            <a:bodyPr wrap="square" rtlCol="0">
              <a:spAutoFit/>
            </a:bodyPr>
            <a:lstStyle/>
            <a:p>
              <a:r>
                <a:rPr lang="en-US" dirty="0">
                  <a:solidFill>
                    <a:srgbClr val="FF0000"/>
                  </a:solidFill>
                </a:rPr>
                <a:t>Not all samples are 0, keep the output next cycle to be 0!</a:t>
              </a:r>
            </a:p>
          </p:txBody>
        </p:sp>
      </p:grpSp>
      <p:grpSp>
        <p:nvGrpSpPr>
          <p:cNvPr id="29" name="Group 28">
            <a:extLst>
              <a:ext uri="{FF2B5EF4-FFF2-40B4-BE49-F238E27FC236}">
                <a16:creationId xmlns:a16="http://schemas.microsoft.com/office/drawing/2014/main" id="{F8B3B737-992F-EA40-5EA2-85B264C5973F}"/>
              </a:ext>
            </a:extLst>
          </p:cNvPr>
          <p:cNvGrpSpPr/>
          <p:nvPr/>
        </p:nvGrpSpPr>
        <p:grpSpPr>
          <a:xfrm>
            <a:off x="6305550" y="2273509"/>
            <a:ext cx="3314700" cy="3728281"/>
            <a:chOff x="4095750" y="2276475"/>
            <a:chExt cx="3314700" cy="3728281"/>
          </a:xfrm>
        </p:grpSpPr>
        <p:sp>
          <p:nvSpPr>
            <p:cNvPr id="30" name="Rectangle 29">
              <a:extLst>
                <a:ext uri="{FF2B5EF4-FFF2-40B4-BE49-F238E27FC236}">
                  <a16:creationId xmlns:a16="http://schemas.microsoft.com/office/drawing/2014/main" id="{DC5DDF56-940D-B56F-7293-D793B73ABE51}"/>
                </a:ext>
              </a:extLst>
            </p:cNvPr>
            <p:cNvSpPr/>
            <p:nvPr/>
          </p:nvSpPr>
          <p:spPr>
            <a:xfrm>
              <a:off x="5200650" y="5395156"/>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6AE5922C-EA3F-7156-73A7-99DEBD06DC07}"/>
                </a:ext>
              </a:extLst>
            </p:cNvPr>
            <p:cNvCxnSpPr>
              <a:endCxn id="30" idx="0"/>
            </p:cNvCxnSpPr>
            <p:nvPr/>
          </p:nvCxnSpPr>
          <p:spPr>
            <a:xfrm>
              <a:off x="4095750" y="2276475"/>
              <a:ext cx="2209800" cy="3118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88BEE57-389B-39D4-D8E1-C7397B3522CD}"/>
                </a:ext>
              </a:extLst>
            </p:cNvPr>
            <p:cNvSpPr txBox="1"/>
            <p:nvPr/>
          </p:nvSpPr>
          <p:spPr>
            <a:xfrm>
              <a:off x="5305425" y="5544574"/>
              <a:ext cx="2000250" cy="307777"/>
            </a:xfrm>
            <a:prstGeom prst="rect">
              <a:avLst/>
            </a:prstGeom>
            <a:noFill/>
          </p:spPr>
          <p:txBody>
            <a:bodyPr wrap="square" rtlCol="0">
              <a:spAutoFit/>
            </a:bodyPr>
            <a:lstStyle/>
            <a:p>
              <a:r>
                <a:rPr lang="en-US" dirty="0">
                  <a:solidFill>
                    <a:srgbClr val="FF0000"/>
                  </a:solidFill>
                </a:rPr>
                <a:t>Keep GPIO value to 0</a:t>
              </a:r>
            </a:p>
          </p:txBody>
        </p:sp>
      </p:grpSp>
      <p:grpSp>
        <p:nvGrpSpPr>
          <p:cNvPr id="37" name="Group 36">
            <a:extLst>
              <a:ext uri="{FF2B5EF4-FFF2-40B4-BE49-F238E27FC236}">
                <a16:creationId xmlns:a16="http://schemas.microsoft.com/office/drawing/2014/main" id="{10261063-B36C-F8F4-27C2-675A1BB2EDC1}"/>
              </a:ext>
            </a:extLst>
          </p:cNvPr>
          <p:cNvGrpSpPr/>
          <p:nvPr/>
        </p:nvGrpSpPr>
        <p:grpSpPr>
          <a:xfrm>
            <a:off x="7410450" y="1666875"/>
            <a:ext cx="4576299" cy="2081689"/>
            <a:chOff x="2990850" y="1666875"/>
            <a:chExt cx="4576299" cy="2081689"/>
          </a:xfrm>
        </p:grpSpPr>
        <p:sp>
          <p:nvSpPr>
            <p:cNvPr id="38" name="Rectangle 37">
              <a:extLst>
                <a:ext uri="{FF2B5EF4-FFF2-40B4-BE49-F238E27FC236}">
                  <a16:creationId xmlns:a16="http://schemas.microsoft.com/office/drawing/2014/main" id="{BD1BC2AE-84FC-168E-C9D9-04C0ABBB2E6D}"/>
                </a:ext>
              </a:extLst>
            </p:cNvPr>
            <p:cNvSpPr/>
            <p:nvPr/>
          </p:nvSpPr>
          <p:spPr>
            <a:xfrm>
              <a:off x="2990850" y="1666875"/>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6F9CDE7C-F5A1-9FBF-1FCB-9D2CA630BF17}"/>
                </a:ext>
              </a:extLst>
            </p:cNvPr>
            <p:cNvCxnSpPr>
              <a:cxnSpLocks/>
              <a:stCxn id="40" idx="0"/>
              <a:endCxn id="38" idx="2"/>
            </p:cNvCxnSpPr>
            <p:nvPr/>
          </p:nvCxnSpPr>
          <p:spPr>
            <a:xfrm flipH="1" flipV="1">
              <a:off x="4095750" y="2276475"/>
              <a:ext cx="2331012" cy="94886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C6EA8E4-FF40-BA52-6B67-3F70F8866495}"/>
                </a:ext>
              </a:extLst>
            </p:cNvPr>
            <p:cNvSpPr txBox="1"/>
            <p:nvPr/>
          </p:nvSpPr>
          <p:spPr>
            <a:xfrm>
              <a:off x="5286374" y="3225344"/>
              <a:ext cx="2280775" cy="523220"/>
            </a:xfrm>
            <a:prstGeom prst="rect">
              <a:avLst/>
            </a:prstGeom>
            <a:noFill/>
          </p:spPr>
          <p:txBody>
            <a:bodyPr wrap="square" rtlCol="0">
              <a:spAutoFit/>
            </a:bodyPr>
            <a:lstStyle/>
            <a:p>
              <a:r>
                <a:rPr lang="en-US" dirty="0">
                  <a:solidFill>
                    <a:srgbClr val="FF0000"/>
                  </a:solidFill>
                </a:rPr>
                <a:t>All samples are 1, change output next cycle to be 1!</a:t>
              </a:r>
            </a:p>
          </p:txBody>
        </p:sp>
      </p:grpSp>
      <p:grpSp>
        <p:nvGrpSpPr>
          <p:cNvPr id="47" name="Group 46">
            <a:extLst>
              <a:ext uri="{FF2B5EF4-FFF2-40B4-BE49-F238E27FC236}">
                <a16:creationId xmlns:a16="http://schemas.microsoft.com/office/drawing/2014/main" id="{AA84F45F-0C06-0515-BA3D-E7A08246A8CC}"/>
              </a:ext>
            </a:extLst>
          </p:cNvPr>
          <p:cNvGrpSpPr/>
          <p:nvPr/>
        </p:nvGrpSpPr>
        <p:grpSpPr>
          <a:xfrm>
            <a:off x="8515350" y="2273509"/>
            <a:ext cx="3314700" cy="3728281"/>
            <a:chOff x="4095750" y="2276475"/>
            <a:chExt cx="3314700" cy="3728281"/>
          </a:xfrm>
        </p:grpSpPr>
        <p:sp>
          <p:nvSpPr>
            <p:cNvPr id="48" name="Rectangle 47">
              <a:extLst>
                <a:ext uri="{FF2B5EF4-FFF2-40B4-BE49-F238E27FC236}">
                  <a16:creationId xmlns:a16="http://schemas.microsoft.com/office/drawing/2014/main" id="{16E76DD5-BDE9-5CCB-0EE8-469340CF94F6}"/>
                </a:ext>
              </a:extLst>
            </p:cNvPr>
            <p:cNvSpPr/>
            <p:nvPr/>
          </p:nvSpPr>
          <p:spPr>
            <a:xfrm>
              <a:off x="5200650" y="5395156"/>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A731CCE3-807E-BDDA-8548-D78DB8925AD5}"/>
                </a:ext>
              </a:extLst>
            </p:cNvPr>
            <p:cNvCxnSpPr>
              <a:endCxn id="48" idx="0"/>
            </p:cNvCxnSpPr>
            <p:nvPr/>
          </p:nvCxnSpPr>
          <p:spPr>
            <a:xfrm>
              <a:off x="4095750" y="2276475"/>
              <a:ext cx="2209800" cy="3118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C1CEE03-1344-7673-1406-FE81F91AC924}"/>
                </a:ext>
              </a:extLst>
            </p:cNvPr>
            <p:cNvSpPr txBox="1"/>
            <p:nvPr/>
          </p:nvSpPr>
          <p:spPr>
            <a:xfrm>
              <a:off x="5244085" y="5551164"/>
              <a:ext cx="2122930" cy="307777"/>
            </a:xfrm>
            <a:prstGeom prst="rect">
              <a:avLst/>
            </a:prstGeom>
            <a:noFill/>
          </p:spPr>
          <p:txBody>
            <a:bodyPr wrap="square" rtlCol="0">
              <a:spAutoFit/>
            </a:bodyPr>
            <a:lstStyle/>
            <a:p>
              <a:r>
                <a:rPr lang="en-US" dirty="0">
                  <a:solidFill>
                    <a:srgbClr val="FF0000"/>
                  </a:solidFill>
                </a:rPr>
                <a:t>Change GPIO value to 1</a:t>
              </a:r>
            </a:p>
          </p:txBody>
        </p:sp>
      </p:grpSp>
    </p:spTree>
    <p:extLst>
      <p:ext uri="{BB962C8B-B14F-4D97-AF65-F5344CB8AC3E}">
        <p14:creationId xmlns:p14="http://schemas.microsoft.com/office/powerpoint/2010/main" val="186458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2474EB4-B534-69C9-F5F0-745CCBC4984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AC8A14E-C7B3-4581-86FE-568AD9F60DC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600" dirty="0">
                <a:solidFill>
                  <a:srgbClr val="3F7F5F"/>
                </a:solidFill>
                <a:latin typeface="Consolas" panose="020B0609020204030204" pitchFamily="49" charset="0"/>
              </a:rPr>
              <a:t>// setup eQEP1 pins for input</a:t>
            </a:r>
          </a:p>
          <a:p>
            <a:pPr marL="114300" indent="0" algn="l">
              <a:buNone/>
            </a:pPr>
            <a:r>
              <a:rPr lang="en-US" sz="1600" dirty="0">
                <a:solidFill>
                  <a:srgbClr val="3F7F5F"/>
                </a:solidFill>
                <a:latin typeface="Consolas" panose="020B0609020204030204" pitchFamily="49" charset="0"/>
              </a:rPr>
              <a:t>// This specifies which of the possible GPIO pins will be EQEP1 functional pins.</a:t>
            </a:r>
          </a:p>
          <a:p>
            <a:pPr marL="114300" indent="0" algn="l">
              <a:buNone/>
            </a:pPr>
            <a:r>
              <a:rPr lang="en-US" sz="1600" dirty="0" err="1">
                <a:solidFill>
                  <a:srgbClr val="642880"/>
                </a:solidFill>
                <a:latin typeface="Consolas" panose="020B0609020204030204" pitchFamily="49" charset="0"/>
              </a:rPr>
              <a:t>GPIO_SetupPinMux</a:t>
            </a:r>
            <a:r>
              <a:rPr lang="en-US" sz="1600" dirty="0">
                <a:solidFill>
                  <a:srgbClr val="000000"/>
                </a:solidFill>
                <a:latin typeface="Consolas" panose="020B0609020204030204" pitchFamily="49" charset="0"/>
              </a:rPr>
              <a:t>(20, GPIO_MUX_CPU1, 1); </a:t>
            </a:r>
            <a:r>
              <a:rPr lang="en-US" sz="1600" dirty="0">
                <a:solidFill>
                  <a:srgbClr val="3F7F5F"/>
                </a:solidFill>
                <a:latin typeface="Consolas" panose="020B0609020204030204" pitchFamily="49" charset="0"/>
              </a:rPr>
              <a:t>// set pin mux EQEP2A</a:t>
            </a:r>
          </a:p>
          <a:p>
            <a:pPr marL="114300" indent="0" algn="l">
              <a:buNone/>
            </a:pPr>
            <a:r>
              <a:rPr lang="en-US" sz="1600" dirty="0" err="1">
                <a:solidFill>
                  <a:srgbClr val="642880"/>
                </a:solidFill>
                <a:latin typeface="Consolas" panose="020B0609020204030204" pitchFamily="49" charset="0"/>
              </a:rPr>
              <a:t>GPIO_SetupPinMux</a:t>
            </a:r>
            <a:r>
              <a:rPr lang="en-US" sz="1600" dirty="0">
                <a:solidFill>
                  <a:srgbClr val="000000"/>
                </a:solidFill>
                <a:latin typeface="Consolas" panose="020B0609020204030204" pitchFamily="49" charset="0"/>
              </a:rPr>
              <a:t>(21, GPIO_MUX_CPU1, 1); </a:t>
            </a:r>
            <a:r>
              <a:rPr lang="en-US" sz="1600" dirty="0">
                <a:solidFill>
                  <a:srgbClr val="3F7F5F"/>
                </a:solidFill>
                <a:latin typeface="Consolas" panose="020B0609020204030204" pitchFamily="49" charset="0"/>
              </a:rPr>
              <a:t>// set pin mux EQEP2B</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QPEN</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make sure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in reset</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QDECCTL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QSRC</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Quadrature count mode</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QPOSCTL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all</a:t>
            </a:r>
            <a:r>
              <a:rPr lang="en-US" sz="1600" dirty="0">
                <a:solidFill>
                  <a:srgbClr val="000000"/>
                </a:solidFill>
                <a:latin typeface="Consolas" panose="020B0609020204030204" pitchFamily="49" charset="0"/>
              </a:rPr>
              <a:t> = 0x0;            </a:t>
            </a:r>
            <a:r>
              <a:rPr lang="en-US" sz="1600" dirty="0">
                <a:solidFill>
                  <a:srgbClr val="3F7F5F"/>
                </a:solidFill>
                <a:latin typeface="Consolas" panose="020B0609020204030204" pitchFamily="49" charset="0"/>
              </a:rPr>
              <a:t>// Disable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Position Compare</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QCAPCTL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all</a:t>
            </a:r>
            <a:r>
              <a:rPr lang="en-US" sz="1600" dirty="0">
                <a:solidFill>
                  <a:srgbClr val="000000"/>
                </a:solidFill>
                <a:latin typeface="Consolas" panose="020B0609020204030204" pitchFamily="49" charset="0"/>
              </a:rPr>
              <a:t> = 0x0;            </a:t>
            </a:r>
            <a:r>
              <a:rPr lang="en-US" sz="1600" dirty="0">
                <a:solidFill>
                  <a:srgbClr val="3F7F5F"/>
                </a:solidFill>
                <a:latin typeface="Consolas" panose="020B0609020204030204" pitchFamily="49" charset="0"/>
              </a:rPr>
              <a:t>// Disable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Capture</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QEINT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all</a:t>
            </a:r>
            <a:r>
              <a:rPr lang="en-US" sz="1600" dirty="0">
                <a:solidFill>
                  <a:srgbClr val="000000"/>
                </a:solidFill>
                <a:latin typeface="Consolas" panose="020B0609020204030204" pitchFamily="49" charset="0"/>
              </a:rPr>
              <a:t> = 0x0;              </a:t>
            </a:r>
            <a:r>
              <a:rPr lang="en-US" sz="1600" dirty="0">
                <a:solidFill>
                  <a:srgbClr val="3F7F5F"/>
                </a:solidFill>
                <a:latin typeface="Consolas" panose="020B0609020204030204" pitchFamily="49" charset="0"/>
              </a:rPr>
              <a:t>// Disable all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interrupts</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QPOSMAX</a:t>
            </a:r>
            <a:r>
              <a:rPr lang="en-US" sz="1600" dirty="0">
                <a:solidFill>
                  <a:srgbClr val="000000"/>
                </a:solidFill>
                <a:latin typeface="Consolas" panose="020B0609020204030204" pitchFamily="49" charset="0"/>
              </a:rPr>
              <a:t> = 0xFFFFFFFF;         </a:t>
            </a:r>
            <a:r>
              <a:rPr lang="en-US" sz="1600" dirty="0">
                <a:solidFill>
                  <a:srgbClr val="3F7F5F"/>
                </a:solidFill>
                <a:latin typeface="Consolas" panose="020B0609020204030204" pitchFamily="49" charset="0"/>
              </a:rPr>
              <a:t>// use full range of the 32-bit count</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FREE_SOFT</a:t>
            </a:r>
            <a:r>
              <a:rPr lang="en-US" sz="1600" dirty="0">
                <a:solidFill>
                  <a:srgbClr val="000000"/>
                </a:solidFill>
                <a:latin typeface="Consolas" panose="020B0609020204030204" pitchFamily="49" charset="0"/>
              </a:rPr>
              <a:t> = 2;     </a:t>
            </a:r>
            <a:r>
              <a:rPr lang="en-US" sz="1600" dirty="0">
                <a:solidFill>
                  <a:srgbClr val="3F7F5F"/>
                </a:solidFill>
                <a:latin typeface="Consolas" panose="020B0609020204030204" pitchFamily="49" charset="0"/>
              </a:rPr>
              <a:t>//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unaffected by emulation suspend in Code Composer</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QPOSCNT</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Set the initial position of the encoder</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QPEN</a:t>
            </a:r>
            <a:r>
              <a:rPr lang="en-US" sz="1600" dirty="0">
                <a:solidFill>
                  <a:srgbClr val="000000"/>
                </a:solidFill>
                <a:latin typeface="Consolas" panose="020B0609020204030204" pitchFamily="49" charset="0"/>
              </a:rPr>
              <a:t> = 1;          </a:t>
            </a:r>
            <a:r>
              <a:rPr lang="en-US" sz="1600" dirty="0">
                <a:solidFill>
                  <a:srgbClr val="3F7F5F"/>
                </a:solidFill>
                <a:latin typeface="Consolas" panose="020B0609020204030204" pitchFamily="49" charset="0"/>
              </a:rPr>
              <a:t>// Enable </a:t>
            </a:r>
            <a:r>
              <a:rPr lang="en-US" sz="1600" dirty="0" err="1">
                <a:solidFill>
                  <a:srgbClr val="3F7F5F"/>
                </a:solidFill>
                <a:latin typeface="Consolas" panose="020B0609020204030204" pitchFamily="49" charset="0"/>
              </a:rPr>
              <a:t>eQEP</a:t>
            </a:r>
            <a:endParaRPr lang="en-US" sz="1600" b="0" dirty="0">
              <a:solidFill>
                <a:srgbClr val="3B3B3B"/>
              </a:solidFill>
              <a:effectLst/>
              <a:latin typeface="Consolas" panose="020B0609020204030204" pitchFamily="49" charset="0"/>
            </a:endParaRPr>
          </a:p>
        </p:txBody>
      </p:sp>
      <p:sp>
        <p:nvSpPr>
          <p:cNvPr id="119" name="Google Shape;119;p29">
            <a:extLst>
              <a:ext uri="{FF2B5EF4-FFF2-40B4-BE49-F238E27FC236}">
                <a16:creationId xmlns:a16="http://schemas.microsoft.com/office/drawing/2014/main" id="{7406183F-9F9B-5303-D88E-5BCB83AF1B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02D8C66-0651-2923-4241-E1B47FE8C0E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C984279-8968-3E29-D607-549EA71B514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1C2E7C0-B3FC-7A80-4D71-37F4E057A07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37E9F8-C890-611C-1264-349B5DAE2B1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9BEC37A-6B1F-9A69-2683-F7B0E3AF6D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5D84452-10AA-CE21-8499-4DF7B165474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4B38D23-48B6-E4DE-C90D-B894324A5E7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333678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57241FA-4288-0F6E-DFFE-75FF223E6B5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DA549DC-582B-180C-85FA-4B6BFEAC7C5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0BD5600-314C-246C-00E9-A2882FE38F9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CABCA5E-BE82-33CF-CDB9-624C170021D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2E5AE54-5015-A914-B756-B63DE28D795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B2A7082-5A9B-4C22-9E75-8BA00A14557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DAFF4D-8A3E-047A-48B8-FF1F8618822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F80D3AC-07E3-EACC-2C47-9110F28466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18B8414-79B0-01A6-B9F3-F24B2B4B55B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15" name="Graphic 14">
            <a:extLst>
              <a:ext uri="{FF2B5EF4-FFF2-40B4-BE49-F238E27FC236}">
                <a16:creationId xmlns:a16="http://schemas.microsoft.com/office/drawing/2014/main" id="{A370D3DB-FB40-D562-2467-3F6AF16A1A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28987" y="906290"/>
            <a:ext cx="5381625" cy="5648325"/>
          </a:xfrm>
          <a:prstGeom prst="rect">
            <a:avLst/>
          </a:prstGeom>
        </p:spPr>
      </p:pic>
      <p:sp>
        <p:nvSpPr>
          <p:cNvPr id="13" name="Rectangle 12">
            <a:extLst>
              <a:ext uri="{FF2B5EF4-FFF2-40B4-BE49-F238E27FC236}">
                <a16:creationId xmlns:a16="http://schemas.microsoft.com/office/drawing/2014/main" id="{F2F2F680-C6D0-171C-53EE-CB503D6A3253}"/>
              </a:ext>
            </a:extLst>
          </p:cNvPr>
          <p:cNvSpPr/>
          <p:nvPr/>
        </p:nvSpPr>
        <p:spPr>
          <a:xfrm>
            <a:off x="6728460" y="6217733"/>
            <a:ext cx="655320" cy="3749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94D22E-2BAD-0890-45EE-116FBD010B06}"/>
              </a:ext>
            </a:extLst>
          </p:cNvPr>
          <p:cNvSpPr/>
          <p:nvPr/>
        </p:nvSpPr>
        <p:spPr>
          <a:xfrm>
            <a:off x="6728460" y="2240280"/>
            <a:ext cx="655320" cy="3749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7BBCB5C-C58B-E31E-EA8D-5C28DA1EB6E7}"/>
              </a:ext>
            </a:extLst>
          </p:cNvPr>
          <p:cNvSpPr/>
          <p:nvPr/>
        </p:nvSpPr>
        <p:spPr>
          <a:xfrm>
            <a:off x="5364479" y="4023234"/>
            <a:ext cx="655320" cy="3749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0395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43D4931-1E60-7E3A-3C5E-DBAB8F6D299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3B0C40C-DCC9-3631-D2DB-7FD333AF6EC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Position-counter source selection</a:t>
            </a:r>
          </a:p>
          <a:p>
            <a:r>
              <a:rPr lang="en-US" sz="1800" dirty="0">
                <a:latin typeface="+mj-lt"/>
              </a:rPr>
              <a:t>0h (R/W) = Quadrature count mode (QCLK = </a:t>
            </a:r>
            <a:r>
              <a:rPr lang="en-US" sz="1800" dirty="0" err="1">
                <a:latin typeface="+mj-lt"/>
              </a:rPr>
              <a:t>iCLK</a:t>
            </a:r>
            <a:r>
              <a:rPr lang="en-US" sz="1800" dirty="0">
                <a:latin typeface="+mj-lt"/>
              </a:rPr>
              <a:t>, QDIR = </a:t>
            </a:r>
            <a:r>
              <a:rPr lang="en-US" sz="1800" dirty="0" err="1">
                <a:latin typeface="+mj-lt"/>
              </a:rPr>
              <a:t>iDIR</a:t>
            </a:r>
            <a:r>
              <a:rPr lang="en-US" sz="1800" dirty="0">
                <a:latin typeface="+mj-lt"/>
              </a:rPr>
              <a:t>)</a:t>
            </a:r>
          </a:p>
          <a:p>
            <a:r>
              <a:rPr lang="en-US" sz="1800" dirty="0">
                <a:latin typeface="+mj-lt"/>
              </a:rPr>
              <a:t>1h (R/W) = Direction-count mode (QCLK = </a:t>
            </a:r>
            <a:r>
              <a:rPr lang="en-US" sz="1800" dirty="0" err="1">
                <a:latin typeface="+mj-lt"/>
              </a:rPr>
              <a:t>xCLK</a:t>
            </a:r>
            <a:r>
              <a:rPr lang="en-US" sz="1800" dirty="0">
                <a:latin typeface="+mj-lt"/>
              </a:rPr>
              <a:t>, QDIR = </a:t>
            </a:r>
            <a:r>
              <a:rPr lang="en-US" sz="1800" dirty="0" err="1">
                <a:latin typeface="+mj-lt"/>
              </a:rPr>
              <a:t>xDIR</a:t>
            </a:r>
            <a:r>
              <a:rPr lang="en-US" sz="1800" dirty="0">
                <a:latin typeface="+mj-lt"/>
              </a:rPr>
              <a:t>)</a:t>
            </a:r>
          </a:p>
          <a:p>
            <a:r>
              <a:rPr lang="en-US" sz="1800" dirty="0">
                <a:latin typeface="+mj-lt"/>
              </a:rPr>
              <a:t>2h (R/W) = UP count mode for frequency measurement (QCLK = </a:t>
            </a:r>
            <a:r>
              <a:rPr lang="en-US" sz="1800" dirty="0" err="1">
                <a:latin typeface="+mj-lt"/>
              </a:rPr>
              <a:t>xCLK</a:t>
            </a:r>
            <a:r>
              <a:rPr lang="en-US" sz="1800" dirty="0">
                <a:latin typeface="+mj-lt"/>
              </a:rPr>
              <a:t>, QDIR = 1)</a:t>
            </a:r>
          </a:p>
          <a:p>
            <a:r>
              <a:rPr lang="en-US" sz="1800" dirty="0">
                <a:latin typeface="+mj-lt"/>
              </a:rPr>
              <a:t>3h (R/W) = DOWN count mode for frequency measurement (QCLK= </a:t>
            </a:r>
            <a:r>
              <a:rPr lang="en-US" sz="1800" dirty="0" err="1">
                <a:latin typeface="+mj-lt"/>
              </a:rPr>
              <a:t>xCLK</a:t>
            </a:r>
            <a:r>
              <a:rPr lang="en-US" sz="1800" dirty="0">
                <a:latin typeface="+mj-lt"/>
              </a:rPr>
              <a:t>, QDIR = 0)</a:t>
            </a:r>
          </a:p>
        </p:txBody>
      </p:sp>
      <p:sp>
        <p:nvSpPr>
          <p:cNvPr id="119" name="Google Shape;119;p29">
            <a:extLst>
              <a:ext uri="{FF2B5EF4-FFF2-40B4-BE49-F238E27FC236}">
                <a16:creationId xmlns:a16="http://schemas.microsoft.com/office/drawing/2014/main" id="{852F8272-E2F7-E3D2-4028-08E2DD3F671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5D470F2-61FC-146A-64FC-F2A8211D088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r>
              <a:rPr lang="en-US" sz="2400" dirty="0">
                <a:solidFill>
                  <a:schemeClr val="lt1"/>
                </a:solidFill>
              </a:rPr>
              <a:t> – QDECCTL:QSRC</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B5F0420-5D7C-BD10-292A-B10CB91B1CA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DC902F8-835B-13C6-459B-622F396D54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5ECB32E-3B3F-ED93-000A-90B29904982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D7628DC-FA88-998A-EA3D-9A81F849107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92EF814-ABC1-0899-0D32-E245AA668B8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7949CD0-76A9-E265-56F6-75996989FAF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483715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82415E2-209C-6C5A-2143-C7C9FB17222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458FDCF-5870-BCA4-3FEB-AC2F990A7490}"/>
              </a:ext>
            </a:extLst>
          </p:cNvPr>
          <p:cNvSpPr txBox="1">
            <a:spLocks noGrp="1"/>
          </p:cNvSpPr>
          <p:nvPr>
            <p:ph type="body" idx="1"/>
          </p:nvPr>
        </p:nvSpPr>
        <p:spPr>
          <a:xfrm>
            <a:off x="376809" y="1334279"/>
            <a:ext cx="11177401" cy="86822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The quadrature decoder generates the direction and clock to the position counter in quadrature count</a:t>
            </a:r>
          </a:p>
          <a:p>
            <a:pPr marL="114300" indent="0">
              <a:buNone/>
            </a:pPr>
            <a:r>
              <a:rPr lang="en-US" sz="1800" dirty="0">
                <a:latin typeface="+mj-lt"/>
              </a:rPr>
              <a:t>mode. Uses the 2-phase input to get the position and direction, this is the standard method.</a:t>
            </a:r>
          </a:p>
        </p:txBody>
      </p:sp>
      <p:sp>
        <p:nvSpPr>
          <p:cNvPr id="119" name="Google Shape;119;p29">
            <a:extLst>
              <a:ext uri="{FF2B5EF4-FFF2-40B4-BE49-F238E27FC236}">
                <a16:creationId xmlns:a16="http://schemas.microsoft.com/office/drawing/2014/main" id="{192A5927-3060-41B3-3669-3EBE0FD90E9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C5BAC67-6E93-95B6-81C5-31C4E141B17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r>
              <a:rPr lang="en-US" sz="2400" dirty="0">
                <a:solidFill>
                  <a:schemeClr val="lt1"/>
                </a:solidFill>
              </a:rPr>
              <a:t> – QDECCTL:QSRC – Quadrature Count Mode </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8B41CC4-07BD-8A0B-F302-E1608731682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4E4FF15-356A-817B-F059-4393F469523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2B69BDB-54D2-0E1D-35AE-EE6AE90EB6F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20E157F-3BA7-E2DD-A60F-61D7D75751D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0C8223A-B05A-0C1D-C0AE-F133C8F6D1D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B78608-0B9B-C230-4E88-358034EFDA0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2" name="Graphic 1">
            <a:extLst>
              <a:ext uri="{FF2B5EF4-FFF2-40B4-BE49-F238E27FC236}">
                <a16:creationId xmlns:a16="http://schemas.microsoft.com/office/drawing/2014/main" id="{346D31BF-2F08-2FB7-5DE7-17CF7C2711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0502" y="2202501"/>
            <a:ext cx="8550995" cy="4073732"/>
          </a:xfrm>
          <a:prstGeom prst="rect">
            <a:avLst/>
          </a:prstGeom>
        </p:spPr>
      </p:pic>
    </p:spTree>
    <p:extLst>
      <p:ext uri="{BB962C8B-B14F-4D97-AF65-F5344CB8AC3E}">
        <p14:creationId xmlns:p14="http://schemas.microsoft.com/office/powerpoint/2010/main" val="3031303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7993A60-EF63-5E3B-2D6C-D6ACA85B54C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DD5602E-C273-FA15-50DA-51B622B942BE}"/>
              </a:ext>
            </a:extLst>
          </p:cNvPr>
          <p:cNvSpPr txBox="1">
            <a:spLocks noGrp="1"/>
          </p:cNvSpPr>
          <p:nvPr>
            <p:ph type="body" idx="1"/>
          </p:nvPr>
        </p:nvSpPr>
        <p:spPr>
          <a:xfrm>
            <a:off x="376809" y="1334278"/>
            <a:ext cx="11177401" cy="4987553"/>
          </a:xfrm>
          <a:prstGeom prst="rect">
            <a:avLst/>
          </a:prstGeom>
          <a:noFill/>
          <a:ln>
            <a:noFill/>
          </a:ln>
        </p:spPr>
        <p:txBody>
          <a:bodyPr spcFirstLastPara="1" wrap="square" lIns="91425" tIns="45700" rIns="91425" bIns="45700" anchor="t" anchorCtr="0">
            <a:noAutofit/>
          </a:bodyPr>
          <a:lstStyle/>
          <a:p>
            <a:pPr marL="114300" indent="0">
              <a:buNone/>
            </a:pPr>
            <a:r>
              <a:rPr lang="en-US" sz="1800" b="1" dirty="0"/>
              <a:t>Direction-Count Mode</a:t>
            </a:r>
            <a:endParaRPr lang="en-US" sz="1800" b="1" dirty="0">
              <a:latin typeface="+mj-lt"/>
            </a:endParaRPr>
          </a:p>
          <a:p>
            <a:pPr marL="114300" indent="0">
              <a:buNone/>
            </a:pPr>
            <a:r>
              <a:rPr lang="en-US" sz="1800" dirty="0">
                <a:latin typeface="+mj-lt"/>
              </a:rPr>
              <a:t>Some position encoders provide direction and clock outputs, instead of quadrature outputs. In such cases,</a:t>
            </a:r>
          </a:p>
          <a:p>
            <a:pPr marL="114300" indent="0">
              <a:buNone/>
            </a:pPr>
            <a:r>
              <a:rPr lang="en-US" sz="1800" dirty="0">
                <a:latin typeface="+mj-lt"/>
              </a:rPr>
              <a:t>direction-count mode can be used. </a:t>
            </a:r>
          </a:p>
          <a:p>
            <a:r>
              <a:rPr lang="en-US" sz="1800" dirty="0">
                <a:latin typeface="+mj-lt"/>
              </a:rPr>
              <a:t>QEPA input will provide the clock for the position counter</a:t>
            </a:r>
          </a:p>
          <a:p>
            <a:r>
              <a:rPr lang="en-US" sz="1800" dirty="0">
                <a:latin typeface="+mj-lt"/>
              </a:rPr>
              <a:t>QEPB input will have the direction information. </a:t>
            </a:r>
          </a:p>
          <a:p>
            <a:pPr marL="114300" indent="0">
              <a:buNone/>
            </a:pPr>
            <a:r>
              <a:rPr lang="en-US" sz="1800" dirty="0">
                <a:latin typeface="+mj-lt"/>
              </a:rPr>
              <a:t>The position counter is incremented on every rising edge of a QEPA input when the direction input is high, and decremented when the direction input is low.</a:t>
            </a:r>
          </a:p>
          <a:p>
            <a:pPr marL="114300" indent="0">
              <a:buNone/>
            </a:pPr>
            <a:endParaRPr lang="en-US" sz="1800" dirty="0">
              <a:latin typeface="+mj-lt"/>
            </a:endParaRPr>
          </a:p>
          <a:p>
            <a:pPr marL="114300" indent="0">
              <a:buNone/>
            </a:pPr>
            <a:r>
              <a:rPr lang="en-US" sz="1800" b="1" dirty="0"/>
              <a:t>Up-Count Mode / Down-Count Mode</a:t>
            </a:r>
          </a:p>
          <a:p>
            <a:pPr marL="114300" indent="0">
              <a:buNone/>
            </a:pPr>
            <a:r>
              <a:rPr lang="en-US" sz="1800" dirty="0">
                <a:latin typeface="+mj-lt"/>
              </a:rPr>
              <a:t>The counter direction signal is hard-wired for up / down -count and the position counter is used to measure the frequency of the QEPA input.</a:t>
            </a:r>
          </a:p>
          <a:p>
            <a:pPr marL="114300" indent="0">
              <a:buNone/>
            </a:pPr>
            <a:r>
              <a:rPr lang="en-US" sz="1800" dirty="0">
                <a:latin typeface="+mj-lt"/>
              </a:rPr>
              <a:t>In up-count mode, it is recommended that the application not configure QEPB as a GPIO mux option, or ensure that a signal edge is not generated on the QEPB input.</a:t>
            </a:r>
          </a:p>
        </p:txBody>
      </p:sp>
      <p:sp>
        <p:nvSpPr>
          <p:cNvPr id="119" name="Google Shape;119;p29">
            <a:extLst>
              <a:ext uri="{FF2B5EF4-FFF2-40B4-BE49-F238E27FC236}">
                <a16:creationId xmlns:a16="http://schemas.microsoft.com/office/drawing/2014/main" id="{BA954E36-4756-3DD2-F6CF-51EC2EC3E7B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82FDA15-E593-EDD4-B99D-57FF1703079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r>
              <a:rPr lang="en-US" sz="2400" dirty="0">
                <a:solidFill>
                  <a:schemeClr val="lt1"/>
                </a:solidFill>
              </a:rPr>
              <a:t> – QDECCTL:QSRC – Others Mode </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707372F-B8B7-073A-9A1D-9F8E5AAF1AB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2ADD40A-9632-658B-DCB1-E5B662D88FF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A5FAE52-1821-8651-7E51-490D89614E5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ADF992E-47BA-0B36-563D-42B276D8081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56D8B1A-E1F4-91FD-03FA-748BB08F510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49EF36A-49AD-56CB-B376-99E753D8626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0755256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4F178D7-D587-02FE-1ADA-93F053F7B54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F92A00F-DC91-852E-BB42-353868331F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6951382-2727-D083-54CA-6ACABB6F14CB}"/>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745990C-40E2-3FD2-B69F-826F864A8EA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4B24C1-CC68-16E8-C32B-99F99949FCD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7136F02-0A8C-C42B-5D27-2606E3F2B74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B55345-564F-5F47-E9E6-CEE23EA4EA2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00E2849-8422-5E5C-D22F-D7F496027D3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B2825D-BC9F-4B10-8D1F-CD4C8481CA3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56783C8F-784F-097E-8E37-01F2BF2305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93215" y="997634"/>
            <a:ext cx="4805570" cy="5526406"/>
          </a:xfrm>
          <a:prstGeom prst="rect">
            <a:avLst/>
          </a:prstGeom>
        </p:spPr>
      </p:pic>
      <p:grpSp>
        <p:nvGrpSpPr>
          <p:cNvPr id="19" name="Group 18">
            <a:extLst>
              <a:ext uri="{FF2B5EF4-FFF2-40B4-BE49-F238E27FC236}">
                <a16:creationId xmlns:a16="http://schemas.microsoft.com/office/drawing/2014/main" id="{39D301C8-64EE-05FA-F626-91C25E9D955B}"/>
              </a:ext>
            </a:extLst>
          </p:cNvPr>
          <p:cNvGrpSpPr>
            <a:grpSpLocks/>
          </p:cNvGrpSpPr>
          <p:nvPr/>
        </p:nvGrpSpPr>
        <p:grpSpPr>
          <a:xfrm>
            <a:off x="4405812" y="1457325"/>
            <a:ext cx="5422832" cy="1791312"/>
            <a:chOff x="4405812" y="1457325"/>
            <a:chExt cx="5422832" cy="1791312"/>
          </a:xfrm>
        </p:grpSpPr>
        <p:sp>
          <p:nvSpPr>
            <p:cNvPr id="6" name="Rectangle 5">
              <a:extLst>
                <a:ext uri="{FF2B5EF4-FFF2-40B4-BE49-F238E27FC236}">
                  <a16:creationId xmlns:a16="http://schemas.microsoft.com/office/drawing/2014/main" id="{ACC289CF-9F85-8B74-EECE-7803DE15D341}"/>
                </a:ext>
              </a:extLst>
            </p:cNvPr>
            <p:cNvSpPr>
              <a:spLocks/>
            </p:cNvSpPr>
            <p:nvPr/>
          </p:nvSpPr>
          <p:spPr>
            <a:xfrm>
              <a:off x="7648575" y="1457325"/>
              <a:ext cx="952500" cy="966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C5B4D4E-85B1-EF83-91C6-E562702E93B8}"/>
                </a:ext>
              </a:extLst>
            </p:cNvPr>
            <p:cNvSpPr>
              <a:spLocks/>
            </p:cNvSpPr>
            <p:nvPr/>
          </p:nvSpPr>
          <p:spPr>
            <a:xfrm>
              <a:off x="4462463" y="1662114"/>
              <a:ext cx="700087" cy="2333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B4B4EBE-379B-F3CE-30B1-2C01EBACD455}"/>
                </a:ext>
              </a:extLst>
            </p:cNvPr>
            <p:cNvSpPr>
              <a:spLocks/>
            </p:cNvSpPr>
            <p:nvPr/>
          </p:nvSpPr>
          <p:spPr>
            <a:xfrm>
              <a:off x="4405812" y="2362201"/>
              <a:ext cx="700087" cy="2333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ADD2BF1-5443-B288-5A5E-0A09437D750C}"/>
                </a:ext>
              </a:extLst>
            </p:cNvPr>
            <p:cNvSpPr txBox="1">
              <a:spLocks/>
            </p:cNvSpPr>
            <p:nvPr/>
          </p:nvSpPr>
          <p:spPr>
            <a:xfrm>
              <a:off x="8368144" y="2725417"/>
              <a:ext cx="1460500" cy="523220"/>
            </a:xfrm>
            <a:prstGeom prst="rect">
              <a:avLst/>
            </a:prstGeom>
            <a:noFill/>
          </p:spPr>
          <p:txBody>
            <a:bodyPr wrap="square" rtlCol="0">
              <a:spAutoFit/>
            </a:bodyPr>
            <a:lstStyle/>
            <a:p>
              <a:r>
                <a:rPr lang="en-US" dirty="0">
                  <a:solidFill>
                    <a:srgbClr val="FF0000"/>
                  </a:solidFill>
                </a:rPr>
                <a:t>Quadrature count mode</a:t>
              </a:r>
            </a:p>
          </p:txBody>
        </p:sp>
        <p:cxnSp>
          <p:nvCxnSpPr>
            <p:cNvPr id="12" name="Straight Arrow Connector 11">
              <a:extLst>
                <a:ext uri="{FF2B5EF4-FFF2-40B4-BE49-F238E27FC236}">
                  <a16:creationId xmlns:a16="http://schemas.microsoft.com/office/drawing/2014/main" id="{742D1B4D-A991-81F5-D6D1-E271032A4815}"/>
                </a:ext>
              </a:extLst>
            </p:cNvPr>
            <p:cNvCxnSpPr>
              <a:cxnSpLocks/>
              <a:stCxn id="10" idx="0"/>
              <a:endCxn id="6" idx="3"/>
            </p:cNvCxnSpPr>
            <p:nvPr/>
          </p:nvCxnSpPr>
          <p:spPr>
            <a:xfrm flipH="1" flipV="1">
              <a:off x="8601075" y="1940719"/>
              <a:ext cx="497319" cy="78469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A64178C-D70C-A725-9775-4B7EE52DCC3C}"/>
                </a:ext>
              </a:extLst>
            </p:cNvPr>
            <p:cNvCxnSpPr>
              <a:cxnSpLocks/>
              <a:stCxn id="10" idx="1"/>
              <a:endCxn id="9" idx="3"/>
            </p:cNvCxnSpPr>
            <p:nvPr/>
          </p:nvCxnSpPr>
          <p:spPr>
            <a:xfrm flipH="1" flipV="1">
              <a:off x="5105899" y="2478882"/>
              <a:ext cx="3262245" cy="50814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A0140F0-F7E0-B4DA-BD33-A539CA479E20}"/>
                </a:ext>
              </a:extLst>
            </p:cNvPr>
            <p:cNvCxnSpPr>
              <a:cxnSpLocks/>
              <a:stCxn id="10" idx="1"/>
              <a:endCxn id="8" idx="3"/>
            </p:cNvCxnSpPr>
            <p:nvPr/>
          </p:nvCxnSpPr>
          <p:spPr>
            <a:xfrm flipH="1" flipV="1">
              <a:off x="5162550" y="1778795"/>
              <a:ext cx="3205594" cy="12082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ACEC34AB-EB0C-4AAB-BEEF-E4D0E7C1B608}"/>
              </a:ext>
            </a:extLst>
          </p:cNvPr>
          <p:cNvGrpSpPr>
            <a:grpSpLocks/>
          </p:cNvGrpSpPr>
          <p:nvPr/>
        </p:nvGrpSpPr>
        <p:grpSpPr>
          <a:xfrm>
            <a:off x="1746250" y="1456984"/>
            <a:ext cx="6854825" cy="1954507"/>
            <a:chOff x="1746250" y="1456984"/>
            <a:chExt cx="6854825" cy="1954507"/>
          </a:xfrm>
        </p:grpSpPr>
        <p:grpSp>
          <p:nvGrpSpPr>
            <p:cNvPr id="52" name="Group 51">
              <a:extLst>
                <a:ext uri="{FF2B5EF4-FFF2-40B4-BE49-F238E27FC236}">
                  <a16:creationId xmlns:a16="http://schemas.microsoft.com/office/drawing/2014/main" id="{D394E289-48A8-6256-3EE9-AF7E0D597717}"/>
                </a:ext>
              </a:extLst>
            </p:cNvPr>
            <p:cNvGrpSpPr>
              <a:grpSpLocks/>
            </p:cNvGrpSpPr>
            <p:nvPr/>
          </p:nvGrpSpPr>
          <p:grpSpPr>
            <a:xfrm>
              <a:off x="4405045" y="1456984"/>
              <a:ext cx="4196030" cy="1912788"/>
              <a:chOff x="4405045" y="1456984"/>
              <a:chExt cx="4196030" cy="1912788"/>
            </a:xfrm>
          </p:grpSpPr>
          <p:cxnSp>
            <p:nvCxnSpPr>
              <p:cNvPr id="46" name="Straight Connector 45">
                <a:extLst>
                  <a:ext uri="{FF2B5EF4-FFF2-40B4-BE49-F238E27FC236}">
                    <a16:creationId xmlns:a16="http://schemas.microsoft.com/office/drawing/2014/main" id="{B85539D3-443B-DBC2-398D-38D74AEADAEA}"/>
                  </a:ext>
                </a:extLst>
              </p:cNvPr>
              <p:cNvCxnSpPr>
                <a:cxnSpLocks/>
              </p:cNvCxnSpPr>
              <p:nvPr/>
            </p:nvCxnSpPr>
            <p:spPr>
              <a:xfrm>
                <a:off x="5101645" y="1999073"/>
                <a:ext cx="0" cy="12121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C722EA9F-70A7-E1E5-5924-DF3BAE67183C}"/>
                  </a:ext>
                </a:extLst>
              </p:cNvPr>
              <p:cNvGrpSpPr>
                <a:grpSpLocks/>
              </p:cNvGrpSpPr>
              <p:nvPr/>
            </p:nvGrpSpPr>
            <p:grpSpPr>
              <a:xfrm>
                <a:off x="4405045" y="1456984"/>
                <a:ext cx="4196030" cy="1912788"/>
                <a:chOff x="4405045" y="1456984"/>
                <a:chExt cx="4196030" cy="1912788"/>
              </a:xfrm>
            </p:grpSpPr>
            <p:sp>
              <p:nvSpPr>
                <p:cNvPr id="28" name="Rectangle 27">
                  <a:extLst>
                    <a:ext uri="{FF2B5EF4-FFF2-40B4-BE49-F238E27FC236}">
                      <a16:creationId xmlns:a16="http://schemas.microsoft.com/office/drawing/2014/main" id="{34481DFF-ED92-B8CE-02F5-A620B095B8FF}"/>
                    </a:ext>
                  </a:extLst>
                </p:cNvPr>
                <p:cNvSpPr>
                  <a:spLocks/>
                </p:cNvSpPr>
                <p:nvPr/>
              </p:nvSpPr>
              <p:spPr>
                <a:xfrm>
                  <a:off x="7648575" y="1456984"/>
                  <a:ext cx="952500" cy="4670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C1D69263-C2A5-88F7-027F-CAA95542FCA8}"/>
                    </a:ext>
                  </a:extLst>
                </p:cNvPr>
                <p:cNvCxnSpPr>
                  <a:cxnSpLocks/>
                </p:cNvCxnSpPr>
                <p:nvPr/>
              </p:nvCxnSpPr>
              <p:spPr>
                <a:xfrm flipH="1">
                  <a:off x="6737021" y="1778795"/>
                  <a:ext cx="20987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1837004-C95B-502B-2D84-A015526BEB06}"/>
                    </a:ext>
                  </a:extLst>
                </p:cNvPr>
                <p:cNvCxnSpPr>
                  <a:cxnSpLocks/>
                </p:cNvCxnSpPr>
                <p:nvPr/>
              </p:nvCxnSpPr>
              <p:spPr>
                <a:xfrm flipV="1">
                  <a:off x="6732768" y="1778795"/>
                  <a:ext cx="4253" cy="14698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E98F7DA-B8C0-021A-C7C9-86D1E9C15B18}"/>
                    </a:ext>
                  </a:extLst>
                </p:cNvPr>
                <p:cNvCxnSpPr>
                  <a:cxnSpLocks/>
                </p:cNvCxnSpPr>
                <p:nvPr/>
              </p:nvCxnSpPr>
              <p:spPr>
                <a:xfrm flipH="1">
                  <a:off x="6219605" y="3230220"/>
                  <a:ext cx="51316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231CE4B-7460-31FD-D4D3-0C7937927AC3}"/>
                    </a:ext>
                  </a:extLst>
                </p:cNvPr>
                <p:cNvSpPr>
                  <a:spLocks/>
                </p:cNvSpPr>
                <p:nvPr/>
              </p:nvSpPr>
              <p:spPr>
                <a:xfrm>
                  <a:off x="5701610" y="3090667"/>
                  <a:ext cx="517995" cy="27910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550D59EC-FA08-626F-B4EC-E2D7B9F4EEB8}"/>
                    </a:ext>
                  </a:extLst>
                </p:cNvPr>
                <p:cNvCxnSpPr>
                  <a:cxnSpLocks/>
                  <a:stCxn id="41" idx="1"/>
                </p:cNvCxnSpPr>
                <p:nvPr/>
              </p:nvCxnSpPr>
              <p:spPr>
                <a:xfrm flipH="1" flipV="1">
                  <a:off x="5101645" y="3230219"/>
                  <a:ext cx="599965"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716FAB9E-4B3A-0AE5-D901-D86F0DB98218}"/>
                    </a:ext>
                  </a:extLst>
                </p:cNvPr>
                <p:cNvSpPr>
                  <a:spLocks/>
                </p:cNvSpPr>
                <p:nvPr/>
              </p:nvSpPr>
              <p:spPr>
                <a:xfrm>
                  <a:off x="4405045" y="1844917"/>
                  <a:ext cx="700087" cy="4849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D1DBD00-B3DC-0BFE-25CA-5F5358646BC2}"/>
                    </a:ext>
                  </a:extLst>
                </p:cNvPr>
                <p:cNvSpPr>
                  <a:spLocks/>
                </p:cNvSpPr>
                <p:nvPr/>
              </p:nvSpPr>
              <p:spPr>
                <a:xfrm>
                  <a:off x="4405811" y="2530132"/>
                  <a:ext cx="700087" cy="19045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3" name="TextBox 52">
              <a:extLst>
                <a:ext uri="{FF2B5EF4-FFF2-40B4-BE49-F238E27FC236}">
                  <a16:creationId xmlns:a16="http://schemas.microsoft.com/office/drawing/2014/main" id="{2F8F7E5C-3907-8EB4-0724-5629BA463F39}"/>
                </a:ext>
              </a:extLst>
            </p:cNvPr>
            <p:cNvSpPr txBox="1">
              <a:spLocks/>
            </p:cNvSpPr>
            <p:nvPr/>
          </p:nvSpPr>
          <p:spPr>
            <a:xfrm>
              <a:off x="1746250" y="3103714"/>
              <a:ext cx="1920930" cy="307777"/>
            </a:xfrm>
            <a:prstGeom prst="rect">
              <a:avLst/>
            </a:prstGeom>
            <a:noFill/>
          </p:spPr>
          <p:txBody>
            <a:bodyPr wrap="square" rtlCol="0">
              <a:spAutoFit/>
            </a:bodyPr>
            <a:lstStyle/>
            <a:p>
              <a:r>
                <a:rPr lang="en-US" dirty="0">
                  <a:solidFill>
                    <a:srgbClr val="FF0000"/>
                  </a:solidFill>
                </a:rPr>
                <a:t>Direction count mode</a:t>
              </a:r>
            </a:p>
          </p:txBody>
        </p:sp>
        <p:cxnSp>
          <p:nvCxnSpPr>
            <p:cNvPr id="54" name="Straight Arrow Connector 53">
              <a:extLst>
                <a:ext uri="{FF2B5EF4-FFF2-40B4-BE49-F238E27FC236}">
                  <a16:creationId xmlns:a16="http://schemas.microsoft.com/office/drawing/2014/main" id="{88458315-9120-1763-1720-8EE2FF9C367B}"/>
                </a:ext>
              </a:extLst>
            </p:cNvPr>
            <p:cNvCxnSpPr>
              <a:cxnSpLocks/>
              <a:stCxn id="53" idx="3"/>
            </p:cNvCxnSpPr>
            <p:nvPr/>
          </p:nvCxnSpPr>
          <p:spPr>
            <a:xfrm flipV="1">
              <a:off x="3667180" y="3222363"/>
              <a:ext cx="1434465" cy="352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E35EFE63-959D-53F0-60CB-94441032AE31}"/>
              </a:ext>
            </a:extLst>
          </p:cNvPr>
          <p:cNvGrpSpPr>
            <a:grpSpLocks/>
          </p:cNvGrpSpPr>
          <p:nvPr/>
        </p:nvGrpSpPr>
        <p:grpSpPr>
          <a:xfrm>
            <a:off x="4299266" y="1463987"/>
            <a:ext cx="5192113" cy="1588861"/>
            <a:chOff x="4299266" y="1463987"/>
            <a:chExt cx="5192113" cy="1588861"/>
          </a:xfrm>
        </p:grpSpPr>
        <p:sp>
          <p:nvSpPr>
            <p:cNvPr id="62" name="Rectangle 61">
              <a:extLst>
                <a:ext uri="{FF2B5EF4-FFF2-40B4-BE49-F238E27FC236}">
                  <a16:creationId xmlns:a16="http://schemas.microsoft.com/office/drawing/2014/main" id="{5659A974-3986-EE5B-7E45-A5B39C10743A}"/>
                </a:ext>
              </a:extLst>
            </p:cNvPr>
            <p:cNvSpPr>
              <a:spLocks/>
            </p:cNvSpPr>
            <p:nvPr/>
          </p:nvSpPr>
          <p:spPr>
            <a:xfrm>
              <a:off x="7648575" y="1463987"/>
              <a:ext cx="952500" cy="4670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D0A6C5A8-4FB4-5465-0CC5-27E40337B604}"/>
                </a:ext>
              </a:extLst>
            </p:cNvPr>
            <p:cNvSpPr>
              <a:spLocks/>
            </p:cNvSpPr>
            <p:nvPr/>
          </p:nvSpPr>
          <p:spPr>
            <a:xfrm>
              <a:off x="4299266" y="2720589"/>
              <a:ext cx="742713" cy="3322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C55EFD8D-36DF-FABC-40FE-37515A976D55}"/>
                </a:ext>
              </a:extLst>
            </p:cNvPr>
            <p:cNvCxnSpPr>
              <a:cxnSpLocks/>
              <a:stCxn id="69" idx="1"/>
              <a:endCxn id="63" idx="3"/>
            </p:cNvCxnSpPr>
            <p:nvPr/>
          </p:nvCxnSpPr>
          <p:spPr>
            <a:xfrm flipH="1">
              <a:off x="5041979" y="2884226"/>
              <a:ext cx="3040970" cy="24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5FF3956-5D62-FFD7-AD37-E9690525343E}"/>
                </a:ext>
              </a:extLst>
            </p:cNvPr>
            <p:cNvCxnSpPr>
              <a:cxnSpLocks/>
              <a:stCxn id="69" idx="0"/>
              <a:endCxn id="62" idx="2"/>
            </p:cNvCxnSpPr>
            <p:nvPr/>
          </p:nvCxnSpPr>
          <p:spPr>
            <a:xfrm flipH="1" flipV="1">
              <a:off x="8124825" y="1931065"/>
              <a:ext cx="662339" cy="7992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D65B20DA-326E-D11E-7475-F221771129FC}"/>
                </a:ext>
              </a:extLst>
            </p:cNvPr>
            <p:cNvSpPr txBox="1">
              <a:spLocks/>
            </p:cNvSpPr>
            <p:nvPr/>
          </p:nvSpPr>
          <p:spPr>
            <a:xfrm>
              <a:off x="8082949" y="2730337"/>
              <a:ext cx="1408430" cy="307777"/>
            </a:xfrm>
            <a:prstGeom prst="rect">
              <a:avLst/>
            </a:prstGeom>
            <a:noFill/>
          </p:spPr>
          <p:txBody>
            <a:bodyPr wrap="square" rtlCol="0">
              <a:spAutoFit/>
            </a:bodyPr>
            <a:lstStyle/>
            <a:p>
              <a:r>
                <a:rPr lang="en-US" dirty="0">
                  <a:solidFill>
                    <a:srgbClr val="FF0000"/>
                  </a:solidFill>
                </a:rPr>
                <a:t>Up/Down count</a:t>
              </a:r>
            </a:p>
          </p:txBody>
        </p:sp>
      </p:grpSp>
    </p:spTree>
    <p:extLst>
      <p:ext uri="{BB962C8B-B14F-4D97-AF65-F5344CB8AC3E}">
        <p14:creationId xmlns:p14="http://schemas.microsoft.com/office/powerpoint/2010/main" val="395573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338456F-E993-039E-73BE-8F0E658EC39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FFFBBE2-B976-B930-AA49-9E208238245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The </a:t>
                </a:r>
                <a:r>
                  <a:rPr lang="en-US" sz="2000" dirty="0" err="1">
                    <a:latin typeface="+mj-lt"/>
                    <a:ea typeface="Arial"/>
                    <a:cs typeface="Arial"/>
                    <a:sym typeface="Arial"/>
                  </a:rPr>
                  <a:t>eQEP</a:t>
                </a:r>
                <a:r>
                  <a:rPr lang="en-US" sz="2000" dirty="0">
                    <a:latin typeface="+mj-lt"/>
                    <a:ea typeface="Arial"/>
                    <a:cs typeface="Arial"/>
                    <a:sym typeface="Arial"/>
                  </a:rPr>
                  <a:t> peripheral includes an integrated edge capture unit to measure the elapsed time between the unit position. </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This feature is typically used for low-speed measurement using the following equation:</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𝑣</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𝑘</m:t>
                          </m:r>
                        </m:e>
                      </m:d>
                      <m:r>
                        <a:rPr lang="en-US" sz="2000" b="0" i="1" smtClean="0">
                          <a:latin typeface="Cambria Math" panose="02040503050406030204" pitchFamily="18" charset="0"/>
                          <a:ea typeface="Arial"/>
                          <a:cs typeface="Arial"/>
                          <a:sym typeface="Arial"/>
                        </a:rPr>
                        <m:t>=</m:t>
                      </m:r>
                      <m:f>
                        <m:fPr>
                          <m:ctrlPr>
                            <a:rPr lang="en-US" sz="2000" b="0" i="1" smtClean="0">
                              <a:latin typeface="Cambria Math" panose="02040503050406030204" pitchFamily="18" charset="0"/>
                              <a:cs typeface="Arial"/>
                              <a:sym typeface="Arial"/>
                            </a:rPr>
                          </m:ctrlPr>
                        </m:fPr>
                        <m:num>
                          <m:r>
                            <a:rPr lang="en-US" sz="2000" b="0" i="1" smtClean="0">
                              <a:latin typeface="Cambria Math" panose="02040503050406030204" pitchFamily="18" charset="0"/>
                              <a:cs typeface="Arial"/>
                              <a:sym typeface="Arial"/>
                            </a:rPr>
                            <m:t>𝑋</m:t>
                          </m:r>
                        </m:num>
                        <m:den>
                          <m:r>
                            <a:rPr lang="en-US" sz="2000" b="0" i="1" smtClean="0">
                              <a:latin typeface="Cambria Math" panose="02040503050406030204" pitchFamily="18" charset="0"/>
                              <a:cs typeface="Arial"/>
                              <a:sym typeface="Arial"/>
                            </a:rPr>
                            <m:t>𝑡</m:t>
                          </m:r>
                          <m:d>
                            <m:dPr>
                              <m:ctrlPr>
                                <a:rPr lang="en-US" sz="2000" b="0" i="1" smtClean="0">
                                  <a:latin typeface="Cambria Math" panose="02040503050406030204" pitchFamily="18" charset="0"/>
                                  <a:cs typeface="Arial"/>
                                  <a:sym typeface="Arial"/>
                                </a:rPr>
                              </m:ctrlPr>
                            </m:dPr>
                            <m:e>
                              <m:r>
                                <a:rPr lang="en-US" sz="2000" b="0" i="1" smtClean="0">
                                  <a:latin typeface="Cambria Math" panose="02040503050406030204" pitchFamily="18" charset="0"/>
                                  <a:cs typeface="Arial"/>
                                  <a:sym typeface="Arial"/>
                                </a:rPr>
                                <m:t>𝑘</m:t>
                              </m:r>
                            </m:e>
                          </m:d>
                          <m:r>
                            <a:rPr lang="en-US" sz="2000" b="0" i="1" smtClean="0">
                              <a:latin typeface="Cambria Math" panose="02040503050406030204" pitchFamily="18" charset="0"/>
                              <a:cs typeface="Arial"/>
                              <a:sym typeface="Arial"/>
                            </a:rPr>
                            <m:t>−</m:t>
                          </m:r>
                          <m:r>
                            <a:rPr lang="en-US" sz="2000" b="0" i="1" smtClean="0">
                              <a:latin typeface="Cambria Math" panose="02040503050406030204" pitchFamily="18" charset="0"/>
                              <a:cs typeface="Arial"/>
                              <a:sym typeface="Arial"/>
                            </a:rPr>
                            <m:t>𝑡</m:t>
                          </m:r>
                          <m:r>
                            <a:rPr lang="en-US" sz="2000" b="0" i="1" smtClean="0">
                              <a:latin typeface="Cambria Math" panose="02040503050406030204" pitchFamily="18" charset="0"/>
                              <a:cs typeface="Arial"/>
                              <a:sym typeface="Arial"/>
                            </a:rPr>
                            <m:t>(</m:t>
                          </m:r>
                          <m:r>
                            <a:rPr lang="en-US" sz="2000" b="0" i="1" smtClean="0">
                              <a:latin typeface="Cambria Math" panose="02040503050406030204" pitchFamily="18" charset="0"/>
                              <a:cs typeface="Arial"/>
                              <a:sym typeface="Arial"/>
                            </a:rPr>
                            <m:t>𝑘</m:t>
                          </m:r>
                          <m:r>
                            <a:rPr lang="en-US" sz="2000" b="0" i="1" smtClean="0">
                              <a:latin typeface="Cambria Math" panose="02040503050406030204" pitchFamily="18" charset="0"/>
                              <a:cs typeface="Arial"/>
                              <a:sym typeface="Arial"/>
                            </a:rPr>
                            <m:t>−1)</m:t>
                          </m:r>
                        </m:den>
                      </m:f>
                      <m:r>
                        <a:rPr lang="en-US" sz="2000" b="0" i="1" smtClean="0">
                          <a:latin typeface="Cambria Math" panose="02040503050406030204" pitchFamily="18" charset="0"/>
                          <a:cs typeface="Arial"/>
                          <a:sym typeface="Arial"/>
                        </a:rPr>
                        <m:t>=</m:t>
                      </m:r>
                      <m:f>
                        <m:fPr>
                          <m:ctrlPr>
                            <a:rPr lang="en-US" sz="2000" b="0" i="1" smtClean="0">
                              <a:latin typeface="Cambria Math" panose="02040503050406030204" pitchFamily="18" charset="0"/>
                              <a:cs typeface="Arial"/>
                              <a:sym typeface="Arial"/>
                            </a:rPr>
                          </m:ctrlPr>
                        </m:fPr>
                        <m:num>
                          <m:r>
                            <a:rPr lang="en-US" sz="2000" b="0" i="1" smtClean="0">
                              <a:latin typeface="Cambria Math" panose="02040503050406030204" pitchFamily="18" charset="0"/>
                              <a:cs typeface="Arial"/>
                              <a:sym typeface="Arial"/>
                            </a:rPr>
                            <m:t>𝑋</m:t>
                          </m:r>
                        </m:num>
                        <m:den>
                          <m:r>
                            <a:rPr lang="en-US" sz="2000" b="0" i="1" smtClean="0">
                              <a:latin typeface="Cambria Math" panose="02040503050406030204" pitchFamily="18" charset="0"/>
                              <a:ea typeface="Cambria Math" panose="02040503050406030204" pitchFamily="18" charset="0"/>
                              <a:cs typeface="Arial"/>
                              <a:sym typeface="Arial"/>
                            </a:rPr>
                            <m:t>∆</m:t>
                          </m:r>
                          <m:r>
                            <a:rPr lang="en-US" sz="2000" b="0" i="1" smtClean="0">
                              <a:latin typeface="Cambria Math" panose="02040503050406030204" pitchFamily="18" charset="0"/>
                              <a:ea typeface="Cambria Math" panose="02040503050406030204" pitchFamily="18" charset="0"/>
                              <a:cs typeface="Arial"/>
                              <a:sym typeface="Arial"/>
                            </a:rPr>
                            <m:t>𝑇</m:t>
                          </m:r>
                        </m:den>
                      </m:f>
                    </m:oMath>
                  </m:oMathPara>
                </a14:m>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Where,</a:t>
                </a:r>
              </a:p>
              <a:p>
                <a:pPr marL="342900">
                  <a:lnSpc>
                    <a:spcPct val="100000"/>
                  </a:lnSpc>
                  <a:spcBef>
                    <a:spcPts val="0"/>
                  </a:spcBef>
                  <a:buSzPts val="3000"/>
                </a:pPr>
                <a14:m>
                  <m:oMath xmlns:m="http://schemas.openxmlformats.org/officeDocument/2006/math">
                    <m:r>
                      <a:rPr lang="en-US" sz="2000" b="0" i="1" smtClean="0">
                        <a:latin typeface="Cambria Math" panose="02040503050406030204" pitchFamily="18" charset="0"/>
                        <a:cs typeface="Arial"/>
                        <a:sym typeface="Arial"/>
                      </a:rPr>
                      <m:t>𝑋</m:t>
                    </m:r>
                  </m:oMath>
                </a14:m>
                <a:r>
                  <a:rPr lang="en-US" sz="2000" dirty="0">
                    <a:latin typeface="+mj-lt"/>
                    <a:ea typeface="Arial"/>
                    <a:cs typeface="Arial"/>
                    <a:sym typeface="Arial"/>
                  </a:rPr>
                  <a:t>: Unit position defined by integer multiple of quadrature edges</a:t>
                </a:r>
              </a:p>
              <a:p>
                <a:pPr marL="342900">
                  <a:lnSpc>
                    <a:spcPct val="100000"/>
                  </a:lnSpc>
                  <a:spcBef>
                    <a:spcPts val="0"/>
                  </a:spcBef>
                  <a:buSzPts val="3000"/>
                </a:pP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a:sym typeface="Arial"/>
                      </a:rPr>
                      <m:t>∆</m:t>
                    </m:r>
                    <m:r>
                      <a:rPr lang="en-US" sz="2000" b="0" i="1" smtClean="0">
                        <a:latin typeface="Cambria Math" panose="02040503050406030204" pitchFamily="18" charset="0"/>
                        <a:ea typeface="Cambria Math" panose="02040503050406030204" pitchFamily="18" charset="0"/>
                        <a:cs typeface="Arial"/>
                        <a:sym typeface="Arial"/>
                      </a:rPr>
                      <m:t>𝑇</m:t>
                    </m:r>
                  </m:oMath>
                </a14:m>
                <a:r>
                  <a:rPr lang="en-US" sz="2000" dirty="0">
                    <a:latin typeface="+mj-lt"/>
                    <a:ea typeface="Arial"/>
                    <a:cs typeface="Arial"/>
                    <a:sym typeface="Arial"/>
                  </a:rPr>
                  <a:t>: Elapsed time between unit position events</a:t>
                </a:r>
              </a:p>
              <a:p>
                <a:pPr marL="342900">
                  <a:lnSpc>
                    <a:spcPct val="100000"/>
                  </a:lnSpc>
                  <a:spcBef>
                    <a:spcPts val="0"/>
                  </a:spcBef>
                  <a:buSzPts val="3000"/>
                </a:pPr>
                <a14:m>
                  <m:oMath xmlns:m="http://schemas.openxmlformats.org/officeDocument/2006/math">
                    <m:r>
                      <a:rPr lang="en-US" sz="2000" b="0" i="1" smtClean="0">
                        <a:latin typeface="Cambria Math" panose="02040503050406030204" pitchFamily="18" charset="0"/>
                        <a:ea typeface="Arial"/>
                        <a:cs typeface="Arial"/>
                        <a:sym typeface="Arial"/>
                      </a:rPr>
                      <m:t>𝑣</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𝑘</m:t>
                        </m:r>
                      </m:e>
                    </m:d>
                  </m:oMath>
                </a14:m>
                <a:r>
                  <a:rPr lang="en-US" sz="2000" dirty="0">
                    <a:latin typeface="+mj-lt"/>
                    <a:ea typeface="Arial"/>
                    <a:cs typeface="Arial"/>
                    <a:sym typeface="Arial"/>
                  </a:rPr>
                  <a:t>: Velocity at time instant “</a:t>
                </a:r>
                <a14:m>
                  <m:oMath xmlns:m="http://schemas.openxmlformats.org/officeDocument/2006/math">
                    <m:r>
                      <a:rPr lang="en-US" sz="2000" i="1">
                        <a:latin typeface="Cambria Math" panose="02040503050406030204" pitchFamily="18" charset="0"/>
                        <a:ea typeface="Arial"/>
                        <a:cs typeface="Arial"/>
                        <a:sym typeface="Arial"/>
                      </a:rPr>
                      <m:t>𝑘</m:t>
                    </m:r>
                  </m:oMath>
                </a14:m>
                <a:r>
                  <a:rPr lang="en-US" sz="2000" dirty="0">
                    <a:latin typeface="+mj-lt"/>
                    <a:ea typeface="Arial"/>
                    <a:cs typeface="Arial"/>
                    <a:sym typeface="Arial"/>
                  </a:rPr>
                  <a:t>”</a:t>
                </a:r>
              </a:p>
              <a:p>
                <a:pPr marL="34290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p:txBody>
          </p:sp>
        </mc:Choice>
        <mc:Fallback xmlns="">
          <p:sp>
            <p:nvSpPr>
              <p:cNvPr id="118" name="Google Shape;118;p29">
                <a:extLst>
                  <a:ext uri="{FF2B5EF4-FFF2-40B4-BE49-F238E27FC236}">
                    <a16:creationId xmlns:a16="http://schemas.microsoft.com/office/drawing/2014/main" id="{8FFFBBE2-B976-B930-AA49-9E208238245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1A8F2E9-46DC-1761-B0D0-A13EF8520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BBA1B7D-FC65-8058-D58D-28C54FC7FAF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r>
              <a:rPr lang="en-US" sz="2400" dirty="0">
                <a:solidFill>
                  <a:schemeClr val="lt1"/>
                </a:solidFill>
              </a:rPr>
              <a:t> - CAP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706EAC9-F15D-86AB-BB08-584FB0E49BC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C1C697-2D56-ED5D-DBF3-F987114EDAC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E5DAD4E-D048-7A47-9EA0-B0863C29D1C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D904A3B-E77C-6D98-9BFD-E37F98B4E9F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C05170D-26F9-5FC9-DFB8-3DC2B74C1D4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542E4D5-47EF-D0EB-86A2-8C63272CF99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692373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F31257-384D-CA3A-47BE-3BBA4408726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46A9E00-F133-8FB2-121D-D1F795391A1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63B1641-33C3-CF70-2452-E73CE6138C0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EC5AC05-9A0B-31D2-EF8E-811C4F85EE8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EDB5AF9-CC90-7505-4B7A-087F4E51F2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D440BDF-11AD-AFA7-CDA6-DE55EC905D0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D5707EE-2639-3D18-150F-C78335368AE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70E14ED-CA43-2064-34D4-7329CF0A6AF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992B0EB-AD00-9D73-0279-ED469BB01E6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D6C1C104-7CA8-65B2-5496-0F26999FB6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494" y="1105749"/>
            <a:ext cx="7161012" cy="5296329"/>
          </a:xfrm>
          <a:prstGeom prst="rect">
            <a:avLst/>
          </a:prstGeom>
        </p:spPr>
      </p:pic>
    </p:spTree>
    <p:extLst>
      <p:ext uri="{BB962C8B-B14F-4D97-AF65-F5344CB8AC3E}">
        <p14:creationId xmlns:p14="http://schemas.microsoft.com/office/powerpoint/2010/main" val="3708244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3E3490-3269-0849-5787-F4EF6E513A0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98B6AEA-F55E-457F-C40B-2FA2D84CF1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Arial"/>
                    <a:cs typeface="Arial"/>
                    <a:sym typeface="Arial"/>
                  </a:rPr>
                  <a:t>The </a:t>
                </a:r>
                <a:r>
                  <a:rPr lang="en-US" sz="2000" dirty="0" err="1">
                    <a:latin typeface="+mj-lt"/>
                    <a:ea typeface="Arial"/>
                    <a:cs typeface="Arial"/>
                    <a:sym typeface="Arial"/>
                  </a:rPr>
                  <a:t>eQEP</a:t>
                </a:r>
                <a:r>
                  <a:rPr lang="en-US" sz="2000" dirty="0">
                    <a:latin typeface="+mj-lt"/>
                    <a:ea typeface="Arial"/>
                    <a:cs typeface="Arial"/>
                    <a:sym typeface="Arial"/>
                  </a:rPr>
                  <a:t> peripheral includes a 32-bit timer (QUTMR) that is clocked by SYSCLKOUT to generate periodic interrupts for velocity calculations. Whenever the unit timer (QUTMR) matches the unit period register (QUPRD), it resets the unit timer (QUPRD) it resets the unit timer (QUTMR).</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Time measurement (</a:t>
                </a:r>
                <a14:m>
                  <m:oMath xmlns:m="http://schemas.openxmlformats.org/officeDocument/2006/math">
                    <m:r>
                      <a:rPr lang="en-US" sz="2000" i="1">
                        <a:latin typeface="Cambria Math" panose="02040503050406030204" pitchFamily="18" charset="0"/>
                        <a:ea typeface="Cambria Math" panose="02040503050406030204" pitchFamily="18" charset="0"/>
                        <a:cs typeface="Arial"/>
                        <a:sym typeface="Arial"/>
                      </a:rPr>
                      <m:t>∆</m:t>
                    </m:r>
                    <m:r>
                      <a:rPr lang="en-US" sz="2000" i="1">
                        <a:latin typeface="Cambria Math" panose="02040503050406030204" pitchFamily="18" charset="0"/>
                        <a:ea typeface="Cambria Math" panose="02040503050406030204" pitchFamily="18" charset="0"/>
                        <a:cs typeface="Arial"/>
                        <a:sym typeface="Arial"/>
                      </a:rPr>
                      <m:t>𝑇</m:t>
                    </m:r>
                  </m:oMath>
                </a14:m>
                <a:r>
                  <a:rPr lang="en-US" sz="2000" dirty="0">
                    <a:latin typeface="+mj-lt"/>
                    <a:ea typeface="Arial"/>
                    <a:cs typeface="Arial"/>
                    <a:sym typeface="Arial"/>
                  </a:rPr>
                  <a:t>) between unit position events will be correct if the following conditions are met:</a:t>
                </a:r>
              </a:p>
              <a:p>
                <a:pPr marL="342900">
                  <a:lnSpc>
                    <a:spcPct val="100000"/>
                  </a:lnSpc>
                  <a:spcBef>
                    <a:spcPts val="0"/>
                  </a:spcBef>
                  <a:buSzPts val="3000"/>
                </a:pPr>
                <a:r>
                  <a:rPr lang="en-US" sz="2000" dirty="0">
                    <a:latin typeface="+mj-lt"/>
                    <a:ea typeface="Arial"/>
                    <a:cs typeface="Arial"/>
                    <a:sym typeface="Arial"/>
                  </a:rPr>
                  <a:t>No more than 65,535 counts have occurred between unit position events (16-bit register).</a:t>
                </a:r>
              </a:p>
              <a:p>
                <a:pPr marL="342900">
                  <a:lnSpc>
                    <a:spcPct val="100000"/>
                  </a:lnSpc>
                  <a:spcBef>
                    <a:spcPts val="0"/>
                  </a:spcBef>
                  <a:buSzPts val="3000"/>
                </a:pPr>
                <a:r>
                  <a:rPr lang="en-US" sz="2000" dirty="0">
                    <a:latin typeface="+mj-lt"/>
                    <a:ea typeface="Arial"/>
                    <a:cs typeface="Arial"/>
                    <a:sym typeface="Arial"/>
                  </a:rPr>
                  <a:t>No direction change between unit position events.</a:t>
                </a:r>
              </a:p>
            </p:txBody>
          </p:sp>
        </mc:Choice>
        <mc:Fallback xmlns="">
          <p:sp>
            <p:nvSpPr>
              <p:cNvPr id="118" name="Google Shape;118;p29">
                <a:extLst>
                  <a:ext uri="{FF2B5EF4-FFF2-40B4-BE49-F238E27FC236}">
                    <a16:creationId xmlns:a16="http://schemas.microsoft.com/office/drawing/2014/main" id="{998B6AEA-F55E-457F-C40B-2FA2D84CF1B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r="-87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C462348F-525A-6FCF-526F-0B29474EB6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AFC789D-5280-6C82-45E0-5FA2E5985AB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err="1">
                <a:solidFill>
                  <a:schemeClr val="lt1"/>
                </a:solidFill>
              </a:rPr>
              <a:t>eQEP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DD0846D-CD7F-769D-0701-4549CE6B1A9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0AA94D1-36F7-D345-0A23-2BFA20DD14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F9E0042-B1BA-A376-7193-DD04BDB57CD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93869D8-7143-971C-FF34-619F693A9E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2C28C40-A145-C25A-5C2E-BE613A1BEB3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50D0354-5FCD-511A-5796-E13F96B6594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561004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2E27C57-6BF5-4F28-39A1-FCAA5A73247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3430B8E-BCE5-394A-2722-7C8971B7DF2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dirty="0">
                <a:solidFill>
                  <a:srgbClr val="7F0055"/>
                </a:solidFill>
                <a:latin typeface="Consolas" panose="020B0609020204030204" pitchFamily="49" charset="0"/>
              </a:rPr>
              <a:t>float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readEncLeft</a:t>
            </a:r>
            <a:r>
              <a:rPr lang="en-US" dirty="0">
                <a:solidFill>
                  <a:srgbClr val="000000"/>
                </a:solidFill>
                <a:latin typeface="Consolas" panose="020B0609020204030204" pitchFamily="49" charset="0"/>
              </a:rPr>
              <a:t>(</a:t>
            </a:r>
            <a:r>
              <a:rPr lang="en-US" dirty="0">
                <a:solidFill>
                  <a:srgbClr val="7F0055"/>
                </a:solidFill>
                <a:latin typeface="Consolas" panose="020B0609020204030204" pitchFamily="49" charset="0"/>
              </a:rPr>
              <a:t>void</a:t>
            </a:r>
            <a:r>
              <a:rPr lang="en-US" dirty="0">
                <a:solidFill>
                  <a:srgbClr val="000000"/>
                </a:solidFill>
                <a:latin typeface="Consolas" panose="020B0609020204030204" pitchFamily="49" charset="0"/>
              </a:rPr>
              <a:t>) {</a:t>
            </a:r>
          </a:p>
          <a:p>
            <a:pPr marL="114300" indent="0" algn="l">
              <a:buNone/>
            </a:pPr>
            <a:r>
              <a:rPr lang="en-US" dirty="0">
                <a:solidFill>
                  <a:srgbClr val="000000"/>
                </a:solidFill>
                <a:latin typeface="Consolas" panose="020B0609020204030204" pitchFamily="49" charset="0"/>
              </a:rPr>
              <a:t>    </a:t>
            </a:r>
            <a:r>
              <a:rPr lang="en-US" dirty="0">
                <a:solidFill>
                  <a:srgbClr val="005032"/>
                </a:solidFill>
                <a:latin typeface="Consolas" panose="020B0609020204030204" pitchFamily="49" charset="0"/>
              </a:rPr>
              <a:t>int32_t</a:t>
            </a:r>
            <a:r>
              <a:rPr lang="en-US" dirty="0">
                <a:solidFill>
                  <a:srgbClr val="000000"/>
                </a:solidFill>
                <a:latin typeface="Consolas" panose="020B0609020204030204" pitchFamily="49" charset="0"/>
              </a:rPr>
              <a:t> raw = EQep1Regs.</a:t>
            </a:r>
            <a:r>
              <a:rPr lang="en-US" dirty="0">
                <a:solidFill>
                  <a:srgbClr val="0000C0"/>
                </a:solidFill>
                <a:latin typeface="Consolas" panose="020B0609020204030204" pitchFamily="49" charset="0"/>
              </a:rPr>
              <a:t>QPOSCNT</a:t>
            </a:r>
            <a:r>
              <a:rPr lang="en-US" dirty="0">
                <a:solidFill>
                  <a:srgbClr val="000000"/>
                </a:solidFill>
                <a:latin typeface="Consolas" panose="020B0609020204030204" pitchFamily="49" charset="0"/>
              </a:rPr>
              <a:t>;</a:t>
            </a:r>
          </a:p>
          <a:p>
            <a:pPr marL="114300" indent="0" algn="l">
              <a:buNone/>
            </a:pPr>
            <a:endParaRPr lang="en-US" dirty="0">
              <a:latin typeface="Consolas" panose="020B0609020204030204" pitchFamily="49" charset="0"/>
            </a:endParaRPr>
          </a:p>
          <a:p>
            <a:pPr marL="114300" indent="0" algn="l">
              <a:buNone/>
            </a:pPr>
            <a:r>
              <a:rPr lang="en-US" dirty="0">
                <a:solidFill>
                  <a:srgbClr val="000000"/>
                </a:solidFill>
                <a:latin typeface="Consolas" panose="020B0609020204030204" pitchFamily="49" charset="0"/>
              </a:rPr>
              <a:t>    </a:t>
            </a:r>
            <a:r>
              <a:rPr lang="en-US" dirty="0">
                <a:solidFill>
                  <a:srgbClr val="7F0055"/>
                </a:solidFill>
                <a:latin typeface="Consolas" panose="020B0609020204030204" pitchFamily="49" charset="0"/>
              </a:rPr>
              <a:t>return</a:t>
            </a:r>
            <a:r>
              <a:rPr lang="en-US" dirty="0">
                <a:solidFill>
                  <a:srgbClr val="000000"/>
                </a:solidFill>
                <a:latin typeface="Consolas" panose="020B0609020204030204" pitchFamily="49" charset="0"/>
              </a:rPr>
              <a:t> (raw*(-2*PI/(2000.0*20.0)));</a:t>
            </a:r>
          </a:p>
          <a:p>
            <a:pPr marL="114300" indent="0" algn="l">
              <a:buNone/>
            </a:pPr>
            <a:r>
              <a:rPr lang="en-US" dirty="0">
                <a:solidFill>
                  <a:srgbClr val="000000"/>
                </a:solidFill>
                <a:latin typeface="Consolas" panose="020B0609020204030204" pitchFamily="49" charset="0"/>
              </a:rPr>
              <a:t>}</a:t>
            </a:r>
          </a:p>
          <a:p>
            <a:pPr marL="114300" indent="0" algn="l">
              <a:buNone/>
            </a:pPr>
            <a:endParaRPr lang="en-US" dirty="0">
              <a:solidFill>
                <a:srgbClr val="000000"/>
              </a:solidFill>
              <a:latin typeface="Consolas" panose="020B0609020204030204" pitchFamily="49" charset="0"/>
            </a:endParaRPr>
          </a:p>
          <a:p>
            <a:pPr marL="114300" indent="0" algn="l">
              <a:buNone/>
            </a:pPr>
            <a:endParaRPr lang="en-US" dirty="0">
              <a:solidFill>
                <a:srgbClr val="000000"/>
              </a:solidFill>
              <a:latin typeface="Consolas" panose="020B0609020204030204" pitchFamily="49" charset="0"/>
            </a:endParaRPr>
          </a:p>
          <a:p>
            <a:pPr marL="114300" indent="0" algn="ctr">
              <a:buNone/>
            </a:pPr>
            <a:r>
              <a:rPr lang="en-US" b="0" dirty="0">
                <a:solidFill>
                  <a:srgbClr val="000000"/>
                </a:solidFill>
                <a:effectLst/>
                <a:latin typeface="+mj-lt"/>
              </a:rPr>
              <a:t>Simple as that! You just read the registry!</a:t>
            </a:r>
            <a:endParaRPr lang="en-US" b="0" dirty="0">
              <a:solidFill>
                <a:srgbClr val="3B3B3B"/>
              </a:solidFill>
              <a:effectLst/>
              <a:latin typeface="+mj-lt"/>
            </a:endParaRPr>
          </a:p>
        </p:txBody>
      </p:sp>
      <p:sp>
        <p:nvSpPr>
          <p:cNvPr id="119" name="Google Shape;119;p29">
            <a:extLst>
              <a:ext uri="{FF2B5EF4-FFF2-40B4-BE49-F238E27FC236}">
                <a16:creationId xmlns:a16="http://schemas.microsoft.com/office/drawing/2014/main" id="{2A4881D7-713B-914B-AC92-48345DD9E1B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A483811A-CB7A-9C76-4E71-5344DBE2C01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Optical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7E7DEA7-578B-E1A1-5371-4D32D8C2D64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08B3A0-3171-DAF8-C0A0-32667A349EA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28B152-72C1-ED16-0424-391759ADC67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3DBEA00-60CB-66AF-E205-F7BD953903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B942795-3DFB-66A5-82CA-0E882F6BDEB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75E5FCD-7996-F8E0-2DB8-22F5103685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415232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2A713CDF-0B8B-108B-42D6-17FDD2EBBF0C}"/>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1F34033B-0A6F-2DE7-275B-87638A846C53}"/>
              </a:ext>
            </a:extLst>
          </p:cNvPr>
          <p:cNvSpPr txBox="1"/>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Absolute Optical Encoder</a:t>
            </a:r>
            <a:endParaRPr dirty="0"/>
          </a:p>
        </p:txBody>
      </p:sp>
      <p:grpSp>
        <p:nvGrpSpPr>
          <p:cNvPr id="105" name="Google Shape;105;p28">
            <a:extLst>
              <a:ext uri="{FF2B5EF4-FFF2-40B4-BE49-F238E27FC236}">
                <a16:creationId xmlns:a16="http://schemas.microsoft.com/office/drawing/2014/main" id="{1D833E33-3903-F12E-3037-5D4DAB6E7270}"/>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F477EB1-B485-1087-5A29-9DBFE6886498}"/>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31BF6ED0-B16F-48E7-B88F-E8C86264E5FE}"/>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893FED50-DA62-A68F-53A6-2526B2AC4B17}"/>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0D16EC1-C525-EBA8-ABFB-C7D28A7FD3C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E56A7D34-A249-29FC-9D1B-980CD1EF863C}"/>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E15231D-E819-1A10-65F1-3AC52B59C01E}"/>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0C99C46B-1F9A-4E67-DC21-4B588937352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2B27191B-2A5E-3909-9854-09308CE50B4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906657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40F3FB9-E50E-A6C0-05B5-B93B84614EF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7D06D7E-30EB-6610-46B3-CD293E080559}"/>
              </a:ext>
            </a:extLst>
          </p:cNvPr>
          <p:cNvSpPr txBox="1">
            <a:spLocks noGrp="1"/>
          </p:cNvSpPr>
          <p:nvPr>
            <p:ph type="body" idx="1"/>
          </p:nvPr>
        </p:nvSpPr>
        <p:spPr>
          <a:xfrm>
            <a:off x="376809" y="1334279"/>
            <a:ext cx="11177401" cy="2716733"/>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There are multiple protocols for reading data from an optical encoder. We only use </a:t>
            </a:r>
            <a:r>
              <a:rPr lang="en-US" sz="1800" b="1" dirty="0">
                <a:latin typeface="+mj-lt"/>
              </a:rPr>
              <a:t>incremental </a:t>
            </a:r>
            <a:r>
              <a:rPr lang="en-US" sz="1800" dirty="0">
                <a:latin typeface="+mj-lt"/>
              </a:rPr>
              <a:t>encoders in this class.</a:t>
            </a:r>
          </a:p>
          <a:p>
            <a:pPr marL="114300" indent="0">
              <a:buNone/>
            </a:pPr>
            <a:endParaRPr lang="en-US" sz="1800" dirty="0">
              <a:latin typeface="+mj-lt"/>
            </a:endParaRPr>
          </a:p>
          <a:p>
            <a:pPr marL="114300" indent="0">
              <a:buNone/>
            </a:pPr>
            <a:r>
              <a:rPr lang="en-US" sz="1800" dirty="0">
                <a:latin typeface="+mj-lt"/>
              </a:rPr>
              <a:t>Some protocols use SPI, some use UART or some kind of DAC signal, </a:t>
            </a:r>
            <a:r>
              <a:rPr lang="en-US" sz="1800" dirty="0" err="1">
                <a:latin typeface="+mj-lt"/>
              </a:rPr>
              <a:t>etc</a:t>
            </a:r>
            <a:r>
              <a:rPr lang="en-US" sz="1800" dirty="0">
                <a:latin typeface="+mj-lt"/>
              </a:rPr>
              <a:t>… the only way to be sure is to look at the official documentation!</a:t>
            </a:r>
          </a:p>
          <a:p>
            <a:pPr marL="114300" indent="0">
              <a:buNone/>
            </a:pPr>
            <a:endParaRPr lang="en-US" sz="1800" dirty="0">
              <a:latin typeface="+mj-lt"/>
            </a:endParaRPr>
          </a:p>
          <a:p>
            <a:pPr marL="114300" indent="0">
              <a:buNone/>
            </a:pPr>
            <a:r>
              <a:rPr lang="en-US" sz="1800" dirty="0">
                <a:latin typeface="+mj-lt"/>
              </a:rPr>
              <a:t>For the following </a:t>
            </a:r>
            <a:r>
              <a:rPr lang="en-US" sz="1800" dirty="0">
                <a:latin typeface="+mj-lt"/>
                <a:hlinkClick r:id="rId3"/>
              </a:rPr>
              <a:t>Magnetic Rotary Encoder </a:t>
            </a:r>
            <a:r>
              <a:rPr lang="en-US" sz="1800" dirty="0">
                <a:latin typeface="+mj-lt"/>
              </a:rPr>
              <a:t>(an absolute encoder that uses a magnet on top of the IC), we can extract the data from the SSI communication protocol.</a:t>
            </a:r>
          </a:p>
          <a:p>
            <a:pPr marL="114300" indent="0">
              <a:buNone/>
            </a:pPr>
            <a:endParaRPr lang="en-US" sz="1800" dirty="0">
              <a:latin typeface="+mj-lt"/>
            </a:endParaRPr>
          </a:p>
        </p:txBody>
      </p:sp>
      <p:sp>
        <p:nvSpPr>
          <p:cNvPr id="119" name="Google Shape;119;p29">
            <a:extLst>
              <a:ext uri="{FF2B5EF4-FFF2-40B4-BE49-F238E27FC236}">
                <a16:creationId xmlns:a16="http://schemas.microsoft.com/office/drawing/2014/main" id="{F0D21858-C077-DDB7-1D4A-6664F1D3300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E0BC6E5-9F01-D328-0339-30FD5FE48D4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Absolute Encoder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FDE89C46-5665-BEF6-B6FA-F938B95664F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3C4D165-0887-4C22-F2DB-5A1760FCC18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7A93078-1151-E7B3-35DB-BC963DE7660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7D341A9-0D4D-2C20-5ED3-886ADAF3C06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8F4E004-26AA-1519-48B2-6E3ED9F314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07E892B-A210-6AF8-5984-8B15D950DD3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Picture 2">
            <a:extLst>
              <a:ext uri="{FF2B5EF4-FFF2-40B4-BE49-F238E27FC236}">
                <a16:creationId xmlns:a16="http://schemas.microsoft.com/office/drawing/2014/main" id="{10B17922-CF3A-12C0-C9FE-1A65C8F40EBB}"/>
              </a:ext>
            </a:extLst>
          </p:cNvPr>
          <p:cNvPicPr>
            <a:picLocks noChangeAspect="1"/>
          </p:cNvPicPr>
          <p:nvPr/>
        </p:nvPicPr>
        <p:blipFill>
          <a:blip r:embed="rId5"/>
          <a:stretch>
            <a:fillRect/>
          </a:stretch>
        </p:blipFill>
        <p:spPr>
          <a:xfrm>
            <a:off x="3731141" y="4051015"/>
            <a:ext cx="4201363" cy="2440990"/>
          </a:xfrm>
          <a:prstGeom prst="rect">
            <a:avLst/>
          </a:prstGeom>
        </p:spPr>
      </p:pic>
      <p:sp>
        <p:nvSpPr>
          <p:cNvPr id="2" name="TextBox 1">
            <a:extLst>
              <a:ext uri="{FF2B5EF4-FFF2-40B4-BE49-F238E27FC236}">
                <a16:creationId xmlns:a16="http://schemas.microsoft.com/office/drawing/2014/main" id="{6D4E56A6-E078-BE15-2970-0CB86B35DF19}"/>
              </a:ext>
            </a:extLst>
          </p:cNvPr>
          <p:cNvSpPr txBox="1"/>
          <p:nvPr/>
        </p:nvSpPr>
        <p:spPr>
          <a:xfrm>
            <a:off x="3668405" y="6392339"/>
            <a:ext cx="4326834" cy="261610"/>
          </a:xfrm>
          <a:prstGeom prst="rect">
            <a:avLst/>
          </a:prstGeom>
          <a:noFill/>
        </p:spPr>
        <p:txBody>
          <a:bodyPr wrap="square" rtlCol="0">
            <a:spAutoFit/>
          </a:bodyPr>
          <a:lstStyle/>
          <a:p>
            <a:pPr algn="ctr"/>
            <a:r>
              <a:rPr lang="en-US" sz="1100" dirty="0">
                <a:hlinkClick r:id="rId6"/>
              </a:rPr>
              <a:t>https://www.rls.si/eng/am4096-12-bit-rotary-magnetic-encoder-chip</a:t>
            </a:r>
            <a:r>
              <a:rPr lang="en-US" sz="1100" dirty="0"/>
              <a:t> </a:t>
            </a:r>
          </a:p>
        </p:txBody>
      </p:sp>
    </p:spTree>
    <p:extLst>
      <p:ext uri="{BB962C8B-B14F-4D97-AF65-F5344CB8AC3E}">
        <p14:creationId xmlns:p14="http://schemas.microsoft.com/office/powerpoint/2010/main" val="2575445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AD1448E-D08C-DC31-0D9A-EA6E046A7F8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8115637-6EF3-F197-933B-2B02BDAB7E4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887E3C5B-9ECD-C269-27E2-F3CB530D796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SSI</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A3C2A31-7173-C43D-B076-905026996DA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4C1CA9C-C3A1-7481-D671-DC511BC300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761AD3F-D8CB-1E0A-0679-0DB13C8D19D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C33D9FF-1B8A-6BAB-AFB6-A47E80EAF15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2A085CB-3649-02D8-1E90-44E2053197D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5973852-7A22-5AD6-FE0D-20C9398CD84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6" name="Graphic 5">
            <a:extLst>
              <a:ext uri="{FF2B5EF4-FFF2-40B4-BE49-F238E27FC236}">
                <a16:creationId xmlns:a16="http://schemas.microsoft.com/office/drawing/2014/main" id="{977D35C3-3E13-7431-61F2-75DAC4F586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39564" y="949760"/>
            <a:ext cx="6312873" cy="5536211"/>
          </a:xfrm>
          <a:prstGeom prst="rect">
            <a:avLst/>
          </a:prstGeom>
        </p:spPr>
      </p:pic>
      <p:sp>
        <p:nvSpPr>
          <p:cNvPr id="2" name="Rectangle 1">
            <a:extLst>
              <a:ext uri="{FF2B5EF4-FFF2-40B4-BE49-F238E27FC236}">
                <a16:creationId xmlns:a16="http://schemas.microsoft.com/office/drawing/2014/main" id="{1E6219F5-8824-58F0-4E25-1B30F4C384BB}"/>
              </a:ext>
            </a:extLst>
          </p:cNvPr>
          <p:cNvSpPr/>
          <p:nvPr/>
        </p:nvSpPr>
        <p:spPr>
          <a:xfrm>
            <a:off x="6924261" y="2166730"/>
            <a:ext cx="1928191" cy="51020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0540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645BCC3-3CF1-2A17-F081-0B7096AC7BE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34C8644-08CA-F9AF-0363-324D2B41E79A}"/>
              </a:ext>
            </a:extLst>
          </p:cNvPr>
          <p:cNvSpPr txBox="1">
            <a:spLocks noGrp="1"/>
          </p:cNvSpPr>
          <p:nvPr>
            <p:ph type="body" idx="1"/>
          </p:nvPr>
        </p:nvSpPr>
        <p:spPr>
          <a:xfrm>
            <a:off x="376809" y="1334279"/>
            <a:ext cx="11177401" cy="172642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Like UART, start with high, then to start communication you start with a low value. The difference is that you are not sending “data” to ask, you are just sending a clock signal. The sensor is sending its preconfigured “data”. </a:t>
            </a:r>
          </a:p>
          <a:p>
            <a:pPr marL="114300" indent="0">
              <a:buNone/>
            </a:pPr>
            <a:r>
              <a:rPr lang="en-US" sz="1800" dirty="0">
                <a:latin typeface="+mj-lt"/>
              </a:rPr>
              <a:t>This is a full-duplex signal (you send and receive at the same time). </a:t>
            </a:r>
          </a:p>
          <a:p>
            <a:pPr marL="114300" indent="0">
              <a:buNone/>
            </a:pPr>
            <a:r>
              <a:rPr lang="en-US" sz="1800" dirty="0">
                <a:latin typeface="+mj-lt"/>
              </a:rPr>
              <a:t>The data below is specifically for the </a:t>
            </a:r>
            <a:r>
              <a:rPr lang="en-US" sz="1800" dirty="0">
                <a:latin typeface="+mj-lt"/>
                <a:hlinkClick r:id="rId3"/>
              </a:rPr>
              <a:t>AM4096 – 12 bit angular magnetic encoder IC</a:t>
            </a:r>
            <a:endParaRPr lang="en-US" sz="1800" dirty="0">
              <a:latin typeface="+mj-lt"/>
            </a:endParaRPr>
          </a:p>
        </p:txBody>
      </p:sp>
      <p:sp>
        <p:nvSpPr>
          <p:cNvPr id="119" name="Google Shape;119;p29">
            <a:extLst>
              <a:ext uri="{FF2B5EF4-FFF2-40B4-BE49-F238E27FC236}">
                <a16:creationId xmlns:a16="http://schemas.microsoft.com/office/drawing/2014/main" id="{DB1EA12D-4D56-1BB7-FBB9-22708B069D6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0812357-B7F6-610E-92E6-0D18A555D793}"/>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SSI</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B90ACC7-F8A2-8D28-F3EA-B50FE2E5441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8F7EEE6-4D8D-9ABC-E2DD-679024C4F04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EB6B466-82E5-5500-770E-2967961543C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A871DB-9205-0371-9797-BE4435C85C2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FE7ACC-327C-965C-1805-FEC62F2D94C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15E2BAA-6F65-4347-9560-55776C0F3E9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430ABF43-E62D-6C07-F34F-0100345B78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8253" y="3429000"/>
            <a:ext cx="10235494" cy="2760133"/>
          </a:xfrm>
          <a:prstGeom prst="rect">
            <a:avLst/>
          </a:prstGeom>
        </p:spPr>
      </p:pic>
    </p:spTree>
    <p:extLst>
      <p:ext uri="{BB962C8B-B14F-4D97-AF65-F5344CB8AC3E}">
        <p14:creationId xmlns:p14="http://schemas.microsoft.com/office/powerpoint/2010/main" val="29613101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C05CA4B-D740-0B7D-DD1D-FEBA9BE7FC9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6E3C71E-61F8-5060-14D6-FED9A935397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400" dirty="0">
                <a:latin typeface="+mj-lt"/>
              </a:rPr>
              <a:t>Communicate through the SPI</a:t>
            </a:r>
          </a:p>
          <a:p>
            <a:pPr marL="114300" indent="0">
              <a:buNone/>
            </a:pPr>
            <a:endParaRPr lang="en-US" sz="1400" dirty="0">
              <a:latin typeface="+mj-lt"/>
            </a:endParaRPr>
          </a:p>
          <a:p>
            <a:pPr marL="114300" indent="0" algn="l">
              <a:buNone/>
            </a:pPr>
            <a:r>
              <a:rPr lang="en-US" sz="1400" dirty="0">
                <a:solidFill>
                  <a:srgbClr val="3F7F5F"/>
                </a:solidFill>
                <a:latin typeface="Consolas" panose="020B0609020204030204" pitchFamily="49" charset="0"/>
              </a:rPr>
              <a:t>//need clock polarity = 1 (falling edge)</a:t>
            </a:r>
          </a:p>
          <a:p>
            <a:pPr marL="114300" indent="0" algn="l">
              <a:buNone/>
            </a:pPr>
            <a:r>
              <a:rPr lang="en-US" sz="1400" dirty="0">
                <a:solidFill>
                  <a:srgbClr val="3F7F5F"/>
                </a:solidFill>
                <a:latin typeface="Consolas" panose="020B0609020204030204" pitchFamily="49" charset="0"/>
              </a:rPr>
              <a:t>//collect data on falling edge -&gt; phase = 1 (with delay)</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SPICCR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SPISWRESET</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//put </a:t>
            </a:r>
            <a:r>
              <a:rPr lang="en-US" sz="1400" dirty="0" err="1">
                <a:solidFill>
                  <a:srgbClr val="3F7F5F"/>
                </a:solidFill>
                <a:latin typeface="Consolas" panose="020B0609020204030204" pitchFamily="49" charset="0"/>
              </a:rPr>
              <a:t>spi</a:t>
            </a:r>
            <a:r>
              <a:rPr lang="en-US" sz="1400" dirty="0">
                <a:solidFill>
                  <a:srgbClr val="3F7F5F"/>
                </a:solidFill>
                <a:latin typeface="Consolas" panose="020B0609020204030204" pitchFamily="49" charset="0"/>
              </a:rPr>
              <a:t> in reset (reset before </a:t>
            </a:r>
            <a:r>
              <a:rPr lang="en-US" sz="1400" dirty="0" err="1">
                <a:solidFill>
                  <a:srgbClr val="3F7F5F"/>
                </a:solidFill>
                <a:latin typeface="Consolas" panose="020B0609020204030204" pitchFamily="49" charset="0"/>
              </a:rPr>
              <a:t>changin</a:t>
            </a:r>
            <a:r>
              <a:rPr lang="en-US" sz="1400" dirty="0">
                <a:solidFill>
                  <a:srgbClr val="3F7F5F"/>
                </a:solidFill>
                <a:latin typeface="Consolas" panose="020B0609020204030204" pitchFamily="49" charset="0"/>
              </a:rPr>
              <a:t> configurations)</a:t>
            </a:r>
          </a:p>
          <a:p>
            <a:pPr algn="l"/>
            <a:endParaRPr lang="en-US" sz="1400" dirty="0">
              <a:latin typeface="Consolas" panose="020B0609020204030204" pitchFamily="49" charset="0"/>
            </a:endParaRP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SPICCR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CLKPOLARITY</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//falling edge clock (starts high)</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SPICCR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SPICHAR</a:t>
            </a:r>
            <a:r>
              <a:rPr lang="en-US" sz="1400" dirty="0">
                <a:solidFill>
                  <a:srgbClr val="000000"/>
                </a:solidFill>
                <a:latin typeface="Consolas" panose="020B0609020204030204" pitchFamily="49" charset="0"/>
              </a:rPr>
              <a:t> = 7;        </a:t>
            </a:r>
            <a:r>
              <a:rPr lang="en-US" sz="1400" dirty="0">
                <a:solidFill>
                  <a:srgbClr val="3F7F5F"/>
                </a:solidFill>
                <a:latin typeface="Consolas" panose="020B0609020204030204" pitchFamily="49" charset="0"/>
              </a:rPr>
              <a:t>//shift length for one character is 8 bits</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SPICTL</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 = 0x000E;           </a:t>
            </a:r>
            <a:r>
              <a:rPr lang="en-US" sz="1400" dirty="0">
                <a:solidFill>
                  <a:srgbClr val="3F7F5F"/>
                </a:solidFill>
                <a:latin typeface="Consolas" panose="020B0609020204030204" pitchFamily="49" charset="0"/>
              </a:rPr>
              <a:t>//0000000000001110-&gt;</a:t>
            </a:r>
            <a:r>
              <a:rPr lang="en-US" sz="1400" dirty="0" err="1">
                <a:solidFill>
                  <a:srgbClr val="3F7F5F"/>
                </a:solidFill>
                <a:latin typeface="Consolas" panose="020B0609020204030204" pitchFamily="49" charset="0"/>
              </a:rPr>
              <a:t>clkphase</a:t>
            </a:r>
            <a:r>
              <a:rPr lang="en-US" sz="1400" dirty="0">
                <a:solidFill>
                  <a:srgbClr val="3F7F5F"/>
                </a:solidFill>
                <a:latin typeface="Consolas" panose="020B0609020204030204" pitchFamily="49" charset="0"/>
              </a:rPr>
              <a:t> = 1 (with delay), master mode,</a:t>
            </a:r>
          </a:p>
          <a:p>
            <a:pPr marL="114300" indent="0" algn="l">
              <a:buNone/>
            </a:pPr>
            <a:r>
              <a:rPr lang="en-US" sz="1400" dirty="0">
                <a:solidFill>
                  <a:srgbClr val="3F7F5F"/>
                </a:solidFill>
                <a:latin typeface="Consolas" panose="020B0609020204030204" pitchFamily="49" charset="0"/>
              </a:rPr>
              <a:t>//enable talk, </a:t>
            </a:r>
            <a:r>
              <a:rPr lang="en-US" sz="1400" dirty="0" err="1">
                <a:solidFill>
                  <a:srgbClr val="3F7F5F"/>
                </a:solidFill>
                <a:latin typeface="Consolas" panose="020B0609020204030204" pitchFamily="49" charset="0"/>
              </a:rPr>
              <a:t>spi</a:t>
            </a:r>
            <a:r>
              <a:rPr lang="en-US" sz="1400" dirty="0">
                <a:solidFill>
                  <a:srgbClr val="3F7F5F"/>
                </a:solidFill>
                <a:latin typeface="Consolas" panose="020B0609020204030204" pitchFamily="49" charset="0"/>
              </a:rPr>
              <a:t> int disabled</a:t>
            </a:r>
          </a:p>
          <a:p>
            <a:pPr marL="114300" indent="0" algn="l">
              <a:buNone/>
            </a:pPr>
            <a:endParaRPr lang="en-US" sz="1400" dirty="0">
              <a:latin typeface="Consolas" panose="020B0609020204030204" pitchFamily="49" charset="0"/>
            </a:endParaRP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SPIBRR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SPI_BIT_RATE</a:t>
            </a:r>
            <a:r>
              <a:rPr lang="en-US" sz="1400" dirty="0">
                <a:solidFill>
                  <a:srgbClr val="000000"/>
                </a:solidFill>
                <a:latin typeface="Consolas" panose="020B0609020204030204" pitchFamily="49" charset="0"/>
              </a:rPr>
              <a:t> = 49;  </a:t>
            </a:r>
            <a:r>
              <a:rPr lang="en-US" sz="1400" dirty="0">
                <a:solidFill>
                  <a:srgbClr val="3F7F5F"/>
                </a:solidFill>
                <a:latin typeface="Consolas" panose="020B0609020204030204" pitchFamily="49" charset="0"/>
              </a:rPr>
              <a:t>//set bit rate to 1Mhz so 50Mhz/50?</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SPIPRI</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FREE</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a:t>
            </a:r>
            <a:r>
              <a:rPr lang="en-US" sz="1400" dirty="0" err="1">
                <a:solidFill>
                  <a:srgbClr val="3F7F5F"/>
                </a:solidFill>
                <a:latin typeface="Consolas" panose="020B0609020204030204" pitchFamily="49" charset="0"/>
              </a:rPr>
              <a:t>spi</a:t>
            </a:r>
            <a:r>
              <a:rPr lang="en-US" sz="1400" dirty="0">
                <a:solidFill>
                  <a:srgbClr val="3F7F5F"/>
                </a:solidFill>
                <a:latin typeface="Consolas" panose="020B0609020204030204" pitchFamily="49" charset="0"/>
              </a:rPr>
              <a:t> </a:t>
            </a:r>
            <a:r>
              <a:rPr lang="en-US" sz="1400" dirty="0" err="1">
                <a:solidFill>
                  <a:srgbClr val="3F7F5F"/>
                </a:solidFill>
                <a:latin typeface="Consolas" panose="020B0609020204030204" pitchFamily="49" charset="0"/>
              </a:rPr>
              <a:t>contunes</a:t>
            </a:r>
            <a:r>
              <a:rPr lang="en-US" sz="1400" dirty="0">
                <a:solidFill>
                  <a:srgbClr val="3F7F5F"/>
                </a:solidFill>
                <a:latin typeface="Consolas" panose="020B0609020204030204" pitchFamily="49" charset="0"/>
              </a:rPr>
              <a:t> even when emu halted</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SPISTS</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=0x0000;             </a:t>
            </a:r>
            <a:r>
              <a:rPr lang="en-US" sz="1400" dirty="0">
                <a:solidFill>
                  <a:srgbClr val="3F7F5F"/>
                </a:solidFill>
                <a:latin typeface="Consolas" panose="020B0609020204030204" pitchFamily="49" charset="0"/>
              </a:rPr>
              <a:t>//clear all flags</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SPIFFCT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=0x00;              </a:t>
            </a:r>
            <a:r>
              <a:rPr lang="en-US" sz="1400" dirty="0">
                <a:solidFill>
                  <a:srgbClr val="3F7F5F"/>
                </a:solidFill>
                <a:latin typeface="Consolas" panose="020B0609020204030204" pitchFamily="49" charset="0"/>
              </a:rPr>
              <a:t>//set </a:t>
            </a:r>
            <a:r>
              <a:rPr lang="en-US" sz="1400" dirty="0" err="1">
                <a:solidFill>
                  <a:srgbClr val="3F7F5F"/>
                </a:solidFill>
                <a:latin typeface="Consolas" panose="020B0609020204030204" pitchFamily="49" charset="0"/>
              </a:rPr>
              <a:t>tx</a:t>
            </a:r>
            <a:r>
              <a:rPr lang="en-US" sz="1400" dirty="0">
                <a:solidFill>
                  <a:srgbClr val="3F7F5F"/>
                </a:solidFill>
                <a:latin typeface="Consolas" panose="020B0609020204030204" pitchFamily="49" charset="0"/>
              </a:rPr>
              <a:t> delay to no delays for full duplex ( read and write at the same time )</a:t>
            </a:r>
          </a:p>
        </p:txBody>
      </p:sp>
      <p:sp>
        <p:nvSpPr>
          <p:cNvPr id="119" name="Google Shape;119;p29">
            <a:extLst>
              <a:ext uri="{FF2B5EF4-FFF2-40B4-BE49-F238E27FC236}">
                <a16:creationId xmlns:a16="http://schemas.microsoft.com/office/drawing/2014/main" id="{BEFED4CD-B805-DA06-E51B-22A3B2F4F11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7A2569D-3CEC-42F6-A964-CD75E2FDFAD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SSI</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94EB566-CAF3-74CE-48CE-C8D92D80C8D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6117436-CAB1-1C1A-587E-FB7FBEEF552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E9EFD2F-BA16-EB24-D798-5851BA1E42F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924A1D2-1860-B021-86CA-8F41FDDF8D2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C390568-658D-0AA7-8089-A196026825B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50446F4-C570-AD76-C3E6-C98482A07F3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40732375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116E55F-B75F-B765-2783-1B4880A7390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A8B28A8-03E3-C942-A8D7-51546637DB8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TXFIFO</a:t>
            </a:r>
            <a:r>
              <a:rPr lang="en-US" sz="1100" dirty="0">
                <a:solidFill>
                  <a:srgbClr val="000000"/>
                </a:solidFill>
                <a:latin typeface="Consolas" panose="020B0609020204030204" pitchFamily="49" charset="0"/>
              </a:rPr>
              <a:t> = 0;        </a:t>
            </a:r>
            <a:r>
              <a:rPr lang="en-US" sz="1100" dirty="0">
                <a:solidFill>
                  <a:srgbClr val="3F7F5F"/>
                </a:solidFill>
                <a:latin typeface="Consolas" panose="020B0609020204030204" pitchFamily="49" charset="0"/>
              </a:rPr>
              <a:t>//put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 reset and hold there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TXFFINTCLR</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//clear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interrupt flag (will not be using)</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RXFIFORESET</a:t>
            </a:r>
            <a:r>
              <a:rPr lang="en-US" sz="1100" dirty="0">
                <a:solidFill>
                  <a:srgbClr val="000000"/>
                </a:solidFill>
                <a:latin typeface="Consolas" panose="020B0609020204030204" pitchFamily="49" charset="0"/>
              </a:rPr>
              <a:t> = 0;   </a:t>
            </a:r>
            <a:r>
              <a:rPr lang="en-US" sz="1100" dirty="0">
                <a:solidFill>
                  <a:srgbClr val="3F7F5F"/>
                </a:solidFill>
                <a:latin typeface="Consolas" panose="020B0609020204030204" pitchFamily="49" charset="0"/>
              </a:rPr>
              <a:t>//put </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 reset and hold there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SPIFFENA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enhancements enable</a:t>
            </a:r>
          </a:p>
          <a:p>
            <a:pPr marL="114300" indent="0">
              <a:buNone/>
            </a:pPr>
            <a:endParaRPr lang="en-US" sz="1100" dirty="0">
              <a:latin typeface="Consolas" panose="020B0609020204030204" pitchFamily="49" charset="0"/>
            </a:endParaRP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RXFFINTCLR</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//clear receive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interrupt flag</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RXFFIL</a:t>
            </a:r>
            <a:r>
              <a:rPr lang="en-US" sz="1100" dirty="0">
                <a:solidFill>
                  <a:srgbClr val="000000"/>
                </a:solidFill>
                <a:latin typeface="Consolas" panose="020B0609020204030204" pitchFamily="49" charset="0"/>
              </a:rPr>
              <a:t> = 3;        </a:t>
            </a:r>
            <a:r>
              <a:rPr lang="en-US" sz="1100" dirty="0">
                <a:solidFill>
                  <a:srgbClr val="3F7F5F"/>
                </a:solidFill>
                <a:latin typeface="Consolas" panose="020B0609020204030204" pitchFamily="49" charset="0"/>
              </a:rPr>
              <a:t>//interrupt level is one word</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RXFFIENA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interrupt enable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SPICTL</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OVERRUNINTENA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//overrun interrupt enable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SPICTL</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SPIINTENA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//interrupt enable</a:t>
            </a:r>
          </a:p>
          <a:p>
            <a:pPr marL="114300" indent="0">
              <a:buNone/>
            </a:pPr>
            <a:endParaRPr lang="en-US" sz="1100" dirty="0">
              <a:latin typeface="Consolas" panose="020B0609020204030204" pitchFamily="49" charset="0"/>
            </a:endParaRP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TXFIFO</a:t>
            </a:r>
            <a:r>
              <a:rPr lang="en-US" sz="1100" dirty="0">
                <a:solidFill>
                  <a:srgbClr val="000000"/>
                </a:solidFill>
                <a:latin typeface="Consolas" panose="020B0609020204030204" pitchFamily="49" charset="0"/>
              </a:rPr>
              <a:t>=1;          </a:t>
            </a:r>
            <a:r>
              <a:rPr lang="en-US" sz="1100" dirty="0">
                <a:solidFill>
                  <a:srgbClr val="3F7F5F"/>
                </a:solidFill>
                <a:latin typeface="Consolas" panose="020B0609020204030204" pitchFamily="49" charset="0"/>
              </a:rPr>
              <a:t>//release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to operate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RXFIFORESET</a:t>
            </a:r>
            <a:r>
              <a:rPr lang="en-US" sz="1100" dirty="0">
                <a:solidFill>
                  <a:srgbClr val="000000"/>
                </a:solidFill>
                <a:latin typeface="Consolas" panose="020B0609020204030204" pitchFamily="49" charset="0"/>
              </a:rPr>
              <a:t>=1;     </a:t>
            </a:r>
            <a:r>
              <a:rPr lang="en-US" sz="1100" dirty="0">
                <a:solidFill>
                  <a:srgbClr val="3F7F5F"/>
                </a:solidFill>
                <a:latin typeface="Consolas" panose="020B0609020204030204" pitchFamily="49" charset="0"/>
              </a:rPr>
              <a:t>//release </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to operate</a:t>
            </a:r>
          </a:p>
          <a:p>
            <a:pPr marL="114300" indent="0">
              <a:buNone/>
            </a:pPr>
            <a:endParaRPr lang="en-US" sz="1100" dirty="0">
              <a:latin typeface="Consolas" panose="020B0609020204030204" pitchFamily="49" charset="0"/>
            </a:endParaRP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SPIRST</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 can resume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or </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(pull out of reset)</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SPICCR</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SPISWRESET</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//pull </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 out of reset (enable </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a:t>
            </a:r>
          </a:p>
          <a:p>
            <a:pPr marL="114300" indent="0">
              <a:buNone/>
            </a:pPr>
            <a:r>
              <a:rPr lang="en-US" sz="1100" dirty="0">
                <a:solidFill>
                  <a:srgbClr val="3F7F5F"/>
                </a:solidFill>
                <a:latin typeface="Consolas" panose="020B0609020204030204" pitchFamily="49" charset="0"/>
              </a:rPr>
              <a:t>//pie and </a:t>
            </a:r>
            <a:r>
              <a:rPr lang="en-US" sz="1100" dirty="0" err="1">
                <a:solidFill>
                  <a:srgbClr val="3F7F5F"/>
                </a:solidFill>
                <a:latin typeface="Consolas" panose="020B0609020204030204" pitchFamily="49" charset="0"/>
              </a:rPr>
              <a:t>cpu</a:t>
            </a:r>
            <a:r>
              <a:rPr lang="en-US" sz="1100" dirty="0">
                <a:solidFill>
                  <a:srgbClr val="3F7F5F"/>
                </a:solidFill>
                <a:latin typeface="Consolas" panose="020B0609020204030204" pitchFamily="49" charset="0"/>
              </a:rPr>
              <a:t> enables for group 6 done in </a:t>
            </a:r>
            <a:r>
              <a:rPr lang="en-US" sz="1100" dirty="0" err="1">
                <a:solidFill>
                  <a:srgbClr val="3F7F5F"/>
                </a:solidFill>
                <a:latin typeface="Consolas" panose="020B0609020204030204" pitchFamily="49" charset="0"/>
              </a:rPr>
              <a:t>setupSpib</a:t>
            </a:r>
            <a:r>
              <a:rPr lang="en-US" sz="1100" dirty="0">
                <a:solidFill>
                  <a:srgbClr val="3F7F5F"/>
                </a:solidFill>
                <a:latin typeface="Consolas" panose="020B0609020204030204" pitchFamily="49" charset="0"/>
              </a:rPr>
              <a:t> (6.1 and 6.2 for </a:t>
            </a:r>
            <a:r>
              <a:rPr lang="en-US" sz="1100" dirty="0" err="1">
                <a:solidFill>
                  <a:srgbClr val="3F7F5F"/>
                </a:solidFill>
                <a:latin typeface="Consolas" panose="020B0609020204030204" pitchFamily="49" charset="0"/>
              </a:rPr>
              <a:t>spia</a:t>
            </a:r>
            <a:r>
              <a:rPr lang="en-US" sz="1100" dirty="0">
                <a:solidFill>
                  <a:srgbClr val="3F7F5F"/>
                </a:solidFill>
                <a:latin typeface="Consolas" panose="020B0609020204030204" pitchFamily="49" charset="0"/>
              </a:rPr>
              <a:t>)</a:t>
            </a:r>
            <a:endParaRPr lang="en-US" sz="2400" dirty="0">
              <a:solidFill>
                <a:srgbClr val="3F7F5F"/>
              </a:solidFill>
              <a:latin typeface="Consolas" panose="020B0609020204030204" pitchFamily="49" charset="0"/>
            </a:endParaRPr>
          </a:p>
        </p:txBody>
      </p:sp>
      <p:sp>
        <p:nvSpPr>
          <p:cNvPr id="119" name="Google Shape;119;p29">
            <a:extLst>
              <a:ext uri="{FF2B5EF4-FFF2-40B4-BE49-F238E27FC236}">
                <a16:creationId xmlns:a16="http://schemas.microsoft.com/office/drawing/2014/main" id="{C19E05FB-DA95-5DD5-3B37-D7FF44B348D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D0117D2-36DB-1FE7-7ED5-6123F60AFA4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SSI</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B7D197E-4BC5-E75B-3010-9E00685B03F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C98F2E1-68D2-0F28-7D17-6CBCDBF4AD3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80872D-3FF7-A210-567A-C7B2ACB9D75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3FFD826-DC0B-44E8-BFC0-97758D13ACD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E84ADBD-2897-7F16-09AA-218062CB247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3706542-726C-8C32-B57E-5973EFEDCD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578185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5261733-8478-5A30-3E98-CDE29755153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58150B3-CA3C-5FC7-5E37-75F31BF34B29}"/>
                  </a:ext>
                </a:extLst>
              </p:cNvPr>
              <p:cNvSpPr txBox="1">
                <a:spLocks noGrp="1"/>
              </p:cNvSpPr>
              <p:nvPr>
                <p:ph type="body" idx="1"/>
              </p:nvPr>
            </p:nvSpPr>
            <p:spPr>
              <a:xfrm>
                <a:off x="376809" y="1334279"/>
                <a:ext cx="11177401" cy="2833530"/>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This sensor send’s its information from most significant bit to least significant bit (left-to-right)</a:t>
                </a:r>
              </a:p>
              <a:p>
                <a:pPr marL="114300" indent="0" algn="ctr">
                  <a:buNone/>
                </a:pPr>
                <a:r>
                  <a:rPr lang="en-US" sz="1800" dirty="0">
                    <a:latin typeface="+mj-lt"/>
                  </a:rPr>
                  <a:t>0b</a:t>
                </a:r>
                <a:r>
                  <a:rPr lang="en-US" sz="1800" dirty="0">
                    <a:solidFill>
                      <a:srgbClr val="FF0000"/>
                    </a:solidFill>
                    <a:latin typeface="+mj-lt"/>
                  </a:rPr>
                  <a:t>1</a:t>
                </a:r>
                <a:r>
                  <a:rPr lang="en-US" sz="1800" dirty="0">
                    <a:latin typeface="+mj-lt"/>
                  </a:rPr>
                  <a:t>0100010101</a:t>
                </a:r>
                <a:r>
                  <a:rPr lang="en-US" sz="1800" dirty="0">
                    <a:solidFill>
                      <a:srgbClr val="0070C0"/>
                    </a:solidFill>
                    <a:latin typeface="+mj-lt"/>
                  </a:rPr>
                  <a:t>0</a:t>
                </a:r>
              </a:p>
              <a:p>
                <a:pPr marL="114300" indent="0">
                  <a:buNone/>
                </a:pPr>
                <a:r>
                  <a:rPr lang="en-US" sz="1800" dirty="0">
                    <a:solidFill>
                      <a:schemeClr val="tx1"/>
                    </a:solidFill>
                    <a:latin typeface="+mj-lt"/>
                  </a:rPr>
                  <a:t>This sensor sends it information as 12 bits of information; however, only on the rising edge of the clock signal!</a:t>
                </a:r>
              </a:p>
              <a:p>
                <a:pPr marL="114300" indent="0">
                  <a:buNone/>
                </a:pPr>
                <a:endParaRPr lang="en-US" sz="1800" dirty="0">
                  <a:solidFill>
                    <a:schemeClr val="tx1"/>
                  </a:solidFill>
                  <a:latin typeface="+mj-lt"/>
                </a:endParaRPr>
              </a:p>
              <a:p>
                <a:pPr marL="114300" indent="0">
                  <a:buNone/>
                </a:pPr>
                <a:r>
                  <a:rPr lang="en-US" sz="1800" dirty="0">
                    <a:solidFill>
                      <a:schemeClr val="tx1"/>
                    </a:solidFill>
                    <a:latin typeface="+mj-lt"/>
                  </a:rPr>
                  <a:t>Since we are the ones sending the clock signal, how many bits at minimum to do we need to get the full signal?</a:t>
                </a:r>
              </a:p>
              <a:p>
                <a:pPr marL="114300" indent="0" algn="ctr">
                  <a:buNone/>
                </a:pPr>
                <a14:m>
                  <m:oMath xmlns:m="http://schemas.openxmlformats.org/officeDocument/2006/math">
                    <m:r>
                      <a:rPr lang="en-US" sz="1800" b="0" i="1" smtClean="0">
                        <a:solidFill>
                          <a:schemeClr val="tx1"/>
                        </a:solidFill>
                        <a:latin typeface="Cambria Math" panose="02040503050406030204" pitchFamily="18" charset="0"/>
                      </a:rPr>
                      <m:t>12</m:t>
                    </m:r>
                    <m:r>
                      <a:rPr lang="en-US" sz="1800" b="0" i="1" smtClean="0">
                        <a:solidFill>
                          <a:schemeClr val="tx1"/>
                        </a:solidFill>
                        <a:latin typeface="Cambria Math" panose="02040503050406030204" pitchFamily="18" charset="0"/>
                        <a:ea typeface="Cambria Math" panose="02040503050406030204" pitchFamily="18" charset="0"/>
                      </a:rPr>
                      <m:t>×2=24</m:t>
                    </m:r>
                  </m:oMath>
                </a14:m>
                <a:r>
                  <a:rPr lang="en-US" sz="1800" dirty="0">
                    <a:solidFill>
                      <a:schemeClr val="tx1"/>
                    </a:solidFill>
                    <a:latin typeface="+mj-lt"/>
                  </a:rPr>
                  <a:t>-bits!</a:t>
                </a:r>
              </a:p>
            </p:txBody>
          </p:sp>
        </mc:Choice>
        <mc:Fallback xmlns="">
          <p:sp>
            <p:nvSpPr>
              <p:cNvPr id="118" name="Google Shape;118;p29">
                <a:extLst>
                  <a:ext uri="{FF2B5EF4-FFF2-40B4-BE49-F238E27FC236}">
                    <a16:creationId xmlns:a16="http://schemas.microsoft.com/office/drawing/2014/main" id="{458150B3-CA3C-5FC7-5E37-75F31BF34B29}"/>
                  </a:ext>
                </a:extLst>
              </p:cNvPr>
              <p:cNvSpPr txBox="1">
                <a:spLocks noGrp="1" noRot="1" noChangeAspect="1" noMove="1" noResize="1" noEditPoints="1" noAdjustHandles="1" noChangeArrowheads="1" noChangeShapeType="1" noTextEdit="1"/>
              </p:cNvSpPr>
              <p:nvPr>
                <p:ph type="body" idx="1"/>
              </p:nvPr>
            </p:nvSpPr>
            <p:spPr>
              <a:xfrm>
                <a:off x="376809" y="1334279"/>
                <a:ext cx="11177401" cy="2833530"/>
              </a:xfrm>
              <a:prstGeom prst="rect">
                <a:avLst/>
              </a:prstGeom>
              <a:blipFill>
                <a:blip r:embed="rId3"/>
                <a:stretch>
                  <a:fillRect b="-322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2E4CC6D-A2D9-6A69-6569-741E84AE6A6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FDAB9D6-61D4-B9B1-FF5A-A1E54A33AA2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SSI</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615F04F-4EE4-99C3-711D-80E422CEB8A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7E8E2EE-F020-0B26-5A5C-EE8DBDA2F2C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62A5278-6216-E042-DE0C-C35D46D6D74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9C1A1B2-E512-8347-E571-F0FDE6D290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CC9D18F-7EA2-0AC6-48E0-EED531ED80B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EEA974D-348A-7211-0228-32C91241AE7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2" name="Graphic 1">
            <a:extLst>
              <a:ext uri="{FF2B5EF4-FFF2-40B4-BE49-F238E27FC236}">
                <a16:creationId xmlns:a16="http://schemas.microsoft.com/office/drawing/2014/main" id="{534521C3-3998-BE76-0BA1-58884541E1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9783" y="4096601"/>
            <a:ext cx="8932434" cy="2408746"/>
          </a:xfrm>
          <a:prstGeom prst="rect">
            <a:avLst/>
          </a:prstGeom>
        </p:spPr>
      </p:pic>
      <p:cxnSp>
        <p:nvCxnSpPr>
          <p:cNvPr id="5" name="Straight Arrow Connector 4">
            <a:extLst>
              <a:ext uri="{FF2B5EF4-FFF2-40B4-BE49-F238E27FC236}">
                <a16:creationId xmlns:a16="http://schemas.microsoft.com/office/drawing/2014/main" id="{E97228B5-96AA-4CAD-E5F4-6645FFAD0BCA}"/>
              </a:ext>
            </a:extLst>
          </p:cNvPr>
          <p:cNvCxnSpPr>
            <a:cxnSpLocks/>
          </p:cNvCxnSpPr>
          <p:nvPr/>
        </p:nvCxnSpPr>
        <p:spPr>
          <a:xfrm flipH="1" flipV="1">
            <a:off x="6897757" y="2113722"/>
            <a:ext cx="1828800" cy="3409999"/>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166C46A-E96F-D1A6-A10C-98629367F021}"/>
              </a:ext>
            </a:extLst>
          </p:cNvPr>
          <p:cNvCxnSpPr>
            <a:cxnSpLocks/>
          </p:cNvCxnSpPr>
          <p:nvPr/>
        </p:nvCxnSpPr>
        <p:spPr>
          <a:xfrm flipV="1">
            <a:off x="3293165" y="2113722"/>
            <a:ext cx="2166731" cy="34099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14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C87D93-FC47-2EAC-985D-6A73374E407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E09783A-0AF5-646D-32CB-6028C50F030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solidFill>
                  <a:schemeClr val="tx1"/>
                </a:solidFill>
                <a:latin typeface="+mj-lt"/>
              </a:rPr>
              <a:t>Problem is that SPICHAR (how many bits SPI sends at a time), has a maximum of 16-bits and we need to send 24-bits. So, what do we do?</a:t>
            </a:r>
          </a:p>
          <a:p>
            <a:pPr marL="114300" indent="0" algn="l">
              <a:buNone/>
            </a:pPr>
            <a:r>
              <a:rPr lang="en-US" sz="1200" dirty="0">
                <a:solidFill>
                  <a:srgbClr val="3F7F5F"/>
                </a:solidFill>
                <a:latin typeface="Consolas" panose="020B0609020204030204" pitchFamily="49" charset="0"/>
              </a:rPr>
              <a:t>// Send 8-bit words</a:t>
            </a:r>
          </a:p>
          <a:p>
            <a:pPr marL="114300" indent="0" algn="l">
              <a:buNone/>
            </a:pPr>
            <a:r>
              <a:rPr lang="en-US" sz="1200" dirty="0" err="1">
                <a:solidFill>
                  <a:srgbClr val="000000"/>
                </a:solidFill>
                <a:latin typeface="Consolas" panose="020B0609020204030204" pitchFamily="49" charset="0"/>
              </a:rPr>
              <a:t>SpiaRegs.</a:t>
            </a:r>
            <a:r>
              <a:rPr lang="en-US" sz="1200" dirty="0" err="1">
                <a:solidFill>
                  <a:srgbClr val="0000C0"/>
                </a:solidFill>
                <a:latin typeface="Consolas" panose="020B0609020204030204" pitchFamily="49" charset="0"/>
              </a:rPr>
              <a:t>SPICCR</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bit</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SPICHAR</a:t>
            </a:r>
            <a:r>
              <a:rPr lang="en-US" sz="1200" dirty="0">
                <a:solidFill>
                  <a:srgbClr val="000000"/>
                </a:solidFill>
                <a:latin typeface="Consolas" panose="020B0609020204030204" pitchFamily="49" charset="0"/>
              </a:rPr>
              <a:t> = 7;</a:t>
            </a:r>
          </a:p>
          <a:p>
            <a:pPr marL="114300" indent="0" algn="l">
              <a:buNone/>
            </a:pPr>
            <a:endParaRPr lang="en-US" sz="1200" dirty="0">
              <a:latin typeface="Consolas" panose="020B0609020204030204" pitchFamily="49" charset="0"/>
            </a:endParaRPr>
          </a:p>
          <a:p>
            <a:pPr marL="114300" indent="0" algn="l">
              <a:buNone/>
            </a:pPr>
            <a:r>
              <a:rPr lang="en-US" sz="1200" dirty="0">
                <a:solidFill>
                  <a:srgbClr val="3F7F5F"/>
                </a:solidFill>
                <a:latin typeface="Consolas" panose="020B0609020204030204" pitchFamily="49" charset="0"/>
              </a:rPr>
              <a:t>// Sending data function</a:t>
            </a:r>
            <a:endParaRPr lang="en-US" sz="1200" dirty="0">
              <a:latin typeface="Consolas" panose="020B0609020204030204" pitchFamily="49" charset="0"/>
            </a:endParaRPr>
          </a:p>
          <a:p>
            <a:pPr marL="114300" indent="0" algn="l">
              <a:buNone/>
            </a:pPr>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sendSPIData</a:t>
            </a:r>
            <a:r>
              <a:rPr lang="en-US" sz="1200" dirty="0">
                <a:solidFill>
                  <a:srgbClr val="000000"/>
                </a:solidFill>
                <a:latin typeface="Consolas" panose="020B0609020204030204" pitchFamily="49" charset="0"/>
              </a:rPr>
              <a:t>(</a:t>
            </a:r>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SpiaRegs.</a:t>
            </a:r>
            <a:r>
              <a:rPr lang="en-US" sz="1200" dirty="0" err="1">
                <a:solidFill>
                  <a:srgbClr val="0000C0"/>
                </a:solidFill>
                <a:latin typeface="Consolas" panose="020B0609020204030204" pitchFamily="49" charset="0"/>
              </a:rPr>
              <a:t>SPIFFRX</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bit</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RXFFIL</a:t>
            </a:r>
            <a:r>
              <a:rPr lang="en-US" sz="1200" dirty="0">
                <a:solidFill>
                  <a:srgbClr val="000000"/>
                </a:solidFill>
                <a:latin typeface="Consolas" panose="020B0609020204030204" pitchFamily="49" charset="0"/>
              </a:rPr>
              <a:t> = 3;                </a:t>
            </a:r>
            <a:r>
              <a:rPr lang="en-US" sz="1200" dirty="0">
                <a:solidFill>
                  <a:srgbClr val="3F7F5F"/>
                </a:solidFill>
                <a:latin typeface="Consolas" panose="020B0609020204030204" pitchFamily="49" charset="0"/>
              </a:rPr>
              <a:t>//Going to R/W 3 entries</a:t>
            </a:r>
          </a:p>
          <a:p>
            <a:pPr marL="114300" indent="0" algn="l">
              <a:buNone/>
            </a:pPr>
            <a:r>
              <a:rPr lang="en-US" sz="1200" dirty="0">
                <a:solidFill>
                  <a:srgbClr val="000000"/>
                </a:solidFill>
                <a:latin typeface="Consolas" panose="020B0609020204030204" pitchFamily="49" charset="0"/>
              </a:rPr>
              <a:t>    GpioDataRegs.</a:t>
            </a:r>
            <a:r>
              <a:rPr lang="en-US" sz="1200" dirty="0">
                <a:solidFill>
                  <a:srgbClr val="0000C0"/>
                </a:solidFill>
                <a:latin typeface="Consolas" panose="020B0609020204030204" pitchFamily="49" charset="0"/>
              </a:rPr>
              <a:t>GPCCLEAR</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bit</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GPIO73</a:t>
            </a:r>
            <a:r>
              <a:rPr lang="en-US" sz="1200" dirty="0">
                <a:solidFill>
                  <a:srgbClr val="000000"/>
                </a:solidFill>
                <a:latin typeface="Consolas" panose="020B0609020204030204" pitchFamily="49" charset="0"/>
              </a:rPr>
              <a:t> = 1;           </a:t>
            </a:r>
            <a:r>
              <a:rPr lang="en-US" sz="1200" dirty="0">
                <a:solidFill>
                  <a:srgbClr val="3F7F5F"/>
                </a:solidFill>
                <a:latin typeface="Consolas" panose="020B0609020204030204" pitchFamily="49" charset="0"/>
              </a:rPr>
              <a:t>//pull cs low to get ready to </a:t>
            </a:r>
            <a:r>
              <a:rPr lang="en-US" sz="1200" dirty="0" err="1">
                <a:solidFill>
                  <a:srgbClr val="3F7F5F"/>
                </a:solidFill>
                <a:latin typeface="Consolas" panose="020B0609020204030204" pitchFamily="49" charset="0"/>
              </a:rPr>
              <a:t>tx</a:t>
            </a:r>
            <a:r>
              <a:rPr lang="en-US" sz="1200" dirty="0">
                <a:solidFill>
                  <a:srgbClr val="3F7F5F"/>
                </a:solidFill>
                <a:latin typeface="Consolas" panose="020B0609020204030204" pitchFamily="49" charset="0"/>
              </a:rPr>
              <a:t>/</a:t>
            </a:r>
            <a:r>
              <a:rPr lang="en-US" sz="1200" dirty="0" err="1">
                <a:solidFill>
                  <a:srgbClr val="3F7F5F"/>
                </a:solidFill>
                <a:latin typeface="Consolas" panose="020B0609020204030204" pitchFamily="49" charset="0"/>
              </a:rPr>
              <a:t>rx</a:t>
            </a:r>
            <a:endParaRPr lang="en-US" sz="1200" dirty="0">
              <a:solidFill>
                <a:srgbClr val="3F7F5F"/>
              </a:solidFill>
              <a:latin typeface="Consolas" panose="020B0609020204030204" pitchFamily="49" charset="0"/>
            </a:endParaRPr>
          </a:p>
          <a:p>
            <a:pPr marL="114300" indent="0" algn="l">
              <a:buNone/>
            </a:pPr>
            <a:r>
              <a:rPr lang="en-US" sz="1200" dirty="0">
                <a:solidFill>
                  <a:srgbClr val="000000"/>
                </a:solidFill>
                <a:latin typeface="Consolas" panose="020B0609020204030204" pitchFamily="49" charset="0"/>
              </a:rPr>
              <a:t>    </a:t>
            </a:r>
          </a:p>
          <a:p>
            <a:pPr marL="114300" indent="0" algn="l">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write to clock signal </a:t>
            </a:r>
            <a:r>
              <a:rPr lang="en-US" sz="1200" dirty="0" err="1">
                <a:solidFill>
                  <a:srgbClr val="3F7F5F"/>
                </a:solidFill>
                <a:latin typeface="Consolas" panose="020B0609020204030204" pitchFamily="49" charset="0"/>
              </a:rPr>
              <a:t>spia</a:t>
            </a:r>
            <a:r>
              <a:rPr lang="en-US" sz="1200" dirty="0">
                <a:solidFill>
                  <a:srgbClr val="3F7F5F"/>
                </a:solidFill>
                <a:latin typeface="Consolas" panose="020B0609020204030204" pitchFamily="49" charset="0"/>
              </a:rPr>
              <a:t>, 0xAA = 0b10101010 (the 'u' means unsigned)</a:t>
            </a:r>
          </a:p>
          <a:p>
            <a:pPr marL="114300" indent="0" algn="l">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SPI is set to FIFO mode so this works in a special way</a:t>
            </a:r>
          </a:p>
          <a:p>
            <a:pPr marL="114300" indent="0" algn="l">
              <a:buNone/>
            </a:pPr>
            <a:r>
              <a:rPr lang="nn-NO" sz="1200" dirty="0">
                <a:solidFill>
                  <a:srgbClr val="000000"/>
                </a:solidFill>
                <a:latin typeface="Consolas" panose="020B0609020204030204" pitchFamily="49" charset="0"/>
              </a:rPr>
              <a:t>    </a:t>
            </a:r>
            <a:r>
              <a:rPr lang="nn-NO" sz="1200" dirty="0">
                <a:solidFill>
                  <a:srgbClr val="7F0055"/>
                </a:solidFill>
                <a:latin typeface="Consolas" panose="020B0609020204030204" pitchFamily="49" charset="0"/>
              </a:rPr>
              <a:t>for</a:t>
            </a:r>
            <a:r>
              <a:rPr lang="nn-NO" sz="1200" dirty="0">
                <a:solidFill>
                  <a:srgbClr val="000000"/>
                </a:solidFill>
                <a:latin typeface="Consolas" panose="020B0609020204030204" pitchFamily="49" charset="0"/>
              </a:rPr>
              <a:t>(i = 0; i &lt; 3; i++) {</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SpiaRegs.</a:t>
            </a:r>
            <a:r>
              <a:rPr lang="en-US" sz="1200" dirty="0" err="1">
                <a:solidFill>
                  <a:srgbClr val="0000C0"/>
                </a:solidFill>
                <a:latin typeface="Consolas" panose="020B0609020204030204" pitchFamily="49" charset="0"/>
              </a:rPr>
              <a:t>SPITXBUF</a:t>
            </a:r>
            <a:r>
              <a:rPr lang="en-US" sz="1200" dirty="0">
                <a:solidFill>
                  <a:srgbClr val="000000"/>
                </a:solidFill>
                <a:latin typeface="Consolas" panose="020B0609020204030204" pitchFamily="49" charset="0"/>
              </a:rPr>
              <a:t> = 0xAAu;</a:t>
            </a:r>
          </a:p>
          <a:p>
            <a:pPr marL="114300" indent="0" algn="l">
              <a:buNone/>
            </a:pPr>
            <a:r>
              <a:rPr lang="en-US" sz="1200" dirty="0">
                <a:solidFill>
                  <a:srgbClr val="000000"/>
                </a:solidFill>
                <a:latin typeface="Consolas" panose="020B0609020204030204" pitchFamily="49" charset="0"/>
              </a:rPr>
              <a:t>    }</a:t>
            </a:r>
          </a:p>
          <a:p>
            <a:pPr marL="114300" indent="0" algn="l">
              <a:buNone/>
            </a:pPr>
            <a:r>
              <a:rPr lang="en-US" sz="1200" dirty="0">
                <a:solidFill>
                  <a:srgbClr val="000000"/>
                </a:solidFill>
                <a:latin typeface="Consolas" panose="020B0609020204030204" pitchFamily="49" charset="0"/>
              </a:rPr>
              <a:t>}</a:t>
            </a:r>
            <a:endParaRPr lang="en-US" sz="1800" dirty="0">
              <a:solidFill>
                <a:schemeClr val="tx1"/>
              </a:solidFill>
              <a:latin typeface="+mj-lt"/>
            </a:endParaRPr>
          </a:p>
        </p:txBody>
      </p:sp>
      <p:sp>
        <p:nvSpPr>
          <p:cNvPr id="119" name="Google Shape;119;p29">
            <a:extLst>
              <a:ext uri="{FF2B5EF4-FFF2-40B4-BE49-F238E27FC236}">
                <a16:creationId xmlns:a16="http://schemas.microsoft.com/office/drawing/2014/main" id="{D4C253F1-CCD5-EB3B-E4DF-4F45E307BF4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92A38B0-2E19-E0C7-E02B-4BF8AC845DD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SSI</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08E1319-F333-BF17-2767-88C3A7E0C40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F7E7EA9-B16C-26E4-1F50-37B0C1C314B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B549FA1-50CD-23FF-CD09-8756D472D2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C9182B1-FC37-F619-CE8E-03E9FE02B8C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8AD78C6-4620-A2A1-083A-D20AE44679D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F5E50B-C9AA-6902-D7EF-E5307738623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
        <p:nvSpPr>
          <p:cNvPr id="2" name="Rectangle 1">
            <a:extLst>
              <a:ext uri="{FF2B5EF4-FFF2-40B4-BE49-F238E27FC236}">
                <a16:creationId xmlns:a16="http://schemas.microsoft.com/office/drawing/2014/main" id="{EDD30E21-B40B-FB9B-6A82-E4342714582D}"/>
              </a:ext>
            </a:extLst>
          </p:cNvPr>
          <p:cNvSpPr/>
          <p:nvPr/>
        </p:nvSpPr>
        <p:spPr>
          <a:xfrm>
            <a:off x="1802296" y="4932092"/>
            <a:ext cx="616226" cy="33793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241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E61144A-5DEB-B72F-3E9D-CFCAE517856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396123F-9D6B-45CC-CD9F-495BE2848F6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spiaRxFifoIsr</a:t>
            </a:r>
            <a:r>
              <a:rPr lang="en-US" sz="1400" dirty="0">
                <a:solidFill>
                  <a:srgbClr val="000000"/>
                </a:solidFill>
                <a:latin typeface="Consolas" panose="020B0609020204030204" pitchFamily="49" charset="0"/>
              </a:rPr>
              <a:t>(</a:t>
            </a: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a:t>
            </a:r>
          </a:p>
          <a:p>
            <a:pPr marL="114300" indent="0" algn="l">
              <a:buNone/>
            </a:pPr>
            <a:r>
              <a:rPr lang="en-US" sz="1400" dirty="0">
                <a:solidFill>
                  <a:srgbClr val="000000"/>
                </a:solidFill>
                <a:latin typeface="Consolas" panose="020B0609020204030204" pitchFamily="49" charset="0"/>
              </a:rPr>
              <a:t>{</a:t>
            </a:r>
          </a:p>
          <a:p>
            <a:pPr marL="114300" indent="0" algn="l">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//received data right justified</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[0] =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SPIRXBUF</a:t>
            </a:r>
            <a:r>
              <a:rPr lang="en-US" sz="1400" dirty="0">
                <a:solidFill>
                  <a:srgbClr val="000000"/>
                </a:solidFill>
                <a:latin typeface="Consolas" panose="020B0609020204030204" pitchFamily="49" charset="0"/>
              </a:rPr>
              <a:t> &amp; 0xFF;</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[1] =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SPIRXBUF</a:t>
            </a:r>
            <a:r>
              <a:rPr lang="en-US" sz="1400" dirty="0">
                <a:solidFill>
                  <a:srgbClr val="000000"/>
                </a:solidFill>
                <a:latin typeface="Consolas" panose="020B0609020204030204" pitchFamily="49" charset="0"/>
              </a:rPr>
              <a:t> &amp; 0xFF;</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[2] =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SPIRXBUF</a:t>
            </a:r>
            <a:r>
              <a:rPr lang="en-US" sz="1400" dirty="0">
                <a:solidFill>
                  <a:srgbClr val="000000"/>
                </a:solidFill>
                <a:latin typeface="Consolas" panose="020B0609020204030204" pitchFamily="49" charset="0"/>
              </a:rPr>
              <a:t> &amp; 0xFF;</a:t>
            </a:r>
          </a:p>
          <a:p>
            <a:pPr marL="114300" indent="0" algn="l">
              <a:buNone/>
            </a:pPr>
            <a:endParaRPr lang="en-US" sz="1400" dirty="0">
              <a:latin typeface="Consolas" panose="020B0609020204030204" pitchFamily="49" charset="0"/>
            </a:endParaRP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theta.d</a:t>
            </a:r>
            <a:r>
              <a:rPr lang="en-US" sz="1400" dirty="0">
                <a:solidFill>
                  <a:srgbClr val="000000"/>
                </a:solidFill>
                <a:latin typeface="Consolas" panose="020B0609020204030204" pitchFamily="49" charset="0"/>
              </a:rPr>
              <a:t> = (((</a:t>
            </a:r>
            <a:r>
              <a:rPr lang="en-US" sz="1400" dirty="0">
                <a:solidFill>
                  <a:srgbClr val="7F0055"/>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[0] &amp; 0x7F)) &lt;&lt; 5) + (((</a:t>
            </a:r>
            <a:r>
              <a:rPr lang="en-US" sz="1400" dirty="0">
                <a:solidFill>
                  <a:srgbClr val="7F0055"/>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[1] &amp; 0xF8)) &gt;&gt; 3);</a:t>
            </a:r>
          </a:p>
          <a:p>
            <a:pPr marL="114300" indent="0" algn="l">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 other math, ignore ...</a:t>
            </a:r>
          </a:p>
          <a:p>
            <a:pPr marL="114300" indent="0" algn="l">
              <a:buNone/>
            </a:pPr>
            <a:endParaRPr lang="en-US" sz="1400" dirty="0">
              <a:latin typeface="Consolas" panose="020B0609020204030204" pitchFamily="49" charset="0"/>
            </a:endParaRP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SPIFFRX</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RXFFOVFCLR</a:t>
            </a:r>
            <a:r>
              <a:rPr lang="en-US" sz="1400" dirty="0">
                <a:solidFill>
                  <a:srgbClr val="0000C0"/>
                </a:solidFill>
                <a:latin typeface="Consolas" panose="020B0609020204030204" pitchFamily="49" charset="0"/>
              </a:rPr>
              <a:t> </a:t>
            </a:r>
            <a:r>
              <a:rPr lang="en-US" sz="1400" dirty="0">
                <a:solidFill>
                  <a:srgbClr val="000000"/>
                </a:solidFill>
                <a:latin typeface="Consolas" panose="020B0609020204030204" pitchFamily="49" charset="0"/>
              </a:rPr>
              <a:t>= 1;  </a:t>
            </a:r>
            <a:r>
              <a:rPr lang="en-US" sz="1400" dirty="0">
                <a:solidFill>
                  <a:srgbClr val="3F7F5F"/>
                </a:solidFill>
                <a:latin typeface="Consolas" panose="020B0609020204030204" pitchFamily="49" charset="0"/>
              </a:rPr>
              <a:t>// Clear Overflow flag</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SPIFFRX</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RXFFINTCLR</a:t>
            </a:r>
            <a:r>
              <a:rPr lang="en-US" sz="1400" dirty="0">
                <a:solidFill>
                  <a:srgbClr val="0000C0"/>
                </a:solidFill>
                <a:latin typeface="Consolas" panose="020B0609020204030204" pitchFamily="49" charset="0"/>
              </a:rPr>
              <a:t> </a:t>
            </a:r>
            <a:r>
              <a:rPr lang="en-US" sz="1400" dirty="0">
                <a:solidFill>
                  <a:srgbClr val="000000"/>
                </a:solidFill>
                <a:latin typeface="Consolas" panose="020B0609020204030204" pitchFamily="49" charset="0"/>
              </a:rPr>
              <a:t>= 1;  </a:t>
            </a:r>
            <a:r>
              <a:rPr lang="en-US" sz="1400" dirty="0">
                <a:solidFill>
                  <a:srgbClr val="3F7F5F"/>
                </a:solidFill>
                <a:latin typeface="Consolas" panose="020B0609020204030204" pitchFamily="49" charset="0"/>
              </a:rPr>
              <a:t>// Clear Interrupt flag</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PieCtrlRegs.</a:t>
            </a:r>
            <a:r>
              <a:rPr lang="en-US" sz="1400" dirty="0" err="1">
                <a:solidFill>
                  <a:srgbClr val="0000C0"/>
                </a:solidFill>
                <a:latin typeface="Consolas" panose="020B0609020204030204" pitchFamily="49" charset="0"/>
              </a:rPr>
              <a:t>PIEACK</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C0"/>
                </a:solidFill>
                <a:latin typeface="Consolas" panose="020B0609020204030204" pitchFamily="49" charset="0"/>
              </a:rPr>
              <a:t> </a:t>
            </a:r>
            <a:r>
              <a:rPr lang="en-US" sz="1400" dirty="0">
                <a:solidFill>
                  <a:srgbClr val="000000"/>
                </a:solidFill>
                <a:latin typeface="Consolas" panose="020B0609020204030204" pitchFamily="49" charset="0"/>
              </a:rPr>
              <a:t>|= 0x20;       </a:t>
            </a:r>
            <a:r>
              <a:rPr lang="en-US" sz="1400" dirty="0">
                <a:solidFill>
                  <a:srgbClr val="3F7F5F"/>
                </a:solidFill>
                <a:latin typeface="Consolas" panose="020B0609020204030204" pitchFamily="49" charset="0"/>
              </a:rPr>
              <a:t>// Issue PIE ack</a:t>
            </a:r>
          </a:p>
          <a:p>
            <a:pPr marL="114300" indent="0" algn="l">
              <a:buNone/>
            </a:pPr>
            <a:r>
              <a:rPr lang="en-US" sz="1400" dirty="0">
                <a:solidFill>
                  <a:srgbClr val="000000"/>
                </a:solidFill>
                <a:latin typeface="Consolas" panose="020B0609020204030204" pitchFamily="49" charset="0"/>
              </a:rPr>
              <a:t>}</a:t>
            </a:r>
            <a:endParaRPr lang="en-US" sz="1400" dirty="0">
              <a:solidFill>
                <a:schemeClr val="tx1"/>
              </a:solidFill>
              <a:latin typeface="+mj-lt"/>
            </a:endParaRPr>
          </a:p>
        </p:txBody>
      </p:sp>
      <p:sp>
        <p:nvSpPr>
          <p:cNvPr id="119" name="Google Shape;119;p29">
            <a:extLst>
              <a:ext uri="{FF2B5EF4-FFF2-40B4-BE49-F238E27FC236}">
                <a16:creationId xmlns:a16="http://schemas.microsoft.com/office/drawing/2014/main" id="{F27D508D-C1D7-3009-4929-1953742AF59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4F9A578-C107-D38D-DDC9-3A5D485EB47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SSI</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DF32668-4E8C-2016-1F1B-A4CFEBD42E3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E0FEBCF-3ED2-E638-4083-F03FCDEE537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71CDE98-2442-B86C-7FE6-3E5257516A6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D84DCBB-F7C5-723B-DB39-2FDE4AAFD45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33E62B5-A20C-CC2C-8F5D-3AC30541FD1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749ED0-A5B1-B066-EE59-6AD7775A05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6889667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B7F53B0-3C7A-510D-D8FA-9524DB619CE9}"/>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16ADD84-DBD0-989D-BC22-268ED79D4DDC}"/>
              </a:ext>
            </a:extLst>
          </p:cNvPr>
          <p:cNvSpPr txBox="1"/>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FIFO</a:t>
            </a:r>
            <a:endParaRPr dirty="0"/>
          </a:p>
        </p:txBody>
      </p:sp>
      <p:grpSp>
        <p:nvGrpSpPr>
          <p:cNvPr id="105" name="Google Shape;105;p28">
            <a:extLst>
              <a:ext uri="{FF2B5EF4-FFF2-40B4-BE49-F238E27FC236}">
                <a16:creationId xmlns:a16="http://schemas.microsoft.com/office/drawing/2014/main" id="{A96AF3EA-0C54-2E7C-2EE5-E9F7F5043BF5}"/>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9F0E227C-2048-92F4-6163-DA49F6E8655A}"/>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C1E10683-3CF2-6529-175C-1D1FC27482B6}"/>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C6177DAE-0378-AB8F-1604-74B7973CD58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013AE7E4-5DC8-2151-93B4-24CFA318E8F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A2B42912-DD07-A48B-5723-1C0E52BB57C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981DB2DC-9F4D-07D0-2F48-8F022ADD3A00}"/>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825AC089-6123-0302-9833-CEFFCE7C59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1DECF00F-1DF3-5784-833E-1E3E930F0D4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6567192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C43DB2D-1297-BF6C-59EF-7B1BEEDFC1B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84FEC0A-BF23-4AE6-8100-B330F7DA6BB1}"/>
              </a:ext>
            </a:extLst>
          </p:cNvPr>
          <p:cNvSpPr txBox="1">
            <a:spLocks noGrp="1"/>
          </p:cNvSpPr>
          <p:nvPr>
            <p:ph type="body" idx="1"/>
          </p:nvPr>
        </p:nvSpPr>
        <p:spPr>
          <a:xfrm>
            <a:off x="376809" y="1334279"/>
            <a:ext cx="11177401" cy="5022666"/>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Previously with the SPI we see that we did 2 weird things:</a:t>
            </a:r>
          </a:p>
          <a:p>
            <a:pPr marL="114300" indent="0">
              <a:buNone/>
            </a:pPr>
            <a:endParaRPr lang="en-US" sz="1800" dirty="0">
              <a:latin typeface="+mj-lt"/>
            </a:endParaRPr>
          </a:p>
          <a:p>
            <a:pPr marL="114300" indent="0">
              <a:buNone/>
            </a:pPr>
            <a:r>
              <a:rPr lang="nn-NO" sz="1800" dirty="0">
                <a:solidFill>
                  <a:srgbClr val="7F0055"/>
                </a:solidFill>
                <a:latin typeface="Consolas" panose="020B0609020204030204" pitchFamily="49" charset="0"/>
              </a:rPr>
              <a:t>for</a:t>
            </a:r>
            <a:r>
              <a:rPr lang="nn-NO" sz="1800" dirty="0">
                <a:solidFill>
                  <a:srgbClr val="000000"/>
                </a:solidFill>
                <a:latin typeface="Consolas" panose="020B0609020204030204" pitchFamily="49" charset="0"/>
              </a:rPr>
              <a:t>(i = 0; i &lt; 3; i++) {</a:t>
            </a:r>
          </a:p>
          <a:p>
            <a:pPr marL="114300" indent="0">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SPITXBUF</a:t>
            </a:r>
            <a:r>
              <a:rPr lang="en-US" sz="1800" dirty="0">
                <a:solidFill>
                  <a:srgbClr val="000000"/>
                </a:solidFill>
                <a:latin typeface="Consolas" panose="020B0609020204030204" pitchFamily="49" charset="0"/>
              </a:rPr>
              <a:t> = 0xAAu;</a:t>
            </a:r>
          </a:p>
          <a:p>
            <a:pPr marL="114300" indent="0">
              <a:buNone/>
            </a:pPr>
            <a:r>
              <a:rPr lang="en-US" sz="1800" dirty="0">
                <a:solidFill>
                  <a:srgbClr val="000000"/>
                </a:solidFill>
                <a:latin typeface="Consolas" panose="020B0609020204030204" pitchFamily="49" charset="0"/>
              </a:rPr>
              <a:t>}</a:t>
            </a:r>
          </a:p>
          <a:p>
            <a:pPr marL="114300" indent="0">
              <a:buNone/>
            </a:pPr>
            <a:r>
              <a:rPr lang="en-US" sz="1800" dirty="0">
                <a:solidFill>
                  <a:srgbClr val="000000"/>
                </a:solidFill>
                <a:latin typeface="+mj-lt"/>
              </a:rPr>
              <a:t>And,</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[0]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[1]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[2]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endParaRPr lang="en-US" sz="1800" dirty="0">
              <a:solidFill>
                <a:srgbClr val="000000"/>
              </a:solidFill>
              <a:latin typeface="Consolas" panose="020B0609020204030204" pitchFamily="49" charset="0"/>
            </a:endParaRPr>
          </a:p>
          <a:p>
            <a:pPr marL="114300" indent="0">
              <a:buNone/>
            </a:pPr>
            <a:r>
              <a:rPr lang="en-US" sz="1800" dirty="0">
                <a:solidFill>
                  <a:srgbClr val="000000"/>
                </a:solidFill>
                <a:latin typeface="+mj-lt"/>
              </a:rPr>
              <a:t>What is weird here? </a:t>
            </a:r>
          </a:p>
          <a:p>
            <a:pPr marL="114300" indent="0">
              <a:buNone/>
            </a:pPr>
            <a:r>
              <a:rPr lang="en-US" sz="1800" b="1" dirty="0">
                <a:solidFill>
                  <a:srgbClr val="000000"/>
                </a:solidFill>
                <a:latin typeface="+mj-lt"/>
              </a:rPr>
              <a:t>We are writing / reading from the same place!</a:t>
            </a:r>
            <a:r>
              <a:rPr lang="en-US" sz="1800" dirty="0">
                <a:solidFill>
                  <a:srgbClr val="000000"/>
                </a:solidFill>
                <a:latin typeface="+mj-lt"/>
              </a:rPr>
              <a:t> Why would the output be different?!</a:t>
            </a:r>
            <a:endParaRPr lang="en-US" sz="1800" dirty="0">
              <a:latin typeface="+mj-lt"/>
            </a:endParaRPr>
          </a:p>
        </p:txBody>
      </p:sp>
      <p:sp>
        <p:nvSpPr>
          <p:cNvPr id="119" name="Google Shape;119;p29">
            <a:extLst>
              <a:ext uri="{FF2B5EF4-FFF2-40B4-BE49-F238E27FC236}">
                <a16:creationId xmlns:a16="http://schemas.microsoft.com/office/drawing/2014/main" id="{817256D6-2102-84DE-10F5-31D69B04B66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1DF6BF7-313D-36F2-FAE3-13C9A8654DC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FIFO</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4D6D46B4-CC7F-EC98-9823-4434D2A7E62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4FBD6D7-AAE6-99C9-7BBE-5A6DA53C7A0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9BB56F0-466D-7268-908A-99E2EE724BF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39A0CF2-8E07-E0B1-764D-CD5F0A18FF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74F9B22-4B3E-99A2-C252-5F33D369371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C864E64-106C-C95D-9F46-161D98CC4E4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72081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7C07100-3E24-1395-9076-F85E60B6ED9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5098542-4910-D3C2-9A8D-1766746235C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9C5C4324-1E16-D51B-86C8-8B00CA31C87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FIFO</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46135B07-DB70-2725-C0DD-A40D84DC9DB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F0EF261-5B82-E878-30E6-DD596F55F80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3B3018-6405-BD39-5F44-8728D1BBDC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167566F-1E9B-5602-98B7-464A177EAA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1393AB8-FDB8-C3FF-5B6F-3FF30F85BBC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179B706-B81D-ABC9-FD26-4AB57CE89F0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CA794137-8D78-4974-4EB6-CDBBC218B4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7172" y="1158915"/>
            <a:ext cx="5331073" cy="5074772"/>
          </a:xfrm>
          <a:prstGeom prst="rect">
            <a:avLst/>
          </a:prstGeom>
        </p:spPr>
      </p:pic>
      <p:sp>
        <p:nvSpPr>
          <p:cNvPr id="6" name="TextBox 5">
            <a:extLst>
              <a:ext uri="{FF2B5EF4-FFF2-40B4-BE49-F238E27FC236}">
                <a16:creationId xmlns:a16="http://schemas.microsoft.com/office/drawing/2014/main" id="{5E20CF51-701C-91FD-3332-5ED440B20AB9}"/>
              </a:ext>
            </a:extLst>
          </p:cNvPr>
          <p:cNvSpPr txBox="1"/>
          <p:nvPr/>
        </p:nvSpPr>
        <p:spPr>
          <a:xfrm>
            <a:off x="376807" y="1345096"/>
            <a:ext cx="5672810" cy="5016758"/>
          </a:xfrm>
          <a:prstGeom prst="rect">
            <a:avLst/>
          </a:prstGeom>
          <a:noFill/>
        </p:spPr>
        <p:txBody>
          <a:bodyPr wrap="square" rtlCol="0">
            <a:spAutoFit/>
          </a:bodyPr>
          <a:lstStyle/>
          <a:p>
            <a:r>
              <a:rPr lang="en-US" sz="2000" dirty="0"/>
              <a:t>Instead of waiting every interrupt cycle to write long pieces of text to the SPI connection, we can instead use FIFO (First-In-First-Out), which is a buffer queuing system.</a:t>
            </a:r>
          </a:p>
          <a:p>
            <a:endParaRPr lang="en-US" sz="2000" dirty="0"/>
          </a:p>
          <a:p>
            <a:r>
              <a:rPr lang="en-US" sz="2000" dirty="0"/>
              <a:t>When you fill in one of the buffers RX / TX, the value automatically goes to one of the 16 FIFO slots (instantaneously), to be used later! </a:t>
            </a:r>
          </a:p>
          <a:p>
            <a:endParaRPr lang="en-US" sz="2000" dirty="0"/>
          </a:p>
          <a:p>
            <a:r>
              <a:rPr lang="en-US" sz="2000" dirty="0"/>
              <a:t>This allows you to store, in one function call, 16 FIFO buffer values both for transmit and receive!</a:t>
            </a:r>
          </a:p>
          <a:p>
            <a:endParaRPr lang="en-US" sz="2000" dirty="0"/>
          </a:p>
          <a:p>
            <a:r>
              <a:rPr lang="en-US" sz="2000" dirty="0"/>
              <a:t>Uses only “16 CPU cycles” instead of 16 interrupt calls!</a:t>
            </a:r>
          </a:p>
          <a:p>
            <a:endParaRPr lang="en-US" sz="2000" dirty="0"/>
          </a:p>
          <a:p>
            <a:r>
              <a:rPr lang="en-US" sz="2000" dirty="0"/>
              <a:t>Allows for large read / writes.</a:t>
            </a:r>
          </a:p>
        </p:txBody>
      </p:sp>
      <p:cxnSp>
        <p:nvCxnSpPr>
          <p:cNvPr id="8" name="Straight Arrow Connector 7">
            <a:extLst>
              <a:ext uri="{FF2B5EF4-FFF2-40B4-BE49-F238E27FC236}">
                <a16:creationId xmlns:a16="http://schemas.microsoft.com/office/drawing/2014/main" id="{3B252B46-052E-444B-D5C0-DE00F5016BF9}"/>
              </a:ext>
            </a:extLst>
          </p:cNvPr>
          <p:cNvCxnSpPr/>
          <p:nvPr/>
        </p:nvCxnSpPr>
        <p:spPr>
          <a:xfrm flipV="1">
            <a:off x="5830957" y="2431774"/>
            <a:ext cx="556591" cy="755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2587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A76D38B-ACC7-B086-83DA-95B8C46AE7F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A0A8393-CEFB-4E0D-F90B-2A9DAA822C5F}"/>
              </a:ext>
            </a:extLst>
          </p:cNvPr>
          <p:cNvSpPr txBox="1">
            <a:spLocks noGrp="1"/>
          </p:cNvSpPr>
          <p:nvPr>
            <p:ph type="body" idx="1"/>
          </p:nvPr>
        </p:nvSpPr>
        <p:spPr>
          <a:xfrm>
            <a:off x="383905" y="1055164"/>
            <a:ext cx="5520410" cy="528523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Looking back:</a:t>
            </a:r>
          </a:p>
          <a:p>
            <a:pPr marL="114300" indent="0">
              <a:buNone/>
            </a:pPr>
            <a:endParaRPr lang="en-US" sz="1800" dirty="0">
              <a:latin typeface="+mj-lt"/>
            </a:endParaRPr>
          </a:p>
          <a:p>
            <a:pPr marL="114300" indent="0">
              <a:buNone/>
            </a:pPr>
            <a:r>
              <a:rPr lang="nn-NO" sz="1800" dirty="0">
                <a:solidFill>
                  <a:srgbClr val="7F0055"/>
                </a:solidFill>
                <a:latin typeface="Consolas" panose="020B0609020204030204" pitchFamily="49" charset="0"/>
              </a:rPr>
              <a:t>for</a:t>
            </a:r>
            <a:r>
              <a:rPr lang="nn-NO" sz="1800" dirty="0">
                <a:solidFill>
                  <a:srgbClr val="000000"/>
                </a:solidFill>
                <a:latin typeface="Consolas" panose="020B0609020204030204" pitchFamily="49" charset="0"/>
              </a:rPr>
              <a:t>(i = 0; i &lt; 3; i++) {</a:t>
            </a:r>
          </a:p>
          <a:p>
            <a:pPr marL="114300" indent="0">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SPITXBUF</a:t>
            </a:r>
            <a:r>
              <a:rPr lang="en-US" sz="1800" dirty="0">
                <a:solidFill>
                  <a:srgbClr val="000000"/>
                </a:solidFill>
                <a:latin typeface="Consolas" panose="020B0609020204030204" pitchFamily="49" charset="0"/>
              </a:rPr>
              <a:t> = 0xAAu;</a:t>
            </a:r>
          </a:p>
          <a:p>
            <a:pPr marL="114300" indent="0">
              <a:buNone/>
            </a:pPr>
            <a:r>
              <a:rPr lang="en-US" sz="1800" dirty="0">
                <a:solidFill>
                  <a:srgbClr val="000000"/>
                </a:solidFill>
                <a:latin typeface="Consolas" panose="020B0609020204030204" pitchFamily="49" charset="0"/>
              </a:rPr>
              <a:t>}</a:t>
            </a:r>
          </a:p>
          <a:p>
            <a:pPr marL="114300" indent="0">
              <a:buNone/>
            </a:pPr>
            <a:endParaRPr lang="en-US" sz="1800" dirty="0">
              <a:solidFill>
                <a:srgbClr val="000000"/>
              </a:solidFill>
              <a:latin typeface="Consolas" panose="020B0609020204030204" pitchFamily="49" charset="0"/>
            </a:endParaRPr>
          </a:p>
          <a:p>
            <a:pPr marL="114300" indent="0">
              <a:buNone/>
            </a:pPr>
            <a:endParaRPr lang="en-US" sz="1800" dirty="0">
              <a:solidFill>
                <a:srgbClr val="000000"/>
              </a:solidFill>
              <a:latin typeface="Consolas" panose="020B0609020204030204" pitchFamily="49" charset="0"/>
            </a:endParaRPr>
          </a:p>
          <a:p>
            <a:pPr marL="114300" indent="0">
              <a:buNone/>
            </a:pPr>
            <a:endParaRPr lang="en-US" sz="1800" dirty="0">
              <a:solidFill>
                <a:srgbClr val="000000"/>
              </a:solidFill>
              <a:latin typeface="Consolas" panose="020B0609020204030204" pitchFamily="49" charset="0"/>
            </a:endParaRPr>
          </a:p>
          <a:p>
            <a:pPr marL="114300" indent="0">
              <a:buNone/>
            </a:pPr>
            <a:endParaRPr lang="en-US" sz="1800" dirty="0">
              <a:solidFill>
                <a:srgbClr val="000000"/>
              </a:solidFill>
              <a:latin typeface="Consolas" panose="020B0609020204030204" pitchFamily="49" charset="0"/>
            </a:endParaRP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[0]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[1]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[2]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p:txBody>
      </p:sp>
      <p:sp>
        <p:nvSpPr>
          <p:cNvPr id="119" name="Google Shape;119;p29">
            <a:extLst>
              <a:ext uri="{FF2B5EF4-FFF2-40B4-BE49-F238E27FC236}">
                <a16:creationId xmlns:a16="http://schemas.microsoft.com/office/drawing/2014/main" id="{072A83F2-F144-5161-A806-82CE02614B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5F07707-AA34-0779-7AC2-F80EDAE8C6B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FIFO</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F93102B9-FA13-13CD-5D36-B7F27F6027D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CF126C8-1924-80AB-63AB-5ACA31C7D91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836B7DB-4567-64C0-E49C-B4EEE1E4C9B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1907B70-8140-2F83-B116-B92ED1B9E99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E13564C-6C39-93B3-674F-EFAB4924DF2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FD56BD-F581-3F90-123C-27281C0A64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
        <p:nvSpPr>
          <p:cNvPr id="2" name="Google Shape;118;p29">
            <a:extLst>
              <a:ext uri="{FF2B5EF4-FFF2-40B4-BE49-F238E27FC236}">
                <a16:creationId xmlns:a16="http://schemas.microsoft.com/office/drawing/2014/main" id="{09564873-1951-C30B-880E-6A5CDE4941E5}"/>
              </a:ext>
            </a:extLst>
          </p:cNvPr>
          <p:cNvSpPr txBox="1">
            <a:spLocks/>
          </p:cNvSpPr>
          <p:nvPr/>
        </p:nvSpPr>
        <p:spPr>
          <a:xfrm>
            <a:off x="6288220" y="1054691"/>
            <a:ext cx="5519875" cy="528617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Font typeface="Arial"/>
              <a:buNone/>
            </a:pPr>
            <a:r>
              <a:rPr lang="en-US" sz="1800" dirty="0">
                <a:latin typeface="+mj-lt"/>
              </a:rPr>
              <a:t>For the </a:t>
            </a:r>
            <a:r>
              <a:rPr lang="en-US" sz="1800" b="1" dirty="0">
                <a:latin typeface="+mj-lt"/>
              </a:rPr>
              <a:t>TX</a:t>
            </a:r>
            <a:r>
              <a:rPr lang="en-US" sz="1800" dirty="0">
                <a:latin typeface="+mj-lt"/>
              </a:rPr>
              <a:t>, </a:t>
            </a:r>
            <a:r>
              <a:rPr lang="en-US" sz="1800" dirty="0">
                <a:solidFill>
                  <a:srgbClr val="000000"/>
                </a:solidFill>
                <a:latin typeface="+mj-lt"/>
              </a:rPr>
              <a:t>TX FIFO_{0,..,15} start empty.</a:t>
            </a:r>
          </a:p>
          <a:p>
            <a:pPr marL="114300" indent="0">
              <a:buFont typeface="Arial"/>
              <a:buNone/>
            </a:pPr>
            <a:endParaRPr lang="en-US" sz="1800" dirty="0">
              <a:solidFill>
                <a:srgbClr val="000000"/>
              </a:solidFill>
              <a:latin typeface="Consolas" panose="020B0609020204030204" pitchFamily="49" charset="0"/>
            </a:endParaRPr>
          </a:p>
          <a:p>
            <a:pPr marL="114300" indent="0">
              <a:buFont typeface="Arial"/>
              <a:buNone/>
            </a:pP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0, TX FIFO_0 = 0xAAu;</a:t>
            </a:r>
          </a:p>
          <a:p>
            <a:pPr marL="114300" indent="0">
              <a:buNone/>
            </a:pP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1, TX FIFO_{0,1} = 0xAAu;</a:t>
            </a:r>
          </a:p>
          <a:p>
            <a:pPr marL="114300" indent="0">
              <a:buNone/>
            </a:pP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2, TX FIFO_{0,1,2} = 0xAAu;</a:t>
            </a:r>
          </a:p>
          <a:p>
            <a:pPr marL="114300" indent="0">
              <a:buFont typeface="Arial"/>
              <a:buNone/>
            </a:pPr>
            <a:endParaRPr lang="en-US" sz="1800" dirty="0">
              <a:solidFill>
                <a:srgbClr val="000000"/>
              </a:solidFill>
              <a:latin typeface="Consolas" panose="020B0609020204030204" pitchFamily="49" charset="0"/>
            </a:endParaRPr>
          </a:p>
          <a:p>
            <a:pPr marL="114300" indent="0">
              <a:buFont typeface="Arial"/>
              <a:buNone/>
            </a:pPr>
            <a:endParaRPr lang="en-US" sz="1800" dirty="0">
              <a:solidFill>
                <a:srgbClr val="000000"/>
              </a:solidFill>
              <a:latin typeface="Consolas" panose="020B0609020204030204" pitchFamily="49" charset="0"/>
            </a:endParaRPr>
          </a:p>
          <a:p>
            <a:pPr marL="114300" indent="0">
              <a:buFont typeface="Arial"/>
              <a:buNone/>
            </a:pPr>
            <a:r>
              <a:rPr lang="en-US" sz="1800" dirty="0">
                <a:solidFill>
                  <a:srgbClr val="000000"/>
                </a:solidFill>
                <a:latin typeface="+mj-lt"/>
              </a:rPr>
              <a:t>For the </a:t>
            </a:r>
            <a:r>
              <a:rPr lang="en-US" sz="1800" b="1" dirty="0">
                <a:solidFill>
                  <a:srgbClr val="000000"/>
                </a:solidFill>
                <a:latin typeface="+mj-lt"/>
              </a:rPr>
              <a:t>RX</a:t>
            </a:r>
            <a:r>
              <a:rPr lang="en-US" sz="1800" dirty="0">
                <a:solidFill>
                  <a:srgbClr val="000000"/>
                </a:solidFill>
                <a:latin typeface="Consolas" panose="020B0609020204030204" pitchFamily="49" charset="0"/>
              </a:rPr>
              <a:t>, RX FIFO_{0,1,2}</a:t>
            </a:r>
            <a:r>
              <a:rPr lang="en-US" sz="1800" dirty="0">
                <a:solidFill>
                  <a:srgbClr val="000000"/>
                </a:solidFill>
                <a:latin typeface="+mj-lt"/>
              </a:rPr>
              <a:t> has data</a:t>
            </a:r>
          </a:p>
          <a:p>
            <a:pPr marL="114300" indent="0">
              <a:buNone/>
            </a:pPr>
            <a:endParaRPr lang="en-US" sz="1800" dirty="0">
              <a:solidFill>
                <a:srgbClr val="000000"/>
              </a:solidFill>
              <a:latin typeface="Consolas" panose="020B0609020204030204" pitchFamily="49" charset="0"/>
            </a:endParaRPr>
          </a:p>
          <a:p>
            <a:pPr marL="114300" indent="0">
              <a:buNone/>
            </a:pPr>
            <a:r>
              <a:rPr lang="en-US" sz="1800" dirty="0">
                <a:solidFill>
                  <a:srgbClr val="000000"/>
                </a:solidFill>
                <a:latin typeface="Consolas" panose="020B0609020204030204" pitchFamily="49" charset="0"/>
              </a:rPr>
              <a:t>Takes from RX FIFO_0 FIFO_{1,2} has data</a:t>
            </a:r>
          </a:p>
          <a:p>
            <a:pPr marL="114300" indent="0">
              <a:buNone/>
            </a:pPr>
            <a:r>
              <a:rPr lang="en-US" sz="1800" dirty="0">
                <a:solidFill>
                  <a:srgbClr val="000000"/>
                </a:solidFill>
                <a:latin typeface="Consolas" panose="020B0609020204030204" pitchFamily="49" charset="0"/>
              </a:rPr>
              <a:t>Takes from RX FIFO_1 FIFO_{2} has data</a:t>
            </a:r>
          </a:p>
          <a:p>
            <a:pPr marL="114300" indent="0">
              <a:buNone/>
            </a:pPr>
            <a:r>
              <a:rPr lang="en-US" sz="1800" dirty="0">
                <a:solidFill>
                  <a:srgbClr val="000000"/>
                </a:solidFill>
                <a:latin typeface="Consolas" panose="020B0609020204030204" pitchFamily="49" charset="0"/>
              </a:rPr>
              <a:t>Takes from RX FIFO_2 FIFO has no more data</a:t>
            </a:r>
          </a:p>
          <a:p>
            <a:pPr marL="114300" indent="0">
              <a:buNone/>
            </a:pPr>
            <a:r>
              <a:rPr lang="en-US" sz="1800" dirty="0">
                <a:solidFill>
                  <a:srgbClr val="000000"/>
                </a:solidFill>
                <a:latin typeface="+mj-lt"/>
              </a:rPr>
              <a:t>(technically the next FIFO is always FIFO_0)</a:t>
            </a:r>
          </a:p>
        </p:txBody>
      </p:sp>
    </p:spTree>
    <p:extLst>
      <p:ext uri="{BB962C8B-B14F-4D97-AF65-F5344CB8AC3E}">
        <p14:creationId xmlns:p14="http://schemas.microsoft.com/office/powerpoint/2010/main" val="978136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14851194-CA4D-B199-C22D-DF08F0C6A9CB}"/>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5B43D03A-5A09-6A3C-E2A3-93EFF050480F}"/>
              </a:ext>
            </a:extLst>
          </p:cNvPr>
          <p:cNvSpPr txBox="1"/>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PWM</a:t>
            </a:r>
            <a:endParaRPr dirty="0"/>
          </a:p>
        </p:txBody>
      </p:sp>
      <p:grpSp>
        <p:nvGrpSpPr>
          <p:cNvPr id="105" name="Google Shape;105;p28">
            <a:extLst>
              <a:ext uri="{FF2B5EF4-FFF2-40B4-BE49-F238E27FC236}">
                <a16:creationId xmlns:a16="http://schemas.microsoft.com/office/drawing/2014/main" id="{D7783F3D-3718-A564-CD2C-908213666147}"/>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FF061C4A-396E-2A9B-D6EE-38D54162382A}"/>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06D3E809-B03D-5E91-4515-B2D509AD68EA}"/>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0C2E6B15-5B45-0D3B-619A-D956E07B1488}"/>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8913EA5-AA01-4D51-998C-93D2F854D6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60AEBB95-5D98-E2D4-C4D4-267DE60D0958}"/>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001536A5-3545-D654-D4BC-54DAB0F2234C}"/>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67B650F-A8F3-5218-35B5-9FE5DCEBC57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66C4BAB1-9BB1-752E-4195-251E66BE288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5288548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E7543ED3-0842-1475-E578-28926EBE08C7}"/>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934DFFC5-7AD1-27EB-A8EC-B6DCFE2D1338}"/>
              </a:ext>
            </a:extLst>
          </p:cNvPr>
          <p:cNvSpPr txBox="1"/>
          <p:nvPr/>
        </p:nvSpPr>
        <p:spPr>
          <a:xfrm>
            <a:off x="2206906" y="2459524"/>
            <a:ext cx="7778187"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rial"/>
                <a:ea typeface="Arial"/>
                <a:cs typeface="Arial"/>
                <a:sym typeface="Arial"/>
              </a:rPr>
              <a:t>How do LEDs become dimmer?</a:t>
            </a:r>
            <a:endParaRPr sz="1400" b="0" i="0" u="none" strike="noStrike" cap="none" dirty="0">
              <a:solidFill>
                <a:srgbClr val="000000"/>
              </a:solidFill>
              <a:latin typeface="Arial"/>
              <a:ea typeface="Arial"/>
              <a:cs typeface="Arial"/>
              <a:sym typeface="Arial"/>
            </a:endParaRPr>
          </a:p>
        </p:txBody>
      </p:sp>
      <p:grpSp>
        <p:nvGrpSpPr>
          <p:cNvPr id="91" name="Google Shape;91;p27">
            <a:extLst>
              <a:ext uri="{FF2B5EF4-FFF2-40B4-BE49-F238E27FC236}">
                <a16:creationId xmlns:a16="http://schemas.microsoft.com/office/drawing/2014/main" id="{0C805948-A285-275C-C7D2-265BD5AFB669}"/>
              </a:ext>
            </a:extLst>
          </p:cNvPr>
          <p:cNvGrpSpPr/>
          <p:nvPr/>
        </p:nvGrpSpPr>
        <p:grpSpPr>
          <a:xfrm>
            <a:off x="4165129" y="2021113"/>
            <a:ext cx="3861740" cy="322845"/>
            <a:chOff x="3943790" y="2676939"/>
            <a:chExt cx="3861740" cy="322845"/>
          </a:xfrm>
        </p:grpSpPr>
        <p:cxnSp>
          <p:nvCxnSpPr>
            <p:cNvPr id="92" name="Google Shape;92;p27">
              <a:extLst>
                <a:ext uri="{FF2B5EF4-FFF2-40B4-BE49-F238E27FC236}">
                  <a16:creationId xmlns:a16="http://schemas.microsoft.com/office/drawing/2014/main" id="{0864CF58-B90F-9CDB-473C-D98A29236042}"/>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952222B6-D309-45F6-752E-8A350CBF4442}"/>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B15B5BCD-345B-8A0D-2FCF-45E469213DB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CE2D1334-FD8B-EA75-25B7-58954EB30B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33F99AD4-0636-DB38-6786-19463CAE09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76873063-7DCC-E747-D814-755925C0A6C4}"/>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982ADDC5-B20D-7A21-D847-9BBDD5CF7F68}"/>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AE04CF39-6DD9-20A7-D331-725CEEEBA94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7927937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8628E2F-E725-A49A-F389-2054C48B15F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10309FC-CFA9-ABBD-7EEB-FC9A52661B1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Stands for Pulse Width Modulation</a:t>
                </a:r>
              </a:p>
              <a:p>
                <a:pPr marL="0" lvl="0" indent="0" algn="l" rtl="0">
                  <a:lnSpc>
                    <a:spcPct val="100000"/>
                  </a:lnSpc>
                  <a:spcBef>
                    <a:spcPts val="0"/>
                  </a:spcBef>
                  <a:spcAft>
                    <a:spcPts val="0"/>
                  </a:spcAft>
                  <a:buSzPts val="3000"/>
                  <a:buNone/>
                </a:pPr>
                <a:endParaRPr lang="en-US" sz="2000" dirty="0">
                  <a:solidFill>
                    <a:schemeClr val="dk1"/>
                  </a:solidFill>
                  <a:latin typeface="+mj-lt"/>
                  <a:ea typeface="Arial"/>
                  <a:cs typeface="Arial"/>
                  <a:sym typeface="Arial"/>
                </a:endParaRPr>
              </a:p>
              <a:p>
                <a:pPr marL="342900">
                  <a:lnSpc>
                    <a:spcPct val="100000"/>
                  </a:lnSpc>
                  <a:spcBef>
                    <a:spcPts val="0"/>
                  </a:spcBef>
                  <a:buSzPts val="3000"/>
                </a:pPr>
                <a:r>
                  <a:rPr lang="en-US" sz="2000" dirty="0">
                    <a:latin typeface="+mj-lt"/>
                    <a:ea typeface="Arial"/>
                    <a:cs typeface="Arial"/>
                    <a:sym typeface="Arial"/>
                  </a:rPr>
                  <a:t>Rapidly turns the output signal on and off to adjust the </a:t>
                </a:r>
                <a:r>
                  <a:rPr lang="en-US" sz="2000" i="1" dirty="0">
                    <a:latin typeface="+mj-lt"/>
                    <a:ea typeface="Arial"/>
                    <a:cs typeface="Arial"/>
                    <a:sym typeface="Arial"/>
                  </a:rPr>
                  <a:t>average power delivered</a:t>
                </a:r>
              </a:p>
              <a:p>
                <a:pPr marL="0" indent="0">
                  <a:lnSpc>
                    <a:spcPct val="100000"/>
                  </a:lnSpc>
                  <a:spcBef>
                    <a:spcPts val="0"/>
                  </a:spcBef>
                  <a:buSzPts val="3000"/>
                  <a:buNone/>
                </a:pPr>
                <a:endParaRPr lang="en-US" sz="2000" b="1" i="1" dirty="0">
                  <a:solidFill>
                    <a:schemeClr val="dk1"/>
                  </a:solidFill>
                  <a:latin typeface="+mj-lt"/>
                  <a:ea typeface="Arial"/>
                  <a:cs typeface="Arial"/>
                  <a:sym typeface="Arial"/>
                </a:endParaRPr>
              </a:p>
              <a:p>
                <a:pPr marL="0" indent="0">
                  <a:lnSpc>
                    <a:spcPct val="100000"/>
                  </a:lnSpc>
                  <a:spcBef>
                    <a:spcPts val="0"/>
                  </a:spcBef>
                  <a:buSzPts val="3000"/>
                  <a:buNone/>
                </a:pPr>
                <a:r>
                  <a:rPr lang="en-US" sz="2000" dirty="0">
                    <a:solidFill>
                      <a:schemeClr val="dk1"/>
                    </a:solidFill>
                    <a:latin typeface="+mj-lt"/>
                    <a:ea typeface="Arial"/>
                    <a:cs typeface="Arial"/>
                    <a:sym typeface="Arial"/>
                  </a:rPr>
                  <a:t>2 main parameters:</a:t>
                </a: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Period / frequency</a:t>
                </a:r>
                <a:r>
                  <a:rPr lang="en-US" sz="2000" dirty="0">
                    <a:latin typeface="+mj-lt"/>
                    <a:ea typeface="Arial"/>
                    <a:cs typeface="Arial"/>
                    <a:sym typeface="Arial"/>
                  </a:rPr>
                  <a:t> (</a:t>
                </a:r>
                <a14:m>
                  <m:oMath xmlns:m="http://schemas.openxmlformats.org/officeDocument/2006/math">
                    <m:sSub>
                      <m:sSubPr>
                        <m:ctrlPr>
                          <a:rPr lang="en-US" sz="2000" b="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𝑇</m:t>
                        </m:r>
                      </m:e>
                      <m:sub>
                        <m:r>
                          <a:rPr lang="en-US" sz="2000" b="0" i="1" smtClean="0">
                            <a:latin typeface="Cambria Math" panose="02040503050406030204" pitchFamily="18" charset="0"/>
                            <a:cs typeface="Arial"/>
                            <a:sym typeface="Arial"/>
                          </a:rPr>
                          <m:t>𝑝𝑤𝑚</m:t>
                        </m:r>
                      </m:sub>
                    </m:sSub>
                  </m:oMath>
                </a14:m>
                <a:r>
                  <a:rPr lang="en-US" sz="2000" dirty="0">
                    <a:latin typeface="+mj-lt"/>
                    <a:ea typeface="Arial"/>
                    <a:cs typeface="Arial"/>
                    <a:sym typeface="Arial"/>
                  </a:rPr>
                  <a:t>): The total time of one cycle</a:t>
                </a:r>
              </a:p>
              <a:p>
                <a:pPr marL="342900">
                  <a:lnSpc>
                    <a:spcPct val="100000"/>
                  </a:lnSpc>
                  <a:spcBef>
                    <a:spcPts val="0"/>
                  </a:spcBef>
                  <a:buSzPts val="3000"/>
                </a:pPr>
                <a:r>
                  <a:rPr lang="en-US" sz="2000" b="1" dirty="0">
                    <a:latin typeface="+mj-lt"/>
                    <a:ea typeface="Arial"/>
                    <a:cs typeface="Arial"/>
                    <a:sym typeface="Arial"/>
                  </a:rPr>
                  <a:t>Duty cycle </a:t>
                </a:r>
                <a:r>
                  <a:rPr lang="en-US" sz="2000" dirty="0">
                    <a:latin typeface="+mj-lt"/>
                    <a:ea typeface="Arial"/>
                    <a:cs typeface="Arial"/>
                    <a:sym typeface="Arial"/>
                  </a:rPr>
                  <a:t>(</a:t>
                </a:r>
                <a14:m>
                  <m:oMath xmlns:m="http://schemas.openxmlformats.org/officeDocument/2006/math">
                    <m:r>
                      <a:rPr lang="en-US" sz="2000" i="1">
                        <a:latin typeface="Cambria Math" panose="02040503050406030204" pitchFamily="18" charset="0"/>
                        <a:ea typeface="Arial"/>
                        <a:cs typeface="Arial"/>
                        <a:sym typeface="Arial"/>
                      </a:rPr>
                      <m:t>𝐷</m:t>
                    </m:r>
                    <m:r>
                      <a:rPr lang="en-US" sz="2000" b="0" i="1" smtClean="0">
                        <a:latin typeface="Cambria Math" panose="02040503050406030204" pitchFamily="18" charset="0"/>
                        <a:ea typeface="Arial"/>
                        <a:cs typeface="Arial"/>
                        <a:sym typeface="Arial"/>
                      </a:rPr>
                      <m:t>)</m:t>
                    </m:r>
                  </m:oMath>
                </a14:m>
                <a:r>
                  <a:rPr lang="en-US" sz="2000" b="1" dirty="0">
                    <a:latin typeface="+mj-lt"/>
                    <a:ea typeface="Arial"/>
                    <a:cs typeface="Arial"/>
                    <a:sym typeface="Arial"/>
                  </a:rPr>
                  <a:t>: </a:t>
                </a:r>
                <a:r>
                  <a:rPr lang="en-US" sz="2000" dirty="0">
                    <a:latin typeface="+mj-lt"/>
                    <a:ea typeface="Arial"/>
                    <a:cs typeface="Arial"/>
                    <a:sym typeface="Arial"/>
                  </a:rPr>
                  <a:t>The fraction of time the signal is high </a:t>
                </a:r>
                <a14:m>
                  <m:oMath xmlns:m="http://schemas.openxmlformats.org/officeDocument/2006/math">
                    <m:r>
                      <a:rPr lang="en-US" sz="2000" b="0" i="1" smtClean="0">
                        <a:latin typeface="Cambria Math" panose="02040503050406030204" pitchFamily="18" charset="0"/>
                        <a:ea typeface="Arial"/>
                        <a:cs typeface="Arial"/>
                        <a:sym typeface="Arial"/>
                      </a:rPr>
                      <m:t>𝐷</m:t>
                    </m:r>
                    <m:r>
                      <a:rPr lang="en-US" sz="2000" b="0" i="1" smtClean="0">
                        <a:latin typeface="Cambria Math" panose="02040503050406030204" pitchFamily="18" charset="0"/>
                        <a:ea typeface="Arial"/>
                        <a:cs typeface="Arial"/>
                        <a:sym typeface="Arial"/>
                      </a:rPr>
                      <m:t>=</m:t>
                    </m:r>
                    <m:f>
                      <m:fPr>
                        <m:ctrlPr>
                          <a:rPr lang="en-US" sz="2000" b="0" i="1" smtClean="0">
                            <a:latin typeface="Cambria Math" panose="02040503050406030204" pitchFamily="18" charset="0"/>
                            <a:cs typeface="Arial"/>
                            <a:sym typeface="Arial"/>
                          </a:rPr>
                        </m:ctrlPr>
                      </m:fPr>
                      <m:num>
                        <m:sSub>
                          <m:sSubPr>
                            <m:ctrlPr>
                              <a:rPr lang="en-US" sz="2000" b="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𝑇</m:t>
                            </m:r>
                          </m:e>
                          <m:sub>
                            <m:r>
                              <a:rPr lang="en-US" sz="2000" b="0" i="1" smtClean="0">
                                <a:latin typeface="Cambria Math" panose="02040503050406030204" pitchFamily="18" charset="0"/>
                                <a:cs typeface="Arial"/>
                                <a:sym typeface="Arial"/>
                              </a:rPr>
                              <m:t>𝑜𝑛</m:t>
                            </m:r>
                          </m:sub>
                        </m:sSub>
                      </m:num>
                      <m:den>
                        <m:sSub>
                          <m:sSubPr>
                            <m:ctrlPr>
                              <a:rPr lang="en-US" sz="2000" b="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𝑇</m:t>
                            </m:r>
                          </m:e>
                          <m:sub>
                            <m:r>
                              <a:rPr lang="en-US" sz="2000" b="0" i="1" smtClean="0">
                                <a:latin typeface="Cambria Math" panose="02040503050406030204" pitchFamily="18" charset="0"/>
                                <a:cs typeface="Arial"/>
                                <a:sym typeface="Arial"/>
                              </a:rPr>
                              <m:t>𝑝𝑤𝑚</m:t>
                            </m:r>
                          </m:sub>
                        </m:sSub>
                      </m:den>
                    </m:f>
                  </m:oMath>
                </a14:m>
                <a:endParaRPr lang="en-US" sz="2000" b="1" dirty="0">
                  <a:latin typeface="+mj-lt"/>
                  <a:ea typeface="Arial"/>
                  <a:cs typeface="Arial"/>
                  <a:sym typeface="Arial"/>
                </a:endParaRPr>
              </a:p>
            </p:txBody>
          </p:sp>
        </mc:Choice>
        <mc:Fallback xmlns="">
          <p:sp>
            <p:nvSpPr>
              <p:cNvPr id="118" name="Google Shape;118;p29">
                <a:extLst>
                  <a:ext uri="{FF2B5EF4-FFF2-40B4-BE49-F238E27FC236}">
                    <a16:creationId xmlns:a16="http://schemas.microsoft.com/office/drawing/2014/main" id="{810309FC-CFA9-ABBD-7EEB-FC9A52661B1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273FCCD-B02A-2F8B-334B-7DD78F6E5D5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0EB3884-16BE-897D-9C7D-ED2CDC2DB01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Introduction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F30547A4-7DB4-9342-FF9D-C95565AA682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0371868-7ABD-3A34-A34A-4A91B3AB527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59B78BB-981C-AE84-F2C2-619448F7E2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7DDBBC4-13CA-3846-CBBA-3A2044E2A2B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4105927-92EF-74F4-5D60-90B065886A0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26E9A2D-C2E0-0C8A-5B5A-418D0BDBE0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0873229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AAC9B90-6599-C2D2-D47F-49D4E38D6C6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317EFFF-5325-EA94-B773-E9E317A3EF8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8F28BB1-D1BF-FCC2-3E17-F3E7B56BC34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Introduction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43CFDE3-4AD1-ADA3-F847-881403E60AC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60DE33E-637E-09EA-0FB6-9DA57E1D56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9F9A686-CCCD-2484-555F-7A7DC855D78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AD113E-1E37-D99D-7007-4542A7EDCCE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4EBA4F4-5814-E2FF-D92E-4DE626E16B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EDCEFF7-DA9C-C192-4A01-2F07B58E48C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Online Media 3" title="PWM Animation">
            <a:hlinkClick r:id="" action="ppaction://media"/>
            <a:extLst>
              <a:ext uri="{FF2B5EF4-FFF2-40B4-BE49-F238E27FC236}">
                <a16:creationId xmlns:a16="http://schemas.microsoft.com/office/drawing/2014/main" id="{EBB2413A-A29F-6235-039B-3D3E8A4E830A}"/>
              </a:ext>
            </a:extLst>
          </p:cNvPr>
          <p:cNvPicPr>
            <a:picLocks noRot="1" noChangeAspect="1"/>
          </p:cNvPicPr>
          <p:nvPr>
            <a:videoFile r:link="rId1"/>
          </p:nvPr>
        </p:nvPicPr>
        <p:blipFill>
          <a:blip r:embed="rId5"/>
          <a:stretch>
            <a:fillRect/>
          </a:stretch>
        </p:blipFill>
        <p:spPr>
          <a:xfrm>
            <a:off x="1038786" y="989455"/>
            <a:ext cx="9591766" cy="5419360"/>
          </a:xfrm>
          <a:prstGeom prst="rect">
            <a:avLst/>
          </a:prstGeom>
        </p:spPr>
      </p:pic>
      <p:sp>
        <p:nvSpPr>
          <p:cNvPr id="2" name="TextBox 1">
            <a:extLst>
              <a:ext uri="{FF2B5EF4-FFF2-40B4-BE49-F238E27FC236}">
                <a16:creationId xmlns:a16="http://schemas.microsoft.com/office/drawing/2014/main" id="{1030603E-FB37-28EC-96A4-94F6350965BD}"/>
              </a:ext>
            </a:extLst>
          </p:cNvPr>
          <p:cNvSpPr txBox="1"/>
          <p:nvPr/>
        </p:nvSpPr>
        <p:spPr>
          <a:xfrm>
            <a:off x="3936760" y="6410373"/>
            <a:ext cx="3790121" cy="261610"/>
          </a:xfrm>
          <a:prstGeom prst="rect">
            <a:avLst/>
          </a:prstGeom>
          <a:noFill/>
        </p:spPr>
        <p:txBody>
          <a:bodyPr wrap="square" rtlCol="0">
            <a:spAutoFit/>
          </a:bodyPr>
          <a:lstStyle/>
          <a:p>
            <a:pPr algn="ctr"/>
            <a:r>
              <a:rPr lang="en-US" sz="1100" dirty="0">
                <a:hlinkClick r:id="rId6"/>
              </a:rPr>
              <a:t>https://youtu.be/IO5RBfq_5Uo?si=KMDtMRWZ-Gs9MQLh</a:t>
            </a:r>
            <a:r>
              <a:rPr lang="en-US" sz="1100" dirty="0"/>
              <a:t> </a:t>
            </a:r>
          </a:p>
        </p:txBody>
      </p:sp>
    </p:spTree>
    <p:extLst>
      <p:ext uri="{BB962C8B-B14F-4D97-AF65-F5344CB8AC3E}">
        <p14:creationId xmlns:p14="http://schemas.microsoft.com/office/powerpoint/2010/main" val="262977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8C8E18-796A-EAB1-4511-EEAF5B086EF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2AE202F-FC87-C2C4-6621-BE4EBF4688F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98F04BC0-E8C5-B227-3D05-C0763450C24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E163057-C04E-7706-10EC-7A176DDB944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59E8E0-76E9-88E2-1E75-5DC1689D61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F603DCD-7C70-A6E0-27F9-EB21F3B3C97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8679518-B190-3DD9-522D-D9E49AD9BB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6D968A9-2252-3D63-829D-DB56DD67CA4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E3CC77E-6ADE-AF49-A7E7-80E7093C6B4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00B54087-6B08-FC0E-A820-76387806E6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16334" y="994852"/>
            <a:ext cx="6959332" cy="5491119"/>
          </a:xfrm>
          <a:prstGeom prst="rect">
            <a:avLst/>
          </a:prstGeom>
        </p:spPr>
      </p:pic>
      <p:grpSp>
        <p:nvGrpSpPr>
          <p:cNvPr id="18" name="Group 17">
            <a:extLst>
              <a:ext uri="{FF2B5EF4-FFF2-40B4-BE49-F238E27FC236}">
                <a16:creationId xmlns:a16="http://schemas.microsoft.com/office/drawing/2014/main" id="{BD6FD0A0-45F7-4C1E-D48F-DBC5914D991D}"/>
              </a:ext>
            </a:extLst>
          </p:cNvPr>
          <p:cNvGrpSpPr/>
          <p:nvPr/>
        </p:nvGrpSpPr>
        <p:grpSpPr>
          <a:xfrm>
            <a:off x="960783" y="3578087"/>
            <a:ext cx="5572539" cy="2743748"/>
            <a:chOff x="960783" y="3578087"/>
            <a:chExt cx="5572539" cy="2743748"/>
          </a:xfrm>
        </p:grpSpPr>
        <p:sp>
          <p:nvSpPr>
            <p:cNvPr id="6" name="Rectangle 5">
              <a:extLst>
                <a:ext uri="{FF2B5EF4-FFF2-40B4-BE49-F238E27FC236}">
                  <a16:creationId xmlns:a16="http://schemas.microsoft.com/office/drawing/2014/main" id="{23314C87-86DE-5BA8-B731-20EC81E898ED}"/>
                </a:ext>
              </a:extLst>
            </p:cNvPr>
            <p:cNvSpPr/>
            <p:nvPr/>
          </p:nvSpPr>
          <p:spPr>
            <a:xfrm>
              <a:off x="2445026" y="5121965"/>
              <a:ext cx="4088296" cy="119987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F7BEB5F-86B6-E3A9-9683-8BF1BCACDA49}"/>
                </a:ext>
              </a:extLst>
            </p:cNvPr>
            <p:cNvSpPr/>
            <p:nvPr/>
          </p:nvSpPr>
          <p:spPr>
            <a:xfrm>
              <a:off x="2557670" y="3578087"/>
              <a:ext cx="1133060" cy="31805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69D8A49-B934-39E6-C274-FAA78C1D3F5E}"/>
                </a:ext>
              </a:extLst>
            </p:cNvPr>
            <p:cNvSpPr txBox="1"/>
            <p:nvPr/>
          </p:nvSpPr>
          <p:spPr>
            <a:xfrm>
              <a:off x="960783" y="4485861"/>
              <a:ext cx="1159565" cy="307777"/>
            </a:xfrm>
            <a:prstGeom prst="rect">
              <a:avLst/>
            </a:prstGeom>
            <a:noFill/>
          </p:spPr>
          <p:txBody>
            <a:bodyPr wrap="square" rtlCol="0">
              <a:spAutoFit/>
            </a:bodyPr>
            <a:lstStyle/>
            <a:p>
              <a:r>
                <a:rPr lang="en-US" dirty="0">
                  <a:solidFill>
                    <a:srgbClr val="FF0000"/>
                  </a:solidFill>
                </a:rPr>
                <a:t>Clock signal</a:t>
              </a:r>
            </a:p>
          </p:txBody>
        </p:sp>
        <p:cxnSp>
          <p:nvCxnSpPr>
            <p:cNvPr id="10" name="Straight Arrow Connector 9">
              <a:extLst>
                <a:ext uri="{FF2B5EF4-FFF2-40B4-BE49-F238E27FC236}">
                  <a16:creationId xmlns:a16="http://schemas.microsoft.com/office/drawing/2014/main" id="{07E056A5-FB74-D1E7-9A20-8E1F41342E54}"/>
                </a:ext>
              </a:extLst>
            </p:cNvPr>
            <p:cNvCxnSpPr>
              <a:cxnSpLocks/>
              <a:stCxn id="8" idx="0"/>
              <a:endCxn id="7" idx="1"/>
            </p:cNvCxnSpPr>
            <p:nvPr/>
          </p:nvCxnSpPr>
          <p:spPr>
            <a:xfrm flipV="1">
              <a:off x="1540566" y="3737113"/>
              <a:ext cx="1017104" cy="7487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4A4D490-FF0F-4A81-A52D-688E0E47FA55}"/>
                </a:ext>
              </a:extLst>
            </p:cNvPr>
            <p:cNvCxnSpPr>
              <a:cxnSpLocks/>
              <a:stCxn id="8" idx="2"/>
              <a:endCxn id="6" idx="1"/>
            </p:cNvCxnSpPr>
            <p:nvPr/>
          </p:nvCxnSpPr>
          <p:spPr>
            <a:xfrm>
              <a:off x="1540566" y="4793638"/>
              <a:ext cx="904460" cy="9282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890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43AD731-8460-4BE7-CCAC-7C50BB72D1F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E7940C7-828B-83F0-AECC-4B2D7EFF884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The frequency of PWM events is controlled by the </a:t>
            </a:r>
            <a:r>
              <a:rPr lang="en-US" sz="2000" b="1" dirty="0">
                <a:latin typeface="+mj-lt"/>
                <a:ea typeface="Arial"/>
                <a:cs typeface="Arial"/>
                <a:sym typeface="Arial"/>
              </a:rPr>
              <a:t>time-base period</a:t>
            </a:r>
            <a:r>
              <a:rPr lang="en-US" sz="2000" dirty="0">
                <a:latin typeface="+mj-lt"/>
                <a:ea typeface="Arial"/>
                <a:cs typeface="Arial"/>
                <a:sym typeface="Arial"/>
              </a:rPr>
              <a:t> (TBPRD) register and the mode of the time-base counter. The time increment for each step is defined by the </a:t>
            </a:r>
            <a:r>
              <a:rPr lang="en-US" sz="2000" b="1" dirty="0">
                <a:latin typeface="+mj-lt"/>
                <a:ea typeface="Arial"/>
                <a:cs typeface="Arial"/>
                <a:sym typeface="Arial"/>
              </a:rPr>
              <a:t>time-base clock </a:t>
            </a:r>
            <a:r>
              <a:rPr lang="en-US" sz="2000" dirty="0">
                <a:latin typeface="+mj-lt"/>
                <a:ea typeface="Arial"/>
                <a:cs typeface="Arial"/>
                <a:sym typeface="Arial"/>
              </a:rPr>
              <a:t>(TBCLK) which is a </a:t>
            </a:r>
            <a:r>
              <a:rPr lang="en-US" sz="2000" dirty="0" err="1">
                <a:latin typeface="+mj-lt"/>
                <a:ea typeface="Arial"/>
                <a:cs typeface="Arial"/>
                <a:sym typeface="Arial"/>
              </a:rPr>
              <a:t>prescaled</a:t>
            </a:r>
            <a:r>
              <a:rPr lang="en-US" sz="2000" dirty="0">
                <a:latin typeface="+mj-lt"/>
                <a:ea typeface="Arial"/>
                <a:cs typeface="Arial"/>
                <a:sym typeface="Arial"/>
              </a:rPr>
              <a:t> version of the </a:t>
            </a:r>
            <a:r>
              <a:rPr lang="en-US" sz="2000" dirty="0" err="1">
                <a:latin typeface="+mj-lt"/>
                <a:ea typeface="Arial"/>
                <a:cs typeface="Arial"/>
                <a:sym typeface="Arial"/>
              </a:rPr>
              <a:t>ePWM</a:t>
            </a:r>
            <a:r>
              <a:rPr lang="en-US" sz="2000" dirty="0">
                <a:latin typeface="+mj-lt"/>
                <a:ea typeface="Arial"/>
                <a:cs typeface="Arial"/>
                <a:sym typeface="Arial"/>
              </a:rPr>
              <a:t> clock (EPWMCLK). </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The time-base counter has </a:t>
            </a:r>
            <a:r>
              <a:rPr lang="en-US" sz="2000" b="1" dirty="0">
                <a:latin typeface="+mj-lt"/>
                <a:ea typeface="Arial"/>
                <a:cs typeface="Arial"/>
                <a:sym typeface="Arial"/>
              </a:rPr>
              <a:t>three modes </a:t>
            </a:r>
            <a:r>
              <a:rPr lang="en-US" sz="2000" dirty="0">
                <a:latin typeface="+mj-lt"/>
                <a:ea typeface="Arial"/>
                <a:cs typeface="Arial"/>
                <a:sym typeface="Arial"/>
              </a:rPr>
              <a:t>of operation selected by the time-base control register (TBCTL):</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Up-Down-Count Mode</a:t>
            </a:r>
            <a:r>
              <a:rPr lang="en-US" sz="2000" dirty="0">
                <a:latin typeface="+mj-lt"/>
                <a:ea typeface="Arial"/>
                <a:cs typeface="Arial"/>
                <a:sym typeface="Arial"/>
              </a:rPr>
              <a:t>: In up-down-count mode, the time-base counter starts from zero and increments until the period (TBPRD) value is reached. When the period value is reached, the time-base counter then decrements until it reaches zero.</a:t>
            </a:r>
          </a:p>
          <a:p>
            <a:pPr marL="342900">
              <a:lnSpc>
                <a:spcPct val="100000"/>
              </a:lnSpc>
              <a:spcBef>
                <a:spcPts val="0"/>
              </a:spcBef>
              <a:buSzPts val="3000"/>
            </a:pPr>
            <a:r>
              <a:rPr lang="en-US" sz="2000" b="1" dirty="0">
                <a:latin typeface="+mj-lt"/>
                <a:ea typeface="Arial"/>
                <a:cs typeface="Arial"/>
                <a:sym typeface="Arial"/>
              </a:rPr>
              <a:t>Up-Count Mode</a:t>
            </a:r>
            <a:r>
              <a:rPr lang="en-US" sz="2000" dirty="0">
                <a:latin typeface="+mj-lt"/>
                <a:ea typeface="Arial"/>
                <a:cs typeface="Arial"/>
                <a:sym typeface="Arial"/>
              </a:rPr>
              <a:t>: In this mode, the time-base counter starts from zero and increments until it reaches the value in the period register (TBPRD).</a:t>
            </a:r>
          </a:p>
          <a:p>
            <a:pPr marL="342900">
              <a:lnSpc>
                <a:spcPct val="100000"/>
              </a:lnSpc>
              <a:spcBef>
                <a:spcPts val="0"/>
              </a:spcBef>
              <a:buSzPts val="3000"/>
            </a:pPr>
            <a:r>
              <a:rPr lang="en-US" sz="2000" b="1" dirty="0">
                <a:latin typeface="+mj-lt"/>
                <a:ea typeface="Arial"/>
                <a:cs typeface="Arial"/>
                <a:sym typeface="Arial"/>
              </a:rPr>
              <a:t>Down-Count Mode</a:t>
            </a:r>
            <a:r>
              <a:rPr lang="en-US" sz="2000" dirty="0">
                <a:latin typeface="+mj-lt"/>
                <a:ea typeface="Arial"/>
                <a:cs typeface="Arial"/>
                <a:sym typeface="Arial"/>
              </a:rPr>
              <a:t>: In down-count mode, the time-base counter starts from the period (TBPRD) value and decrements until it reaches zero.</a:t>
            </a:r>
          </a:p>
        </p:txBody>
      </p:sp>
      <p:sp>
        <p:nvSpPr>
          <p:cNvPr id="119" name="Google Shape;119;p29">
            <a:extLst>
              <a:ext uri="{FF2B5EF4-FFF2-40B4-BE49-F238E27FC236}">
                <a16:creationId xmlns:a16="http://schemas.microsoft.com/office/drawing/2014/main" id="{D49F4985-0811-C950-10A2-937A448C620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FC3FA9F-E34E-032E-E245-E6A4818CB23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B66303B-7A83-4488-1797-956638E6515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281AD94-20F9-68CE-B6B7-625783C256D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76CA26-42FB-99A1-0269-EE3A79BE746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E1594BD-603B-1841-49C1-AEF942A1D6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9992983-3E51-DCE7-90CD-EF3D8EDFE4B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AE9EBD3-167A-2122-D5F4-377C9E3C8FF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6342324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7014037-127E-C7E1-39FA-A142D42E309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2230727-7F25-8ACF-D122-B9C9F9B1326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919CBFB-5E38-76B4-DFDB-77DB6790F3F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Counter mode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7892F1F-5702-AB98-E3DF-062324D04FD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C46E5AF-FEC8-4DA3-440E-22FBFCA510F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B3990F8-BBC2-7953-7B71-FDB097F103F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4E8B332-E27B-3275-DC90-67477DEF13C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70AC4AC-8300-62A9-DCC5-B361B864FC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EEF18A2-5B7A-FD54-10A0-63B6875F82A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03A556D8-4466-897D-7296-E1D7E11452C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86100" y="1034163"/>
            <a:ext cx="6019800" cy="5444378"/>
          </a:xfrm>
          <a:prstGeom prst="rect">
            <a:avLst/>
          </a:prstGeom>
        </p:spPr>
      </p:pic>
      <p:grpSp>
        <p:nvGrpSpPr>
          <p:cNvPr id="20" name="Group 19">
            <a:extLst>
              <a:ext uri="{FF2B5EF4-FFF2-40B4-BE49-F238E27FC236}">
                <a16:creationId xmlns:a16="http://schemas.microsoft.com/office/drawing/2014/main" id="{64509BD5-4FD6-0DC6-3BE4-60A3327D4D97}"/>
              </a:ext>
            </a:extLst>
          </p:cNvPr>
          <p:cNvGrpSpPr/>
          <p:nvPr/>
        </p:nvGrpSpPr>
        <p:grpSpPr>
          <a:xfrm>
            <a:off x="1971676" y="1958885"/>
            <a:ext cx="1704975" cy="369332"/>
            <a:chOff x="1971676" y="1958885"/>
            <a:chExt cx="1704975" cy="369332"/>
          </a:xfrm>
        </p:grpSpPr>
        <p:sp>
          <p:nvSpPr>
            <p:cNvPr id="6" name="TextBox 5">
              <a:extLst>
                <a:ext uri="{FF2B5EF4-FFF2-40B4-BE49-F238E27FC236}">
                  <a16:creationId xmlns:a16="http://schemas.microsoft.com/office/drawing/2014/main" id="{19E3048C-C914-75C9-633E-684BAA439E06}"/>
                </a:ext>
              </a:extLst>
            </p:cNvPr>
            <p:cNvSpPr txBox="1"/>
            <p:nvPr/>
          </p:nvSpPr>
          <p:spPr>
            <a:xfrm>
              <a:off x="1971676" y="1958885"/>
              <a:ext cx="1114424" cy="369332"/>
            </a:xfrm>
            <a:prstGeom prst="rect">
              <a:avLst/>
            </a:prstGeom>
            <a:noFill/>
          </p:spPr>
          <p:txBody>
            <a:bodyPr wrap="square" rtlCol="0">
              <a:spAutoFit/>
            </a:bodyPr>
            <a:lstStyle/>
            <a:p>
              <a:pPr algn="r"/>
              <a:r>
                <a:rPr lang="en-US" sz="1800" dirty="0">
                  <a:solidFill>
                    <a:srgbClr val="FF0000"/>
                  </a:solidFill>
                </a:rPr>
                <a:t>Up count</a:t>
              </a:r>
            </a:p>
          </p:txBody>
        </p:sp>
        <p:cxnSp>
          <p:nvCxnSpPr>
            <p:cNvPr id="10" name="Straight Arrow Connector 9">
              <a:extLst>
                <a:ext uri="{FF2B5EF4-FFF2-40B4-BE49-F238E27FC236}">
                  <a16:creationId xmlns:a16="http://schemas.microsoft.com/office/drawing/2014/main" id="{F05D3BA1-8EB7-410B-2B3C-E81CB938E0FB}"/>
                </a:ext>
              </a:extLst>
            </p:cNvPr>
            <p:cNvCxnSpPr>
              <a:cxnSpLocks/>
              <a:stCxn id="6" idx="3"/>
            </p:cNvCxnSpPr>
            <p:nvPr/>
          </p:nvCxnSpPr>
          <p:spPr>
            <a:xfrm>
              <a:off x="3086100" y="2143551"/>
              <a:ext cx="59055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B595F2BF-0EC1-AE5A-C728-469878C56E76}"/>
              </a:ext>
            </a:extLst>
          </p:cNvPr>
          <p:cNvGrpSpPr/>
          <p:nvPr/>
        </p:nvGrpSpPr>
        <p:grpSpPr>
          <a:xfrm>
            <a:off x="1676401" y="3605433"/>
            <a:ext cx="2000250" cy="369332"/>
            <a:chOff x="1676401" y="3605433"/>
            <a:chExt cx="2000250" cy="369332"/>
          </a:xfrm>
        </p:grpSpPr>
        <p:sp>
          <p:nvSpPr>
            <p:cNvPr id="7" name="TextBox 6">
              <a:extLst>
                <a:ext uri="{FF2B5EF4-FFF2-40B4-BE49-F238E27FC236}">
                  <a16:creationId xmlns:a16="http://schemas.microsoft.com/office/drawing/2014/main" id="{41CFF109-63FD-E274-8427-477D0BEC6A88}"/>
                </a:ext>
              </a:extLst>
            </p:cNvPr>
            <p:cNvSpPr txBox="1"/>
            <p:nvPr/>
          </p:nvSpPr>
          <p:spPr>
            <a:xfrm>
              <a:off x="1676401" y="3605433"/>
              <a:ext cx="1409699" cy="369332"/>
            </a:xfrm>
            <a:prstGeom prst="rect">
              <a:avLst/>
            </a:prstGeom>
            <a:noFill/>
          </p:spPr>
          <p:txBody>
            <a:bodyPr wrap="square" rtlCol="0">
              <a:spAutoFit/>
            </a:bodyPr>
            <a:lstStyle/>
            <a:p>
              <a:pPr algn="r"/>
              <a:r>
                <a:rPr lang="en-US" sz="1800" dirty="0">
                  <a:solidFill>
                    <a:srgbClr val="FF0000"/>
                  </a:solidFill>
                </a:rPr>
                <a:t>Down count</a:t>
              </a:r>
            </a:p>
          </p:txBody>
        </p:sp>
        <p:cxnSp>
          <p:nvCxnSpPr>
            <p:cNvPr id="12" name="Straight Arrow Connector 11">
              <a:extLst>
                <a:ext uri="{FF2B5EF4-FFF2-40B4-BE49-F238E27FC236}">
                  <a16:creationId xmlns:a16="http://schemas.microsoft.com/office/drawing/2014/main" id="{4EF18E37-33E9-9B81-865A-C6EBE15E1E91}"/>
                </a:ext>
              </a:extLst>
            </p:cNvPr>
            <p:cNvCxnSpPr>
              <a:cxnSpLocks/>
              <a:stCxn id="7" idx="3"/>
            </p:cNvCxnSpPr>
            <p:nvPr/>
          </p:nvCxnSpPr>
          <p:spPr>
            <a:xfrm>
              <a:off x="3086100" y="3790099"/>
              <a:ext cx="59055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EC9F98D4-EFE2-8757-4D78-4FE161D14121}"/>
              </a:ext>
            </a:extLst>
          </p:cNvPr>
          <p:cNvGrpSpPr/>
          <p:nvPr/>
        </p:nvGrpSpPr>
        <p:grpSpPr>
          <a:xfrm>
            <a:off x="1304925" y="5251980"/>
            <a:ext cx="2371726" cy="369332"/>
            <a:chOff x="1304925" y="5251980"/>
            <a:chExt cx="2371726" cy="369332"/>
          </a:xfrm>
        </p:grpSpPr>
        <p:sp>
          <p:nvSpPr>
            <p:cNvPr id="8" name="TextBox 7">
              <a:extLst>
                <a:ext uri="{FF2B5EF4-FFF2-40B4-BE49-F238E27FC236}">
                  <a16:creationId xmlns:a16="http://schemas.microsoft.com/office/drawing/2014/main" id="{62BCFB77-E1D8-F216-415F-7FE3E1A9B1F7}"/>
                </a:ext>
              </a:extLst>
            </p:cNvPr>
            <p:cNvSpPr txBox="1"/>
            <p:nvPr/>
          </p:nvSpPr>
          <p:spPr>
            <a:xfrm>
              <a:off x="1304925" y="5251980"/>
              <a:ext cx="1781175" cy="369332"/>
            </a:xfrm>
            <a:prstGeom prst="rect">
              <a:avLst/>
            </a:prstGeom>
            <a:noFill/>
          </p:spPr>
          <p:txBody>
            <a:bodyPr wrap="square" rtlCol="0">
              <a:spAutoFit/>
            </a:bodyPr>
            <a:lstStyle/>
            <a:p>
              <a:pPr algn="r"/>
              <a:r>
                <a:rPr lang="en-US" sz="1800" dirty="0">
                  <a:solidFill>
                    <a:srgbClr val="FF0000"/>
                  </a:solidFill>
                </a:rPr>
                <a:t>Up-down count</a:t>
              </a:r>
            </a:p>
          </p:txBody>
        </p:sp>
        <p:cxnSp>
          <p:nvCxnSpPr>
            <p:cNvPr id="13" name="Straight Arrow Connector 12">
              <a:extLst>
                <a:ext uri="{FF2B5EF4-FFF2-40B4-BE49-F238E27FC236}">
                  <a16:creationId xmlns:a16="http://schemas.microsoft.com/office/drawing/2014/main" id="{C621E986-6A64-CE46-FC8A-6402C05BB95A}"/>
                </a:ext>
              </a:extLst>
            </p:cNvPr>
            <p:cNvCxnSpPr>
              <a:cxnSpLocks/>
              <a:stCxn id="8" idx="3"/>
            </p:cNvCxnSpPr>
            <p:nvPr/>
          </p:nvCxnSpPr>
          <p:spPr>
            <a:xfrm>
              <a:off x="3086100" y="5436646"/>
              <a:ext cx="59055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663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C16B93F-32E1-0B46-269C-6D10470B3AC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C59985F-6B09-5568-542B-A06A8FD84D5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The counter-compare submodule takes as input the time-base counter value. </a:t>
            </a:r>
          </a:p>
          <a:p>
            <a:pPr marL="342900">
              <a:lnSpc>
                <a:spcPct val="100000"/>
              </a:lnSpc>
              <a:spcBef>
                <a:spcPts val="0"/>
              </a:spcBef>
              <a:buSzPts val="3000"/>
            </a:pPr>
            <a:r>
              <a:rPr lang="en-US" sz="2000" dirty="0">
                <a:latin typeface="+mj-lt"/>
                <a:ea typeface="Arial"/>
                <a:cs typeface="Arial"/>
                <a:sym typeface="Arial"/>
              </a:rPr>
              <a:t>This value is continuously compared to the counter-compare A (CMPA) counter-compare B (CMPB) counter-compare C (CMPC) and counter-compare D (CMPD) registers. </a:t>
            </a:r>
          </a:p>
          <a:p>
            <a:pPr marL="342900">
              <a:lnSpc>
                <a:spcPct val="100000"/>
              </a:lnSpc>
              <a:spcBef>
                <a:spcPts val="0"/>
              </a:spcBef>
              <a:buSzPts val="3000"/>
            </a:pPr>
            <a:r>
              <a:rPr lang="en-US" sz="2000" dirty="0">
                <a:latin typeface="+mj-lt"/>
                <a:ea typeface="Arial"/>
                <a:cs typeface="Arial"/>
                <a:sym typeface="Arial"/>
              </a:rPr>
              <a:t>When the time-base counter is </a:t>
            </a:r>
            <a:r>
              <a:rPr lang="en-US" sz="2000" b="1" dirty="0">
                <a:latin typeface="+mj-lt"/>
                <a:ea typeface="Arial"/>
                <a:cs typeface="Arial"/>
                <a:sym typeface="Arial"/>
              </a:rPr>
              <a:t>equal to one of the compare registers</a:t>
            </a:r>
            <a:r>
              <a:rPr lang="en-US" sz="2000" dirty="0">
                <a:latin typeface="+mj-lt"/>
                <a:ea typeface="Arial"/>
                <a:cs typeface="Arial"/>
                <a:sym typeface="Arial"/>
              </a:rPr>
              <a:t>, the counter-compare unit </a:t>
            </a:r>
            <a:r>
              <a:rPr lang="en-US" sz="2000" b="1" dirty="0">
                <a:latin typeface="+mj-lt"/>
                <a:ea typeface="Arial"/>
                <a:cs typeface="Arial"/>
                <a:sym typeface="Arial"/>
              </a:rPr>
              <a:t>generates an appropriate event</a:t>
            </a:r>
            <a:r>
              <a:rPr lang="en-US" sz="2000" dirty="0">
                <a:latin typeface="+mj-lt"/>
                <a:ea typeface="Arial"/>
                <a:cs typeface="Arial"/>
                <a:sym typeface="Arial"/>
              </a:rPr>
              <a:t>.</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p:txBody>
      </p:sp>
      <p:sp>
        <p:nvSpPr>
          <p:cNvPr id="119" name="Google Shape;119;p29">
            <a:extLst>
              <a:ext uri="{FF2B5EF4-FFF2-40B4-BE49-F238E27FC236}">
                <a16:creationId xmlns:a16="http://schemas.microsoft.com/office/drawing/2014/main" id="{8D425834-0751-D364-0803-0FC7239D7EF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5F0BE959-F104-899E-4DFE-A2CF40FAF09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Counter-Compare Submodule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C08605A-EA5B-BE3F-2308-4BBD0C9D12A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6AF0074-889D-576F-2165-246E8778D6F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AF068D0-1AB9-571C-6FBC-A200F89ACA5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328EDC3-D2B3-8C60-0590-4747F455E13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36C259C-165E-D6F6-4045-3140769C982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275F4DF-6E88-C94A-90B8-5E756170290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ECBC909C-E185-23BE-58C2-703E817519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6004" y="3306418"/>
            <a:ext cx="10299992" cy="2789581"/>
          </a:xfrm>
          <a:prstGeom prst="rect">
            <a:avLst/>
          </a:prstGeom>
        </p:spPr>
      </p:pic>
    </p:spTree>
    <p:extLst>
      <p:ext uri="{BB962C8B-B14F-4D97-AF65-F5344CB8AC3E}">
        <p14:creationId xmlns:p14="http://schemas.microsoft.com/office/powerpoint/2010/main" val="3475145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69E6E2-D9FD-3948-6F70-4FBFBEE4787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964AABB-DDFC-656C-E0BE-979B048B10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8E55BCF1-E68E-5E3B-3EA1-DEA2F6E80B3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2F26C17-3F3F-D0A3-BE0F-425F353CC4E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F8B9E9-D7A2-135D-46B4-14BB2D4246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E52CA5-08F4-D48B-A34B-FAD83C37210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AF41409-BF51-C826-620B-AC5557E6300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D7460A5-4613-A09C-A88F-7AD8FC87348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095E86F-6134-C065-6210-5A91FA933A3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88B76D67-908B-5D79-38B0-E6C9A3F699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8191" y="1047229"/>
            <a:ext cx="8387264" cy="5220988"/>
          </a:xfrm>
          <a:prstGeom prst="rect">
            <a:avLst/>
          </a:prstGeom>
        </p:spPr>
      </p:pic>
    </p:spTree>
    <p:extLst>
      <p:ext uri="{BB962C8B-B14F-4D97-AF65-F5344CB8AC3E}">
        <p14:creationId xmlns:p14="http://schemas.microsoft.com/office/powerpoint/2010/main" val="20497214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3A1E7EB-40EC-0DA2-C1E9-541F92509A5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61FAD6-53AE-4A9D-5295-58AB7327FFDA}"/>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From the result of the comparison that get triggered, you can then output a signal to the </a:t>
            </a:r>
            <a:r>
              <a:rPr lang="en-US" sz="2000" dirty="0" err="1">
                <a:latin typeface="+mj-lt"/>
                <a:ea typeface="Arial"/>
                <a:cs typeface="Arial"/>
                <a:sym typeface="Arial"/>
              </a:rPr>
              <a:t>ePWMA</a:t>
            </a:r>
            <a:r>
              <a:rPr lang="en-US" sz="2000" dirty="0">
                <a:latin typeface="+mj-lt"/>
                <a:ea typeface="Arial"/>
                <a:cs typeface="Arial"/>
                <a:sym typeface="Arial"/>
              </a:rPr>
              <a:t> or </a:t>
            </a:r>
            <a:r>
              <a:rPr lang="en-US" sz="2000" dirty="0" err="1">
                <a:latin typeface="+mj-lt"/>
                <a:ea typeface="Arial"/>
                <a:cs typeface="Arial"/>
                <a:sym typeface="Arial"/>
              </a:rPr>
              <a:t>ePWMB</a:t>
            </a:r>
            <a:r>
              <a:rPr lang="en-US" sz="2000" dirty="0">
                <a:latin typeface="+mj-lt"/>
                <a:ea typeface="Arial"/>
                <a:cs typeface="Arial"/>
                <a:sym typeface="Arial"/>
              </a:rPr>
              <a:t> signals</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rPr>
              <a:t>The possible actions imposed on outputs </a:t>
            </a:r>
            <a:r>
              <a:rPr lang="en-US" sz="2000" dirty="0" err="1">
                <a:latin typeface="+mj-lt"/>
              </a:rPr>
              <a:t>EPWMxA</a:t>
            </a:r>
            <a:r>
              <a:rPr lang="en-US" sz="2000" dirty="0">
                <a:latin typeface="+mj-lt"/>
              </a:rPr>
              <a:t> and </a:t>
            </a:r>
            <a:r>
              <a:rPr lang="en-US" sz="2000" dirty="0" err="1">
                <a:latin typeface="+mj-lt"/>
              </a:rPr>
              <a:t>EPWMxB</a:t>
            </a:r>
            <a:r>
              <a:rPr lang="en-US" sz="2000" dirty="0">
                <a:latin typeface="+mj-lt"/>
              </a:rPr>
              <a:t> are:</a:t>
            </a:r>
          </a:p>
          <a:p>
            <a:pPr marL="285750" indent="-285750">
              <a:lnSpc>
                <a:spcPct val="100000"/>
              </a:lnSpc>
              <a:spcBef>
                <a:spcPts val="0"/>
              </a:spcBef>
              <a:buSzPts val="3000"/>
            </a:pPr>
            <a:r>
              <a:rPr lang="en-US" sz="2000" b="1" dirty="0">
                <a:latin typeface="+mj-lt"/>
              </a:rPr>
              <a:t>Set High</a:t>
            </a:r>
            <a:r>
              <a:rPr lang="en-US" sz="2000" dirty="0">
                <a:latin typeface="+mj-lt"/>
              </a:rPr>
              <a:t>: Set output </a:t>
            </a:r>
            <a:r>
              <a:rPr lang="en-US" sz="2000" dirty="0" err="1">
                <a:latin typeface="+mj-lt"/>
              </a:rPr>
              <a:t>EPWMxA</a:t>
            </a:r>
            <a:r>
              <a:rPr lang="en-US" sz="2000" dirty="0">
                <a:latin typeface="+mj-lt"/>
              </a:rPr>
              <a:t> or </a:t>
            </a:r>
            <a:r>
              <a:rPr lang="en-US" sz="2000" dirty="0" err="1">
                <a:latin typeface="+mj-lt"/>
              </a:rPr>
              <a:t>EPWMxB</a:t>
            </a:r>
            <a:r>
              <a:rPr lang="en-US" sz="2000" dirty="0">
                <a:latin typeface="+mj-lt"/>
              </a:rPr>
              <a:t> to a high level. </a:t>
            </a:r>
          </a:p>
          <a:p>
            <a:pPr marL="285750" indent="-285750">
              <a:lnSpc>
                <a:spcPct val="100000"/>
              </a:lnSpc>
              <a:spcBef>
                <a:spcPts val="0"/>
              </a:spcBef>
              <a:buSzPts val="3000"/>
            </a:pPr>
            <a:r>
              <a:rPr lang="en-US" sz="2000" b="1" dirty="0">
                <a:latin typeface="+mj-lt"/>
              </a:rPr>
              <a:t>Clear Low</a:t>
            </a:r>
            <a:r>
              <a:rPr lang="en-US" sz="2000" dirty="0">
                <a:latin typeface="+mj-lt"/>
              </a:rPr>
              <a:t>: Set output </a:t>
            </a:r>
            <a:r>
              <a:rPr lang="en-US" sz="2000" dirty="0" err="1">
                <a:latin typeface="+mj-lt"/>
              </a:rPr>
              <a:t>EPWMxA</a:t>
            </a:r>
            <a:r>
              <a:rPr lang="en-US" sz="2000" dirty="0">
                <a:latin typeface="+mj-lt"/>
              </a:rPr>
              <a:t> or </a:t>
            </a:r>
            <a:r>
              <a:rPr lang="en-US" sz="2000" dirty="0" err="1">
                <a:latin typeface="+mj-lt"/>
              </a:rPr>
              <a:t>EPWMxB</a:t>
            </a:r>
            <a:r>
              <a:rPr lang="en-US" sz="2000" dirty="0">
                <a:latin typeface="+mj-lt"/>
              </a:rPr>
              <a:t> to a low level. </a:t>
            </a:r>
          </a:p>
          <a:p>
            <a:pPr marL="285750" indent="-285750">
              <a:lnSpc>
                <a:spcPct val="100000"/>
              </a:lnSpc>
              <a:spcBef>
                <a:spcPts val="0"/>
              </a:spcBef>
              <a:buSzPts val="3000"/>
            </a:pPr>
            <a:r>
              <a:rPr lang="en-US" sz="2000" b="1" dirty="0">
                <a:latin typeface="+mj-lt"/>
              </a:rPr>
              <a:t>Toggle</a:t>
            </a:r>
            <a:r>
              <a:rPr lang="en-US" sz="2000" dirty="0">
                <a:latin typeface="+mj-lt"/>
              </a:rPr>
              <a:t>: Toggle </a:t>
            </a:r>
            <a:r>
              <a:rPr lang="en-US" sz="2000" dirty="0" err="1">
                <a:latin typeface="+mj-lt"/>
              </a:rPr>
              <a:t>EPWMxA</a:t>
            </a:r>
            <a:r>
              <a:rPr lang="en-US" sz="2000" dirty="0">
                <a:latin typeface="+mj-lt"/>
              </a:rPr>
              <a:t> or </a:t>
            </a:r>
            <a:r>
              <a:rPr lang="en-US" sz="2000" dirty="0" err="1">
                <a:latin typeface="+mj-lt"/>
              </a:rPr>
              <a:t>EPWMxB</a:t>
            </a:r>
            <a:endParaRPr lang="en-US" sz="2000" dirty="0">
              <a:latin typeface="+mj-lt"/>
            </a:endParaRPr>
          </a:p>
          <a:p>
            <a:pPr marL="285750" indent="-285750">
              <a:lnSpc>
                <a:spcPct val="100000"/>
              </a:lnSpc>
              <a:spcBef>
                <a:spcPts val="0"/>
              </a:spcBef>
              <a:buSzPts val="3000"/>
            </a:pPr>
            <a:r>
              <a:rPr lang="en-US" sz="2000" b="1" dirty="0">
                <a:latin typeface="+mj-lt"/>
              </a:rPr>
              <a:t>Do Nothing</a:t>
            </a:r>
            <a:r>
              <a:rPr lang="en-US" sz="2000" dirty="0">
                <a:latin typeface="+mj-lt"/>
              </a:rPr>
              <a:t>.</a:t>
            </a:r>
          </a:p>
          <a:p>
            <a:pPr marL="285750" indent="-28575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Allows you create complex signals.</a:t>
            </a:r>
          </a:p>
        </p:txBody>
      </p:sp>
      <p:sp>
        <p:nvSpPr>
          <p:cNvPr id="119" name="Google Shape;119;p29">
            <a:extLst>
              <a:ext uri="{FF2B5EF4-FFF2-40B4-BE49-F238E27FC236}">
                <a16:creationId xmlns:a16="http://schemas.microsoft.com/office/drawing/2014/main" id="{CA708DFB-8579-F5E4-A287-ED5BBD4C9A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E7DDD26-9000-195A-C551-0DD5BD684ED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Duty cycle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8DAA0D5-8BA9-656B-D656-A0732277466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0DA288B-4530-6543-F748-F425F1C7B7C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F4B6773-6712-3E3C-01BE-7B458E2E686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1AA2B66-4473-55ED-3AA0-F3F256F244A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CFF609D-3D39-7390-ABEA-D0678930805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C3854C5-32D1-A010-5470-3B16AA5403A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5849742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F1F37B4-929A-9F7D-DE3E-F376105A9F8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11F31C4-4483-AD9A-112B-7BC8CFB83B9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C2B9DD1-643E-0EF3-E1CF-99FEA63BA7F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Duty cycle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02F79D1-C0CE-FBF2-4270-2256D95D81E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7E867CC-6418-AC4B-B0A6-E4860FE1738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10DCA8-0D66-9E15-F756-DD69A1BEE3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32B9FF8-4843-405E-8928-EC7663C503F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A8110C0-814D-C4E5-4DE6-6659CA4B28A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FAF4670-2889-02BB-1EEA-945C37AEC58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A0BBE5DC-DAED-8E67-27CF-B97DEEC1AA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79983" y="964419"/>
            <a:ext cx="7832034" cy="5540920"/>
          </a:xfrm>
          <a:prstGeom prst="rect">
            <a:avLst/>
          </a:prstGeom>
        </p:spPr>
      </p:pic>
    </p:spTree>
    <p:extLst>
      <p:ext uri="{BB962C8B-B14F-4D97-AF65-F5344CB8AC3E}">
        <p14:creationId xmlns:p14="http://schemas.microsoft.com/office/powerpoint/2010/main" val="7743497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04C3513-7A07-4ED3-C437-31E2E0632A5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692F4C2-E551-6A98-0705-2880667EFFE9}"/>
                  </a:ext>
                </a:extLst>
              </p:cNvPr>
              <p:cNvSpPr txBox="1">
                <a:spLocks noGrp="1"/>
              </p:cNvSpPr>
              <p:nvPr>
                <p:ph type="body" idx="1"/>
              </p:nvPr>
            </p:nvSpPr>
            <p:spPr>
              <a:xfrm>
                <a:off x="376809" y="1334279"/>
                <a:ext cx="11180700" cy="119774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For the PWM you can set the clock divide to be very small such that your </a:t>
                </a:r>
                <a14:m>
                  <m:oMath xmlns:m="http://schemas.openxmlformats.org/officeDocument/2006/math">
                    <m:sSub>
                      <m:sSubPr>
                        <m:ctrlPr>
                          <a:rPr lang="en-US" sz="2000" i="1" smtClean="0">
                            <a:latin typeface="Cambria Math" panose="02040503050406030204" pitchFamily="18" charset="0"/>
                            <a:cs typeface="Arial"/>
                            <a:sym typeface="Arial"/>
                          </a:rPr>
                        </m:ctrlPr>
                      </m:sSubPr>
                      <m:e>
                        <m:r>
                          <m:rPr>
                            <m:sty m:val="p"/>
                          </m:rPr>
                          <a:rPr lang="en-US" sz="2000" b="0" i="1" smtClean="0">
                            <a:latin typeface="Cambria Math" panose="02040503050406030204" pitchFamily="18" charset="0"/>
                            <a:cs typeface="Arial"/>
                            <a:sym typeface="Arial"/>
                          </a:rPr>
                          <m:t>T</m:t>
                        </m:r>
                      </m:e>
                      <m:sub>
                        <m:r>
                          <m:rPr>
                            <m:sty m:val="p"/>
                          </m:rPr>
                          <a:rPr lang="en-US" sz="2000" b="0" i="1" smtClean="0">
                            <a:latin typeface="Cambria Math" panose="02040503050406030204" pitchFamily="18" charset="0"/>
                            <a:cs typeface="Arial"/>
                            <a:sym typeface="Arial"/>
                          </a:rPr>
                          <m:t>pwm</m:t>
                        </m:r>
                      </m:sub>
                    </m:sSub>
                  </m:oMath>
                </a14:m>
                <a:r>
                  <a:rPr lang="en-US" sz="2000" dirty="0">
                    <a:latin typeface="+mj-lt"/>
                    <a:ea typeface="Arial"/>
                    <a:cs typeface="Arial"/>
                    <a:sym typeface="Arial"/>
                  </a:rPr>
                  <a:t> is very small; however, the problem is that that reduces your duty cycle resolution. As you will run into system clock resolution limitation.</a:t>
                </a:r>
              </a:p>
            </p:txBody>
          </p:sp>
        </mc:Choice>
        <mc:Fallback xmlns="">
          <p:sp>
            <p:nvSpPr>
              <p:cNvPr id="118" name="Google Shape;118;p29">
                <a:extLst>
                  <a:ext uri="{FF2B5EF4-FFF2-40B4-BE49-F238E27FC236}">
                    <a16:creationId xmlns:a16="http://schemas.microsoft.com/office/drawing/2014/main" id="{2692F4C2-E551-6A98-0705-2880667EFFE9}"/>
                  </a:ext>
                </a:extLst>
              </p:cNvPr>
              <p:cNvSpPr txBox="1">
                <a:spLocks noGrp="1" noRot="1" noChangeAspect="1" noMove="1" noResize="1" noEditPoints="1" noAdjustHandles="1" noChangeArrowheads="1" noChangeShapeType="1" noTextEdit="1"/>
              </p:cNvSpPr>
              <p:nvPr>
                <p:ph type="body" idx="1"/>
              </p:nvPr>
            </p:nvSpPr>
            <p:spPr>
              <a:xfrm>
                <a:off x="376809" y="1334279"/>
                <a:ext cx="11180700" cy="1197745"/>
              </a:xfrm>
              <a:prstGeom prst="rect">
                <a:avLst/>
              </a:prstGeom>
              <a:blipFill>
                <a:blip r:embed="rId3"/>
                <a:stretch>
                  <a:fillRect l="-600" t="-306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C06D1B5-4235-411A-109C-51CB4844743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21C42E2-E372-7762-6ADC-DB2A0E19E2F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Duty cycle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402B8120-B57F-9105-3A5D-726012FD070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018EE87-A4AE-3373-E3AD-4BAB39FBCDF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22D359F-FC7A-EAFB-3BDC-6847CBB1E4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C95773B-C114-A1E2-9460-9BE78D80047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61DB772-8AEB-2D8F-AF97-BB7C25A1B47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ECF37B-7E72-5F36-0CBD-3B504F9831F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349DFD70-8BB9-B479-CA1B-F04CF5512BF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86207" y="2532024"/>
            <a:ext cx="7619586" cy="3953947"/>
          </a:xfrm>
          <a:prstGeom prst="rect">
            <a:avLst/>
          </a:prstGeom>
        </p:spPr>
      </p:pic>
    </p:spTree>
    <p:extLst>
      <p:ext uri="{BB962C8B-B14F-4D97-AF65-F5344CB8AC3E}">
        <p14:creationId xmlns:p14="http://schemas.microsoft.com/office/powerpoint/2010/main" val="27532490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5B51B4-94F1-7CE3-D470-D9D788342BB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AEEDF48-6806-F525-5101-F52FCA5F1388}"/>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1300" dirty="0">
                <a:solidFill>
                  <a:srgbClr val="000000"/>
                </a:solidFill>
                <a:latin typeface="Consolas" panose="020B0609020204030204" pitchFamily="49" charset="0"/>
              </a:rPr>
              <a:t>EALLOW;</a:t>
            </a:r>
          </a:p>
          <a:p>
            <a:pPr marL="114300" indent="0" algn="l">
              <a:spcBef>
                <a:spcPts val="0"/>
              </a:spcBef>
              <a:buNone/>
            </a:pPr>
            <a:r>
              <a:rPr lang="en-US" sz="1300" dirty="0">
                <a:solidFill>
                  <a:srgbClr val="3F7F5F"/>
                </a:solidFill>
                <a:latin typeface="Consolas" panose="020B0609020204030204" pitchFamily="49" charset="0"/>
              </a:rPr>
              <a:t>//    TBCTL</a:t>
            </a: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FREE_SOFT</a:t>
            </a:r>
            <a:r>
              <a:rPr lang="en-US" sz="1300" dirty="0">
                <a:solidFill>
                  <a:srgbClr val="000000"/>
                </a:solidFill>
                <a:latin typeface="Consolas" panose="020B0609020204030204" pitchFamily="49" charset="0"/>
              </a:rPr>
              <a:t> = 0x2;  </a:t>
            </a:r>
            <a:r>
              <a:rPr lang="en-US" sz="1300" dirty="0">
                <a:solidFill>
                  <a:srgbClr val="3F7F5F"/>
                </a:solidFill>
                <a:latin typeface="Consolas" panose="020B0609020204030204" pitchFamily="49" charset="0"/>
              </a:rPr>
              <a:t>// Free Soft emulation = Free Run</a:t>
            </a:r>
            <a:endParaRPr lang="en-US" sz="1300" dirty="0">
              <a:solidFill>
                <a:srgbClr val="000000"/>
              </a:solidFill>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CLKDIV</a:t>
            </a:r>
            <a:r>
              <a:rPr lang="en-US" sz="1300" dirty="0">
                <a:solidFill>
                  <a:srgbClr val="000000"/>
                </a:solidFill>
                <a:latin typeface="Consolas" panose="020B0609020204030204" pitchFamily="49" charset="0"/>
              </a:rPr>
              <a:t> = 0;       </a:t>
            </a:r>
            <a:r>
              <a:rPr lang="en-US" sz="1300" dirty="0">
                <a:solidFill>
                  <a:srgbClr val="3F7F5F"/>
                </a:solidFill>
                <a:latin typeface="Consolas" panose="020B0609020204030204" pitchFamily="49" charset="0"/>
              </a:rPr>
              <a:t>// Clock divide = 1</a:t>
            </a:r>
            <a:endParaRPr lang="en-US" sz="1300" dirty="0">
              <a:solidFill>
                <a:srgbClr val="000000"/>
              </a:solidFill>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CTRMODE</a:t>
            </a:r>
            <a:r>
              <a:rPr lang="en-US" sz="1300" dirty="0">
                <a:solidFill>
                  <a:srgbClr val="000000"/>
                </a:solidFill>
                <a:latin typeface="Consolas" panose="020B0609020204030204" pitchFamily="49" charset="0"/>
              </a:rPr>
              <a:t> = 0;      </a:t>
            </a:r>
            <a:r>
              <a:rPr lang="en-US" sz="1300" dirty="0">
                <a:solidFill>
                  <a:srgbClr val="3F7F5F"/>
                </a:solidFill>
                <a:latin typeface="Consolas" panose="020B0609020204030204" pitchFamily="49" charset="0"/>
              </a:rPr>
              <a:t>// Count up Mode</a:t>
            </a:r>
            <a:endParaRPr lang="en-US" sz="1300" dirty="0">
              <a:solidFill>
                <a:srgbClr val="000000"/>
              </a:solidFill>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PHSEN</a:t>
            </a:r>
            <a:r>
              <a:rPr lang="en-US" sz="1300" dirty="0">
                <a:solidFill>
                  <a:srgbClr val="000000"/>
                </a:solidFill>
                <a:latin typeface="Consolas" panose="020B0609020204030204" pitchFamily="49" charset="0"/>
              </a:rPr>
              <a:t> = 0;</a:t>
            </a:r>
            <a:r>
              <a:rPr lang="en-US" sz="1300" dirty="0">
                <a:solidFill>
                  <a:srgbClr val="3F7F5F"/>
                </a:solidFill>
                <a:latin typeface="Consolas" panose="020B0609020204030204" pitchFamily="49" charset="0"/>
              </a:rPr>
              <a:t>        // Do not load time time-base counter from the time-base phase registry</a:t>
            </a:r>
            <a:endParaRPr lang="en-US" sz="1300" dirty="0">
              <a:latin typeface="Consolas" panose="020B0609020204030204" pitchFamily="49" charset="0"/>
            </a:endParaRPr>
          </a:p>
          <a:p>
            <a:pPr algn="l">
              <a:spcBef>
                <a:spcPts val="0"/>
              </a:spcBef>
            </a:pPr>
            <a:endParaRPr lang="en-US" sz="1300" dirty="0">
              <a:latin typeface="Consolas" panose="020B0609020204030204" pitchFamily="49" charset="0"/>
            </a:endParaRPr>
          </a:p>
          <a:p>
            <a:pPr marL="114300" indent="0" algn="l">
              <a:spcBef>
                <a:spcPts val="0"/>
              </a:spcBef>
              <a:buNone/>
            </a:pPr>
            <a:r>
              <a:rPr lang="en-US" sz="1300" dirty="0">
                <a:solidFill>
                  <a:srgbClr val="3F7F5F"/>
                </a:solidFill>
                <a:latin typeface="Consolas" panose="020B0609020204030204" pitchFamily="49" charset="0"/>
              </a:rPr>
              <a:t>//    TBCTR</a:t>
            </a: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TBCTR</a:t>
            </a:r>
            <a:r>
              <a:rPr lang="en-US" sz="1300" dirty="0">
                <a:solidFill>
                  <a:srgbClr val="000000"/>
                </a:solidFill>
                <a:latin typeface="Consolas" panose="020B0609020204030204" pitchFamily="49" charset="0"/>
              </a:rPr>
              <a:t> = 0;                  </a:t>
            </a:r>
            <a:r>
              <a:rPr lang="en-US" sz="1300" dirty="0">
                <a:solidFill>
                  <a:srgbClr val="3F7F5F"/>
                </a:solidFill>
                <a:latin typeface="Consolas" panose="020B0609020204030204" pitchFamily="49" charset="0"/>
              </a:rPr>
              <a:t>// Start Timer at zero</a:t>
            </a:r>
            <a:endParaRPr lang="en-US" sz="1300" dirty="0">
              <a:solidFill>
                <a:srgbClr val="000000"/>
              </a:solidFill>
              <a:latin typeface="Consolas" panose="020B0609020204030204" pitchFamily="49" charset="0"/>
            </a:endParaRPr>
          </a:p>
          <a:p>
            <a:pPr algn="l">
              <a:spcBef>
                <a:spcPts val="0"/>
              </a:spcBef>
            </a:pPr>
            <a:endParaRPr lang="en-US" sz="1300" dirty="0">
              <a:latin typeface="Consolas" panose="020B0609020204030204" pitchFamily="49" charset="0"/>
            </a:endParaRPr>
          </a:p>
          <a:p>
            <a:pPr marL="114300" indent="0" algn="l">
              <a:spcBef>
                <a:spcPts val="0"/>
              </a:spcBef>
              <a:buNone/>
            </a:pPr>
            <a:r>
              <a:rPr lang="en-US" sz="1300" dirty="0">
                <a:solidFill>
                  <a:srgbClr val="3F7F5F"/>
                </a:solidFill>
                <a:latin typeface="Consolas" panose="020B0609020204030204" pitchFamily="49" charset="0"/>
              </a:rPr>
              <a:t>//    TBPRD</a:t>
            </a:r>
          </a:p>
          <a:p>
            <a:pPr marL="114300" indent="0" algn="l">
              <a:spcBef>
                <a:spcPts val="0"/>
              </a:spcBef>
              <a:buNone/>
            </a:pPr>
            <a:r>
              <a:rPr lang="en-US" sz="1300" dirty="0">
                <a:solidFill>
                  <a:srgbClr val="3F7F5F"/>
                </a:solidFill>
                <a:latin typeface="Consolas" panose="020B0609020204030204" pitchFamily="49" charset="0"/>
              </a:rPr>
              <a:t>//    Set period of the PWM to 5kHz (200 us)</a:t>
            </a:r>
          </a:p>
          <a:p>
            <a:pPr marL="114300" indent="0" algn="l">
              <a:spcBef>
                <a:spcPts val="0"/>
              </a:spcBef>
              <a:buNone/>
            </a:pPr>
            <a:r>
              <a:rPr lang="en-US" sz="1300" dirty="0">
                <a:solidFill>
                  <a:srgbClr val="3F7F5F"/>
                </a:solidFill>
                <a:latin typeface="Consolas" panose="020B0609020204030204" pitchFamily="49" charset="0"/>
              </a:rPr>
              <a:t>//    Counter frequency is 50MHz</a:t>
            </a: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TBPRD</a:t>
            </a:r>
            <a:r>
              <a:rPr lang="en-US" sz="1300" dirty="0">
                <a:solidFill>
                  <a:srgbClr val="000000"/>
                </a:solidFill>
                <a:latin typeface="Consolas" panose="020B0609020204030204" pitchFamily="49" charset="0"/>
              </a:rPr>
              <a:t> = 10000;</a:t>
            </a:r>
          </a:p>
          <a:p>
            <a:pPr marL="114300" indent="0" algn="l">
              <a:spcBef>
                <a:spcPts val="0"/>
              </a:spcBef>
              <a:buNone/>
            </a:pPr>
            <a:endParaRPr lang="en-US" sz="1300" dirty="0">
              <a:latin typeface="Consolas" panose="020B0609020204030204" pitchFamily="49" charset="0"/>
            </a:endParaRPr>
          </a:p>
          <a:p>
            <a:pPr marL="114300" indent="0" algn="l">
              <a:spcBef>
                <a:spcPts val="0"/>
              </a:spcBef>
              <a:buNone/>
            </a:pPr>
            <a:r>
              <a:rPr lang="en-US" sz="1300" dirty="0">
                <a:solidFill>
                  <a:srgbClr val="3F7F5F"/>
                </a:solidFill>
                <a:latin typeface="Consolas" panose="020B0609020204030204" pitchFamily="49" charset="0"/>
              </a:rPr>
              <a:t>//    CMPA</a:t>
            </a: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CMPA</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CMPA</a:t>
            </a:r>
            <a:r>
              <a:rPr lang="en-US" sz="1300" dirty="0">
                <a:solidFill>
                  <a:srgbClr val="000000"/>
                </a:solidFill>
                <a:latin typeface="Consolas" panose="020B0609020204030204" pitchFamily="49" charset="0"/>
              </a:rPr>
              <a:t> = 5000;       </a:t>
            </a:r>
            <a:r>
              <a:rPr lang="en-US" sz="1300" dirty="0">
                <a:solidFill>
                  <a:srgbClr val="3F7F5F"/>
                </a:solidFill>
                <a:latin typeface="Consolas" panose="020B0609020204030204" pitchFamily="49" charset="0"/>
              </a:rPr>
              <a:t>// Duty cycle at 50%, TBPRD / 2</a:t>
            </a:r>
            <a:endParaRPr lang="en-US" sz="1300" dirty="0">
              <a:solidFill>
                <a:srgbClr val="000000"/>
              </a:solidFill>
              <a:latin typeface="Consolas" panose="020B0609020204030204" pitchFamily="49" charset="0"/>
            </a:endParaRPr>
          </a:p>
          <a:p>
            <a:pPr marL="114300" indent="0" algn="l">
              <a:spcBef>
                <a:spcPts val="0"/>
              </a:spcBef>
              <a:buNone/>
            </a:pPr>
            <a:endParaRPr lang="en-US" sz="1300" dirty="0">
              <a:latin typeface="Consolas" panose="020B0609020204030204" pitchFamily="49" charset="0"/>
            </a:endParaRP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AQCTLA</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CAU</a:t>
            </a:r>
            <a:r>
              <a:rPr lang="en-US" sz="1300" dirty="0">
                <a:solidFill>
                  <a:srgbClr val="000000"/>
                </a:solidFill>
                <a:latin typeface="Consolas" panose="020B0609020204030204" pitchFamily="49" charset="0"/>
              </a:rPr>
              <a:t> = 0x1;       </a:t>
            </a:r>
            <a:r>
              <a:rPr lang="en-US" sz="1300" dirty="0">
                <a:solidFill>
                  <a:srgbClr val="3F7F5F"/>
                </a:solidFill>
                <a:latin typeface="Consolas" panose="020B0609020204030204" pitchFamily="49" charset="0"/>
              </a:rPr>
              <a:t>// PWM12A output pin is set low when CMPA is reached</a:t>
            </a: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AQCTLA</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ZRO </a:t>
            </a:r>
            <a:r>
              <a:rPr lang="en-US" sz="1300" dirty="0">
                <a:solidFill>
                  <a:srgbClr val="000000"/>
                </a:solidFill>
                <a:latin typeface="Consolas" panose="020B0609020204030204" pitchFamily="49" charset="0"/>
              </a:rPr>
              <a:t>= 0x2;       </a:t>
            </a:r>
            <a:r>
              <a:rPr lang="en-US" sz="1300" dirty="0">
                <a:solidFill>
                  <a:srgbClr val="3F7F5F"/>
                </a:solidFill>
                <a:latin typeface="Consolas" panose="020B0609020204030204" pitchFamily="49" charset="0"/>
              </a:rPr>
              <a:t>// the pin be set high when the TBCTR register is zero</a:t>
            </a:r>
          </a:p>
          <a:p>
            <a:pPr marL="114300" indent="0" algn="l">
              <a:spcBef>
                <a:spcPts val="0"/>
              </a:spcBef>
              <a:buNone/>
            </a:pPr>
            <a:endParaRPr lang="en-US" sz="1300" dirty="0">
              <a:latin typeface="Consolas" panose="020B0609020204030204" pitchFamily="49" charset="0"/>
            </a:endParaRP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TBPHS</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TBPHS</a:t>
            </a:r>
            <a:r>
              <a:rPr lang="en-US" sz="1300" dirty="0">
                <a:solidFill>
                  <a:srgbClr val="000000"/>
                </a:solidFill>
                <a:latin typeface="Consolas" panose="020B0609020204030204" pitchFamily="49" charset="0"/>
              </a:rPr>
              <a:t> = 0;</a:t>
            </a:r>
          </a:p>
          <a:p>
            <a:pPr marL="114300" indent="0">
              <a:spcBef>
                <a:spcPts val="0"/>
              </a:spcBef>
              <a:buNone/>
            </a:pPr>
            <a:r>
              <a:rPr lang="en-US" sz="1300" dirty="0">
                <a:solidFill>
                  <a:srgbClr val="000000"/>
                </a:solidFill>
                <a:latin typeface="Consolas" panose="020B0609020204030204" pitchFamily="49" charset="0"/>
              </a:rPr>
              <a:t>EDIS;</a:t>
            </a:r>
          </a:p>
          <a:p>
            <a:pPr marL="114300" indent="0">
              <a:spcBef>
                <a:spcPts val="0"/>
              </a:spcBef>
              <a:buNone/>
            </a:pPr>
            <a:endParaRPr lang="en-US" sz="1300" dirty="0">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GpioCtrlRegs.</a:t>
            </a:r>
            <a:r>
              <a:rPr lang="en-US" sz="1300" dirty="0">
                <a:solidFill>
                  <a:srgbClr val="0000C0"/>
                </a:solidFill>
                <a:latin typeface="Consolas" panose="020B0609020204030204" pitchFamily="49" charset="0"/>
              </a:rPr>
              <a:t>GPAPUD</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GPIO22</a:t>
            </a:r>
            <a:r>
              <a:rPr lang="en-US" sz="1300" dirty="0">
                <a:solidFill>
                  <a:srgbClr val="000000"/>
                </a:solidFill>
                <a:latin typeface="Consolas" panose="020B0609020204030204" pitchFamily="49" charset="0"/>
              </a:rPr>
              <a:t> = 1; </a:t>
            </a:r>
            <a:r>
              <a:rPr lang="en-US" sz="1300" dirty="0">
                <a:solidFill>
                  <a:srgbClr val="3F7F5F"/>
                </a:solidFill>
                <a:latin typeface="Consolas" panose="020B0609020204030204" pitchFamily="49" charset="0"/>
              </a:rPr>
              <a:t>// For EPW12A</a:t>
            </a:r>
          </a:p>
        </p:txBody>
      </p:sp>
      <p:sp>
        <p:nvSpPr>
          <p:cNvPr id="119" name="Google Shape;119;p29">
            <a:extLst>
              <a:ext uri="{FF2B5EF4-FFF2-40B4-BE49-F238E27FC236}">
                <a16:creationId xmlns:a16="http://schemas.microsoft.com/office/drawing/2014/main" id="{567BF4AF-E607-3605-2970-F4CADE05C9E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813BDBB-4021-8F16-627A-D8F33057C6F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Duty cycle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065594C-5525-2AC4-E887-BD896B67EA7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2B30A72-7B45-854B-703A-AE4CC4F0D1C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8C6FAFA-299A-7A66-85E1-5DDCA6D4884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94086DE-F2FA-68F3-C4E9-5F05E920704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AF8A9ED-A71A-AC3F-534F-F4E491F592A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E3DE58-07A1-82AD-804A-A1B70E1D9C7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6371773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B029CD7-833A-F916-A1E1-890A9DBC72F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0B207E8-8504-0BCB-840F-B7D475093F8F}"/>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TBPRD</a:t>
            </a:r>
            <a:r>
              <a:rPr lang="en-US" sz="2000" dirty="0">
                <a:solidFill>
                  <a:srgbClr val="000000"/>
                </a:solidFill>
                <a:latin typeface="Consolas" panose="020B0609020204030204" pitchFamily="49" charset="0"/>
              </a:rPr>
              <a:t> = 10000;</a:t>
            </a: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 = 5000;</a:t>
            </a:r>
          </a:p>
          <a:p>
            <a:pPr marL="114300" indent="0">
              <a:spcBef>
                <a:spcPts val="0"/>
              </a:spcBef>
              <a:buNone/>
            </a:pPr>
            <a:endParaRPr lang="en-US" sz="2000" dirty="0">
              <a:solidFill>
                <a:srgbClr val="000000"/>
              </a:solidFill>
              <a:latin typeface="Consolas" panose="020B0609020204030204" pitchFamily="49" charset="0"/>
            </a:endParaRPr>
          </a:p>
          <a:p>
            <a:pPr marL="114300" indent="0">
              <a:spcBef>
                <a:spcPts val="0"/>
              </a:spcBef>
              <a:buNone/>
            </a:pPr>
            <a:r>
              <a:rPr lang="en-US" sz="2000" dirty="0">
                <a:solidFill>
                  <a:srgbClr val="000000"/>
                </a:solidFill>
                <a:latin typeface="+mj-lt"/>
              </a:rPr>
              <a:t>What is the duty cycle?</a:t>
            </a:r>
          </a:p>
          <a:p>
            <a:pPr marL="114300" indent="0">
              <a:spcBef>
                <a:spcPts val="0"/>
              </a:spcBef>
              <a:buNone/>
            </a:pPr>
            <a:r>
              <a:rPr lang="en-US" sz="2000" dirty="0">
                <a:solidFill>
                  <a:srgbClr val="000000"/>
                </a:solidFill>
                <a:latin typeface="+mj-lt"/>
              </a:rPr>
              <a:t>50%</a:t>
            </a:r>
          </a:p>
          <a:p>
            <a:pPr marL="114300" indent="0">
              <a:spcBef>
                <a:spcPts val="0"/>
              </a:spcBef>
              <a:buNone/>
            </a:pPr>
            <a:endParaRPr lang="en-US" sz="2000" dirty="0">
              <a:solidFill>
                <a:srgbClr val="000000"/>
              </a:solidFill>
              <a:latin typeface="+mj-lt"/>
            </a:endParaRP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TBPRD</a:t>
            </a:r>
            <a:r>
              <a:rPr lang="en-US" sz="2000" dirty="0">
                <a:solidFill>
                  <a:srgbClr val="000000"/>
                </a:solidFill>
                <a:latin typeface="Consolas" panose="020B0609020204030204" pitchFamily="49" charset="0"/>
              </a:rPr>
              <a:t> = 10000;</a:t>
            </a: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 = 2500;</a:t>
            </a:r>
          </a:p>
          <a:p>
            <a:pPr marL="114300" indent="0">
              <a:spcBef>
                <a:spcPts val="0"/>
              </a:spcBef>
              <a:buNone/>
            </a:pPr>
            <a:endParaRPr lang="en-US" sz="2000" dirty="0">
              <a:solidFill>
                <a:srgbClr val="000000"/>
              </a:solidFill>
              <a:latin typeface="Consolas" panose="020B0609020204030204" pitchFamily="49" charset="0"/>
            </a:endParaRPr>
          </a:p>
          <a:p>
            <a:pPr marL="114300" indent="0">
              <a:spcBef>
                <a:spcPts val="0"/>
              </a:spcBef>
              <a:buNone/>
            </a:pPr>
            <a:r>
              <a:rPr lang="en-US" sz="2000" dirty="0">
                <a:solidFill>
                  <a:srgbClr val="000000"/>
                </a:solidFill>
              </a:rPr>
              <a:t>What is the duty cycle?</a:t>
            </a:r>
          </a:p>
          <a:p>
            <a:pPr marL="114300" indent="0">
              <a:spcBef>
                <a:spcPts val="0"/>
              </a:spcBef>
              <a:buNone/>
            </a:pPr>
            <a:r>
              <a:rPr lang="en-US" sz="2000" dirty="0">
                <a:solidFill>
                  <a:srgbClr val="000000"/>
                </a:solidFill>
              </a:rPr>
              <a:t>25%</a:t>
            </a:r>
          </a:p>
          <a:p>
            <a:pPr marL="114300" indent="0">
              <a:spcBef>
                <a:spcPts val="0"/>
              </a:spcBef>
              <a:buNone/>
            </a:pPr>
            <a:endParaRPr lang="en-US" sz="2000" dirty="0">
              <a:solidFill>
                <a:srgbClr val="000000"/>
              </a:solidFill>
              <a:latin typeface="+mj-lt"/>
            </a:endParaRP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TBPRD</a:t>
            </a:r>
            <a:r>
              <a:rPr lang="en-US" sz="2000" dirty="0">
                <a:solidFill>
                  <a:srgbClr val="000000"/>
                </a:solidFill>
                <a:latin typeface="Consolas" panose="020B0609020204030204" pitchFamily="49" charset="0"/>
              </a:rPr>
              <a:t> = 10000;</a:t>
            </a: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 = 7500;</a:t>
            </a:r>
          </a:p>
          <a:p>
            <a:pPr marL="114300" indent="0">
              <a:spcBef>
                <a:spcPts val="0"/>
              </a:spcBef>
              <a:buNone/>
            </a:pPr>
            <a:endParaRPr lang="en-US" sz="2000" dirty="0">
              <a:solidFill>
                <a:srgbClr val="000000"/>
              </a:solidFill>
              <a:latin typeface="Consolas" panose="020B0609020204030204" pitchFamily="49" charset="0"/>
            </a:endParaRPr>
          </a:p>
          <a:p>
            <a:pPr marL="114300" indent="0">
              <a:spcBef>
                <a:spcPts val="0"/>
              </a:spcBef>
              <a:buNone/>
            </a:pPr>
            <a:r>
              <a:rPr lang="en-US" sz="2000" dirty="0">
                <a:solidFill>
                  <a:srgbClr val="000000"/>
                </a:solidFill>
              </a:rPr>
              <a:t>What is the duty cycle?</a:t>
            </a:r>
          </a:p>
          <a:p>
            <a:pPr marL="114300" indent="0">
              <a:spcBef>
                <a:spcPts val="0"/>
              </a:spcBef>
              <a:buNone/>
            </a:pPr>
            <a:r>
              <a:rPr lang="en-US" sz="2000" dirty="0">
                <a:solidFill>
                  <a:srgbClr val="000000"/>
                </a:solidFill>
                <a:latin typeface="+mj-lt"/>
              </a:rPr>
              <a:t>75%</a:t>
            </a:r>
          </a:p>
        </p:txBody>
      </p:sp>
      <p:sp>
        <p:nvSpPr>
          <p:cNvPr id="119" name="Google Shape;119;p29">
            <a:extLst>
              <a:ext uri="{FF2B5EF4-FFF2-40B4-BE49-F238E27FC236}">
                <a16:creationId xmlns:a16="http://schemas.microsoft.com/office/drawing/2014/main" id="{DEE06BB0-6A01-8BEB-7938-C8106543713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0E25243-AB29-0D3F-03BD-8C3E91797A23}"/>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Duty cycle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50DE565-ABE6-9F2F-F4E1-60BCFBA9429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BDCB295-1799-E096-5FE3-105AFCF5B0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B649416-DD30-571B-523F-6BC7C87F2B0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5C1AFA0-FF66-A41C-11DD-937D439FA37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A11F553-F054-1EB2-68DE-11F9F8F998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5D4E64-C1CD-E906-4D5F-C7BFD5238DA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2367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80EB603-E9FC-E569-7874-7FA8934C2CA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F296C24-8E92-1EE7-C8E0-47D0870C2FAA}"/>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2000" dirty="0">
                <a:solidFill>
                  <a:srgbClr val="000000"/>
                </a:solidFill>
                <a:latin typeface="+mj-lt"/>
              </a:rPr>
              <a:t>It is also possible to use </a:t>
            </a:r>
            <a:r>
              <a:rPr lang="en-US" sz="2000" dirty="0">
                <a:solidFill>
                  <a:srgbClr val="000000"/>
                </a:solidFill>
                <a:latin typeface="+mj-lt"/>
                <a:hlinkClick r:id="rId3"/>
              </a:rPr>
              <a:t>PWM as a DAC</a:t>
            </a:r>
            <a:r>
              <a:rPr lang="en-US" sz="2000" dirty="0">
                <a:solidFill>
                  <a:srgbClr val="000000"/>
                </a:solidFill>
                <a:latin typeface="+mj-lt"/>
              </a:rPr>
              <a:t>! By selecting the proper duty cycle, any DAC output voltage can be obtained. You need to remove the high-frequency signals to make this work.</a:t>
            </a:r>
          </a:p>
        </p:txBody>
      </p:sp>
      <p:sp>
        <p:nvSpPr>
          <p:cNvPr id="119" name="Google Shape;119;p29">
            <a:extLst>
              <a:ext uri="{FF2B5EF4-FFF2-40B4-BE49-F238E27FC236}">
                <a16:creationId xmlns:a16="http://schemas.microsoft.com/office/drawing/2014/main" id="{0F089480-8423-2313-691B-E77D2732FD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0B96991-3B55-11BD-E359-9AEA2599AFC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PWM – DAC</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F68CC2D-C782-D55D-FB20-EB77DB26053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F26D325-0DE8-3364-7B0B-E852F43D28B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4D10DD2-CDB1-884C-67F3-83B7B6395AB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E25C152-3656-745D-C170-B2C33216797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9B681E8-2BFF-473D-C4C2-2FC00B9005C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611860B-405D-4D0F-EA7B-D70046E55C0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B311D077-57BE-37D8-69C6-449D6D89B9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674" y="1971326"/>
            <a:ext cx="5164651" cy="4520679"/>
          </a:xfrm>
          <a:prstGeom prst="rect">
            <a:avLst/>
          </a:prstGeom>
        </p:spPr>
      </p:pic>
    </p:spTree>
    <p:extLst>
      <p:ext uri="{BB962C8B-B14F-4D97-AF65-F5344CB8AC3E}">
        <p14:creationId xmlns:p14="http://schemas.microsoft.com/office/powerpoint/2010/main" val="32067030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4C4B4BD-BC13-486F-19A8-F3493F5DD16A}"/>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8218F5CE-E75D-5809-6030-CA4C28BC295E}"/>
              </a:ext>
            </a:extLst>
          </p:cNvPr>
          <p:cNvSpPr txBox="1"/>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dirty="0">
                <a:solidFill>
                  <a:srgbClr val="15264B"/>
                </a:solidFill>
              </a:rPr>
              <a:t>Motor / Servo</a:t>
            </a:r>
            <a:endParaRPr dirty="0"/>
          </a:p>
        </p:txBody>
      </p:sp>
      <p:grpSp>
        <p:nvGrpSpPr>
          <p:cNvPr id="105" name="Google Shape;105;p28">
            <a:extLst>
              <a:ext uri="{FF2B5EF4-FFF2-40B4-BE49-F238E27FC236}">
                <a16:creationId xmlns:a16="http://schemas.microsoft.com/office/drawing/2014/main" id="{C78E6D37-677F-7C64-EC93-A076876D1F82}"/>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22D53AB6-8236-6CB2-147A-5A8638BB0B24}"/>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552AD31A-6AC4-FD60-E457-B4AEC430662D}"/>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9E3BF96B-A1D8-72F1-7A73-3FB0202FD166}"/>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3415D65C-2DE8-AA57-493E-939CAE8BEA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73E1E196-43C4-70E3-FBCF-AFA96DDC30F4}"/>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7DDFF747-3124-B877-462B-7DF5F12BFCD4}"/>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0C249A8D-6F9B-EACC-CC26-29CF4558B1A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A384A7E9-84F6-1C98-8091-47044CD6A2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1135867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1DB3904-53B6-A057-A94C-B70AD888A3E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1722FD8-1E74-BAA5-360D-7922818A81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AC7305F-A062-345E-EF36-A5A901714EA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H-Bridge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48058E9-B293-7ED7-2CD9-3E7DCFB3AC5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CB4FB1-E7B5-7423-44B4-06A3DD82AD3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7CDD3B-0912-10CE-65FB-F45EA6BC61B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786620-E113-B3C1-0EC7-AD3497E76BD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C60912-3390-7342-1535-DFB33828E26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5BAE1E-C3E7-7061-A392-F765084B193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Online Media 3" title="What is an H-Bridge?">
            <a:hlinkClick r:id="" action="ppaction://media"/>
            <a:extLst>
              <a:ext uri="{FF2B5EF4-FFF2-40B4-BE49-F238E27FC236}">
                <a16:creationId xmlns:a16="http://schemas.microsoft.com/office/drawing/2014/main" id="{2283BB6C-EEB9-C0EF-0D51-DB021C0321B2}"/>
              </a:ext>
            </a:extLst>
          </p:cNvPr>
          <p:cNvPicPr>
            <a:picLocks noRot="1" noChangeAspect="1"/>
          </p:cNvPicPr>
          <p:nvPr>
            <a:videoFile r:link="rId1"/>
          </p:nvPr>
        </p:nvPicPr>
        <p:blipFill>
          <a:blip r:embed="rId5"/>
          <a:stretch>
            <a:fillRect/>
          </a:stretch>
        </p:blipFill>
        <p:spPr>
          <a:xfrm>
            <a:off x="1210300" y="955418"/>
            <a:ext cx="9771399" cy="5520854"/>
          </a:xfrm>
          <a:prstGeom prst="rect">
            <a:avLst/>
          </a:prstGeom>
        </p:spPr>
      </p:pic>
    </p:spTree>
    <p:extLst>
      <p:ext uri="{BB962C8B-B14F-4D97-AF65-F5344CB8AC3E}">
        <p14:creationId xmlns:p14="http://schemas.microsoft.com/office/powerpoint/2010/main" val="427218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1DB3904-53B6-A057-A94C-B70AD888A3E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1722FD8-1E74-BAA5-360D-7922818A81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AC7305F-A062-345E-EF36-A5A901714EA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H-Bridge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48058E9-B293-7ED7-2CD9-3E7DCFB3AC5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CB4FB1-E7B5-7423-44B4-06A3DD82AD3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7CDD3B-0912-10CE-65FB-F45EA6BC61B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786620-E113-B3C1-0EC7-AD3497E76BD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C60912-3390-7342-1535-DFB33828E26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5BAE1E-C3E7-7061-A392-F765084B193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A8D493C8-78BB-6C74-25B0-AD0D972D06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9044" y="920173"/>
            <a:ext cx="8613913" cy="5337928"/>
          </a:xfrm>
          <a:prstGeom prst="rect">
            <a:avLst/>
          </a:prstGeom>
        </p:spPr>
      </p:pic>
    </p:spTree>
    <p:extLst>
      <p:ext uri="{BB962C8B-B14F-4D97-AF65-F5344CB8AC3E}">
        <p14:creationId xmlns:p14="http://schemas.microsoft.com/office/powerpoint/2010/main" val="14719564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C65FD4A-AB22-34F5-C68C-603FE0549C5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DB2F1DD-4C9E-1250-AF87-372ABF3C9CF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RC Servos are position-controlled devices (not continuous rotation) controlled by a specific PWM protocol.</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2-types of servo motor,</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Closed loop</a:t>
            </a:r>
            <a:r>
              <a:rPr lang="en-US" sz="2000" dirty="0">
                <a:latin typeface="+mj-lt"/>
                <a:ea typeface="Arial"/>
                <a:cs typeface="Arial"/>
                <a:sym typeface="Arial"/>
              </a:rPr>
              <a:t>: physically limited to 0-180 degrees (usually) rotation (with an internal pin)</a:t>
            </a:r>
          </a:p>
          <a:p>
            <a:pPr marL="342900">
              <a:lnSpc>
                <a:spcPct val="100000"/>
              </a:lnSpc>
              <a:spcBef>
                <a:spcPts val="0"/>
              </a:spcBef>
              <a:buSzPts val="3000"/>
            </a:pPr>
            <a:r>
              <a:rPr lang="en-US" sz="2000" b="1" dirty="0">
                <a:latin typeface="+mj-lt"/>
                <a:ea typeface="Arial"/>
                <a:cs typeface="Arial"/>
                <a:sym typeface="Arial"/>
              </a:rPr>
              <a:t>Open loop</a:t>
            </a:r>
            <a:r>
              <a:rPr lang="en-US" sz="2000" dirty="0">
                <a:latin typeface="+mj-lt"/>
                <a:ea typeface="Arial"/>
                <a:cs typeface="Arial"/>
                <a:sym typeface="Arial"/>
              </a:rPr>
              <a:t>: can do a full 360-degree rotation.</a:t>
            </a:r>
          </a:p>
          <a:p>
            <a:pPr marL="342900">
              <a:lnSpc>
                <a:spcPct val="100000"/>
              </a:lnSpc>
              <a:spcBef>
                <a:spcPts val="0"/>
              </a:spcBef>
              <a:buSzPts val="3000"/>
            </a:pPr>
            <a:endParaRPr lang="en-US" sz="2000" dirty="0">
              <a:latin typeface="+mj-lt"/>
              <a:ea typeface="Arial"/>
              <a:cs typeface="Arial"/>
              <a:sym typeface="Arial"/>
            </a:endParaRPr>
          </a:p>
          <a:p>
            <a:pPr marL="34290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3 wires:</a:t>
            </a:r>
          </a:p>
          <a:p>
            <a:pPr marL="0" indent="0">
              <a:lnSpc>
                <a:spcPct val="100000"/>
              </a:lnSpc>
              <a:spcBef>
                <a:spcPts val="0"/>
              </a:spcBef>
              <a:buSzPts val="3000"/>
              <a:buNone/>
            </a:pP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Power </a:t>
            </a:r>
          </a:p>
          <a:p>
            <a:pPr marL="342900">
              <a:lnSpc>
                <a:spcPct val="100000"/>
              </a:lnSpc>
              <a:spcBef>
                <a:spcPts val="0"/>
              </a:spcBef>
              <a:buSzPts val="3000"/>
            </a:pPr>
            <a:r>
              <a:rPr lang="en-US" sz="2000" b="1" dirty="0">
                <a:latin typeface="+mj-lt"/>
                <a:ea typeface="Arial"/>
                <a:cs typeface="Arial"/>
                <a:sym typeface="Arial"/>
              </a:rPr>
              <a:t>GND</a:t>
            </a:r>
          </a:p>
          <a:p>
            <a:pPr marL="342900">
              <a:lnSpc>
                <a:spcPct val="100000"/>
              </a:lnSpc>
              <a:spcBef>
                <a:spcPts val="0"/>
              </a:spcBef>
              <a:buSzPts val="3000"/>
            </a:pPr>
            <a:r>
              <a:rPr lang="en-US" sz="2000" b="1" dirty="0">
                <a:latin typeface="+mj-lt"/>
                <a:ea typeface="Arial"/>
                <a:cs typeface="Arial"/>
                <a:sym typeface="Arial"/>
              </a:rPr>
              <a:t>Control</a:t>
            </a:r>
            <a:r>
              <a:rPr lang="en-US" sz="2000" dirty="0">
                <a:latin typeface="+mj-lt"/>
                <a:ea typeface="Arial"/>
                <a:cs typeface="Arial"/>
                <a:sym typeface="Arial"/>
              </a:rPr>
              <a:t>: where the PWM signal is injected</a:t>
            </a:r>
          </a:p>
        </p:txBody>
      </p:sp>
      <p:sp>
        <p:nvSpPr>
          <p:cNvPr id="119" name="Google Shape;119;p29">
            <a:extLst>
              <a:ext uri="{FF2B5EF4-FFF2-40B4-BE49-F238E27FC236}">
                <a16:creationId xmlns:a16="http://schemas.microsoft.com/office/drawing/2014/main" id="{0CA5310E-102A-9237-8DFB-6EBA2FF0440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8F7168A5-F318-FEC4-7CB9-53D5E67DAB1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RC Servo</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12F31B8-8C03-A34B-42D4-2A2476AF6BC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0526C5E-63A2-642D-CC4D-F70DCAA7490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2BF78A-C7F2-1CAE-1CE4-09F46D01C9B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97989B1-03DC-9F52-4C46-EF885345DC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7BA7C37-1161-C38C-12E3-358A3A921EB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93374F1-C64D-4C37-E5B7-1ABE5D85986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1027" name="Picture 3">
            <a:extLst>
              <a:ext uri="{FF2B5EF4-FFF2-40B4-BE49-F238E27FC236}">
                <a16:creationId xmlns:a16="http://schemas.microsoft.com/office/drawing/2014/main" id="{DE56D442-8AB1-0A5A-E71E-372294321C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8298" y="3380238"/>
            <a:ext cx="3114257" cy="28132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AF00EA5-0C76-F619-1B8A-DBE509602D74}"/>
              </a:ext>
            </a:extLst>
          </p:cNvPr>
          <p:cNvSpPr txBox="1"/>
          <p:nvPr/>
        </p:nvSpPr>
        <p:spPr>
          <a:xfrm>
            <a:off x="8318991" y="6135883"/>
            <a:ext cx="2252870" cy="261610"/>
          </a:xfrm>
          <a:prstGeom prst="rect">
            <a:avLst/>
          </a:prstGeom>
          <a:noFill/>
        </p:spPr>
        <p:txBody>
          <a:bodyPr wrap="square">
            <a:spAutoFit/>
          </a:bodyPr>
          <a:lstStyle/>
          <a:p>
            <a:pPr algn="ctr"/>
            <a:r>
              <a:rPr lang="en-US" sz="1100" dirty="0">
                <a:hlinkClick r:id="rId5"/>
              </a:rPr>
              <a:t>https://www.sparkfun.com/servos</a:t>
            </a:r>
            <a:r>
              <a:rPr lang="en-US" sz="1100" dirty="0"/>
              <a:t> </a:t>
            </a:r>
          </a:p>
        </p:txBody>
      </p:sp>
    </p:spTree>
    <p:extLst>
      <p:ext uri="{BB962C8B-B14F-4D97-AF65-F5344CB8AC3E}">
        <p14:creationId xmlns:p14="http://schemas.microsoft.com/office/powerpoint/2010/main" val="13812277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3AF6751-7416-7499-5388-EF8FB99D9F1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D68FE96-04EB-D46E-AFF0-F80FAC263BF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dirty="0">
                <a:latin typeface="+mj-lt"/>
                <a:ea typeface="Arial"/>
                <a:cs typeface="Arial"/>
                <a:sym typeface="Arial"/>
              </a:rPr>
              <a:t>Maps PWM to desired orientation. For specific servo check the datasheet for:</a:t>
            </a:r>
          </a:p>
          <a:p>
            <a:pPr marL="0" lvl="0" indent="0" algn="l" rtl="0">
              <a:lnSpc>
                <a:spcPct val="100000"/>
              </a:lnSpc>
              <a:spcBef>
                <a:spcPts val="0"/>
              </a:spcBef>
              <a:spcAft>
                <a:spcPts val="0"/>
              </a:spcAft>
              <a:buSzPts val="3000"/>
              <a:buNone/>
            </a:pPr>
            <a:endParaRPr lang="en-US" dirty="0">
              <a:latin typeface="+mj-lt"/>
              <a:ea typeface="Arial"/>
              <a:cs typeface="Arial"/>
              <a:sym typeface="Arial"/>
            </a:endParaRPr>
          </a:p>
          <a:p>
            <a:pPr marL="342900">
              <a:lnSpc>
                <a:spcPct val="100000"/>
              </a:lnSpc>
              <a:spcBef>
                <a:spcPts val="0"/>
              </a:spcBef>
              <a:buSzPts val="3000"/>
            </a:pPr>
            <a:r>
              <a:rPr lang="en-US" dirty="0">
                <a:latin typeface="+mj-lt"/>
                <a:ea typeface="Arial"/>
                <a:cs typeface="Arial"/>
                <a:sym typeface="Arial"/>
              </a:rPr>
              <a:t>For the specific period </a:t>
            </a:r>
          </a:p>
          <a:p>
            <a:pPr marL="800100" lvl="1">
              <a:lnSpc>
                <a:spcPct val="100000"/>
              </a:lnSpc>
              <a:spcBef>
                <a:spcPts val="0"/>
              </a:spcBef>
              <a:buSzPts val="3000"/>
            </a:pPr>
            <a:r>
              <a:rPr lang="en-US" sz="2800" dirty="0">
                <a:latin typeface="+mj-lt"/>
                <a:ea typeface="Arial"/>
                <a:cs typeface="Arial"/>
                <a:sym typeface="Arial"/>
              </a:rPr>
              <a:t>Typically, 50Hz if not listed, which means a period of 20 </a:t>
            </a:r>
            <a:r>
              <a:rPr lang="en-US" sz="2800" dirty="0" err="1">
                <a:latin typeface="+mj-lt"/>
                <a:ea typeface="Arial"/>
                <a:cs typeface="Arial"/>
                <a:sym typeface="Arial"/>
              </a:rPr>
              <a:t>ms</a:t>
            </a:r>
            <a:r>
              <a:rPr lang="en-US" sz="2800" dirty="0">
                <a:latin typeface="+mj-lt"/>
                <a:ea typeface="Arial"/>
                <a:cs typeface="Arial"/>
                <a:sym typeface="Arial"/>
              </a:rPr>
              <a:t> = 20,000 </a:t>
            </a:r>
            <a:r>
              <a:rPr lang="el-GR" sz="2800" dirty="0">
                <a:latin typeface="+mj-lt"/>
              </a:rPr>
              <a:t>μ</a:t>
            </a:r>
            <a:r>
              <a:rPr lang="en-US" sz="2800" dirty="0">
                <a:latin typeface="+mj-lt"/>
              </a:rPr>
              <a:t>s</a:t>
            </a:r>
            <a:endParaRPr lang="en-US" sz="2800" dirty="0">
              <a:latin typeface="+mj-lt"/>
              <a:ea typeface="Arial"/>
              <a:cs typeface="Arial"/>
              <a:sym typeface="Arial"/>
            </a:endParaRPr>
          </a:p>
          <a:p>
            <a:pPr marL="342900">
              <a:lnSpc>
                <a:spcPct val="100000"/>
              </a:lnSpc>
              <a:spcBef>
                <a:spcPts val="0"/>
              </a:spcBef>
              <a:buSzPts val="3000"/>
            </a:pPr>
            <a:r>
              <a:rPr lang="en-US" dirty="0">
                <a:latin typeface="+mj-lt"/>
                <a:ea typeface="Arial"/>
                <a:cs typeface="Arial"/>
                <a:sym typeface="Arial"/>
              </a:rPr>
              <a:t>Operating range and duty cycle mapping.</a:t>
            </a:r>
          </a:p>
        </p:txBody>
      </p:sp>
      <p:sp>
        <p:nvSpPr>
          <p:cNvPr id="119" name="Google Shape;119;p29">
            <a:extLst>
              <a:ext uri="{FF2B5EF4-FFF2-40B4-BE49-F238E27FC236}">
                <a16:creationId xmlns:a16="http://schemas.microsoft.com/office/drawing/2014/main" id="{B3A6D611-58CA-BA7D-0138-34ED7A298BF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6292F32-7821-EC7D-1AE7-D768385DA9C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RC Servo</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67F58AC-ED86-1AF3-2C6A-F184D317823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70DF778-F741-0ABD-0CB6-38D77BFF120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A106525-BC3E-416F-87B2-BFF9A25BA19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D03460C-0810-B007-66FC-2E353F04113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89D84B6-8D31-A34D-E88A-7CB890B5E4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5FA07F3-442F-ADC0-CB47-0B5C597D43B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490072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9899F4-8FB2-BBFD-0990-BBAB6A70080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611D1E2-3681-8641-54FA-454488F624D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C4C54FB-C1F1-D69B-9481-1F00D57EF7E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RC Servo – Example Datasheet</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1367F6C-FCF3-7EA1-1438-0DCA906817B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50A71C1-CB08-AC9B-2C16-6D5FE33F14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EA968DB-2362-2063-938C-19681B2FE99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E282AF4-AD52-FCD5-05D3-EC14BF4484B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33AF16-0346-F3CF-6DDE-1DF57FA0F7A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2B96E0-0D86-7A62-2185-80E7FA2C34F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322B5B7A-2A00-1525-E2DF-C579338779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4745" y="1495973"/>
            <a:ext cx="9827961" cy="4186800"/>
          </a:xfrm>
          <a:prstGeom prst="rect">
            <a:avLst/>
          </a:prstGeom>
        </p:spPr>
      </p:pic>
      <p:sp>
        <p:nvSpPr>
          <p:cNvPr id="6" name="TextBox 5">
            <a:extLst>
              <a:ext uri="{FF2B5EF4-FFF2-40B4-BE49-F238E27FC236}">
                <a16:creationId xmlns:a16="http://schemas.microsoft.com/office/drawing/2014/main" id="{080151E2-5468-59EB-C512-45CD377BE31F}"/>
              </a:ext>
            </a:extLst>
          </p:cNvPr>
          <p:cNvSpPr txBox="1"/>
          <p:nvPr/>
        </p:nvSpPr>
        <p:spPr>
          <a:xfrm>
            <a:off x="2261527" y="1072273"/>
            <a:ext cx="7668946" cy="369332"/>
          </a:xfrm>
          <a:prstGeom prst="rect">
            <a:avLst/>
          </a:prstGeom>
          <a:noFill/>
        </p:spPr>
        <p:txBody>
          <a:bodyPr wrap="square" rtlCol="0">
            <a:spAutoFit/>
          </a:bodyPr>
          <a:lstStyle/>
          <a:p>
            <a:pPr algn="ctr"/>
            <a:r>
              <a:rPr lang="en-US" sz="1800" dirty="0">
                <a:solidFill>
                  <a:srgbClr val="FF0000"/>
                </a:solidFill>
              </a:rPr>
              <a:t>Using a PWM period of 20 </a:t>
            </a:r>
            <a:r>
              <a:rPr lang="en-US" sz="1800" dirty="0" err="1">
                <a:solidFill>
                  <a:srgbClr val="FF0000"/>
                </a:solidFill>
              </a:rPr>
              <a:t>ms</a:t>
            </a:r>
            <a:r>
              <a:rPr lang="en-US" sz="1800" dirty="0">
                <a:solidFill>
                  <a:srgbClr val="FF0000"/>
                </a:solidFill>
              </a:rPr>
              <a:t>, what is 90 degrees (neutral), 0 and 180?</a:t>
            </a:r>
          </a:p>
        </p:txBody>
      </p:sp>
      <p:grpSp>
        <p:nvGrpSpPr>
          <p:cNvPr id="19" name="Group 18">
            <a:extLst>
              <a:ext uri="{FF2B5EF4-FFF2-40B4-BE49-F238E27FC236}">
                <a16:creationId xmlns:a16="http://schemas.microsoft.com/office/drawing/2014/main" id="{A1CD6994-CE17-7670-F9F3-175C29A7BCD6}"/>
              </a:ext>
            </a:extLst>
          </p:cNvPr>
          <p:cNvGrpSpPr/>
          <p:nvPr/>
        </p:nvGrpSpPr>
        <p:grpSpPr>
          <a:xfrm>
            <a:off x="2741549" y="4120525"/>
            <a:ext cx="3090274" cy="2201310"/>
            <a:chOff x="2741549" y="4120525"/>
            <a:chExt cx="3090274" cy="2201310"/>
          </a:xfrm>
        </p:grpSpPr>
        <p:sp>
          <p:nvSpPr>
            <p:cNvPr id="12" name="Rectangle 11">
              <a:extLst>
                <a:ext uri="{FF2B5EF4-FFF2-40B4-BE49-F238E27FC236}">
                  <a16:creationId xmlns:a16="http://schemas.microsoft.com/office/drawing/2014/main" id="{7B2E2296-4E00-BADD-E2B3-46E966B750E8}"/>
                </a:ext>
              </a:extLst>
            </p:cNvPr>
            <p:cNvSpPr/>
            <p:nvPr/>
          </p:nvSpPr>
          <p:spPr>
            <a:xfrm>
              <a:off x="5070934" y="4120525"/>
              <a:ext cx="760889" cy="2189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4F726F40-FD85-0F60-7770-A1425CB681EE}"/>
                </a:ext>
              </a:extLst>
            </p:cNvPr>
            <p:cNvCxnSpPr>
              <a:cxnSpLocks/>
              <a:stCxn id="15" idx="0"/>
              <a:endCxn id="12" idx="1"/>
            </p:cNvCxnSpPr>
            <p:nvPr/>
          </p:nvCxnSpPr>
          <p:spPr>
            <a:xfrm flipV="1">
              <a:off x="3866195" y="4230006"/>
              <a:ext cx="1204739" cy="13531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2CDD776-BE7B-A3FF-1F0C-03E6FEAE274D}"/>
                    </a:ext>
                  </a:extLst>
                </p:cNvPr>
                <p:cNvSpPr txBox="1"/>
                <p:nvPr/>
              </p:nvSpPr>
              <p:spPr>
                <a:xfrm>
                  <a:off x="2741549" y="5583171"/>
                  <a:ext cx="2249291" cy="738664"/>
                </a:xfrm>
                <a:prstGeom prst="rect">
                  <a:avLst/>
                </a:prstGeom>
                <a:noFill/>
              </p:spPr>
              <p:txBody>
                <a:bodyPr wrap="square" rtlCol="0">
                  <a:spAutoFit/>
                </a:bodyPr>
                <a:lstStyle/>
                <a:p>
                  <a:r>
                    <a:rPr lang="en-US" dirty="0">
                      <a:solidFill>
                        <a:srgbClr val="FF0000"/>
                      </a:solidFill>
                    </a:rPr>
                    <a:t>This servo is only able to do </a:t>
                  </a:r>
                  <a14:m>
                    <m:oMath xmlns:m="http://schemas.openxmlformats.org/officeDocument/2006/math">
                      <m:r>
                        <a:rPr lang="en-US" b="0" i="1" smtClean="0">
                          <a:solidFill>
                            <a:srgbClr val="FF0000"/>
                          </a:solidFill>
                          <a:latin typeface="Cambria Math" panose="02040503050406030204" pitchFamily="18" charset="0"/>
                        </a:rPr>
                        <m:t>90</m:t>
                      </m:r>
                      <m:r>
                        <a:rPr lang="en-US" b="0" i="1" smtClean="0">
                          <a:solidFill>
                            <a:srgbClr val="FF0000"/>
                          </a:solidFill>
                          <a:latin typeface="Cambria Math" panose="02040503050406030204" pitchFamily="18" charset="0"/>
                          <a:ea typeface="Cambria Math" panose="02040503050406030204" pitchFamily="18" charset="0"/>
                        </a:rPr>
                        <m:t>±40</m:t>
                      </m:r>
                    </m:oMath>
                  </a14:m>
                  <a:r>
                    <a:rPr lang="en-US" dirty="0">
                      <a:solidFill>
                        <a:srgbClr val="FF0000"/>
                      </a:solidFill>
                    </a:rPr>
                    <a:t> and not the full 0-180 degrees!</a:t>
                  </a:r>
                </a:p>
              </p:txBody>
            </p:sp>
          </mc:Choice>
          <mc:Fallback xmlns="">
            <p:sp>
              <p:nvSpPr>
                <p:cNvPr id="15" name="TextBox 14">
                  <a:extLst>
                    <a:ext uri="{FF2B5EF4-FFF2-40B4-BE49-F238E27FC236}">
                      <a16:creationId xmlns:a16="http://schemas.microsoft.com/office/drawing/2014/main" id="{B2CDD776-BE7B-A3FF-1F0C-03E6FEAE274D}"/>
                    </a:ext>
                  </a:extLst>
                </p:cNvPr>
                <p:cNvSpPr txBox="1">
                  <a:spLocks noRot="1" noChangeAspect="1" noMove="1" noResize="1" noEditPoints="1" noAdjustHandles="1" noChangeArrowheads="1" noChangeShapeType="1" noTextEdit="1"/>
                </p:cNvSpPr>
                <p:nvPr/>
              </p:nvSpPr>
              <p:spPr>
                <a:xfrm>
                  <a:off x="2741549" y="5583171"/>
                  <a:ext cx="2249291" cy="738664"/>
                </a:xfrm>
                <a:prstGeom prst="rect">
                  <a:avLst/>
                </a:prstGeom>
                <a:blipFill>
                  <a:blip r:embed="rId6"/>
                  <a:stretch>
                    <a:fillRect l="-813" t="-1653" r="-2710" b="-7438"/>
                  </a:stretch>
                </a:blipFill>
              </p:spPr>
              <p:txBody>
                <a:bodyPr/>
                <a:lstStyle/>
                <a:p>
                  <a:r>
                    <a:rPr lang="en-US">
                      <a:noFill/>
                    </a:rPr>
                    <a:t> </a:t>
                  </a:r>
                </a:p>
              </p:txBody>
            </p:sp>
          </mc:Fallback>
        </mc:AlternateContent>
      </p:grpSp>
      <p:grpSp>
        <p:nvGrpSpPr>
          <p:cNvPr id="26" name="Group 25">
            <a:extLst>
              <a:ext uri="{FF2B5EF4-FFF2-40B4-BE49-F238E27FC236}">
                <a16:creationId xmlns:a16="http://schemas.microsoft.com/office/drawing/2014/main" id="{B7D867A8-40DB-3119-957E-3C252D3705ED}"/>
              </a:ext>
            </a:extLst>
          </p:cNvPr>
          <p:cNvGrpSpPr/>
          <p:nvPr/>
        </p:nvGrpSpPr>
        <p:grpSpPr>
          <a:xfrm>
            <a:off x="7442015" y="2743200"/>
            <a:ext cx="4451861" cy="420491"/>
            <a:chOff x="7442015" y="2743200"/>
            <a:chExt cx="4451861" cy="420491"/>
          </a:xfrm>
        </p:grpSpPr>
        <p:sp>
          <p:nvSpPr>
            <p:cNvPr id="7" name="Rectangle 6">
              <a:extLst>
                <a:ext uri="{FF2B5EF4-FFF2-40B4-BE49-F238E27FC236}">
                  <a16:creationId xmlns:a16="http://schemas.microsoft.com/office/drawing/2014/main" id="{9C48EE39-25E4-5E5D-7372-980F645C58B2}"/>
                </a:ext>
              </a:extLst>
            </p:cNvPr>
            <p:cNvSpPr/>
            <p:nvPr/>
          </p:nvSpPr>
          <p:spPr>
            <a:xfrm>
              <a:off x="7442015" y="2743200"/>
              <a:ext cx="1787625" cy="4204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CFD9FFC3-D2D1-73C6-12CE-D746596878EA}"/>
                </a:ext>
              </a:extLst>
            </p:cNvPr>
            <p:cNvCxnSpPr>
              <a:cxnSpLocks/>
              <a:stCxn id="23" idx="1"/>
              <a:endCxn id="7" idx="3"/>
            </p:cNvCxnSpPr>
            <p:nvPr/>
          </p:nvCxnSpPr>
          <p:spPr>
            <a:xfrm flipH="1" flipV="1">
              <a:off x="9229640" y="2953446"/>
              <a:ext cx="414945" cy="24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27CABB7-D3CE-43E1-D1EC-F400EAC47629}"/>
                </a:ext>
              </a:extLst>
            </p:cNvPr>
            <p:cNvSpPr txBox="1"/>
            <p:nvPr/>
          </p:nvSpPr>
          <p:spPr>
            <a:xfrm>
              <a:off x="9644585" y="2802035"/>
              <a:ext cx="2249291" cy="307777"/>
            </a:xfrm>
            <a:prstGeom prst="rect">
              <a:avLst/>
            </a:prstGeom>
            <a:noFill/>
          </p:spPr>
          <p:txBody>
            <a:bodyPr wrap="square" rtlCol="0">
              <a:spAutoFit/>
            </a:bodyPr>
            <a:lstStyle/>
            <a:p>
              <a:r>
                <a:rPr lang="en-US" dirty="0">
                  <a:solidFill>
                    <a:srgbClr val="FF0000"/>
                  </a:solidFill>
                </a:rPr>
                <a:t>Represents 90 degrees</a:t>
              </a:r>
            </a:p>
          </p:txBody>
        </p:sp>
      </p:grpSp>
      <p:sp>
        <p:nvSpPr>
          <p:cNvPr id="27" name="TextBox 26">
            <a:extLst>
              <a:ext uri="{FF2B5EF4-FFF2-40B4-BE49-F238E27FC236}">
                <a16:creationId xmlns:a16="http://schemas.microsoft.com/office/drawing/2014/main" id="{7DB16435-59F5-904F-914A-D6A5CF0D7B7C}"/>
              </a:ext>
            </a:extLst>
          </p:cNvPr>
          <p:cNvSpPr txBox="1"/>
          <p:nvPr/>
        </p:nvSpPr>
        <p:spPr>
          <a:xfrm>
            <a:off x="2261527" y="1070767"/>
            <a:ext cx="7668946" cy="369332"/>
          </a:xfrm>
          <a:prstGeom prst="rect">
            <a:avLst/>
          </a:prstGeom>
          <a:noFill/>
        </p:spPr>
        <p:txBody>
          <a:bodyPr wrap="square" rtlCol="0">
            <a:spAutoFit/>
          </a:bodyPr>
          <a:lstStyle/>
          <a:p>
            <a:pPr algn="ctr"/>
            <a:r>
              <a:rPr lang="en-US" sz="1800" dirty="0">
                <a:solidFill>
                  <a:srgbClr val="FF0000"/>
                </a:solidFill>
              </a:rPr>
              <a:t>Using a PWM period of 20 </a:t>
            </a:r>
            <a:r>
              <a:rPr lang="en-US" sz="1800" dirty="0" err="1">
                <a:solidFill>
                  <a:srgbClr val="FF0000"/>
                </a:solidFill>
              </a:rPr>
              <a:t>ms</a:t>
            </a:r>
            <a:r>
              <a:rPr lang="en-US" sz="1800" dirty="0">
                <a:solidFill>
                  <a:srgbClr val="FF0000"/>
                </a:solidFill>
              </a:rPr>
              <a:t>, what is 90 degrees (neutral), 50 and 130?</a:t>
            </a:r>
          </a:p>
        </p:txBody>
      </p:sp>
      <p:grpSp>
        <p:nvGrpSpPr>
          <p:cNvPr id="35" name="Group 34">
            <a:extLst>
              <a:ext uri="{FF2B5EF4-FFF2-40B4-BE49-F238E27FC236}">
                <a16:creationId xmlns:a16="http://schemas.microsoft.com/office/drawing/2014/main" id="{0230C203-153D-A033-82F8-24EE7E966D68}"/>
              </a:ext>
            </a:extLst>
          </p:cNvPr>
          <p:cNvGrpSpPr/>
          <p:nvPr/>
        </p:nvGrpSpPr>
        <p:grpSpPr>
          <a:xfrm>
            <a:off x="8029365" y="3968396"/>
            <a:ext cx="3987987" cy="523220"/>
            <a:chOff x="8029365" y="3968396"/>
            <a:chExt cx="3987987" cy="523220"/>
          </a:xfrm>
        </p:grpSpPr>
        <p:sp>
          <p:nvSpPr>
            <p:cNvPr id="8" name="Rectangle 7">
              <a:extLst>
                <a:ext uri="{FF2B5EF4-FFF2-40B4-BE49-F238E27FC236}">
                  <a16:creationId xmlns:a16="http://schemas.microsoft.com/office/drawing/2014/main" id="{8F84CAA7-F74E-DFE5-EE84-3E25E37506CF}"/>
                </a:ext>
              </a:extLst>
            </p:cNvPr>
            <p:cNvSpPr/>
            <p:nvPr/>
          </p:nvSpPr>
          <p:spPr>
            <a:xfrm>
              <a:off x="8029365" y="4120525"/>
              <a:ext cx="760889" cy="2189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07D6D338-2097-B031-932B-7D97C4F5E21A}"/>
                </a:ext>
              </a:extLst>
            </p:cNvPr>
            <p:cNvCxnSpPr>
              <a:cxnSpLocks/>
              <a:stCxn id="29" idx="1"/>
              <a:endCxn id="8" idx="3"/>
            </p:cNvCxnSpPr>
            <p:nvPr/>
          </p:nvCxnSpPr>
          <p:spPr>
            <a:xfrm flipH="1">
              <a:off x="8790254" y="4230006"/>
              <a:ext cx="97780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52306EC-2381-5A41-F7FF-6E50026493BD}"/>
                </a:ext>
              </a:extLst>
            </p:cNvPr>
            <p:cNvSpPr txBox="1"/>
            <p:nvPr/>
          </p:nvSpPr>
          <p:spPr>
            <a:xfrm>
              <a:off x="9768061" y="3968396"/>
              <a:ext cx="2249291" cy="523220"/>
            </a:xfrm>
            <a:prstGeom prst="rect">
              <a:avLst/>
            </a:prstGeom>
            <a:noFill/>
          </p:spPr>
          <p:txBody>
            <a:bodyPr wrap="square" rtlCol="0">
              <a:spAutoFit/>
            </a:bodyPr>
            <a:lstStyle/>
            <a:p>
              <a:r>
                <a:rPr lang="en-US" dirty="0">
                  <a:solidFill>
                    <a:srgbClr val="FF0000"/>
                  </a:solidFill>
                </a:rPr>
                <a:t>50 = 1100 us = 5.5%</a:t>
              </a:r>
            </a:p>
            <a:p>
              <a:r>
                <a:rPr lang="en-US" dirty="0">
                  <a:solidFill>
                    <a:srgbClr val="FF0000"/>
                  </a:solidFill>
                </a:rPr>
                <a:t>130 = 1900 us = 9.5%</a:t>
              </a:r>
            </a:p>
          </p:txBody>
        </p:sp>
      </p:grpSp>
      <p:grpSp>
        <p:nvGrpSpPr>
          <p:cNvPr id="42" name="Group 41">
            <a:extLst>
              <a:ext uri="{FF2B5EF4-FFF2-40B4-BE49-F238E27FC236}">
                <a16:creationId xmlns:a16="http://schemas.microsoft.com/office/drawing/2014/main" id="{E7C6C6C0-630A-713D-D05C-2B83C6B37537}"/>
              </a:ext>
            </a:extLst>
          </p:cNvPr>
          <p:cNvGrpSpPr/>
          <p:nvPr/>
        </p:nvGrpSpPr>
        <p:grpSpPr>
          <a:xfrm>
            <a:off x="8519939" y="4339488"/>
            <a:ext cx="2607316" cy="1281237"/>
            <a:chOff x="8519939" y="4339488"/>
            <a:chExt cx="2607316" cy="1281237"/>
          </a:xfrm>
        </p:grpSpPr>
        <p:sp>
          <p:nvSpPr>
            <p:cNvPr id="9" name="Rectangle 8">
              <a:extLst>
                <a:ext uri="{FF2B5EF4-FFF2-40B4-BE49-F238E27FC236}">
                  <a16:creationId xmlns:a16="http://schemas.microsoft.com/office/drawing/2014/main" id="{020D7A97-9E08-BA0E-1F50-37E8B4E13306}"/>
                </a:ext>
              </a:extLst>
            </p:cNvPr>
            <p:cNvSpPr/>
            <p:nvPr/>
          </p:nvSpPr>
          <p:spPr>
            <a:xfrm>
              <a:off x="8786153" y="4339488"/>
              <a:ext cx="760889" cy="28167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1794CEEC-38CE-CF47-78B8-56DAD5258CD1}"/>
                </a:ext>
              </a:extLst>
            </p:cNvPr>
            <p:cNvCxnSpPr>
              <a:cxnSpLocks/>
              <a:stCxn id="38" idx="0"/>
              <a:endCxn id="9" idx="2"/>
            </p:cNvCxnSpPr>
            <p:nvPr/>
          </p:nvCxnSpPr>
          <p:spPr>
            <a:xfrm flipH="1" flipV="1">
              <a:off x="9166598" y="4621164"/>
              <a:ext cx="656999" cy="4763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A537A61-ECD0-CD61-AB05-6AA212E631CB}"/>
                </a:ext>
              </a:extLst>
            </p:cNvPr>
            <p:cNvSpPr txBox="1"/>
            <p:nvPr/>
          </p:nvSpPr>
          <p:spPr>
            <a:xfrm>
              <a:off x="8519939" y="5097505"/>
              <a:ext cx="2607316" cy="523220"/>
            </a:xfrm>
            <a:prstGeom prst="rect">
              <a:avLst/>
            </a:prstGeom>
            <a:noFill/>
          </p:spPr>
          <p:txBody>
            <a:bodyPr wrap="square" rtlCol="0">
              <a:spAutoFit/>
            </a:bodyPr>
            <a:lstStyle/>
            <a:p>
              <a:r>
                <a:rPr lang="en-US" dirty="0">
                  <a:solidFill>
                    <a:srgbClr val="FF0000"/>
                  </a:solidFill>
                </a:rPr>
                <a:t>Tells you which direction is clockwise ( 130 degrees )</a:t>
              </a:r>
            </a:p>
          </p:txBody>
        </p:sp>
      </p:grpSp>
      <p:sp>
        <p:nvSpPr>
          <p:cNvPr id="3" name="TextBox 2">
            <a:extLst>
              <a:ext uri="{FF2B5EF4-FFF2-40B4-BE49-F238E27FC236}">
                <a16:creationId xmlns:a16="http://schemas.microsoft.com/office/drawing/2014/main" id="{9930338D-8C66-0936-B86F-604A06D175A6}"/>
              </a:ext>
            </a:extLst>
          </p:cNvPr>
          <p:cNvSpPr txBox="1"/>
          <p:nvPr/>
        </p:nvSpPr>
        <p:spPr>
          <a:xfrm>
            <a:off x="3784362" y="6375150"/>
            <a:ext cx="4094922" cy="261610"/>
          </a:xfrm>
          <a:prstGeom prst="rect">
            <a:avLst/>
          </a:prstGeom>
          <a:noFill/>
        </p:spPr>
        <p:txBody>
          <a:bodyPr wrap="square">
            <a:spAutoFit/>
          </a:bodyPr>
          <a:lstStyle/>
          <a:p>
            <a:pPr algn="ctr"/>
            <a:r>
              <a:rPr lang="en-US" sz="1100" dirty="0">
                <a:hlinkClick r:id="rId7"/>
              </a:rPr>
              <a:t>https://www.sparkfun.com/servo-hitec-hs-85mg-micro-size.html</a:t>
            </a:r>
            <a:r>
              <a:rPr lang="en-US" sz="1100" dirty="0"/>
              <a:t> </a:t>
            </a:r>
          </a:p>
        </p:txBody>
      </p:sp>
    </p:spTree>
    <p:extLst>
      <p:ext uri="{BB962C8B-B14F-4D97-AF65-F5344CB8AC3E}">
        <p14:creationId xmlns:p14="http://schemas.microsoft.com/office/powerpoint/2010/main" val="67997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7" grpId="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txBox="1"/>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r>
              <a:rPr lang="en-US" sz="6600" b="1" dirty="0">
                <a:solidFill>
                  <a:schemeClr val="lt1"/>
                </a:solidFill>
              </a:rPr>
              <a:t>Questions</a:t>
            </a:r>
            <a:r>
              <a:rPr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1050</TotalTime>
  <Words>4573</Words>
  <Application>Microsoft Office PowerPoint</Application>
  <PresentationFormat>Widescreen</PresentationFormat>
  <Paragraphs>607</Paragraphs>
  <Slides>73</Slides>
  <Notes>73</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Nielsen, Joshua</dc:creator>
  <cp:lastModifiedBy>Juston, Marius F</cp:lastModifiedBy>
  <cp:revision>360</cp:revision>
  <dcterms:created xsi:type="dcterms:W3CDTF">2019-01-14T22:06:33Z</dcterms:created>
  <dcterms:modified xsi:type="dcterms:W3CDTF">2026-02-08T03:29:26Z</dcterms:modified>
</cp:coreProperties>
</file>