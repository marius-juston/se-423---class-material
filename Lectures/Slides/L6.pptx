
<file path=[Content_Types].xml><?xml version="1.0" encoding="utf-8"?>
<Types xmlns="http://schemas.openxmlformats.org/package/2006/content-types">
  <Default Extension="gif" ContentType="image/gif"/>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35"/>
  </p:notesMasterIdLst>
  <p:sldIdLst>
    <p:sldId id="256" r:id="rId2"/>
    <p:sldId id="310" r:id="rId3"/>
    <p:sldId id="257" r:id="rId4"/>
    <p:sldId id="258" r:id="rId5"/>
    <p:sldId id="311" r:id="rId6"/>
    <p:sldId id="313" r:id="rId7"/>
    <p:sldId id="314" r:id="rId8"/>
    <p:sldId id="316" r:id="rId9"/>
    <p:sldId id="318" r:id="rId10"/>
    <p:sldId id="315" r:id="rId11"/>
    <p:sldId id="320" r:id="rId12"/>
    <p:sldId id="319" r:id="rId13"/>
    <p:sldId id="312" r:id="rId14"/>
    <p:sldId id="323" r:id="rId15"/>
    <p:sldId id="324" r:id="rId16"/>
    <p:sldId id="325" r:id="rId17"/>
    <p:sldId id="326" r:id="rId18"/>
    <p:sldId id="321" r:id="rId19"/>
    <p:sldId id="327" r:id="rId20"/>
    <p:sldId id="328" r:id="rId21"/>
    <p:sldId id="259" r:id="rId22"/>
    <p:sldId id="260" r:id="rId23"/>
    <p:sldId id="261" r:id="rId24"/>
    <p:sldId id="262" r:id="rId25"/>
    <p:sldId id="263" r:id="rId26"/>
    <p:sldId id="264" r:id="rId27"/>
    <p:sldId id="265" r:id="rId28"/>
    <p:sldId id="266" r:id="rId29"/>
    <p:sldId id="267" r:id="rId30"/>
    <p:sldId id="268" r:id="rId31"/>
    <p:sldId id="269" r:id="rId32"/>
    <p:sldId id="271" r:id="rId33"/>
    <p:sldId id="270" r:id="rId34"/>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36" roundtripDataSignature="AMtx7mjKkk5wOoQj6sDPPETbbKgHU96Dzg=="/>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0388" autoAdjust="0"/>
  </p:normalViewPr>
  <p:slideViewPr>
    <p:cSldViewPr snapToGrid="0">
      <p:cViewPr varScale="1">
        <p:scale>
          <a:sx n="144" d="100"/>
          <a:sy n="144" d="100"/>
        </p:scale>
        <p:origin x="894" y="11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theme" Target="theme/theme1.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presProps" Target="presProps.xml"/><Relationship Id="rId40"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customschemas.google.com/relationships/presentationmetadata" Target="metadata"/><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notesMaster" Target="notesMasters/notesMaster1.xml"/><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
        <p:cNvGrpSpPr/>
        <p:nvPr/>
      </p:nvGrpSpPr>
      <p:grpSpPr>
        <a:xfrm>
          <a:off x="0" y="0"/>
          <a:ext cx="0" cy="0"/>
          <a:chOff x="0" y="0"/>
          <a:chExt cx="0" cy="0"/>
        </a:xfrm>
      </p:grpSpPr>
      <p:sp>
        <p:nvSpPr>
          <p:cNvPr id="79" name="Google Shape;79;p2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0" name="Google Shape;80;p2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11560CD-FFDE-70C6-6183-A453F3E9816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57E4E91-ED9F-DE16-BEB6-F07455961AC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063A7F12-DA54-6672-271A-7F884E56D74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49994344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p:cNvGrpSpPr/>
        <p:nvPr/>
      </p:nvGrpSpPr>
      <p:grpSpPr>
        <a:xfrm>
          <a:off x="0" y="0"/>
          <a:ext cx="0" cy="0"/>
          <a:chOff x="0" y="0"/>
          <a:chExt cx="0" cy="0"/>
        </a:xfrm>
      </p:grpSpPr>
      <p:sp>
        <p:nvSpPr>
          <p:cNvPr id="86" name="Google Shape;86;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p:cNvGrpSpPr/>
        <p:nvPr/>
      </p:nvGrpSpPr>
      <p:grpSpPr>
        <a:xfrm>
          <a:off x="0" y="0"/>
          <a:ext cx="0" cy="0"/>
          <a:chOff x="0" y="0"/>
          <a:chExt cx="0" cy="0"/>
        </a:xfrm>
      </p:grpSpPr>
      <p:sp>
        <p:nvSpPr>
          <p:cNvPr id="101" name="Google Shape;101;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4939FE2-9982-6513-8AE2-E7AB5B723F1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8AF4933-71B1-FAA3-0317-227D7A2A568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F2D7440-60CC-B22F-0FA1-0A65840FB35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69427518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630E4B3-6A97-9DD2-90CE-7D44EFA43F9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64285DA-872D-2945-9BF2-F355C50DD11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D76530A-1B0F-7242-84C3-8F754C885E3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41749578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B346909-97D3-6083-8379-EDC1BD4A261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3CAFF19-DF70-A91F-7918-E5D237286B4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AE4DA5A-AD55-344D-87C5-110E18AED8B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45511631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B06B8AF-430C-C6E6-4063-7E87CC8C09A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68ED08C-AF77-54A7-592E-0169A0B4900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2D49FAD-3CDB-FA83-DA4F-CE14934094B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64931340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AC7B6A95-A4A5-1D5B-CB38-3824DAD14BE3}"/>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C64A4D9E-15D8-E41B-E397-E4A0A47B2F0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37A43E3D-B35E-39F9-8CEC-6FA708310F7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3316911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F2CCB68-1B95-879B-3DD5-B813581853C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2009411-6539-2C85-585C-01D87CF65DE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6E7ED08-3F9C-C89D-A856-D63ED7A3A5F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35822962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F44CCE0-B0FB-EC47-D70D-F45B25C1FE8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D4BBB88-E417-7B4B-FF12-C5F1F368A2B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5C5D0CA-20C3-9795-438D-F9B08E500E7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73143789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2D9F338-228F-28E7-B0B9-0F1795771CA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26713FA-3ED7-477C-9D03-D53FA821806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CF9338F-1807-ADD8-400E-2A5D7D1D38C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4684370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176BD63-DE5F-58F1-801A-80F72A1B8C8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1ECA20E-A21F-6373-06D3-D62CFC5BFB4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11A3295-CF3D-C714-567B-08C8CE9A419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96652378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043C70C-2673-731E-5063-998308B710C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8B21352-99DC-71D9-D5D8-73CD7F673FD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6140669-098F-11C8-BCD3-DD7B5EBE52B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65591822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7450B53-A8F5-9712-ED0B-0A53B240B40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37A4377-4B3B-EAF0-9A9B-AABD4759F6B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0F34715-4F90-B133-EF3E-51DBA8D6CCC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37790927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E82ACDF8-5473-7433-9308-E6D9DB5B5874}"/>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2C05F31A-18BB-FE9C-2D22-38958029072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D7C0B9D9-44F5-59F4-FAD7-AE176A5FB78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25239579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B73894E-EA74-1955-8AAA-FB73ED7DA5A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DFDCEFB-7087-BE10-3BED-731EB161EB1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1B8D359-69DD-8FA4-FF21-8B7CF9FB27E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54217556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1BBF410-F97E-4541-10DB-E401C4ECF29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D291D2C-9232-B076-DB2E-94E2BB2B114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8C68878-4E12-D62C-1B63-2453D9104BE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62858332"/>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939739A-BA3E-0EA5-46A7-A6988490B24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DA461D4-90B0-51A2-D44A-1010F1C50E3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1C9784F-92EA-E5A3-C07E-CA0C2A299A7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282390114"/>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A26F9D6-8DF7-0CB0-2A87-04F67DB692D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9E94C35-3634-0BB3-F2E0-9A04B900DAF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774A44A-421B-B165-D22B-E816A645C37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6996815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p:cNvGrpSpPr/>
        <p:nvPr/>
      </p:nvGrpSpPr>
      <p:grpSpPr>
        <a:xfrm>
          <a:off x="0" y="0"/>
          <a:ext cx="0" cy="0"/>
          <a:chOff x="0" y="0"/>
          <a:chExt cx="0" cy="0"/>
        </a:xfrm>
      </p:grpSpPr>
      <p:sp>
        <p:nvSpPr>
          <p:cNvPr id="115" name="Google Shape;115;p29: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7"/>
        <p:cNvGrpSpPr/>
        <p:nvPr/>
      </p:nvGrpSpPr>
      <p:grpSpPr>
        <a:xfrm>
          <a:off x="0" y="0"/>
          <a:ext cx="0" cy="0"/>
          <a:chOff x="0" y="0"/>
          <a:chExt cx="0" cy="0"/>
        </a:xfrm>
      </p:grpSpPr>
      <p:sp>
        <p:nvSpPr>
          <p:cNvPr id="128" name="Google Shape;128;p30: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29" name="Google Shape;129;p3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1"/>
        <p:cNvGrpSpPr/>
        <p:nvPr/>
      </p:nvGrpSpPr>
      <p:grpSpPr>
        <a:xfrm>
          <a:off x="0" y="0"/>
          <a:ext cx="0" cy="0"/>
          <a:chOff x="0" y="0"/>
          <a:chExt cx="0" cy="0"/>
        </a:xfrm>
      </p:grpSpPr>
      <p:sp>
        <p:nvSpPr>
          <p:cNvPr id="142" name="Google Shape;142;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43" name="Google Shape;143;p3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8"/>
        <p:cNvGrpSpPr/>
        <p:nvPr/>
      </p:nvGrpSpPr>
      <p:grpSpPr>
        <a:xfrm>
          <a:off x="0" y="0"/>
          <a:ext cx="0" cy="0"/>
          <a:chOff x="0" y="0"/>
          <a:chExt cx="0" cy="0"/>
        </a:xfrm>
      </p:grpSpPr>
      <p:sp>
        <p:nvSpPr>
          <p:cNvPr id="159" name="Google Shape;159;p7: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60" name="Google Shape;160;p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5"/>
        <p:cNvGrpSpPr/>
        <p:nvPr/>
      </p:nvGrpSpPr>
      <p:grpSpPr>
        <a:xfrm>
          <a:off x="0" y="0"/>
          <a:ext cx="0" cy="0"/>
          <a:chOff x="0" y="0"/>
          <a:chExt cx="0" cy="0"/>
        </a:xfrm>
      </p:grpSpPr>
      <p:sp>
        <p:nvSpPr>
          <p:cNvPr id="176" name="Google Shape;176;p3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77" name="Google Shape;177;p3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0"/>
        <p:cNvGrpSpPr/>
        <p:nvPr/>
      </p:nvGrpSpPr>
      <p:grpSpPr>
        <a:xfrm>
          <a:off x="0" y="0"/>
          <a:ext cx="0" cy="0"/>
          <a:chOff x="0" y="0"/>
          <a:chExt cx="0" cy="0"/>
        </a:xfrm>
      </p:grpSpPr>
      <p:sp>
        <p:nvSpPr>
          <p:cNvPr id="191" name="Google Shape;191;p3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92" name="Google Shape;192;p3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5"/>
        <p:cNvGrpSpPr/>
        <p:nvPr/>
      </p:nvGrpSpPr>
      <p:grpSpPr>
        <a:xfrm>
          <a:off x="0" y="0"/>
          <a:ext cx="0" cy="0"/>
          <a:chOff x="0" y="0"/>
          <a:chExt cx="0" cy="0"/>
        </a:xfrm>
      </p:grpSpPr>
      <p:sp>
        <p:nvSpPr>
          <p:cNvPr id="206" name="Google Shape;206;p8: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207" name="Google Shape;207;p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0"/>
        <p:cNvGrpSpPr/>
        <p:nvPr/>
      </p:nvGrpSpPr>
      <p:grpSpPr>
        <a:xfrm>
          <a:off x="0" y="0"/>
          <a:ext cx="0" cy="0"/>
          <a:chOff x="0" y="0"/>
          <a:chExt cx="0" cy="0"/>
        </a:xfrm>
      </p:grpSpPr>
      <p:sp>
        <p:nvSpPr>
          <p:cNvPr id="221" name="Google Shape;221;p3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22" name="Google Shape;222;p3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p:cNvGrpSpPr/>
        <p:nvPr/>
      </p:nvGrpSpPr>
      <p:grpSpPr>
        <a:xfrm>
          <a:off x="0" y="0"/>
          <a:ext cx="0" cy="0"/>
          <a:chOff x="0" y="0"/>
          <a:chExt cx="0" cy="0"/>
        </a:xfrm>
      </p:grpSpPr>
      <p:sp>
        <p:nvSpPr>
          <p:cNvPr id="234" name="Google Shape;234;p3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35" name="Google Shape;235;p35: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6"/>
        <p:cNvGrpSpPr/>
        <p:nvPr/>
      </p:nvGrpSpPr>
      <p:grpSpPr>
        <a:xfrm>
          <a:off x="0" y="0"/>
          <a:ext cx="0" cy="0"/>
          <a:chOff x="0" y="0"/>
          <a:chExt cx="0" cy="0"/>
        </a:xfrm>
      </p:grpSpPr>
      <p:sp>
        <p:nvSpPr>
          <p:cNvPr id="247" name="Google Shape;247;p3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48" name="Google Shape;248;p3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0"/>
        <p:cNvGrpSpPr/>
        <p:nvPr/>
      </p:nvGrpSpPr>
      <p:grpSpPr>
        <a:xfrm>
          <a:off x="0" y="0"/>
          <a:ext cx="0" cy="0"/>
          <a:chOff x="0" y="0"/>
          <a:chExt cx="0" cy="0"/>
        </a:xfrm>
      </p:grpSpPr>
      <p:sp>
        <p:nvSpPr>
          <p:cNvPr id="261" name="Google Shape;261;p3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62" name="Google Shape;262;p3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0">
          <a:extLst>
            <a:ext uri="{FF2B5EF4-FFF2-40B4-BE49-F238E27FC236}">
              <a16:creationId xmlns:a16="http://schemas.microsoft.com/office/drawing/2014/main" id="{ED6D95D0-49C4-BE65-6DB0-A8408AD9A1A2}"/>
            </a:ext>
          </a:extLst>
        </p:cNvPr>
        <p:cNvGrpSpPr/>
        <p:nvPr/>
      </p:nvGrpSpPr>
      <p:grpSpPr>
        <a:xfrm>
          <a:off x="0" y="0"/>
          <a:ext cx="0" cy="0"/>
          <a:chOff x="0" y="0"/>
          <a:chExt cx="0" cy="0"/>
        </a:xfrm>
      </p:grpSpPr>
      <p:sp>
        <p:nvSpPr>
          <p:cNvPr id="261" name="Google Shape;261;p37:notes">
            <a:extLst>
              <a:ext uri="{FF2B5EF4-FFF2-40B4-BE49-F238E27FC236}">
                <a16:creationId xmlns:a16="http://schemas.microsoft.com/office/drawing/2014/main" id="{D5BF9D20-A937-E031-5ACD-4B566F245A5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62" name="Google Shape;262;p37:notes">
            <a:extLst>
              <a:ext uri="{FF2B5EF4-FFF2-40B4-BE49-F238E27FC236}">
                <a16:creationId xmlns:a16="http://schemas.microsoft.com/office/drawing/2014/main" id="{1666A96F-D523-1F0C-00D5-14D5F35E2C2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8882365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p:cNvGrpSpPr/>
        <p:nvPr/>
      </p:nvGrpSpPr>
      <p:grpSpPr>
        <a:xfrm>
          <a:off x="0" y="0"/>
          <a:ext cx="0" cy="0"/>
          <a:chOff x="0" y="0"/>
          <a:chExt cx="0" cy="0"/>
        </a:xfrm>
      </p:grpSpPr>
      <p:sp>
        <p:nvSpPr>
          <p:cNvPr id="272" name="Google Shape;272;p3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3" name="Google Shape;273;p3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5"/>
        <p:cNvGrpSpPr/>
        <p:nvPr/>
      </p:nvGrpSpPr>
      <p:grpSpPr>
        <a:xfrm>
          <a:off x="0" y="0"/>
          <a:ext cx="0" cy="0"/>
          <a:chOff x="0" y="0"/>
          <a:chExt cx="0" cy="0"/>
        </a:xfrm>
      </p:grpSpPr>
      <p:sp>
        <p:nvSpPr>
          <p:cNvPr id="16" name="Google Shape;16;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7" name="Google Shape;17;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8" name="Google Shape;18;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9"/>
        <p:cNvGrpSpPr/>
        <p:nvPr/>
      </p:nvGrpSpPr>
      <p:grpSpPr>
        <a:xfrm>
          <a:off x="0" y="0"/>
          <a:ext cx="0" cy="0"/>
          <a:chOff x="0" y="0"/>
          <a:chExt cx="0" cy="0"/>
        </a:xfrm>
      </p:grpSpPr>
      <p:sp>
        <p:nvSpPr>
          <p:cNvPr id="20" name="Google Shape;20;p16"/>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1" name="Google Shape;21;p16"/>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2" name="Google Shape;22;p1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3" name="Google Shape;23;p1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4" name="Google Shape;24;p1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5"/>
        <p:cNvGrpSpPr/>
        <p:nvPr/>
      </p:nvGrpSpPr>
      <p:grpSpPr>
        <a:xfrm>
          <a:off x="0" y="0"/>
          <a:ext cx="0" cy="0"/>
          <a:chOff x="0" y="0"/>
          <a:chExt cx="0" cy="0"/>
        </a:xfrm>
      </p:grpSpPr>
      <p:sp>
        <p:nvSpPr>
          <p:cNvPr id="26" name="Google Shape;26;p17"/>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7" name="Google Shape;27;p17"/>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28" name="Google Shape;28;p1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9" name="Google Shape;29;p1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0" name="Google Shape;30;p1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1"/>
        <p:cNvGrpSpPr/>
        <p:nvPr/>
      </p:nvGrpSpPr>
      <p:grpSpPr>
        <a:xfrm>
          <a:off x="0" y="0"/>
          <a:ext cx="0" cy="0"/>
          <a:chOff x="0" y="0"/>
          <a:chExt cx="0" cy="0"/>
        </a:xfrm>
      </p:grpSpPr>
      <p:sp>
        <p:nvSpPr>
          <p:cNvPr id="32" name="Google Shape;32;p18"/>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3" name="Google Shape;33;p18"/>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4" name="Google Shape;34;p18"/>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5" name="Google Shape;35;p1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6" name="Google Shape;36;p1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7" name="Google Shape;37;p1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8"/>
        <p:cNvGrpSpPr/>
        <p:nvPr/>
      </p:nvGrpSpPr>
      <p:grpSpPr>
        <a:xfrm>
          <a:off x="0" y="0"/>
          <a:ext cx="0" cy="0"/>
          <a:chOff x="0" y="0"/>
          <a:chExt cx="0" cy="0"/>
        </a:xfrm>
      </p:grpSpPr>
      <p:sp>
        <p:nvSpPr>
          <p:cNvPr id="39" name="Google Shape;39;p19"/>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0" name="Google Shape;40;p19"/>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1" name="Google Shape;41;p19"/>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2" name="Google Shape;42;p19"/>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3" name="Google Shape;43;p19"/>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4" name="Google Shape;44;p1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5" name="Google Shape;45;p1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6" name="Google Shape;46;p1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7"/>
        <p:cNvGrpSpPr/>
        <p:nvPr/>
      </p:nvGrpSpPr>
      <p:grpSpPr>
        <a:xfrm>
          <a:off x="0" y="0"/>
          <a:ext cx="0" cy="0"/>
          <a:chOff x="0" y="0"/>
          <a:chExt cx="0" cy="0"/>
        </a:xfrm>
      </p:grpSpPr>
      <p:sp>
        <p:nvSpPr>
          <p:cNvPr id="48" name="Google Shape;48;p20"/>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9" name="Google Shape;49;p2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0" name="Google Shape;50;p2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1" name="Google Shape;51;p2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2"/>
        <p:cNvGrpSpPr/>
        <p:nvPr/>
      </p:nvGrpSpPr>
      <p:grpSpPr>
        <a:xfrm>
          <a:off x="0" y="0"/>
          <a:ext cx="0" cy="0"/>
          <a:chOff x="0" y="0"/>
          <a:chExt cx="0" cy="0"/>
        </a:xfrm>
      </p:grpSpPr>
      <p:sp>
        <p:nvSpPr>
          <p:cNvPr id="53" name="Google Shape;53;p22"/>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4" name="Google Shape;54;p22"/>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5" name="Google Shape;55;p22"/>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6" name="Google Shape;56;p2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7" name="Google Shape;57;p2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8" name="Google Shape;58;p2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59"/>
        <p:cNvGrpSpPr/>
        <p:nvPr/>
      </p:nvGrpSpPr>
      <p:grpSpPr>
        <a:xfrm>
          <a:off x="0" y="0"/>
          <a:ext cx="0" cy="0"/>
          <a:chOff x="0" y="0"/>
          <a:chExt cx="0" cy="0"/>
        </a:xfrm>
      </p:grpSpPr>
      <p:sp>
        <p:nvSpPr>
          <p:cNvPr id="60" name="Google Shape;60;p23"/>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1" name="Google Shape;61;p23"/>
          <p:cNvSpPr>
            <a:spLocks noGrp="1"/>
          </p:cNvSpPr>
          <p:nvPr>
            <p:ph type="pic" idx="2"/>
          </p:nvPr>
        </p:nvSpPr>
        <p:spPr>
          <a:xfrm>
            <a:off x="5183188" y="987425"/>
            <a:ext cx="6172200" cy="4873625"/>
          </a:xfrm>
          <a:prstGeom prst="rect">
            <a:avLst/>
          </a:prstGeom>
          <a:noFill/>
          <a:ln>
            <a:noFill/>
          </a:ln>
        </p:spPr>
      </p:sp>
      <p:sp>
        <p:nvSpPr>
          <p:cNvPr id="62" name="Google Shape;62;p23"/>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3" name="Google Shape;63;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4" name="Google Shape;64;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5" name="Google Shape;65;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6"/>
        <p:cNvGrpSpPr/>
        <p:nvPr/>
      </p:nvGrpSpPr>
      <p:grpSpPr>
        <a:xfrm>
          <a:off x="0" y="0"/>
          <a:ext cx="0" cy="0"/>
          <a:chOff x="0" y="0"/>
          <a:chExt cx="0" cy="0"/>
        </a:xfrm>
      </p:grpSpPr>
      <p:sp>
        <p:nvSpPr>
          <p:cNvPr id="67" name="Google Shape;67;p2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8" name="Google Shape;68;p24"/>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9" name="Google Shape;69;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0" name="Google Shape;70;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1" name="Google Shape;71;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2"/>
        <p:cNvGrpSpPr/>
        <p:nvPr/>
      </p:nvGrpSpPr>
      <p:grpSpPr>
        <a:xfrm>
          <a:off x="0" y="0"/>
          <a:ext cx="0" cy="0"/>
          <a:chOff x="0" y="0"/>
          <a:chExt cx="0" cy="0"/>
        </a:xfrm>
      </p:grpSpPr>
      <p:sp>
        <p:nvSpPr>
          <p:cNvPr id="73" name="Google Shape;73;p25"/>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4" name="Google Shape;74;p25"/>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5" name="Google Shape;75;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6" name="Google Shape;76;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7" name="Google Shape;77;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11" name="Google Shape;11;p14"/>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2" name="Google Shape;12;p1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13" name="Google Shape;13;p1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14" name="Google Shape;14;p1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hyperlink" Target="https://marius-juston.github.io/SE-423---Class-Material/Homeworks/HW2.pdf" TargetMode="External"/><Relationship Id="rId2" Type="http://schemas.openxmlformats.org/officeDocument/2006/relationships/notesSlide" Target="../notesSlides/notesSlide2.xml"/><Relationship Id="rId1" Type="http://schemas.openxmlformats.org/officeDocument/2006/relationships/slideLayout" Target="../slideLayouts/slideLayout2.xml"/><Relationship Id="rId5" Type="http://schemas.openxmlformats.org/officeDocument/2006/relationships/image" Target="../media/image3.png"/><Relationship Id="rId4" Type="http://schemas.openxmlformats.org/officeDocument/2006/relationships/hyperlink" Target="https://marius-juston.github.io/SE-423---Class-Material/Homeworks/LabVIEW2.pdf" TargetMode="External"/></Relationships>
</file>

<file path=ppt/slides/_rels/slide3.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3.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2.xml"/><Relationship Id="rId5" Type="http://schemas.openxmlformats.org/officeDocument/2006/relationships/hyperlink" Target="https://www.akm.com/global/en/products/rotation-angle-sensor/tutorial/optical-encoder/" TargetMode="External"/><Relationship Id="rId4" Type="http://schemas.openxmlformats.org/officeDocument/2006/relationships/image" Target="../media/image7.png"/></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hyperlink" Target="https://www.akm.com/global/en/products/rotation-angle-sensor/tutorial/type-mechanism-2/" TargetMode="External"/></Relationships>
</file>

<file path=ppt/slides/_rels/slide9.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9.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xml"/><Relationship Id="rId1" Type="http://schemas.openxmlformats.org/officeDocument/2006/relationships/slideLayout" Target="../slideLayouts/slideLayout2.xml"/><Relationship Id="rId5" Type="http://schemas.openxmlformats.org/officeDocument/2006/relationships/hyperlink" Target="https://www.akm.com/global/en/products/rotation-angle-sensor/tutorial/type-mechanism-2/" TargetMode="External"/><Relationship Id="rId4" Type="http://schemas.openxmlformats.org/officeDocument/2006/relationships/image" Target="../media/image10.gif"/></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xml"/><Relationship Id="rId1" Type="http://schemas.openxmlformats.org/officeDocument/2006/relationships/slideLayout" Target="../slideLayouts/slideLayout2.xml"/><Relationship Id="rId5" Type="http://schemas.openxmlformats.org/officeDocument/2006/relationships/image" Target="../media/image11.gif"/><Relationship Id="rId4" Type="http://schemas.openxmlformats.org/officeDocument/2006/relationships/hyperlink" Target="https://www.akm.com/global/en/products/rotation-angle-sensor/tutorial/type-mechanism-2/" TargetMode="External"/></Relationships>
</file>

<file path=ppt/slides/_rels/slide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hyperlink" Target="https://www.akm.com/global/en/products/rotation-angle-sensor/tutorial/type-mechanism-2/" TargetMode="External"/><Relationship Id="rId5" Type="http://schemas.openxmlformats.org/officeDocument/2006/relationships/image" Target="../media/image11.gif"/><Relationship Id="rId4" Type="http://schemas.openxmlformats.org/officeDocument/2006/relationships/image" Target="../media/image10.gif"/></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xml"/><Relationship Id="rId1" Type="http://schemas.openxmlformats.org/officeDocument/2006/relationships/slideLayout" Target="../slideLayouts/slideLayout2.xml"/><Relationship Id="rId5" Type="http://schemas.openxmlformats.org/officeDocument/2006/relationships/image" Target="../media/image13.svg"/><Relationship Id="rId4" Type="http://schemas.openxmlformats.org/officeDocument/2006/relationships/image" Target="../media/image12.png"/></Relationships>
</file>

<file path=ppt/slides/_rels/slide1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5.xml"/><Relationship Id="rId1" Type="http://schemas.openxmlformats.org/officeDocument/2006/relationships/slideLayout" Target="../slideLayouts/slideLayout2.xml"/><Relationship Id="rId5" Type="http://schemas.openxmlformats.org/officeDocument/2006/relationships/image" Target="../media/image16.svg"/><Relationship Id="rId4" Type="http://schemas.openxmlformats.org/officeDocument/2006/relationships/image" Target="../media/image15.png"/></Relationships>
</file>

<file path=ppt/slides/_rels/slide16.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16.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1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hyperlink" Target="https://www.analog.com/media/en/training-seminars/tutorials/mt-029.pdf" TargetMode="External"/><Relationship Id="rId5" Type="http://schemas.openxmlformats.org/officeDocument/2006/relationships/image" Target="../media/image18.svg"/><Relationship Id="rId4" Type="http://schemas.openxmlformats.org/officeDocument/2006/relationships/image" Target="../media/image17.png"/></Relationships>
</file>

<file path=ppt/slides/_rels/slide1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9.xml"/><Relationship Id="rId1" Type="http://schemas.openxmlformats.org/officeDocument/2006/relationships/slideLayout" Target="../slideLayouts/slideLayout2.xml"/><Relationship Id="rId5" Type="http://schemas.openxmlformats.org/officeDocument/2006/relationships/image" Target="../media/image19.png"/><Relationship Id="rId4" Type="http://schemas.openxmlformats.org/officeDocument/2006/relationships/hyperlink" Target="https://www.akm.com/global/en/products/rotation-angle-sensor/tutorial/type-mechanism-2/" TargetMode="External"/></Relationships>
</file>

<file path=ppt/slides/_rels/slide2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0.xml"/><Relationship Id="rId1" Type="http://schemas.openxmlformats.org/officeDocument/2006/relationships/slideLayout" Target="../slideLayouts/slideLayout2.xml"/><Relationship Id="rId5" Type="http://schemas.openxmlformats.org/officeDocument/2006/relationships/image" Target="../media/image20.gif"/><Relationship Id="rId4" Type="http://schemas.openxmlformats.org/officeDocument/2006/relationships/hyperlink" Target="https://www.akm.com/global/en/products/rotation-angle-sensor/tutorial/type-mechanism-2/" TargetMode="External"/></Relationships>
</file>

<file path=ppt/slides/_rels/slide2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3" Type="http://schemas.openxmlformats.org/officeDocument/2006/relationships/image" Target="../media/image21.jpg"/><Relationship Id="rId2" Type="http://schemas.openxmlformats.org/officeDocument/2006/relationships/notesSlide" Target="../notesSlides/notesSlide30.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31.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31.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32.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32.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33.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33.xml"/><Relationship Id="rId1" Type="http://schemas.openxmlformats.org/officeDocument/2006/relationships/slideLayout" Target="../slideLayouts/slideLayout1.xml"/><Relationship Id="rId4" Type="http://schemas.openxmlformats.org/officeDocument/2006/relationships/image" Target="../media/image22.png"/></Relationships>
</file>

<file path=ppt/slides/slide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1"/>
        <p:cNvGrpSpPr/>
        <p:nvPr/>
      </p:nvGrpSpPr>
      <p:grpSpPr>
        <a:xfrm>
          <a:off x="0" y="0"/>
          <a:ext cx="0" cy="0"/>
          <a:chOff x="0" y="0"/>
          <a:chExt cx="0" cy="0"/>
        </a:xfrm>
      </p:grpSpPr>
      <p:sp>
        <p:nvSpPr>
          <p:cNvPr id="82" name="Google Shape;82;p26"/>
          <p:cNvSpPr txBox="1"/>
          <p:nvPr/>
        </p:nvSpPr>
        <p:spPr>
          <a:xfrm>
            <a:off x="1134035" y="2553964"/>
            <a:ext cx="9924000" cy="2723782"/>
          </a:xfrm>
          <a:prstGeom prst="rect">
            <a:avLst/>
          </a:prstGeom>
          <a:noFill/>
          <a:ln>
            <a:noFill/>
          </a:ln>
        </p:spPr>
        <p:txBody>
          <a:bodyPr spcFirstLastPara="1" wrap="square" lIns="91425" tIns="45700" rIns="91425" bIns="45700" anchor="t" anchorCtr="0">
            <a:spAutoFit/>
          </a:bodyPr>
          <a:lstStyle/>
          <a:p>
            <a:pPr lvl="0" algn="ctr">
              <a:spcBef>
                <a:spcPts val="600"/>
              </a:spcBef>
              <a:buSzPts val="4500"/>
            </a:pPr>
            <a:r>
              <a:rPr lang="en-US" sz="4500" b="1" dirty="0">
                <a:solidFill>
                  <a:schemeClr val="lt1"/>
                </a:solidFill>
              </a:rPr>
              <a:t>SE 423: Introduction to Mechatronics</a:t>
            </a:r>
            <a:endParaRPr lang="en-US" sz="4500" dirty="0"/>
          </a:p>
          <a:p>
            <a:pPr marL="0" marR="0" lvl="0" indent="0" algn="ctr" rtl="0">
              <a:lnSpc>
                <a:spcPct val="100000"/>
              </a:lnSpc>
              <a:spcBef>
                <a:spcPts val="600"/>
              </a:spcBef>
              <a:spcAft>
                <a:spcPts val="0"/>
              </a:spcAft>
              <a:buNone/>
            </a:pPr>
            <a:r>
              <a:rPr lang="en-US" sz="2500" dirty="0">
                <a:solidFill>
                  <a:schemeClr val="lt1"/>
                </a:solidFill>
              </a:rPr>
              <a:t>Lecture 6: PWM</a:t>
            </a:r>
            <a:endParaRPr dirty="0"/>
          </a:p>
          <a:p>
            <a:pPr marL="0" marR="0" lvl="0" indent="0" algn="ctr" rtl="0">
              <a:lnSpc>
                <a:spcPct val="100000"/>
              </a:lnSpc>
              <a:spcBef>
                <a:spcPts val="600"/>
              </a:spcBef>
              <a:spcAft>
                <a:spcPts val="0"/>
              </a:spcAft>
              <a:buNone/>
            </a:pPr>
            <a:endParaRPr sz="1800" b="0" i="0" u="none" strike="noStrike" cap="none" dirty="0">
              <a:solidFill>
                <a:schemeClr val="lt1"/>
              </a:solidFill>
              <a:latin typeface="Arial"/>
              <a:ea typeface="Arial"/>
              <a:cs typeface="Arial"/>
              <a:sym typeface="Arial"/>
            </a:endParaRPr>
          </a:p>
          <a:p>
            <a:pPr marL="0" marR="0" lvl="0" indent="0" algn="ctr" rtl="0">
              <a:lnSpc>
                <a:spcPct val="100000"/>
              </a:lnSpc>
              <a:spcBef>
                <a:spcPts val="600"/>
              </a:spcBef>
              <a:spcAft>
                <a:spcPts val="0"/>
              </a:spcAft>
              <a:buNone/>
            </a:pPr>
            <a:r>
              <a:rPr lang="en-US" sz="1800" b="0" i="0" u="none" strike="noStrike" cap="none" dirty="0">
                <a:solidFill>
                  <a:schemeClr val="lt1"/>
                </a:solidFill>
                <a:latin typeface="Arial"/>
                <a:ea typeface="Arial"/>
                <a:cs typeface="Arial"/>
                <a:sym typeface="Arial"/>
              </a:rPr>
              <a:t>Marius Juston</a:t>
            </a:r>
            <a:endParaRPr sz="1800" b="0" i="0" u="none" strike="noStrike" cap="none" dirty="0">
              <a:solidFill>
                <a:srgbClr val="000000"/>
              </a:solidFill>
              <a:latin typeface="Arial"/>
              <a:ea typeface="Arial"/>
              <a:cs typeface="Arial"/>
              <a:sym typeface="Arial"/>
            </a:endParaRPr>
          </a:p>
        </p:txBody>
      </p:sp>
      <p:sp>
        <p:nvSpPr>
          <p:cNvPr id="83" name="Google Shape;83;p26"/>
          <p:cNvSpPr txBox="1"/>
          <p:nvPr/>
        </p:nvSpPr>
        <p:spPr>
          <a:xfrm>
            <a:off x="3922059" y="5413888"/>
            <a:ext cx="4347882" cy="369291"/>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dirty="0">
                <a:solidFill>
                  <a:schemeClr val="lt1"/>
                </a:solidFill>
                <a:latin typeface="Arial"/>
                <a:ea typeface="Arial"/>
                <a:cs typeface="Arial"/>
                <a:sym typeface="Arial"/>
              </a:rPr>
              <a:t>Monday, February 9</a:t>
            </a:r>
            <a:r>
              <a:rPr lang="en-US" sz="1800" b="0" i="0" u="none" strike="noStrike" cap="none" baseline="30000" dirty="0">
                <a:solidFill>
                  <a:schemeClr val="lt1"/>
                </a:solidFill>
                <a:latin typeface="Arial"/>
                <a:ea typeface="Arial"/>
                <a:cs typeface="Arial"/>
                <a:sym typeface="Arial"/>
              </a:rPr>
              <a:t>th</a:t>
            </a:r>
            <a:r>
              <a:rPr lang="en-US" sz="1800" b="0" i="0" u="none" strike="noStrike" cap="none" dirty="0">
                <a:solidFill>
                  <a:schemeClr val="lt1"/>
                </a:solidFill>
                <a:latin typeface="Arial"/>
                <a:ea typeface="Arial"/>
                <a:cs typeface="Arial"/>
                <a:sym typeface="Arial"/>
              </a:rPr>
              <a:t>, 2026</a:t>
            </a:r>
            <a:endParaRPr sz="1800" b="0" i="0" u="none" strike="noStrike" cap="none" dirty="0">
              <a:solidFill>
                <a:schemeClr val="lt1"/>
              </a:solidFill>
              <a:latin typeface="Arial"/>
              <a:ea typeface="Arial"/>
              <a:cs typeface="Arial"/>
              <a:sym typeface="Arial"/>
            </a:endParaRPr>
          </a:p>
        </p:txBody>
      </p:sp>
      <p:pic>
        <p:nvPicPr>
          <p:cNvPr id="84" name="Google Shape;84;p26"/>
          <p:cNvPicPr preferRelativeResize="0"/>
          <p:nvPr/>
        </p:nvPicPr>
        <p:blipFill rotWithShape="1">
          <a:blip r:embed="rId4">
            <a:alphaModFix/>
          </a:blip>
          <a:srcRect/>
          <a:stretch/>
        </p:blipFill>
        <p:spPr>
          <a:xfrm>
            <a:off x="4641007" y="1004743"/>
            <a:ext cx="2909982" cy="754664"/>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81D3E48-EB5B-86EE-C4D9-54116487B2D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BCC2F8C-3A4A-AD98-3682-D9499379E419}"/>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b="1" dirty="0">
                <a:solidFill>
                  <a:srgbClr val="E84B36"/>
                </a:solidFill>
                <a:latin typeface="Arial"/>
                <a:ea typeface="Arial"/>
                <a:cs typeface="Arial"/>
                <a:sym typeface="Arial"/>
              </a:rPr>
              <a:t>Office Hours:</a:t>
            </a:r>
            <a:endParaRPr lang="en-US" sz="2600" b="1" dirty="0">
              <a:solidFill>
                <a:srgbClr val="E84B36"/>
              </a:solidFill>
              <a:latin typeface="Arial"/>
              <a:ea typeface="Arial"/>
              <a:cs typeface="Arial"/>
              <a:sym typeface="Arial"/>
            </a:endParaRPr>
          </a:p>
          <a:p>
            <a:pPr marL="285750" indent="-285750">
              <a:lnSpc>
                <a:spcPct val="100000"/>
              </a:lnSpc>
              <a:spcBef>
                <a:spcPts val="0"/>
              </a:spcBef>
              <a:buSzPts val="3000"/>
            </a:pPr>
            <a:r>
              <a:rPr lang="en-US" sz="1800" b="1" dirty="0">
                <a:solidFill>
                  <a:schemeClr val="dk1"/>
                </a:solidFill>
                <a:latin typeface="Arial"/>
                <a:ea typeface="Arial"/>
                <a:cs typeface="Arial"/>
                <a:sym typeface="Arial"/>
              </a:rPr>
              <a:t>Monday: </a:t>
            </a:r>
            <a:r>
              <a:rPr lang="en-US" sz="1800" dirty="0">
                <a:solidFill>
                  <a:schemeClr val="dk1"/>
                </a:solidFill>
                <a:latin typeface="Arial"/>
                <a:ea typeface="Arial"/>
                <a:cs typeface="Arial"/>
                <a:sym typeface="Arial"/>
              </a:rPr>
              <a:t>4-6 PM</a:t>
            </a:r>
            <a:r>
              <a:rPr lang="en-US" sz="1800" b="1" dirty="0">
                <a:solidFill>
                  <a:schemeClr val="dk1"/>
                </a:solidFill>
                <a:latin typeface="Arial"/>
                <a:ea typeface="Arial"/>
                <a:cs typeface="Arial"/>
                <a:sym typeface="Arial"/>
              </a:rPr>
              <a:t>, </a:t>
            </a:r>
            <a:r>
              <a:rPr lang="en-US" sz="1800" dirty="0">
                <a:solidFill>
                  <a:schemeClr val="dk1"/>
                </a:solidFill>
                <a:latin typeface="Arial"/>
                <a:ea typeface="Arial"/>
                <a:cs typeface="Arial"/>
                <a:sym typeface="Arial"/>
              </a:rPr>
              <a:t>Neel</a:t>
            </a:r>
          </a:p>
          <a:p>
            <a:pPr marL="285750" indent="-285750">
              <a:lnSpc>
                <a:spcPct val="100000"/>
              </a:lnSpc>
              <a:spcBef>
                <a:spcPts val="0"/>
              </a:spcBef>
              <a:buSzPts val="3000"/>
            </a:pPr>
            <a:r>
              <a:rPr lang="en-US" sz="1800" b="1" dirty="0">
                <a:latin typeface="Arial"/>
                <a:ea typeface="Arial"/>
                <a:cs typeface="Arial"/>
                <a:sym typeface="Arial"/>
              </a:rPr>
              <a:t>Tuesday: </a:t>
            </a:r>
            <a:r>
              <a:rPr lang="en-US" sz="1800" dirty="0">
                <a:latin typeface="Arial"/>
                <a:ea typeface="Arial"/>
                <a:cs typeface="Arial"/>
                <a:sym typeface="Arial"/>
              </a:rPr>
              <a:t>11-1 PM</a:t>
            </a:r>
            <a:r>
              <a:rPr lang="en-US" sz="1800" b="1" dirty="0">
                <a:latin typeface="Arial"/>
                <a:ea typeface="Arial"/>
                <a:cs typeface="Arial"/>
                <a:sym typeface="Arial"/>
              </a:rPr>
              <a:t>, </a:t>
            </a:r>
            <a:r>
              <a:rPr lang="en-US" sz="1800" dirty="0">
                <a:latin typeface="Arial"/>
                <a:ea typeface="Arial"/>
                <a:cs typeface="Arial"/>
                <a:sym typeface="Arial"/>
              </a:rPr>
              <a:t>Lakshmi</a:t>
            </a:r>
          </a:p>
          <a:p>
            <a:pPr marL="285750" indent="-285750">
              <a:lnSpc>
                <a:spcPct val="100000"/>
              </a:lnSpc>
              <a:spcBef>
                <a:spcPts val="0"/>
              </a:spcBef>
              <a:buSzPts val="3000"/>
            </a:pPr>
            <a:r>
              <a:rPr lang="en-US" sz="1800" b="1" dirty="0">
                <a:solidFill>
                  <a:schemeClr val="dk1"/>
                </a:solidFill>
                <a:latin typeface="Arial"/>
                <a:ea typeface="Arial"/>
                <a:cs typeface="Arial"/>
                <a:sym typeface="Arial"/>
              </a:rPr>
              <a:t>Tuesday: </a:t>
            </a:r>
            <a:r>
              <a:rPr lang="en-US" sz="1800" dirty="0">
                <a:latin typeface="Arial"/>
                <a:ea typeface="Arial"/>
                <a:cs typeface="Arial"/>
                <a:sym typeface="Arial"/>
              </a:rPr>
              <a:t>1-3 PM</a:t>
            </a:r>
            <a:r>
              <a:rPr lang="en-US" sz="1800" b="1" dirty="0">
                <a:latin typeface="Arial"/>
                <a:ea typeface="Arial"/>
                <a:cs typeface="Arial"/>
                <a:sym typeface="Arial"/>
              </a:rPr>
              <a:t>, </a:t>
            </a:r>
            <a:r>
              <a:rPr lang="en-US" sz="1800" dirty="0">
                <a:latin typeface="Arial"/>
                <a:ea typeface="Arial"/>
                <a:cs typeface="Arial"/>
                <a:sym typeface="Arial"/>
              </a:rPr>
              <a:t>Samuel</a:t>
            </a:r>
          </a:p>
          <a:p>
            <a:pPr marL="285750" indent="-285750">
              <a:lnSpc>
                <a:spcPct val="100000"/>
              </a:lnSpc>
              <a:spcBef>
                <a:spcPts val="0"/>
              </a:spcBef>
              <a:buSzPts val="3000"/>
            </a:pPr>
            <a:r>
              <a:rPr lang="en-US" sz="1800" b="1" dirty="0">
                <a:solidFill>
                  <a:schemeClr val="dk1"/>
                </a:solidFill>
                <a:latin typeface="Arial"/>
                <a:ea typeface="Arial"/>
                <a:cs typeface="Arial"/>
                <a:sym typeface="Arial"/>
              </a:rPr>
              <a:t>Tuesday: </a:t>
            </a:r>
            <a:r>
              <a:rPr lang="en-US" sz="1800" dirty="0">
                <a:solidFill>
                  <a:schemeClr val="dk1"/>
                </a:solidFill>
                <a:latin typeface="Arial"/>
                <a:ea typeface="Arial"/>
                <a:cs typeface="Arial"/>
                <a:sym typeface="Arial"/>
              </a:rPr>
              <a:t>2-5 PM</a:t>
            </a:r>
            <a:r>
              <a:rPr lang="en-US" sz="1800" b="1" dirty="0">
                <a:solidFill>
                  <a:schemeClr val="dk1"/>
                </a:solidFill>
                <a:latin typeface="Arial"/>
                <a:ea typeface="Arial"/>
                <a:cs typeface="Arial"/>
                <a:sym typeface="Arial"/>
              </a:rPr>
              <a:t>, </a:t>
            </a:r>
            <a:r>
              <a:rPr lang="en-US" sz="1800" dirty="0">
                <a:solidFill>
                  <a:schemeClr val="dk1"/>
                </a:solidFill>
                <a:latin typeface="Arial"/>
                <a:ea typeface="Arial"/>
                <a:cs typeface="Arial"/>
                <a:sym typeface="Arial"/>
              </a:rPr>
              <a:t>Dan &amp; Marius</a:t>
            </a:r>
          </a:p>
          <a:p>
            <a:pPr marL="285750" indent="-285750">
              <a:lnSpc>
                <a:spcPct val="100000"/>
              </a:lnSpc>
              <a:spcBef>
                <a:spcPts val="0"/>
              </a:spcBef>
              <a:buSzPts val="3000"/>
            </a:pPr>
            <a:endParaRPr lang="en-US" sz="1800" b="1" dirty="0">
              <a:latin typeface="Arial"/>
              <a:ea typeface="Arial"/>
              <a:cs typeface="Arial"/>
              <a:sym typeface="Arial"/>
            </a:endParaRPr>
          </a:p>
          <a:p>
            <a:pPr marL="0" indent="0">
              <a:lnSpc>
                <a:spcPct val="100000"/>
              </a:lnSpc>
              <a:spcBef>
                <a:spcPts val="0"/>
              </a:spcBef>
              <a:buSzPts val="3000"/>
              <a:buNone/>
            </a:pPr>
            <a:r>
              <a:rPr lang="en-US" sz="1800" b="1" dirty="0">
                <a:solidFill>
                  <a:srgbClr val="E84B36"/>
                </a:solidFill>
                <a:latin typeface="Arial"/>
                <a:ea typeface="Arial"/>
                <a:cs typeface="Arial"/>
                <a:sym typeface="Arial"/>
              </a:rPr>
              <a:t>Lab: </a:t>
            </a:r>
            <a:r>
              <a:rPr lang="en-US" sz="1800" dirty="0">
                <a:latin typeface="Arial"/>
                <a:ea typeface="Arial"/>
                <a:cs typeface="Arial"/>
                <a:sym typeface="Arial"/>
              </a:rPr>
              <a:t>Starting Lab 3 this week. This a 3-week lab!</a:t>
            </a:r>
            <a:endParaRPr lang="en-US" sz="1800" dirty="0">
              <a:solidFill>
                <a:srgbClr val="E84B36"/>
              </a:solidFill>
              <a:latin typeface="Arial"/>
              <a:ea typeface="Arial"/>
              <a:cs typeface="Arial"/>
              <a:sym typeface="Arial"/>
            </a:endParaRPr>
          </a:p>
          <a:p>
            <a:pPr marL="0" indent="0">
              <a:lnSpc>
                <a:spcPct val="100000"/>
              </a:lnSpc>
              <a:spcBef>
                <a:spcPts val="0"/>
              </a:spcBef>
              <a:buSzPts val="3000"/>
              <a:buNone/>
            </a:pPr>
            <a:endParaRPr lang="en-US" sz="1800" b="1" dirty="0">
              <a:solidFill>
                <a:srgbClr val="E84B36"/>
              </a:solidFill>
              <a:latin typeface="Arial"/>
              <a:ea typeface="Arial"/>
              <a:cs typeface="Arial"/>
              <a:sym typeface="Arial"/>
            </a:endParaRPr>
          </a:p>
          <a:p>
            <a:pPr marL="0" indent="0">
              <a:lnSpc>
                <a:spcPct val="100000"/>
              </a:lnSpc>
              <a:spcBef>
                <a:spcPts val="0"/>
              </a:spcBef>
              <a:buSzPts val="3000"/>
              <a:buNone/>
            </a:pPr>
            <a:r>
              <a:rPr lang="en-US" sz="1800" b="1" dirty="0" err="1">
                <a:solidFill>
                  <a:srgbClr val="E84B36"/>
                </a:solidFill>
                <a:latin typeface="Arial"/>
                <a:ea typeface="Arial"/>
                <a:cs typeface="Arial"/>
                <a:sym typeface="Arial"/>
              </a:rPr>
              <a:t>Homeworks</a:t>
            </a:r>
            <a:r>
              <a:rPr lang="en-US" sz="1800" b="1" dirty="0">
                <a:solidFill>
                  <a:srgbClr val="E84B36"/>
                </a:solidFill>
                <a:latin typeface="Arial"/>
                <a:ea typeface="Arial"/>
                <a:cs typeface="Arial"/>
                <a:sym typeface="Arial"/>
              </a:rPr>
              <a:t>:</a:t>
            </a:r>
          </a:p>
          <a:p>
            <a:pPr marL="285750" indent="-285750">
              <a:lnSpc>
                <a:spcPct val="100000"/>
              </a:lnSpc>
              <a:spcBef>
                <a:spcPts val="0"/>
              </a:spcBef>
              <a:buSzPts val="3000"/>
            </a:pPr>
            <a:r>
              <a:rPr lang="en-US" sz="1800" dirty="0">
                <a:latin typeface="Arial"/>
                <a:ea typeface="Arial"/>
                <a:cs typeface="Arial"/>
                <a:sym typeface="Arial"/>
              </a:rPr>
              <a:t>Check-offs for </a:t>
            </a:r>
            <a:r>
              <a:rPr lang="en-US" sz="1800" dirty="0">
                <a:latin typeface="Arial"/>
                <a:ea typeface="Arial"/>
                <a:cs typeface="Arial"/>
                <a:sym typeface="Arial"/>
                <a:hlinkClick r:id="rId3"/>
              </a:rPr>
              <a:t>homework 2</a:t>
            </a:r>
            <a:r>
              <a:rPr lang="en-US" sz="1800" dirty="0">
                <a:latin typeface="Arial"/>
                <a:ea typeface="Arial"/>
                <a:cs typeface="Arial"/>
                <a:sym typeface="Arial"/>
              </a:rPr>
              <a:t> Ex 1 &amp; 2 are due </a:t>
            </a:r>
            <a:r>
              <a:rPr lang="en-US" sz="1800" b="1" dirty="0">
                <a:latin typeface="Arial"/>
                <a:ea typeface="Arial"/>
                <a:cs typeface="Arial"/>
                <a:sym typeface="Arial"/>
              </a:rPr>
              <a:t>February 17, 5PM (The end of office hours)</a:t>
            </a:r>
          </a:p>
          <a:p>
            <a:pPr marL="285750" indent="-285750">
              <a:lnSpc>
                <a:spcPct val="100000"/>
              </a:lnSpc>
              <a:spcBef>
                <a:spcPts val="0"/>
              </a:spcBef>
              <a:buSzPts val="3000"/>
            </a:pPr>
            <a:r>
              <a:rPr lang="en-US" sz="1800" dirty="0">
                <a:latin typeface="Arial"/>
                <a:ea typeface="Arial"/>
                <a:cs typeface="Arial"/>
                <a:sym typeface="Arial"/>
              </a:rPr>
              <a:t>Check-offs for </a:t>
            </a:r>
            <a:r>
              <a:rPr lang="en-US" sz="1800" dirty="0">
                <a:latin typeface="Arial"/>
                <a:ea typeface="Arial"/>
                <a:cs typeface="Arial"/>
                <a:sym typeface="Arial"/>
                <a:hlinkClick r:id="rId3"/>
              </a:rPr>
              <a:t>homework 2</a:t>
            </a:r>
            <a:r>
              <a:rPr lang="en-US" sz="1800" dirty="0">
                <a:latin typeface="Arial"/>
                <a:ea typeface="Arial"/>
                <a:cs typeface="Arial"/>
                <a:sym typeface="Arial"/>
              </a:rPr>
              <a:t> Ex 3 &amp; 4 are due </a:t>
            </a:r>
            <a:r>
              <a:rPr lang="en-US" sz="1800" b="1" dirty="0">
                <a:latin typeface="Arial"/>
                <a:ea typeface="Arial"/>
                <a:cs typeface="Arial"/>
                <a:sym typeface="Arial"/>
              </a:rPr>
              <a:t>February 24, 5PM (The end of office hours)</a:t>
            </a:r>
            <a:endParaRPr lang="en-US" sz="1800" dirty="0">
              <a:latin typeface="Arial"/>
              <a:ea typeface="Arial"/>
              <a:cs typeface="Arial"/>
              <a:sym typeface="Arial"/>
            </a:endParaRPr>
          </a:p>
          <a:p>
            <a:pPr marL="285750" indent="-285750">
              <a:lnSpc>
                <a:spcPct val="100000"/>
              </a:lnSpc>
              <a:spcBef>
                <a:spcPts val="0"/>
              </a:spcBef>
              <a:buSzPts val="3000"/>
            </a:pPr>
            <a:r>
              <a:rPr lang="en-US" sz="1800" dirty="0">
                <a:latin typeface="Arial"/>
                <a:ea typeface="Arial"/>
                <a:cs typeface="Arial"/>
                <a:sym typeface="Arial"/>
              </a:rPr>
              <a:t>Answers and code submissions for homework 2 are due </a:t>
            </a:r>
            <a:r>
              <a:rPr lang="en-US" sz="1800" b="1" dirty="0">
                <a:latin typeface="Arial"/>
                <a:ea typeface="Arial"/>
                <a:cs typeface="Arial"/>
                <a:sym typeface="Arial"/>
              </a:rPr>
              <a:t>February 17, 9AM</a:t>
            </a:r>
          </a:p>
          <a:p>
            <a:pPr marL="285750" indent="-285750">
              <a:lnSpc>
                <a:spcPct val="100000"/>
              </a:lnSpc>
              <a:spcBef>
                <a:spcPts val="0"/>
              </a:spcBef>
              <a:buSzPts val="3000"/>
            </a:pPr>
            <a:endParaRPr lang="en-US" sz="1800" dirty="0">
              <a:latin typeface="Arial"/>
              <a:ea typeface="Arial"/>
              <a:cs typeface="Arial"/>
              <a:sym typeface="Arial"/>
            </a:endParaRPr>
          </a:p>
          <a:p>
            <a:pPr marL="0" indent="0">
              <a:lnSpc>
                <a:spcPct val="100000"/>
              </a:lnSpc>
              <a:spcBef>
                <a:spcPts val="0"/>
              </a:spcBef>
              <a:buSzPts val="3000"/>
              <a:buNone/>
            </a:pPr>
            <a:r>
              <a:rPr lang="en-US" sz="1800" b="1" dirty="0">
                <a:solidFill>
                  <a:srgbClr val="E84B36"/>
                </a:solidFill>
                <a:latin typeface="Arial"/>
                <a:ea typeface="Arial"/>
                <a:cs typeface="Arial"/>
                <a:sym typeface="Arial"/>
              </a:rPr>
              <a:t>LabVIEW:</a:t>
            </a:r>
          </a:p>
          <a:p>
            <a:pPr marL="285750" indent="-285750">
              <a:lnSpc>
                <a:spcPct val="100000"/>
              </a:lnSpc>
              <a:spcBef>
                <a:spcPts val="0"/>
              </a:spcBef>
              <a:buSzPts val="3000"/>
            </a:pPr>
            <a:r>
              <a:rPr lang="en-US" sz="1800" dirty="0">
                <a:latin typeface="Arial"/>
                <a:ea typeface="Arial"/>
                <a:cs typeface="Arial"/>
                <a:sym typeface="Arial"/>
              </a:rPr>
              <a:t>All check-offs for </a:t>
            </a:r>
            <a:r>
              <a:rPr lang="en-US" sz="1800" dirty="0">
                <a:latin typeface="Arial"/>
                <a:ea typeface="Arial"/>
                <a:cs typeface="Arial"/>
                <a:sym typeface="Arial"/>
                <a:hlinkClick r:id="rId4"/>
              </a:rPr>
              <a:t>LabVIEW 2</a:t>
            </a:r>
            <a:r>
              <a:rPr lang="en-US" sz="1800" dirty="0">
                <a:latin typeface="Arial"/>
                <a:ea typeface="Arial"/>
                <a:cs typeface="Arial"/>
                <a:sym typeface="Arial"/>
              </a:rPr>
              <a:t> are due </a:t>
            </a:r>
            <a:r>
              <a:rPr lang="en-US" sz="1800" b="1" dirty="0">
                <a:latin typeface="Arial"/>
                <a:ea typeface="Arial"/>
                <a:cs typeface="Arial"/>
                <a:sym typeface="Arial"/>
              </a:rPr>
              <a:t>February 26, 5PM</a:t>
            </a:r>
          </a:p>
          <a:p>
            <a:pPr marL="285750" indent="-285750">
              <a:lnSpc>
                <a:spcPct val="100000"/>
              </a:lnSpc>
              <a:spcBef>
                <a:spcPts val="0"/>
              </a:spcBef>
              <a:buSzPts val="3000"/>
            </a:pPr>
            <a:endParaRPr lang="en-US" sz="1800" b="1" dirty="0">
              <a:latin typeface="Arial"/>
              <a:ea typeface="Arial"/>
              <a:cs typeface="Arial"/>
              <a:sym typeface="Arial"/>
            </a:endParaRPr>
          </a:p>
        </p:txBody>
      </p:sp>
      <p:sp>
        <p:nvSpPr>
          <p:cNvPr id="119" name="Google Shape;119;p29">
            <a:extLst>
              <a:ext uri="{FF2B5EF4-FFF2-40B4-BE49-F238E27FC236}">
                <a16:creationId xmlns:a16="http://schemas.microsoft.com/office/drawing/2014/main" id="{19848B8C-9075-59EA-79FA-AF5B8BFAF8D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6AE21486-AEEC-E367-96A5-81B49AD32D6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Reminders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28CCE647-4D9B-354D-A2E9-718CA28CD750}"/>
              </a:ext>
            </a:extLst>
          </p:cNvPr>
          <p:cNvPicPr preferRelativeResize="0"/>
          <p:nvPr/>
        </p:nvPicPr>
        <p:blipFill rotWithShape="1">
          <a:blip r:embed="rId5">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AC87A64-580A-4863-38B3-4D1504C83F5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3649EAB-2DB3-2DA4-9AD9-5D94AEE695E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41F8E2C-2780-2776-E8ED-542B082247F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D628D6E-10A9-03E9-659C-F8F2D0023C6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BEB3CD3-0F72-FD08-8FA5-00AD37965F2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79584103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p:cNvGrpSpPr/>
        <p:nvPr/>
      </p:nvGrpSpPr>
      <p:grpSpPr>
        <a:xfrm>
          <a:off x="0" y="0"/>
          <a:ext cx="0" cy="0"/>
          <a:chOff x="0" y="0"/>
          <a:chExt cx="0" cy="0"/>
        </a:xfrm>
      </p:grpSpPr>
      <p:sp>
        <p:nvSpPr>
          <p:cNvPr id="89" name="Google Shape;89;p27"/>
          <p:cNvSpPr txBox="1"/>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rial"/>
                <a:ea typeface="Arial"/>
                <a:cs typeface="Arial"/>
                <a:sym typeface="Arial"/>
              </a:rPr>
              <a:t>Questions?</a:t>
            </a:r>
            <a:endParaRPr sz="1400" b="0" i="0" u="none" strike="noStrike" cap="none" dirty="0">
              <a:solidFill>
                <a:srgbClr val="000000"/>
              </a:solidFill>
              <a:latin typeface="Arial"/>
              <a:ea typeface="Arial"/>
              <a:cs typeface="Arial"/>
              <a:sym typeface="Arial"/>
            </a:endParaRPr>
          </a:p>
        </p:txBody>
      </p:sp>
      <p:sp>
        <p:nvSpPr>
          <p:cNvPr id="90" name="Google Shape;90;p27"/>
          <p:cNvSpPr txBox="1"/>
          <p:nvPr/>
        </p:nvSpPr>
        <p:spPr>
          <a:xfrm>
            <a:off x="1441528" y="3232230"/>
            <a:ext cx="9308941" cy="113873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2800"/>
              <a:buFont typeface="Arial"/>
              <a:buNone/>
            </a:pPr>
            <a:r>
              <a:rPr lang="en-US" sz="2800" b="0" i="0" u="none" strike="noStrike" cap="none" dirty="0">
                <a:solidFill>
                  <a:schemeClr val="lt1"/>
                </a:solidFill>
                <a:latin typeface="Arial"/>
                <a:ea typeface="Arial"/>
                <a:cs typeface="Arial"/>
                <a:sym typeface="Arial"/>
              </a:rPr>
              <a:t>Homework, Lab, LabVIEW questions? </a:t>
            </a:r>
          </a:p>
          <a:p>
            <a:pPr marL="0" marR="0" lvl="0" indent="0" algn="ctr" rtl="0">
              <a:lnSpc>
                <a:spcPct val="100000"/>
              </a:lnSpc>
              <a:spcBef>
                <a:spcPts val="0"/>
              </a:spcBef>
              <a:spcAft>
                <a:spcPts val="0"/>
              </a:spcAft>
              <a:buClr>
                <a:srgbClr val="000000"/>
              </a:buClr>
              <a:buSzPts val="2800"/>
              <a:buFont typeface="Arial"/>
              <a:buNone/>
            </a:pPr>
            <a:r>
              <a:rPr lang="en-US" sz="2000" b="0" i="0" u="none" strike="noStrike" cap="none" dirty="0">
                <a:solidFill>
                  <a:schemeClr val="lt1"/>
                </a:solidFill>
                <a:latin typeface="Arial"/>
                <a:ea typeface="Arial"/>
                <a:cs typeface="Arial"/>
                <a:sym typeface="Arial"/>
              </a:rPr>
              <a:t>(All submission times / days are final! Be early, as you see these HW can be very long! </a:t>
            </a:r>
            <a:r>
              <a:rPr lang="en-US" sz="2000" dirty="0">
                <a:solidFill>
                  <a:schemeClr val="lt1"/>
                </a:solidFill>
              </a:rPr>
              <a:t>The times / days are always on Canvas / </a:t>
            </a:r>
            <a:r>
              <a:rPr lang="en-US" sz="2000" dirty="0" err="1">
                <a:solidFill>
                  <a:schemeClr val="lt1"/>
                </a:solidFill>
              </a:rPr>
              <a:t>Gradescope</a:t>
            </a:r>
            <a:r>
              <a:rPr lang="en-US" sz="2000" dirty="0">
                <a:solidFill>
                  <a:schemeClr val="lt1"/>
                </a:solidFill>
              </a:rPr>
              <a:t> / Lectures</a:t>
            </a:r>
            <a:r>
              <a:rPr lang="en-US" sz="2000" b="0" i="0" u="none" strike="noStrike" cap="none" dirty="0">
                <a:solidFill>
                  <a:schemeClr val="lt1"/>
                </a:solidFill>
                <a:latin typeface="Arial"/>
                <a:ea typeface="Arial"/>
                <a:cs typeface="Arial"/>
                <a:sym typeface="Arial"/>
              </a:rPr>
              <a:t>)</a:t>
            </a:r>
            <a:endParaRPr b="0" i="0" u="none" strike="noStrike" cap="none" dirty="0">
              <a:solidFill>
                <a:schemeClr val="lt1"/>
              </a:solidFill>
              <a:latin typeface="Arial"/>
              <a:ea typeface="Arial"/>
              <a:cs typeface="Arial"/>
              <a:sym typeface="Arial"/>
            </a:endParaRPr>
          </a:p>
        </p:txBody>
      </p:sp>
      <p:grpSp>
        <p:nvGrpSpPr>
          <p:cNvPr id="91" name="Google Shape;91;p27"/>
          <p:cNvGrpSpPr/>
          <p:nvPr/>
        </p:nvGrpSpPr>
        <p:grpSpPr>
          <a:xfrm>
            <a:off x="3943790" y="2676939"/>
            <a:ext cx="3861740" cy="322845"/>
            <a:chOff x="3943790" y="2676939"/>
            <a:chExt cx="3861740" cy="322845"/>
          </a:xfrm>
        </p:grpSpPr>
        <p:cxnSp>
          <p:nvCxnSpPr>
            <p:cNvPr id="92" name="Google Shape;92;p27"/>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96" name="Google Shape;96;p27"/>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p:cNvGrpSpPr/>
          <p:nvPr/>
        </p:nvGrpSpPr>
        <p:grpSpPr>
          <a:xfrm>
            <a:off x="4066674" y="6601537"/>
            <a:ext cx="5233412" cy="70446"/>
            <a:chOff x="4033424" y="6601537"/>
            <a:chExt cx="5233412" cy="70446"/>
          </a:xfrm>
        </p:grpSpPr>
        <p:cxnSp>
          <p:nvCxnSpPr>
            <p:cNvPr id="98" name="Google Shape;98;p27"/>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p:cNvGrpSpPr/>
        <p:nvPr/>
      </p:nvGrpSpPr>
      <p:grpSpPr>
        <a:xfrm>
          <a:off x="0" y="0"/>
          <a:ext cx="0" cy="0"/>
          <a:chOff x="0" y="0"/>
          <a:chExt cx="0" cy="0"/>
        </a:xfrm>
      </p:grpSpPr>
      <p:sp>
        <p:nvSpPr>
          <p:cNvPr id="104" name="Google Shape;104;p28"/>
          <p:cNvSpPr txBox="1"/>
          <p:nvPr/>
        </p:nvSpPr>
        <p:spPr>
          <a:xfrm>
            <a:off x="1295400" y="3225488"/>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rial"/>
                <a:ea typeface="Arial"/>
                <a:cs typeface="Arial"/>
                <a:sym typeface="Arial"/>
              </a:rPr>
              <a:t>Optical Encoder</a:t>
            </a:r>
            <a:endParaRPr dirty="0"/>
          </a:p>
        </p:txBody>
      </p:sp>
      <p:grpSp>
        <p:nvGrpSpPr>
          <p:cNvPr id="105" name="Google Shape;105;p28"/>
          <p:cNvGrpSpPr/>
          <p:nvPr/>
        </p:nvGrpSpPr>
        <p:grpSpPr>
          <a:xfrm>
            <a:off x="3943790" y="2676939"/>
            <a:ext cx="3861740" cy="322845"/>
            <a:chOff x="3943790" y="2676939"/>
            <a:chExt cx="3861740" cy="322845"/>
          </a:xfrm>
        </p:grpSpPr>
        <p:cxnSp>
          <p:nvCxnSpPr>
            <p:cNvPr id="106" name="Google Shape;106;p28"/>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10" name="Google Shape;110;p28"/>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p:cNvGrpSpPr/>
          <p:nvPr/>
        </p:nvGrpSpPr>
        <p:grpSpPr>
          <a:xfrm>
            <a:off x="4066674" y="6601537"/>
            <a:ext cx="5233412" cy="70446"/>
            <a:chOff x="4033424" y="6601537"/>
            <a:chExt cx="5233412" cy="70446"/>
          </a:xfrm>
        </p:grpSpPr>
        <p:cxnSp>
          <p:nvCxnSpPr>
            <p:cNvPr id="112" name="Google Shape;112;p28"/>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A848DA8-FE3E-0830-9B59-1AFC92F14F0F}"/>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B6616D9C-4999-23D7-D15F-73DE36E2415D}"/>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dirty="0">
                <a:solidFill>
                  <a:schemeClr val="dk1"/>
                </a:solidFill>
                <a:latin typeface="Arial"/>
                <a:ea typeface="Arial"/>
                <a:cs typeface="Arial"/>
                <a:sym typeface="Arial"/>
              </a:rPr>
              <a:t>How do we measure angular position or motion of a shaft into a digital value?</a:t>
            </a:r>
            <a:r>
              <a:rPr lang="en-US" sz="1800" dirty="0">
                <a:latin typeface="Arial"/>
                <a:ea typeface="Arial"/>
                <a:cs typeface="Arial"/>
                <a:sym typeface="Arial"/>
              </a:rPr>
              <a:t> Ideas?</a:t>
            </a:r>
          </a:p>
          <a:p>
            <a:pPr marL="0" lvl="0" indent="0" algn="l" rtl="0">
              <a:lnSpc>
                <a:spcPct val="100000"/>
              </a:lnSpc>
              <a:spcBef>
                <a:spcPts val="0"/>
              </a:spcBef>
              <a:spcAft>
                <a:spcPts val="0"/>
              </a:spcAft>
              <a:buSzPts val="3000"/>
              <a:buNone/>
            </a:pPr>
            <a:endParaRPr lang="en-US" sz="1800" dirty="0">
              <a:solidFill>
                <a:schemeClr val="dk1"/>
              </a:solidFill>
              <a:latin typeface="Arial"/>
              <a:ea typeface="Arial"/>
              <a:cs typeface="Arial"/>
              <a:sym typeface="Arial"/>
            </a:endParaRPr>
          </a:p>
          <a:p>
            <a:pPr marL="0" lvl="0" indent="0" algn="l" rtl="0">
              <a:lnSpc>
                <a:spcPct val="100000"/>
              </a:lnSpc>
              <a:spcBef>
                <a:spcPts val="0"/>
              </a:spcBef>
              <a:spcAft>
                <a:spcPts val="0"/>
              </a:spcAft>
              <a:buSzPts val="3000"/>
              <a:buNone/>
            </a:pPr>
            <a:r>
              <a:rPr lang="en-US" sz="1800" dirty="0">
                <a:solidFill>
                  <a:schemeClr val="dk1"/>
                </a:solidFill>
                <a:latin typeface="Arial"/>
                <a:ea typeface="Arial"/>
                <a:cs typeface="Arial"/>
                <a:sym typeface="Arial"/>
              </a:rPr>
              <a:t>The optical encoder is composed of a light emitting device (</a:t>
            </a:r>
            <a:r>
              <a:rPr lang="en-US" sz="1800" b="1" dirty="0">
                <a:solidFill>
                  <a:schemeClr val="dk1"/>
                </a:solidFill>
                <a:latin typeface="Arial"/>
                <a:ea typeface="Arial"/>
                <a:cs typeface="Arial"/>
                <a:sym typeface="Arial"/>
              </a:rPr>
              <a:t>LED</a:t>
            </a:r>
            <a:r>
              <a:rPr lang="en-US" sz="1800" dirty="0">
                <a:solidFill>
                  <a:schemeClr val="dk1"/>
                </a:solidFill>
                <a:latin typeface="Arial"/>
                <a:ea typeface="Arial"/>
                <a:cs typeface="Arial"/>
                <a:sym typeface="Arial"/>
              </a:rPr>
              <a:t>), </a:t>
            </a:r>
            <a:r>
              <a:rPr lang="en-US" sz="1800" b="1" dirty="0">
                <a:solidFill>
                  <a:schemeClr val="dk1"/>
                </a:solidFill>
                <a:latin typeface="Arial"/>
                <a:ea typeface="Arial"/>
                <a:cs typeface="Arial"/>
                <a:sym typeface="Arial"/>
              </a:rPr>
              <a:t>photo sensors</a:t>
            </a:r>
            <a:r>
              <a:rPr lang="en-US" sz="1800" dirty="0">
                <a:solidFill>
                  <a:schemeClr val="dk1"/>
                </a:solidFill>
                <a:latin typeface="Arial"/>
                <a:ea typeface="Arial"/>
                <a:cs typeface="Arial"/>
                <a:sym typeface="Arial"/>
              </a:rPr>
              <a:t>, and a disc called a </a:t>
            </a:r>
            <a:r>
              <a:rPr lang="en-US" sz="1800" b="1" dirty="0">
                <a:solidFill>
                  <a:schemeClr val="dk1"/>
                </a:solidFill>
                <a:latin typeface="Arial"/>
                <a:ea typeface="Arial"/>
                <a:cs typeface="Arial"/>
                <a:sym typeface="Arial"/>
              </a:rPr>
              <a:t>code wheel </a:t>
            </a:r>
            <a:r>
              <a:rPr lang="en-US" sz="1800" dirty="0">
                <a:solidFill>
                  <a:schemeClr val="dk1"/>
                </a:solidFill>
                <a:latin typeface="Arial"/>
                <a:ea typeface="Arial"/>
                <a:cs typeface="Arial"/>
                <a:sym typeface="Arial"/>
              </a:rPr>
              <a:t>with slits (holes) in the radial direction and detects rotational position information as an optical pulse signal.</a:t>
            </a:r>
          </a:p>
          <a:p>
            <a:pPr marL="0" lvl="0" indent="0" algn="l" rtl="0">
              <a:lnSpc>
                <a:spcPct val="100000"/>
              </a:lnSpc>
              <a:spcBef>
                <a:spcPts val="0"/>
              </a:spcBef>
              <a:spcAft>
                <a:spcPts val="0"/>
              </a:spcAft>
              <a:buSzPts val="3000"/>
              <a:buNone/>
            </a:pPr>
            <a:endParaRPr lang="en-US" sz="1800" dirty="0">
              <a:solidFill>
                <a:schemeClr val="dk1"/>
              </a:solidFill>
              <a:latin typeface="Arial"/>
              <a:ea typeface="Arial"/>
              <a:cs typeface="Arial"/>
              <a:sym typeface="Arial"/>
            </a:endParaRPr>
          </a:p>
          <a:p>
            <a:pPr marL="0" lvl="0" indent="0" algn="l" rtl="0">
              <a:lnSpc>
                <a:spcPct val="100000"/>
              </a:lnSpc>
              <a:spcBef>
                <a:spcPts val="0"/>
              </a:spcBef>
              <a:spcAft>
                <a:spcPts val="0"/>
              </a:spcAft>
              <a:buSzPts val="3000"/>
              <a:buNone/>
            </a:pPr>
            <a:r>
              <a:rPr lang="en-US" sz="1800" dirty="0">
                <a:solidFill>
                  <a:schemeClr val="dk1"/>
                </a:solidFill>
                <a:latin typeface="Arial"/>
                <a:ea typeface="Arial"/>
                <a:cs typeface="Arial"/>
                <a:sym typeface="Arial"/>
              </a:rPr>
              <a:t>When a code wheel attached to a rotating shaft such as a motor rotates, an optical pulse is generated depending on whether light emitted from a fixed light emitting element passes through a slit of the code wheel or not.</a:t>
            </a:r>
          </a:p>
          <a:p>
            <a:pPr marL="0" lvl="0" indent="0" algn="l" rtl="0">
              <a:lnSpc>
                <a:spcPct val="100000"/>
              </a:lnSpc>
              <a:spcBef>
                <a:spcPts val="0"/>
              </a:spcBef>
              <a:spcAft>
                <a:spcPts val="0"/>
              </a:spcAft>
              <a:buSzPts val="3000"/>
              <a:buNone/>
            </a:pPr>
            <a:endParaRPr lang="en-US" sz="1800" dirty="0">
              <a:solidFill>
                <a:schemeClr val="dk1"/>
              </a:solidFill>
              <a:latin typeface="Arial"/>
              <a:ea typeface="Arial"/>
              <a:cs typeface="Arial"/>
              <a:sym typeface="Arial"/>
            </a:endParaRPr>
          </a:p>
          <a:p>
            <a:pPr marL="0" lvl="0" indent="0" algn="l" rtl="0">
              <a:lnSpc>
                <a:spcPct val="100000"/>
              </a:lnSpc>
              <a:spcBef>
                <a:spcPts val="0"/>
              </a:spcBef>
              <a:spcAft>
                <a:spcPts val="0"/>
              </a:spcAft>
              <a:buSzPts val="3000"/>
              <a:buNone/>
            </a:pPr>
            <a:r>
              <a:rPr lang="en-US" sz="1800" dirty="0">
                <a:solidFill>
                  <a:schemeClr val="dk1"/>
                </a:solidFill>
                <a:latin typeface="Arial"/>
                <a:ea typeface="Arial"/>
                <a:cs typeface="Arial"/>
                <a:sym typeface="Arial"/>
              </a:rPr>
              <a:t>Photo sensor detects the optical pulse, converts it into an electrical signal, and outputs it.</a:t>
            </a:r>
          </a:p>
          <a:p>
            <a:pPr marL="0" lvl="0" indent="0" algn="l" rtl="0">
              <a:lnSpc>
                <a:spcPct val="100000"/>
              </a:lnSpc>
              <a:spcBef>
                <a:spcPts val="0"/>
              </a:spcBef>
              <a:spcAft>
                <a:spcPts val="0"/>
              </a:spcAft>
              <a:buSzPts val="3000"/>
              <a:buNone/>
            </a:pPr>
            <a:endParaRPr lang="en-US" sz="1800" dirty="0">
              <a:latin typeface="Arial"/>
              <a:ea typeface="Arial"/>
              <a:cs typeface="Arial"/>
              <a:sym typeface="Arial"/>
            </a:endParaRPr>
          </a:p>
          <a:p>
            <a:pPr marL="0" lvl="0" indent="0" algn="l" rtl="0">
              <a:lnSpc>
                <a:spcPct val="100000"/>
              </a:lnSpc>
              <a:spcBef>
                <a:spcPts val="0"/>
              </a:spcBef>
              <a:spcAft>
                <a:spcPts val="0"/>
              </a:spcAft>
              <a:buSzPts val="3000"/>
              <a:buNone/>
            </a:pPr>
            <a:endParaRPr lang="en-US" sz="1800" dirty="0">
              <a:solidFill>
                <a:schemeClr val="dk1"/>
              </a:solidFill>
              <a:latin typeface="Arial"/>
              <a:ea typeface="Arial"/>
              <a:cs typeface="Arial"/>
              <a:sym typeface="Arial"/>
            </a:endParaRPr>
          </a:p>
          <a:p>
            <a:pPr marL="0" lvl="0" indent="0" algn="l" rtl="0">
              <a:lnSpc>
                <a:spcPct val="100000"/>
              </a:lnSpc>
              <a:spcBef>
                <a:spcPts val="0"/>
              </a:spcBef>
              <a:spcAft>
                <a:spcPts val="0"/>
              </a:spcAft>
              <a:buSzPts val="3000"/>
              <a:buNone/>
            </a:pPr>
            <a:endParaRPr lang="en-US" sz="1800" dirty="0">
              <a:solidFill>
                <a:schemeClr val="dk1"/>
              </a:solidFill>
              <a:latin typeface="Arial"/>
              <a:ea typeface="Arial"/>
              <a:cs typeface="Arial"/>
              <a:sym typeface="Arial"/>
            </a:endParaRPr>
          </a:p>
          <a:p>
            <a:pPr marL="0" lvl="0" indent="0" algn="l" rtl="0">
              <a:lnSpc>
                <a:spcPct val="100000"/>
              </a:lnSpc>
              <a:spcBef>
                <a:spcPts val="0"/>
              </a:spcBef>
              <a:spcAft>
                <a:spcPts val="0"/>
              </a:spcAft>
              <a:buSzPts val="3000"/>
              <a:buNone/>
            </a:pPr>
            <a:endParaRPr lang="en-US" sz="1800" dirty="0">
              <a:solidFill>
                <a:schemeClr val="dk1"/>
              </a:solidFill>
              <a:latin typeface="Arial"/>
              <a:ea typeface="Arial"/>
              <a:cs typeface="Arial"/>
              <a:sym typeface="Arial"/>
            </a:endParaRPr>
          </a:p>
        </p:txBody>
      </p:sp>
      <p:sp>
        <p:nvSpPr>
          <p:cNvPr id="119" name="Google Shape;119;p29">
            <a:extLst>
              <a:ext uri="{FF2B5EF4-FFF2-40B4-BE49-F238E27FC236}">
                <a16:creationId xmlns:a16="http://schemas.microsoft.com/office/drawing/2014/main" id="{F63EBF5B-66AE-EEAF-5A56-9801F1570D8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4CD176F3-86E7-F051-6C6A-1E87EA4A3DC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Optical Encoder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6C411FD3-A65D-CD5F-9BA5-3DF9BF104C2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B29439B-6E5A-1701-840F-2B8D6714A87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555167C-BD54-0119-099E-3D530B73F9E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3DA8207-3E4D-71B1-46E7-BDDE09E15C2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0DC9077-521E-6CE8-5EC1-3A81FCF26A3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300CBD5-C52D-B33F-10E2-7C783D82A62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28917039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622F817-1DE4-6947-566F-A73DC43F0FA3}"/>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226E88ED-7384-EF6D-9E61-294ED4EBA78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926B4B84-CD52-3786-3F3C-D3CE49A30A6C}"/>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Optical Encoder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286127ED-B973-10E9-7F19-2EA3D4FFBCB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C0057AE-F914-B075-D3FA-ED1BC52A282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C52B4AF-83CF-E735-21CB-5716A062973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2173034-BDF7-2BFD-94EB-F379DEB67DA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94B8CE2-7B8F-429B-69CC-1E8E4B72B12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142CC48-CE26-6740-B6AB-67863560072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2052" name="Picture 4" descr="04 Principle and advantages of optical encoder | Tutorials | Rotation Angle  Sensors | Products | Asahi Kasei Microdevices (AKM)">
            <a:extLst>
              <a:ext uri="{FF2B5EF4-FFF2-40B4-BE49-F238E27FC236}">
                <a16:creationId xmlns:a16="http://schemas.microsoft.com/office/drawing/2014/main" id="{E085C5D8-D434-61DF-7AD5-ECFC5D5480E0}"/>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902696" y="1241564"/>
            <a:ext cx="5326944" cy="4794250"/>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BF01B12A-4675-2D31-D5C9-9414A2F79BFF}"/>
              </a:ext>
            </a:extLst>
          </p:cNvPr>
          <p:cNvSpPr txBox="1"/>
          <p:nvPr/>
        </p:nvSpPr>
        <p:spPr>
          <a:xfrm>
            <a:off x="3905250" y="5819967"/>
            <a:ext cx="5324390" cy="253916"/>
          </a:xfrm>
          <a:prstGeom prst="rect">
            <a:avLst/>
          </a:prstGeom>
          <a:noFill/>
        </p:spPr>
        <p:txBody>
          <a:bodyPr wrap="square" rtlCol="0">
            <a:spAutoFit/>
          </a:bodyPr>
          <a:lstStyle/>
          <a:p>
            <a:r>
              <a:rPr lang="en-US" sz="1050" dirty="0">
                <a:hlinkClick r:id="rId5"/>
              </a:rPr>
              <a:t>https://www.akm.com/global/en/products/rotation-angle-sensor/tutorial/optical-encoder/</a:t>
            </a:r>
            <a:r>
              <a:rPr lang="en-US" sz="1050" dirty="0"/>
              <a:t> </a:t>
            </a:r>
          </a:p>
        </p:txBody>
      </p:sp>
    </p:spTree>
    <p:extLst>
      <p:ext uri="{BB962C8B-B14F-4D97-AF65-F5344CB8AC3E}">
        <p14:creationId xmlns:p14="http://schemas.microsoft.com/office/powerpoint/2010/main" val="305608584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BD647A5-11CB-6DF5-85B7-EE526CF29AF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D54E0B6-0B7B-132F-4A7E-6FD22A05084A}"/>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dirty="0">
                <a:solidFill>
                  <a:schemeClr val="dk1"/>
                </a:solidFill>
                <a:latin typeface="+mj-lt"/>
                <a:ea typeface="Arial"/>
                <a:cs typeface="Arial"/>
                <a:sym typeface="Arial"/>
              </a:rPr>
              <a:t>2 Different types of optical encoders,</a:t>
            </a:r>
          </a:p>
          <a:p>
            <a:pPr marL="0" lvl="0" indent="0" algn="l" rtl="0">
              <a:lnSpc>
                <a:spcPct val="100000"/>
              </a:lnSpc>
              <a:spcBef>
                <a:spcPts val="0"/>
              </a:spcBef>
              <a:spcAft>
                <a:spcPts val="0"/>
              </a:spcAft>
              <a:buSzPts val="3000"/>
              <a:buNone/>
            </a:pPr>
            <a:endParaRPr lang="en-US" sz="1800" dirty="0">
              <a:latin typeface="+mj-lt"/>
              <a:ea typeface="Arial"/>
              <a:cs typeface="Arial"/>
              <a:sym typeface="Arial"/>
            </a:endParaRPr>
          </a:p>
          <a:p>
            <a:pPr marL="0" lvl="0" indent="0" algn="l" rtl="0">
              <a:lnSpc>
                <a:spcPct val="100000"/>
              </a:lnSpc>
              <a:spcBef>
                <a:spcPts val="0"/>
              </a:spcBef>
              <a:spcAft>
                <a:spcPts val="0"/>
              </a:spcAft>
              <a:buSzPts val="3000"/>
              <a:buNone/>
            </a:pPr>
            <a:endParaRPr lang="en-US" sz="1800" dirty="0">
              <a:solidFill>
                <a:schemeClr val="dk1"/>
              </a:solidFill>
              <a:latin typeface="+mj-lt"/>
              <a:ea typeface="Arial"/>
              <a:cs typeface="Arial"/>
              <a:sym typeface="Arial"/>
            </a:endParaRPr>
          </a:p>
          <a:p>
            <a:pPr marL="0" lvl="0" indent="0" algn="l" rtl="0">
              <a:lnSpc>
                <a:spcPct val="100000"/>
              </a:lnSpc>
              <a:spcBef>
                <a:spcPts val="0"/>
              </a:spcBef>
              <a:spcAft>
                <a:spcPts val="0"/>
              </a:spcAft>
              <a:buSzPts val="3000"/>
              <a:buNone/>
            </a:pPr>
            <a:r>
              <a:rPr lang="en-US" sz="1800" dirty="0">
                <a:solidFill>
                  <a:schemeClr val="dk1"/>
                </a:solidFill>
                <a:latin typeface="+mj-lt"/>
                <a:ea typeface="Arial"/>
                <a:cs typeface="Arial"/>
                <a:sym typeface="Arial"/>
              </a:rPr>
              <a:t>An </a:t>
            </a:r>
            <a:r>
              <a:rPr lang="en-US" sz="1800" b="1" dirty="0">
                <a:solidFill>
                  <a:schemeClr val="dk1"/>
                </a:solidFill>
                <a:latin typeface="+mj-lt"/>
                <a:ea typeface="Arial"/>
                <a:cs typeface="Arial"/>
                <a:sym typeface="Arial"/>
              </a:rPr>
              <a:t>incremental</a:t>
            </a:r>
            <a:r>
              <a:rPr lang="en-US" sz="1800" dirty="0">
                <a:solidFill>
                  <a:schemeClr val="dk1"/>
                </a:solidFill>
                <a:latin typeface="+mj-lt"/>
                <a:ea typeface="Arial"/>
                <a:cs typeface="Arial"/>
                <a:sym typeface="Arial"/>
              </a:rPr>
              <a:t> optical encoder:</a:t>
            </a:r>
          </a:p>
          <a:p>
            <a:pPr marL="0" lvl="0" indent="0" algn="l" rtl="0">
              <a:lnSpc>
                <a:spcPct val="100000"/>
              </a:lnSpc>
              <a:spcBef>
                <a:spcPts val="0"/>
              </a:spcBef>
              <a:spcAft>
                <a:spcPts val="0"/>
              </a:spcAft>
              <a:buSzPts val="3000"/>
              <a:buNone/>
            </a:pPr>
            <a:endParaRPr lang="en-US" sz="1800" dirty="0">
              <a:latin typeface="+mj-lt"/>
              <a:ea typeface="Arial"/>
              <a:cs typeface="Arial"/>
              <a:sym typeface="Arial"/>
            </a:endParaRPr>
          </a:p>
          <a:p>
            <a:pPr marL="285750" indent="-285750">
              <a:lnSpc>
                <a:spcPct val="100000"/>
              </a:lnSpc>
              <a:spcBef>
                <a:spcPts val="0"/>
              </a:spcBef>
              <a:buSzPts val="3000"/>
            </a:pPr>
            <a:r>
              <a:rPr lang="en-US" sz="1800" dirty="0">
                <a:solidFill>
                  <a:schemeClr val="dk1"/>
                </a:solidFill>
                <a:latin typeface="+mj-lt"/>
                <a:ea typeface="Arial"/>
                <a:cs typeface="Arial"/>
                <a:sym typeface="Arial"/>
              </a:rPr>
              <a:t>The code disc divided into sectors that are alternately transparent and opaque. </a:t>
            </a:r>
          </a:p>
          <a:p>
            <a:pPr marL="285750" indent="-285750">
              <a:lnSpc>
                <a:spcPct val="100000"/>
              </a:lnSpc>
              <a:spcBef>
                <a:spcPts val="0"/>
              </a:spcBef>
              <a:buSzPts val="3000"/>
            </a:pPr>
            <a:r>
              <a:rPr lang="en-US" sz="1800" dirty="0">
                <a:solidFill>
                  <a:schemeClr val="dk1"/>
                </a:solidFill>
                <a:latin typeface="+mj-lt"/>
                <a:ea typeface="Arial"/>
                <a:cs typeface="Arial"/>
                <a:sym typeface="Arial"/>
              </a:rPr>
              <a:t>A light source is positioned on one side of the disc, and a light sensor on the other side. </a:t>
            </a:r>
          </a:p>
          <a:p>
            <a:pPr marL="285750" indent="-285750">
              <a:lnSpc>
                <a:spcPct val="100000"/>
              </a:lnSpc>
              <a:spcBef>
                <a:spcPts val="0"/>
              </a:spcBef>
              <a:buSzPts val="3000"/>
            </a:pPr>
            <a:r>
              <a:rPr lang="en-US" sz="1800" dirty="0">
                <a:solidFill>
                  <a:schemeClr val="dk1"/>
                </a:solidFill>
                <a:latin typeface="+mj-lt"/>
                <a:ea typeface="Arial"/>
                <a:cs typeface="Arial"/>
                <a:sym typeface="Arial"/>
              </a:rPr>
              <a:t>As the disc rotates, the output from the detector switches alternately on and off, depending on whether the sector appearing between the light source and the detector is transparent or opaque. </a:t>
            </a:r>
          </a:p>
          <a:p>
            <a:pPr marL="0" indent="0">
              <a:lnSpc>
                <a:spcPct val="100000"/>
              </a:lnSpc>
              <a:spcBef>
                <a:spcPts val="0"/>
              </a:spcBef>
              <a:buSzPts val="3000"/>
              <a:buNone/>
            </a:pPr>
            <a:endParaRPr lang="en-US" sz="1800" dirty="0">
              <a:latin typeface="+mj-lt"/>
              <a:ea typeface="Arial"/>
              <a:cs typeface="Arial"/>
              <a:sym typeface="Arial"/>
            </a:endParaRPr>
          </a:p>
          <a:p>
            <a:pPr marL="0" indent="0">
              <a:lnSpc>
                <a:spcPct val="100000"/>
              </a:lnSpc>
              <a:spcBef>
                <a:spcPts val="0"/>
              </a:spcBef>
              <a:buSzPts val="3000"/>
              <a:buNone/>
            </a:pPr>
            <a:endParaRPr lang="en-US" sz="1800" dirty="0">
              <a:solidFill>
                <a:schemeClr val="dk1"/>
              </a:solidFill>
              <a:latin typeface="+mj-lt"/>
              <a:ea typeface="Arial"/>
              <a:cs typeface="Arial"/>
              <a:sym typeface="Arial"/>
            </a:endParaRPr>
          </a:p>
          <a:p>
            <a:pPr marL="0" indent="0">
              <a:lnSpc>
                <a:spcPct val="100000"/>
              </a:lnSpc>
              <a:spcBef>
                <a:spcPts val="0"/>
              </a:spcBef>
              <a:buSzPts val="3000"/>
              <a:buNone/>
            </a:pPr>
            <a:r>
              <a:rPr lang="en-US" sz="1800" dirty="0">
                <a:latin typeface="+mj-lt"/>
              </a:rPr>
              <a:t>The encoder produces a stream of square wave pulses which, when counted, indicate the angular position of the shaft.</a:t>
            </a:r>
          </a:p>
        </p:txBody>
      </p:sp>
      <p:sp>
        <p:nvSpPr>
          <p:cNvPr id="119" name="Google Shape;119;p29">
            <a:extLst>
              <a:ext uri="{FF2B5EF4-FFF2-40B4-BE49-F238E27FC236}">
                <a16:creationId xmlns:a16="http://schemas.microsoft.com/office/drawing/2014/main" id="{0DCC1397-87C6-A018-E00C-0903A0F696E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52B32E97-A388-5D70-6121-D6CDAF1A51A4}"/>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Optical Encoder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D50909CB-F550-1D95-DE9C-05E3593158B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F85F69F-0F9A-6324-F80E-E286E357E15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F28274F-9D20-9ACE-556C-BCE26AF4D8D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85ABB36-0399-CB54-E569-6340916C26D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7A6DC35-72D5-7C67-F1A2-7CA6926AAB5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ACD2E0F-8636-AC50-3E58-0AAEDECF25C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71004983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1D2E858-566D-EFAE-CB85-0B0A779AB839}"/>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FFB02168-56A0-4A4B-E138-0A97387182C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24F0FA01-E215-0301-E4FE-40E58E88CAC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Optical Encoder - Resolution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2E809CFA-4FC5-D3D8-3AD6-39D90978C4F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9775456-D617-145F-83B8-FC417B46CA8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1AA960F-5637-5FB6-7A05-45C1160410D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FB7E7D1-426D-8206-15F6-EDF5C2EE78C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D6879AF-86CE-8D3B-C7F9-10C17C99702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EFD6E72-B45D-1F16-385D-2304AF82FB9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
        <p:nvSpPr>
          <p:cNvPr id="2" name="TextBox 1">
            <a:extLst>
              <a:ext uri="{FF2B5EF4-FFF2-40B4-BE49-F238E27FC236}">
                <a16:creationId xmlns:a16="http://schemas.microsoft.com/office/drawing/2014/main" id="{E92796CA-B4E1-C6E8-8A3F-C925B633A3F6}"/>
              </a:ext>
            </a:extLst>
          </p:cNvPr>
          <p:cNvSpPr txBox="1"/>
          <p:nvPr/>
        </p:nvSpPr>
        <p:spPr>
          <a:xfrm>
            <a:off x="3346450" y="5864883"/>
            <a:ext cx="5499100" cy="253916"/>
          </a:xfrm>
          <a:prstGeom prst="rect">
            <a:avLst/>
          </a:prstGeom>
          <a:noFill/>
        </p:spPr>
        <p:txBody>
          <a:bodyPr wrap="square" rtlCol="0">
            <a:spAutoFit/>
          </a:bodyPr>
          <a:lstStyle/>
          <a:p>
            <a:r>
              <a:rPr lang="en-US" sz="1050" dirty="0">
                <a:hlinkClick r:id="rId4"/>
              </a:rPr>
              <a:t>https://www.akm.com/global/en/products/rotation-angle-sensor/tutorial/type-mechanism-2/</a:t>
            </a:r>
            <a:r>
              <a:rPr lang="en-US" sz="1050" dirty="0"/>
              <a:t> </a:t>
            </a:r>
          </a:p>
        </p:txBody>
      </p:sp>
      <p:pic>
        <p:nvPicPr>
          <p:cNvPr id="3074" name="Picture 2" descr="Figure 2a. 4-slit incremental type rotary encoder">
            <a:extLst>
              <a:ext uri="{FF2B5EF4-FFF2-40B4-BE49-F238E27FC236}">
                <a16:creationId xmlns:a16="http://schemas.microsoft.com/office/drawing/2014/main" id="{2503CA4C-C9A0-28CA-2BEA-45E13830915E}"/>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406400" y="1371600"/>
            <a:ext cx="5486400" cy="4114801"/>
          </a:xfrm>
          <a:prstGeom prst="rect">
            <a:avLst/>
          </a:prstGeom>
          <a:noFill/>
          <a:extLst>
            <a:ext uri="{909E8E84-426E-40DD-AFC4-6F175D3DCCD1}">
              <a14:hiddenFill xmlns:a14="http://schemas.microsoft.com/office/drawing/2010/main">
                <a:solidFill>
                  <a:srgbClr val="FFFFFF"/>
                </a:solidFill>
              </a14:hiddenFill>
            </a:ext>
          </a:extLst>
        </p:spPr>
      </p:pic>
      <p:pic>
        <p:nvPicPr>
          <p:cNvPr id="3076" name="Picture 4" descr="Figure 2b. 8-slit incremental type rotary encoder">
            <a:extLst>
              <a:ext uri="{FF2B5EF4-FFF2-40B4-BE49-F238E27FC236}">
                <a16:creationId xmlns:a16="http://schemas.microsoft.com/office/drawing/2014/main" id="{ABCBC115-5896-42BA-872A-0975D754F95D}"/>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6299200" y="1371600"/>
            <a:ext cx="5486400" cy="4114801"/>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788ABA92-73FE-ED31-8233-8797572526F0}"/>
              </a:ext>
            </a:extLst>
          </p:cNvPr>
          <p:cNvSpPr txBox="1"/>
          <p:nvPr/>
        </p:nvSpPr>
        <p:spPr>
          <a:xfrm>
            <a:off x="1312637" y="5501216"/>
            <a:ext cx="3435350" cy="307777"/>
          </a:xfrm>
          <a:prstGeom prst="rect">
            <a:avLst/>
          </a:prstGeom>
          <a:noFill/>
        </p:spPr>
        <p:txBody>
          <a:bodyPr wrap="square" rtlCol="0">
            <a:spAutoFit/>
          </a:bodyPr>
          <a:lstStyle/>
          <a:p>
            <a:r>
              <a:rPr lang="en-US" dirty="0"/>
              <a:t>4-slit incremental type rotary encoder</a:t>
            </a:r>
          </a:p>
        </p:txBody>
      </p:sp>
      <p:sp>
        <p:nvSpPr>
          <p:cNvPr id="4" name="TextBox 3">
            <a:extLst>
              <a:ext uri="{FF2B5EF4-FFF2-40B4-BE49-F238E27FC236}">
                <a16:creationId xmlns:a16="http://schemas.microsoft.com/office/drawing/2014/main" id="{318BAE68-F809-9571-D9A2-601F046623ED}"/>
              </a:ext>
            </a:extLst>
          </p:cNvPr>
          <p:cNvSpPr txBox="1"/>
          <p:nvPr/>
        </p:nvSpPr>
        <p:spPr>
          <a:xfrm>
            <a:off x="7357837" y="5508203"/>
            <a:ext cx="3435350" cy="307777"/>
          </a:xfrm>
          <a:prstGeom prst="rect">
            <a:avLst/>
          </a:prstGeom>
          <a:noFill/>
        </p:spPr>
        <p:txBody>
          <a:bodyPr wrap="square" rtlCol="0">
            <a:spAutoFit/>
          </a:bodyPr>
          <a:lstStyle/>
          <a:p>
            <a:r>
              <a:rPr lang="en-US" dirty="0"/>
              <a:t>8-slit incremental type rotary encoder</a:t>
            </a:r>
          </a:p>
        </p:txBody>
      </p:sp>
    </p:spTree>
    <p:extLst>
      <p:ext uri="{BB962C8B-B14F-4D97-AF65-F5344CB8AC3E}">
        <p14:creationId xmlns:p14="http://schemas.microsoft.com/office/powerpoint/2010/main" val="300479569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F5C9FE3A-B845-0A38-B280-3467573D11F6}"/>
            </a:ext>
          </a:extLst>
        </p:cNvPr>
        <p:cNvGrpSpPr/>
        <p:nvPr/>
      </p:nvGrpSpPr>
      <p:grpSpPr>
        <a:xfrm>
          <a:off x="0" y="0"/>
          <a:ext cx="0" cy="0"/>
          <a:chOff x="0" y="0"/>
          <a:chExt cx="0" cy="0"/>
        </a:xfrm>
      </p:grpSpPr>
      <p:sp>
        <p:nvSpPr>
          <p:cNvPr id="89" name="Google Shape;89;p27">
            <a:extLst>
              <a:ext uri="{FF2B5EF4-FFF2-40B4-BE49-F238E27FC236}">
                <a16:creationId xmlns:a16="http://schemas.microsoft.com/office/drawing/2014/main" id="{0FE80EC5-1BA1-A1CF-1D80-53EDD5D622E0}"/>
              </a:ext>
            </a:extLst>
          </p:cNvPr>
          <p:cNvSpPr txBox="1"/>
          <p:nvPr/>
        </p:nvSpPr>
        <p:spPr>
          <a:xfrm>
            <a:off x="2206906" y="2459524"/>
            <a:ext cx="7778187" cy="1938952"/>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rial"/>
                <a:ea typeface="Arial"/>
                <a:cs typeface="Arial"/>
                <a:sym typeface="Arial"/>
              </a:rPr>
              <a:t>What are some problems?</a:t>
            </a:r>
            <a:endParaRPr sz="1400" b="0" i="0" u="none" strike="noStrike" cap="none" dirty="0">
              <a:solidFill>
                <a:srgbClr val="000000"/>
              </a:solidFill>
              <a:latin typeface="Arial"/>
              <a:ea typeface="Arial"/>
              <a:cs typeface="Arial"/>
              <a:sym typeface="Arial"/>
            </a:endParaRPr>
          </a:p>
        </p:txBody>
      </p:sp>
      <p:grpSp>
        <p:nvGrpSpPr>
          <p:cNvPr id="91" name="Google Shape;91;p27">
            <a:extLst>
              <a:ext uri="{FF2B5EF4-FFF2-40B4-BE49-F238E27FC236}">
                <a16:creationId xmlns:a16="http://schemas.microsoft.com/office/drawing/2014/main" id="{E67DDCCD-0B89-9E78-21E7-022CEC2625B9}"/>
              </a:ext>
            </a:extLst>
          </p:cNvPr>
          <p:cNvGrpSpPr/>
          <p:nvPr/>
        </p:nvGrpSpPr>
        <p:grpSpPr>
          <a:xfrm>
            <a:off x="4165129" y="2021113"/>
            <a:ext cx="3861740" cy="322845"/>
            <a:chOff x="3943790" y="2676939"/>
            <a:chExt cx="3861740" cy="322845"/>
          </a:xfrm>
        </p:grpSpPr>
        <p:cxnSp>
          <p:nvCxnSpPr>
            <p:cNvPr id="92" name="Google Shape;92;p27">
              <a:extLst>
                <a:ext uri="{FF2B5EF4-FFF2-40B4-BE49-F238E27FC236}">
                  <a16:creationId xmlns:a16="http://schemas.microsoft.com/office/drawing/2014/main" id="{32668ADE-B08B-C835-5039-189AF54C35BC}"/>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8EE84682-F891-830B-D25C-091FD3529792}"/>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FF2B5EF4-FFF2-40B4-BE49-F238E27FC236}">
                <a16:creationId xmlns:a16="http://schemas.microsoft.com/office/drawing/2014/main" id="{D254C8B6-3C02-4DE1-84E6-D7C8E9E1372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2F2CB220-E57E-4615-4508-D7A14BFBDC5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D9C08BE8-B02F-8D2C-7379-78B4F2DC2D1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EBC6B91F-1B53-7F60-E149-19A86A0EC1A8}"/>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1CD85645-7814-1040-5C9B-65150B5BA9B5}"/>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37D3BFD4-C721-E6EB-2996-37333A4D3A92}"/>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extLst>
      <p:ext uri="{BB962C8B-B14F-4D97-AF65-F5344CB8AC3E}">
        <p14:creationId xmlns:p14="http://schemas.microsoft.com/office/powerpoint/2010/main" val="141349248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BD427FA-B6EA-596D-A34E-E8CAB20C72BF}"/>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828F8E85-3DB7-8918-B05E-E86595991AE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CDEB8168-1F32-196A-7701-3E7EB83A938F}"/>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Optical Encoder - Direction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75EF54FC-1652-1807-FBC8-04361EDAF93E}"/>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84408AD-12AB-B91C-DE03-A2BC31C90F6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84963CD-EF7E-BD84-A5D8-49AE6EF8B6C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43D0122-21E6-94C7-D386-615CA0C3B1E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CD924D7-EF5B-2959-2960-062CD7761D3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0F20049-271B-A1E1-92E8-B124C4BFBB5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4098" name="Picture 2" descr="Figure 3a. Waveforms of phase A and B in clockwise">
            <a:extLst>
              <a:ext uri="{FF2B5EF4-FFF2-40B4-BE49-F238E27FC236}">
                <a16:creationId xmlns:a16="http://schemas.microsoft.com/office/drawing/2014/main" id="{8FFC8881-B788-D82E-2842-B06E2B8DD89B}"/>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088623" y="960120"/>
            <a:ext cx="5486400" cy="4937760"/>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07435BA5-3A61-5339-89D4-0F152E78518A}"/>
              </a:ext>
            </a:extLst>
          </p:cNvPr>
          <p:cNvSpPr txBox="1"/>
          <p:nvPr/>
        </p:nvSpPr>
        <p:spPr>
          <a:xfrm>
            <a:off x="3346450" y="6179839"/>
            <a:ext cx="5499100" cy="253916"/>
          </a:xfrm>
          <a:prstGeom prst="rect">
            <a:avLst/>
          </a:prstGeom>
          <a:noFill/>
        </p:spPr>
        <p:txBody>
          <a:bodyPr wrap="square" rtlCol="0">
            <a:spAutoFit/>
          </a:bodyPr>
          <a:lstStyle/>
          <a:p>
            <a:r>
              <a:rPr lang="en-US" sz="1050" dirty="0">
                <a:hlinkClick r:id="rId5"/>
              </a:rPr>
              <a:t>https://www.akm.com/global/en/products/rotation-angle-sensor/tutorial/type-mechanism-2/</a:t>
            </a:r>
            <a:r>
              <a:rPr lang="en-US" sz="1050" dirty="0"/>
              <a:t> </a:t>
            </a:r>
          </a:p>
        </p:txBody>
      </p:sp>
    </p:spTree>
    <p:extLst>
      <p:ext uri="{BB962C8B-B14F-4D97-AF65-F5344CB8AC3E}">
        <p14:creationId xmlns:p14="http://schemas.microsoft.com/office/powerpoint/2010/main" val="429210570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678DE01-1D2D-881A-02C7-1AC59318EEC3}"/>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8DDB6EDE-0B2B-D704-5ED9-648EE5265F1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0208F073-D361-13DB-9947-D22B4BAAA9A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Optical Encoder - Direction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150BB72F-3058-4529-1F6C-0608B1EA896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BC4DDB3-6566-ECDB-0575-7E4E9498C37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3817C3E-A11B-9374-AA89-F41DAA06F42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8207735-BAB0-6164-3FA4-FE9BEE16377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66D0B9F-1B82-9706-94D0-FAFD884411E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97A17D0-4095-A086-0C44-40E7B1E186D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
        <p:nvSpPr>
          <p:cNvPr id="2" name="TextBox 1">
            <a:extLst>
              <a:ext uri="{FF2B5EF4-FFF2-40B4-BE49-F238E27FC236}">
                <a16:creationId xmlns:a16="http://schemas.microsoft.com/office/drawing/2014/main" id="{0B2D354C-807B-891C-4475-FC1423D71401}"/>
              </a:ext>
            </a:extLst>
          </p:cNvPr>
          <p:cNvSpPr txBox="1"/>
          <p:nvPr/>
        </p:nvSpPr>
        <p:spPr>
          <a:xfrm>
            <a:off x="3346450" y="6179839"/>
            <a:ext cx="5499100" cy="253916"/>
          </a:xfrm>
          <a:prstGeom prst="rect">
            <a:avLst/>
          </a:prstGeom>
          <a:noFill/>
        </p:spPr>
        <p:txBody>
          <a:bodyPr wrap="square" rtlCol="0">
            <a:spAutoFit/>
          </a:bodyPr>
          <a:lstStyle/>
          <a:p>
            <a:r>
              <a:rPr lang="en-US" sz="1050" dirty="0">
                <a:hlinkClick r:id="rId4"/>
              </a:rPr>
              <a:t>https://www.akm.com/global/en/products/rotation-angle-sensor/tutorial/type-mechanism-2/</a:t>
            </a:r>
            <a:r>
              <a:rPr lang="en-US" sz="1050" dirty="0"/>
              <a:t> </a:t>
            </a:r>
          </a:p>
        </p:txBody>
      </p:sp>
      <p:pic>
        <p:nvPicPr>
          <p:cNvPr id="3" name="Picture 4" descr="Figure 3b. Waveforms of phase A and B in counterclockwise">
            <a:extLst>
              <a:ext uri="{FF2B5EF4-FFF2-40B4-BE49-F238E27FC236}">
                <a16:creationId xmlns:a16="http://schemas.microsoft.com/office/drawing/2014/main" id="{C2235EBB-6C90-DBE3-1B47-38AFD35D2604}"/>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3088623" y="960120"/>
            <a:ext cx="5486400" cy="493776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02730885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8734313-8BE2-C43C-9DB3-0E305EBF1B73}"/>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DB713D0F-08EB-9804-47EF-969599147F9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C84E9422-2D4C-0730-A9B3-6082E2405F36}"/>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Optical Encoder - Direction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B5967D4E-D6D0-3FAC-5DE9-BCD0B215AEC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E5BB9F7-E3A3-5940-31C1-BFF18C1FF14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1D135C6-22C5-6EF2-9FAF-5A8AB0D336E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1717450-FCD3-34B9-10D4-E03923C3F23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47EBCF8-9CC9-9FF9-118D-9651304FCD2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429E300-E870-B1B7-B79F-43224A3215B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4098" name="Picture 2" descr="Figure 3a. Waveforms of phase A and B in clockwise">
            <a:extLst>
              <a:ext uri="{FF2B5EF4-FFF2-40B4-BE49-F238E27FC236}">
                <a16:creationId xmlns:a16="http://schemas.microsoft.com/office/drawing/2014/main" id="{D2EC7600-8AC7-F09B-1F53-AE9E5FDF7AFB}"/>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06400" y="1054250"/>
            <a:ext cx="5486400" cy="4937760"/>
          </a:xfrm>
          <a:prstGeom prst="rect">
            <a:avLst/>
          </a:prstGeom>
          <a:noFill/>
          <a:extLst>
            <a:ext uri="{909E8E84-426E-40DD-AFC4-6F175D3DCCD1}">
              <a14:hiddenFill xmlns:a14="http://schemas.microsoft.com/office/drawing/2010/main">
                <a:solidFill>
                  <a:srgbClr val="FFFFFF"/>
                </a:solidFill>
              </a14:hiddenFill>
            </a:ext>
          </a:extLst>
        </p:spPr>
      </p:pic>
      <p:pic>
        <p:nvPicPr>
          <p:cNvPr id="4100" name="Picture 4" descr="Figure 3b. Waveforms of phase A and B in counterclockwise">
            <a:extLst>
              <a:ext uri="{FF2B5EF4-FFF2-40B4-BE49-F238E27FC236}">
                <a16:creationId xmlns:a16="http://schemas.microsoft.com/office/drawing/2014/main" id="{DBAADA90-402A-E9F4-1454-F003B9F016DD}"/>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299200" y="1054250"/>
            <a:ext cx="5486400" cy="4937760"/>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7E78C1A1-CF49-421C-6CF4-D27388057E49}"/>
              </a:ext>
            </a:extLst>
          </p:cNvPr>
          <p:cNvSpPr txBox="1"/>
          <p:nvPr/>
        </p:nvSpPr>
        <p:spPr>
          <a:xfrm>
            <a:off x="3346450" y="6179839"/>
            <a:ext cx="5499100" cy="253916"/>
          </a:xfrm>
          <a:prstGeom prst="rect">
            <a:avLst/>
          </a:prstGeom>
          <a:noFill/>
        </p:spPr>
        <p:txBody>
          <a:bodyPr wrap="square" rtlCol="0">
            <a:spAutoFit/>
          </a:bodyPr>
          <a:lstStyle/>
          <a:p>
            <a:r>
              <a:rPr lang="en-US" sz="1050" dirty="0">
                <a:hlinkClick r:id="rId6"/>
              </a:rPr>
              <a:t>https://www.akm.com/global/en/products/rotation-angle-sensor/tutorial/type-mechanism-2/</a:t>
            </a:r>
            <a:r>
              <a:rPr lang="en-US" sz="1050" dirty="0"/>
              <a:t> </a:t>
            </a:r>
          </a:p>
        </p:txBody>
      </p:sp>
    </p:spTree>
    <p:extLst>
      <p:ext uri="{BB962C8B-B14F-4D97-AF65-F5344CB8AC3E}">
        <p14:creationId xmlns:p14="http://schemas.microsoft.com/office/powerpoint/2010/main" val="161347632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DAE5D4C-60F0-A320-2DE8-31FBE0ADEEAF}"/>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51BBB689-C2F8-88C6-F04B-914345C257B0}"/>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3000"/>
            </a:pPr>
            <a:r>
              <a:rPr lang="en-US" sz="1800" dirty="0">
                <a:solidFill>
                  <a:schemeClr val="dk1"/>
                </a:solidFill>
                <a:latin typeface="Arial"/>
                <a:ea typeface="Arial"/>
                <a:cs typeface="Arial"/>
                <a:sym typeface="Arial"/>
              </a:rPr>
              <a:t>To encode the direction you have 2 channels, each of them offset by a phase of 90 degrees</a:t>
            </a:r>
          </a:p>
          <a:p>
            <a:pPr marL="285750" indent="-285750">
              <a:lnSpc>
                <a:spcPct val="100000"/>
              </a:lnSpc>
              <a:spcBef>
                <a:spcPts val="0"/>
              </a:spcBef>
              <a:buSzPts val="3000"/>
            </a:pPr>
            <a:r>
              <a:rPr lang="en-US" sz="1800" dirty="0">
                <a:latin typeface="Arial"/>
                <a:ea typeface="Arial"/>
                <a:cs typeface="Arial"/>
                <a:sym typeface="Arial"/>
              </a:rPr>
              <a:t>The rotational direction can be determined depending on which pulse of the phase A or phase B rises B.</a:t>
            </a:r>
          </a:p>
          <a:p>
            <a:pPr marL="285750" indent="-285750">
              <a:lnSpc>
                <a:spcPct val="100000"/>
              </a:lnSpc>
              <a:spcBef>
                <a:spcPts val="0"/>
              </a:spcBef>
              <a:buSzPts val="3000"/>
            </a:pPr>
            <a:endParaRPr lang="en-US" sz="1800" dirty="0">
              <a:latin typeface="Arial"/>
              <a:ea typeface="Arial"/>
              <a:cs typeface="Arial"/>
              <a:sym typeface="Arial"/>
            </a:endParaRP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endParaRPr lang="en-US" sz="1800" dirty="0">
              <a:latin typeface="Arial"/>
              <a:ea typeface="Arial"/>
              <a:cs typeface="Arial"/>
              <a:sym typeface="Arial"/>
            </a:endParaRPr>
          </a:p>
          <a:p>
            <a:pPr marL="285750" indent="-285750">
              <a:lnSpc>
                <a:spcPct val="100000"/>
              </a:lnSpc>
              <a:spcBef>
                <a:spcPts val="0"/>
              </a:spcBef>
              <a:buSzPts val="3000"/>
            </a:pPr>
            <a:r>
              <a:rPr lang="en-US" sz="1800" dirty="0">
                <a:solidFill>
                  <a:schemeClr val="dk1"/>
                </a:solidFill>
                <a:latin typeface="Arial"/>
                <a:ea typeface="Arial"/>
                <a:cs typeface="Arial"/>
                <a:sym typeface="Arial"/>
              </a:rPr>
              <a:t>By subtracting the number of pulses in reverse rotation, the amount of rotation can be accurately determined.</a:t>
            </a:r>
          </a:p>
        </p:txBody>
      </p:sp>
      <p:sp>
        <p:nvSpPr>
          <p:cNvPr id="119" name="Google Shape;119;p29">
            <a:extLst>
              <a:ext uri="{FF2B5EF4-FFF2-40B4-BE49-F238E27FC236}">
                <a16:creationId xmlns:a16="http://schemas.microsoft.com/office/drawing/2014/main" id="{B2AFE923-E67F-C4AB-BCFE-918B0AE4C83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30DD7552-06FF-6C4D-93F9-0AAB0987DE59}"/>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Optical Encoder - Direction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9742A0C2-0CFE-3F40-4A2B-3CFD54AA624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77A227E-3C74-1663-9C7A-6000E1D7C10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0F145C5-F2F0-A74A-EED3-DB28EFDBB13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43203F5-7910-9F59-FE86-A00EA86B291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AA1E331-EE11-D9B6-5106-E20D0653917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FFAF191-4E50-1600-A4B2-A8D01CCFA39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4" name="Graphic 3">
            <a:extLst>
              <a:ext uri="{FF2B5EF4-FFF2-40B4-BE49-F238E27FC236}">
                <a16:creationId xmlns:a16="http://schemas.microsoft.com/office/drawing/2014/main" id="{1E944887-F44C-FAD5-F9BE-FC50F812B1F6}"/>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584450" y="2063079"/>
            <a:ext cx="7023100" cy="2991714"/>
          </a:xfrm>
          <a:prstGeom prst="rect">
            <a:avLst/>
          </a:prstGeom>
        </p:spPr>
      </p:pic>
    </p:spTree>
    <p:extLst>
      <p:ext uri="{BB962C8B-B14F-4D97-AF65-F5344CB8AC3E}">
        <p14:creationId xmlns:p14="http://schemas.microsoft.com/office/powerpoint/2010/main" val="137109192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FFA381C-874E-700B-64FB-21E1E0AF9C0D}"/>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4A59449C-24F1-B034-0422-9E294A7D5031}"/>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3000"/>
                </a:pPr>
                <a:r>
                  <a:rPr lang="en-US" sz="1800" dirty="0">
                    <a:solidFill>
                      <a:schemeClr val="dk1"/>
                    </a:solidFill>
                    <a:latin typeface="Arial"/>
                    <a:ea typeface="Arial"/>
                    <a:cs typeface="Arial"/>
                    <a:sym typeface="Arial"/>
                  </a:rPr>
                  <a:t>The combined output of (A, B), forms a 2-bit </a:t>
                </a:r>
                <a:r>
                  <a:rPr lang="en-US" sz="1800" b="1" dirty="0">
                    <a:solidFill>
                      <a:schemeClr val="dk1"/>
                    </a:solidFill>
                    <a:latin typeface="Arial"/>
                    <a:ea typeface="Arial"/>
                    <a:cs typeface="Arial"/>
                    <a:sym typeface="Arial"/>
                  </a:rPr>
                  <a:t>Gray code sequence</a:t>
                </a:r>
                <a:r>
                  <a:rPr lang="en-US" sz="1800" dirty="0">
                    <a:solidFill>
                      <a:schemeClr val="dk1"/>
                    </a:solidFill>
                    <a:latin typeface="Arial"/>
                    <a:ea typeface="Arial"/>
                    <a:cs typeface="Arial"/>
                    <a:sym typeface="Arial"/>
                  </a:rPr>
                  <a:t> (only 1 bit changes each timestep).</a:t>
                </a:r>
              </a:p>
              <a:p>
                <a:pPr marL="285750" indent="-285750">
                  <a:lnSpc>
                    <a:spcPct val="100000"/>
                  </a:lnSpc>
                  <a:spcBef>
                    <a:spcPts val="0"/>
                  </a:spcBef>
                  <a:buSzPts val="3000"/>
                </a:pPr>
                <a:r>
                  <a:rPr lang="en-US" sz="1800" dirty="0">
                    <a:latin typeface="Arial"/>
                    <a:ea typeface="Arial"/>
                    <a:cs typeface="Arial"/>
                    <a:sym typeface="Arial"/>
                  </a:rPr>
                  <a:t>The states cycle through 4 quadrants (00, 01, 10, 11)</a:t>
                </a:r>
              </a:p>
              <a:p>
                <a:pPr marL="285750" indent="-285750">
                  <a:lnSpc>
                    <a:spcPct val="100000"/>
                  </a:lnSpc>
                  <a:spcBef>
                    <a:spcPts val="0"/>
                  </a:spcBef>
                  <a:buSzPts val="3000"/>
                </a:pPr>
                <a:endParaRPr lang="en-US" sz="1800" dirty="0">
                  <a:solidFill>
                    <a:schemeClr val="dk1"/>
                  </a:solidFill>
                  <a:latin typeface="Arial"/>
                  <a:ea typeface="Arial"/>
                  <a:cs typeface="Arial"/>
                  <a:sym typeface="Arial"/>
                </a:endParaRPr>
              </a:p>
              <a:p>
                <a:pPr marL="0" indent="0">
                  <a:lnSpc>
                    <a:spcPct val="100000"/>
                  </a:lnSpc>
                  <a:spcBef>
                    <a:spcPts val="0"/>
                  </a:spcBef>
                  <a:buSzPts val="3000"/>
                  <a:buNone/>
                </a:pPr>
                <a:r>
                  <a:rPr lang="en-US" sz="1800" dirty="0">
                    <a:latin typeface="Arial"/>
                    <a:ea typeface="Arial"/>
                    <a:cs typeface="Arial"/>
                    <a:sym typeface="Arial"/>
                  </a:rPr>
                  <a:t>If </a:t>
                </a:r>
                <a:r>
                  <a:rPr lang="en-US" sz="1800" b="1" dirty="0">
                    <a:latin typeface="Arial"/>
                    <a:ea typeface="Arial"/>
                    <a:cs typeface="Arial"/>
                    <a:sym typeface="Arial"/>
                  </a:rPr>
                  <a:t>clockwise </a:t>
                </a:r>
                <a:r>
                  <a:rPr lang="en-US" sz="1800" dirty="0">
                    <a:latin typeface="Arial"/>
                    <a:ea typeface="Arial"/>
                    <a:cs typeface="Arial"/>
                    <a:sym typeface="Arial"/>
                  </a:rPr>
                  <a:t>(CW): A leads B, the sequence is:</a:t>
                </a:r>
              </a:p>
              <a:p>
                <a:pPr marL="0" indent="0">
                  <a:lnSpc>
                    <a:spcPct val="100000"/>
                  </a:lnSpc>
                  <a:spcBef>
                    <a:spcPts val="0"/>
                  </a:spcBef>
                  <a:buSzPts val="3000"/>
                  <a:buNone/>
                </a:pPr>
                <a:endParaRPr lang="en-US" sz="1800" dirty="0">
                  <a:solidFill>
                    <a:schemeClr val="dk1"/>
                  </a:solidFill>
                  <a:latin typeface="Arial"/>
                  <a:ea typeface="Arial"/>
                  <a:cs typeface="Arial"/>
                  <a:sym typeface="Arial"/>
                </a:endParaRPr>
              </a:p>
              <a:p>
                <a:pPr marL="0" indent="0" algn="ctr">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1800" b="0" i="1" smtClean="0">
                          <a:solidFill>
                            <a:schemeClr val="dk1"/>
                          </a:solidFill>
                          <a:latin typeface="Cambria Math" panose="02040503050406030204" pitchFamily="18" charset="0"/>
                          <a:ea typeface="Arial"/>
                          <a:cs typeface="Arial"/>
                          <a:sym typeface="Arial"/>
                        </a:rPr>
                        <m:t>(0, 0)</m:t>
                      </m:r>
                      <m:r>
                        <a:rPr lang="en-US" sz="1800" b="0" i="1" smtClean="0">
                          <a:solidFill>
                            <a:schemeClr val="dk1"/>
                          </a:solidFill>
                          <a:latin typeface="Cambria Math" panose="02040503050406030204" pitchFamily="18" charset="0"/>
                          <a:ea typeface="Cambria Math" panose="02040503050406030204" pitchFamily="18" charset="0"/>
                          <a:cs typeface="Arial"/>
                          <a:sym typeface="Arial"/>
                        </a:rPr>
                        <m:t>→</m:t>
                      </m:r>
                      <m:r>
                        <a:rPr lang="en-US" sz="1800" i="1" dirty="0">
                          <a:latin typeface="Cambria Math" panose="02040503050406030204" pitchFamily="18" charset="0"/>
                          <a:ea typeface="Arial"/>
                          <a:cs typeface="Arial"/>
                          <a:sym typeface="Arial"/>
                        </a:rPr>
                        <m:t>(1,0)</m:t>
                      </m:r>
                      <m:r>
                        <a:rPr lang="en-US" sz="1800" i="1">
                          <a:latin typeface="Cambria Math" panose="02040503050406030204" pitchFamily="18" charset="0"/>
                          <a:ea typeface="Cambria Math" panose="02040503050406030204" pitchFamily="18" charset="0"/>
                          <a:cs typeface="Arial"/>
                          <a:sym typeface="Arial"/>
                        </a:rPr>
                        <m:t>→(1,1)→(0,1)→(0,0)</m:t>
                      </m:r>
                    </m:oMath>
                  </m:oMathPara>
                </a14:m>
                <a:endParaRPr lang="en-US" sz="1800" dirty="0">
                  <a:solidFill>
                    <a:schemeClr val="dk1"/>
                  </a:solidFill>
                  <a:latin typeface="Arial"/>
                  <a:ea typeface="Arial"/>
                  <a:cs typeface="Arial"/>
                  <a:sym typeface="Arial"/>
                </a:endParaRPr>
              </a:p>
              <a:p>
                <a:pPr marL="0" indent="0" algn="ctr">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r>
                  <a:rPr lang="en-US" sz="1800" dirty="0">
                    <a:latin typeface="Arial"/>
                    <a:ea typeface="Arial"/>
                    <a:cs typeface="Arial"/>
                    <a:sym typeface="Arial"/>
                  </a:rPr>
                  <a:t>If </a:t>
                </a:r>
                <a:r>
                  <a:rPr lang="en-US" sz="1800" b="1" dirty="0">
                    <a:latin typeface="Arial"/>
                    <a:ea typeface="Arial"/>
                    <a:cs typeface="Arial"/>
                    <a:sym typeface="Arial"/>
                  </a:rPr>
                  <a:t>counter-clockwise</a:t>
                </a:r>
                <a:r>
                  <a:rPr lang="en-US" sz="1800" dirty="0">
                    <a:latin typeface="Arial"/>
                    <a:ea typeface="Arial"/>
                    <a:cs typeface="Arial"/>
                    <a:sym typeface="Arial"/>
                  </a:rPr>
                  <a:t> (CCW): B leads C, the sequence is:</a:t>
                </a:r>
              </a:p>
              <a:p>
                <a:pPr marL="0" indent="0">
                  <a:lnSpc>
                    <a:spcPct val="100000"/>
                  </a:lnSpc>
                  <a:spcBef>
                    <a:spcPts val="0"/>
                  </a:spcBef>
                  <a:buSzPts val="3000"/>
                  <a:buNone/>
                </a:pPr>
                <a:endParaRPr lang="en-US" sz="1800" dirty="0">
                  <a:latin typeface="Arial"/>
                  <a:ea typeface="Arial"/>
                  <a:cs typeface="Arial"/>
                  <a:sym typeface="Arial"/>
                </a:endParaRPr>
              </a:p>
              <a:p>
                <a:pPr marL="0" indent="0" algn="ctr">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1800" i="1">
                          <a:latin typeface="Cambria Math" panose="02040503050406030204" pitchFamily="18" charset="0"/>
                          <a:ea typeface="Arial"/>
                          <a:cs typeface="Arial"/>
                          <a:sym typeface="Arial"/>
                        </a:rPr>
                        <m:t>(0, 0)</m:t>
                      </m:r>
                      <m:r>
                        <a:rPr lang="en-US" sz="1800" i="1">
                          <a:latin typeface="Cambria Math" panose="02040503050406030204" pitchFamily="18" charset="0"/>
                          <a:ea typeface="Cambria Math" panose="02040503050406030204" pitchFamily="18" charset="0"/>
                          <a:cs typeface="Arial"/>
                          <a:sym typeface="Arial"/>
                        </a:rPr>
                        <m:t>→</m:t>
                      </m:r>
                      <m:r>
                        <a:rPr lang="en-US" sz="1800" i="1" dirty="0">
                          <a:latin typeface="Cambria Math" panose="02040503050406030204" pitchFamily="18" charset="0"/>
                          <a:ea typeface="Arial"/>
                          <a:cs typeface="Arial"/>
                          <a:sym typeface="Arial"/>
                        </a:rPr>
                        <m:t>(</m:t>
                      </m:r>
                      <m:r>
                        <a:rPr lang="en-US" sz="1800" b="0" i="1" dirty="0" smtClean="0">
                          <a:latin typeface="Cambria Math" panose="02040503050406030204" pitchFamily="18" charset="0"/>
                          <a:ea typeface="Arial"/>
                          <a:cs typeface="Arial"/>
                          <a:sym typeface="Arial"/>
                        </a:rPr>
                        <m:t>0</m:t>
                      </m:r>
                      <m:r>
                        <a:rPr lang="en-US" sz="1800" i="1" dirty="0">
                          <a:latin typeface="Cambria Math" panose="02040503050406030204" pitchFamily="18" charset="0"/>
                          <a:ea typeface="Arial"/>
                          <a:cs typeface="Arial"/>
                          <a:sym typeface="Arial"/>
                        </a:rPr>
                        <m:t>,</m:t>
                      </m:r>
                      <m:r>
                        <a:rPr lang="en-US" sz="1800" b="0" i="1" dirty="0" smtClean="0">
                          <a:latin typeface="Cambria Math" panose="02040503050406030204" pitchFamily="18" charset="0"/>
                          <a:ea typeface="Arial"/>
                          <a:cs typeface="Arial"/>
                          <a:sym typeface="Arial"/>
                        </a:rPr>
                        <m:t>1</m:t>
                      </m:r>
                      <m:r>
                        <a:rPr lang="en-US" sz="1800" i="1" dirty="0">
                          <a:latin typeface="Cambria Math" panose="02040503050406030204" pitchFamily="18" charset="0"/>
                          <a:ea typeface="Arial"/>
                          <a:cs typeface="Arial"/>
                          <a:sym typeface="Arial"/>
                        </a:rPr>
                        <m:t>)</m:t>
                      </m:r>
                      <m:r>
                        <a:rPr lang="en-US" sz="1800" i="1">
                          <a:latin typeface="Cambria Math" panose="02040503050406030204" pitchFamily="18" charset="0"/>
                          <a:ea typeface="Cambria Math" panose="02040503050406030204" pitchFamily="18" charset="0"/>
                          <a:cs typeface="Arial"/>
                          <a:sym typeface="Arial"/>
                        </a:rPr>
                        <m:t>→(</m:t>
                      </m:r>
                      <m:r>
                        <a:rPr lang="en-US" sz="1800" b="0" i="1" smtClean="0">
                          <a:latin typeface="Cambria Math" panose="02040503050406030204" pitchFamily="18" charset="0"/>
                          <a:ea typeface="Cambria Math" panose="02040503050406030204" pitchFamily="18" charset="0"/>
                          <a:cs typeface="Arial"/>
                          <a:sym typeface="Arial"/>
                        </a:rPr>
                        <m:t>1</m:t>
                      </m:r>
                      <m:r>
                        <a:rPr lang="en-US" sz="1800" i="1">
                          <a:latin typeface="Cambria Math" panose="02040503050406030204" pitchFamily="18" charset="0"/>
                          <a:ea typeface="Cambria Math" panose="02040503050406030204" pitchFamily="18" charset="0"/>
                          <a:cs typeface="Arial"/>
                          <a:sym typeface="Arial"/>
                        </a:rPr>
                        <m:t>,1)→(</m:t>
                      </m:r>
                      <m:r>
                        <a:rPr lang="en-US" sz="1800" b="0" i="1" smtClean="0">
                          <a:latin typeface="Cambria Math" panose="02040503050406030204" pitchFamily="18" charset="0"/>
                          <a:ea typeface="Cambria Math" panose="02040503050406030204" pitchFamily="18" charset="0"/>
                          <a:cs typeface="Arial"/>
                          <a:sym typeface="Arial"/>
                        </a:rPr>
                        <m:t>1</m:t>
                      </m:r>
                      <m:r>
                        <a:rPr lang="en-US" sz="1800" i="1">
                          <a:latin typeface="Cambria Math" panose="02040503050406030204" pitchFamily="18" charset="0"/>
                          <a:ea typeface="Cambria Math" panose="02040503050406030204" pitchFamily="18" charset="0"/>
                          <a:cs typeface="Arial"/>
                          <a:sym typeface="Arial"/>
                        </a:rPr>
                        <m:t>,</m:t>
                      </m:r>
                      <m:r>
                        <a:rPr lang="en-US" sz="1800" b="0" i="1" smtClean="0">
                          <a:latin typeface="Cambria Math" panose="02040503050406030204" pitchFamily="18" charset="0"/>
                          <a:ea typeface="Cambria Math" panose="02040503050406030204" pitchFamily="18" charset="0"/>
                          <a:cs typeface="Arial"/>
                          <a:sym typeface="Arial"/>
                        </a:rPr>
                        <m:t>0</m:t>
                      </m:r>
                      <m:r>
                        <a:rPr lang="en-US" sz="1800" i="1">
                          <a:latin typeface="Cambria Math" panose="02040503050406030204" pitchFamily="18" charset="0"/>
                          <a:ea typeface="Cambria Math" panose="02040503050406030204" pitchFamily="18" charset="0"/>
                          <a:cs typeface="Arial"/>
                          <a:sym typeface="Arial"/>
                        </a:rPr>
                        <m:t>)→(0,0)</m:t>
                      </m:r>
                    </m:oMath>
                  </m:oMathPara>
                </a14:m>
                <a:endParaRPr lang="en-US" sz="1800" dirty="0">
                  <a:latin typeface="Arial"/>
                  <a:ea typeface="Arial"/>
                  <a:cs typeface="Arial"/>
                  <a:sym typeface="Arial"/>
                </a:endParaRP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r>
                  <a:rPr lang="en-US" sz="1800" dirty="0">
                    <a:latin typeface="Arial"/>
                    <a:ea typeface="Arial"/>
                    <a:cs typeface="Arial"/>
                    <a:sym typeface="Arial"/>
                  </a:rPr>
                  <a:t>You can define the state vector: </a:t>
                </a:r>
                <a14:m>
                  <m:oMath xmlns:m="http://schemas.openxmlformats.org/officeDocument/2006/math">
                    <m:sSub>
                      <m:sSubPr>
                        <m:ctrlPr>
                          <a:rPr lang="en-US" sz="1800" i="1" dirty="0" smtClean="0">
                            <a:latin typeface="Cambria Math" panose="02040503050406030204" pitchFamily="18" charset="0"/>
                            <a:sym typeface="Arial"/>
                          </a:rPr>
                        </m:ctrlPr>
                      </m:sSubPr>
                      <m:e>
                        <m:r>
                          <a:rPr lang="en-US" sz="1800" i="1" dirty="0" smtClean="0">
                            <a:latin typeface="Cambria Math" panose="02040503050406030204" pitchFamily="18" charset="0"/>
                            <a:sym typeface="Arial"/>
                          </a:rPr>
                          <m:t>𝑆</m:t>
                        </m:r>
                      </m:e>
                      <m:sub>
                        <m:r>
                          <a:rPr lang="en-US" sz="1800" i="1" dirty="0" smtClean="0">
                            <a:latin typeface="Cambria Math" panose="02040503050406030204" pitchFamily="18" charset="0"/>
                            <a:sym typeface="Arial"/>
                          </a:rPr>
                          <m:t>𝑘</m:t>
                        </m:r>
                      </m:sub>
                    </m:sSub>
                    <m:r>
                      <a:rPr lang="en-US" sz="1800" i="0" dirty="0" smtClean="0">
                        <a:latin typeface="Cambria Math" panose="02040503050406030204" pitchFamily="18" charset="0"/>
                        <a:sym typeface="Arial"/>
                      </a:rPr>
                      <m:t>=</m:t>
                    </m:r>
                    <m:sSup>
                      <m:sSupPr>
                        <m:ctrlPr>
                          <a:rPr lang="en-US" sz="1800" i="1" dirty="0" smtClean="0">
                            <a:latin typeface="Cambria Math" panose="02040503050406030204" pitchFamily="18" charset="0"/>
                            <a:sym typeface="Arial"/>
                          </a:rPr>
                        </m:ctrlPr>
                      </m:sSupPr>
                      <m:e>
                        <m:d>
                          <m:dPr>
                            <m:begChr m:val="["/>
                            <m:endChr m:val="]"/>
                            <m:ctrlPr>
                              <a:rPr lang="en-US" sz="1800" i="1" dirty="0" smtClean="0">
                                <a:latin typeface="Cambria Math" panose="02040503050406030204" pitchFamily="18" charset="0"/>
                                <a:sym typeface="Arial"/>
                              </a:rPr>
                            </m:ctrlPr>
                          </m:dPr>
                          <m:e>
                            <m:sSub>
                              <m:sSubPr>
                                <m:ctrlPr>
                                  <a:rPr lang="en-US" sz="1800" i="1" dirty="0" smtClean="0">
                                    <a:latin typeface="Cambria Math" panose="02040503050406030204" pitchFamily="18" charset="0"/>
                                    <a:sym typeface="Arial"/>
                                  </a:rPr>
                                </m:ctrlPr>
                              </m:sSubPr>
                              <m:e>
                                <m:r>
                                  <a:rPr lang="en-US" sz="1800" i="1" dirty="0" smtClean="0">
                                    <a:latin typeface="Cambria Math" panose="02040503050406030204" pitchFamily="18" charset="0"/>
                                    <a:sym typeface="Arial"/>
                                  </a:rPr>
                                  <m:t>𝐴</m:t>
                                </m:r>
                              </m:e>
                              <m:sub>
                                <m:r>
                                  <a:rPr lang="en-US" sz="1800" i="1" dirty="0" smtClean="0">
                                    <a:latin typeface="Cambria Math" panose="02040503050406030204" pitchFamily="18" charset="0"/>
                                    <a:sym typeface="Arial"/>
                                  </a:rPr>
                                  <m:t>𝑘</m:t>
                                </m:r>
                              </m:sub>
                            </m:sSub>
                            <m:r>
                              <a:rPr lang="en-US" sz="1800" i="0" dirty="0" smtClean="0">
                                <a:latin typeface="Cambria Math" panose="02040503050406030204" pitchFamily="18" charset="0"/>
                                <a:sym typeface="Arial"/>
                              </a:rPr>
                              <m:t>,</m:t>
                            </m:r>
                            <m:sSub>
                              <m:sSubPr>
                                <m:ctrlPr>
                                  <a:rPr lang="en-US" sz="1800" i="1" dirty="0" smtClean="0">
                                    <a:latin typeface="Cambria Math" panose="02040503050406030204" pitchFamily="18" charset="0"/>
                                    <a:sym typeface="Arial"/>
                                  </a:rPr>
                                </m:ctrlPr>
                              </m:sSubPr>
                              <m:e>
                                <m:r>
                                  <a:rPr lang="en-US" sz="1800" i="1" dirty="0" smtClean="0">
                                    <a:latin typeface="Cambria Math" panose="02040503050406030204" pitchFamily="18" charset="0"/>
                                    <a:sym typeface="Arial"/>
                                  </a:rPr>
                                  <m:t>𝐵</m:t>
                                </m:r>
                              </m:e>
                              <m:sub>
                                <m:r>
                                  <a:rPr lang="en-US" sz="1800" i="1" dirty="0" smtClean="0">
                                    <a:latin typeface="Cambria Math" panose="02040503050406030204" pitchFamily="18" charset="0"/>
                                    <a:sym typeface="Arial"/>
                                  </a:rPr>
                                  <m:t>𝑘</m:t>
                                </m:r>
                              </m:sub>
                            </m:sSub>
                          </m:e>
                        </m:d>
                      </m:e>
                      <m:sup>
                        <m:r>
                          <a:rPr lang="en-US" sz="1800" i="1" dirty="0" smtClean="0">
                            <a:latin typeface="Cambria Math" panose="02040503050406030204" pitchFamily="18" charset="0"/>
                            <a:sym typeface="Arial"/>
                          </a:rPr>
                          <m:t>𝑇</m:t>
                        </m:r>
                      </m:sup>
                    </m:sSup>
                  </m:oMath>
                </a14:m>
                <a:r>
                  <a:rPr lang="en-US" sz="1800" dirty="0">
                    <a:latin typeface="Arial"/>
                    <a:ea typeface="Arial"/>
                    <a:cs typeface="Arial"/>
                    <a:sym typeface="Arial"/>
                  </a:rPr>
                  <a:t>. The direction </a:t>
                </a:r>
                <a14:m>
                  <m:oMath xmlns:m="http://schemas.openxmlformats.org/officeDocument/2006/math">
                    <m:sSub>
                      <m:sSubPr>
                        <m:ctrlPr>
                          <a:rPr lang="en-US" sz="1800" i="1" smtClean="0">
                            <a:latin typeface="Cambria Math" panose="02040503050406030204" pitchFamily="18" charset="0"/>
                            <a:cs typeface="Arial"/>
                            <a:sym typeface="Arial"/>
                          </a:rPr>
                        </m:ctrlPr>
                      </m:sSubPr>
                      <m:e>
                        <m:r>
                          <m:rPr>
                            <m:sty m:val="p"/>
                          </m:rPr>
                          <a:rPr lang="en-US" sz="1800" b="0" i="1" smtClean="0">
                            <a:latin typeface="Cambria Math" panose="02040503050406030204" pitchFamily="18" charset="0"/>
                            <a:cs typeface="Arial"/>
                            <a:sym typeface="Arial"/>
                          </a:rPr>
                          <m:t>D</m:t>
                        </m:r>
                      </m:e>
                      <m:sub>
                        <m:r>
                          <m:rPr>
                            <m:sty m:val="p"/>
                          </m:rPr>
                          <a:rPr lang="en-US" sz="1800" b="0" i="1" smtClean="0">
                            <a:latin typeface="Cambria Math" panose="02040503050406030204" pitchFamily="18" charset="0"/>
                            <a:cs typeface="Arial"/>
                            <a:sym typeface="Arial"/>
                          </a:rPr>
                          <m:t>k</m:t>
                        </m:r>
                      </m:sub>
                    </m:sSub>
                  </m:oMath>
                </a14:m>
                <a:r>
                  <a:rPr lang="en-US" sz="1800" dirty="0">
                    <a:latin typeface="Arial"/>
                    <a:ea typeface="Arial"/>
                    <a:cs typeface="Arial"/>
                    <a:sym typeface="Arial"/>
                  </a:rPr>
                  <a:t> is given as the 2D cross-product of the current and the previous state:</a:t>
                </a: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1800" i="1" smtClean="0">
                              <a:latin typeface="Cambria Math" panose="02040503050406030204" pitchFamily="18" charset="0"/>
                              <a:sym typeface="Arial"/>
                            </a:rPr>
                          </m:ctrlPr>
                        </m:sSubPr>
                        <m:e>
                          <m:r>
                            <a:rPr lang="en-US" sz="1800" i="1" smtClean="0">
                              <a:latin typeface="Cambria Math" panose="02040503050406030204" pitchFamily="18" charset="0"/>
                              <a:sym typeface="Arial"/>
                            </a:rPr>
                            <m:t>𝐷</m:t>
                          </m:r>
                        </m:e>
                        <m:sub>
                          <m:r>
                            <m:rPr>
                              <m:sty m:val="p"/>
                            </m:rPr>
                            <a:rPr lang="en-US" sz="1800" b="0" i="1" smtClean="0">
                              <a:latin typeface="Cambria Math" panose="02040503050406030204" pitchFamily="18" charset="0"/>
                              <a:sym typeface="Arial"/>
                            </a:rPr>
                            <m:t>k</m:t>
                          </m:r>
                        </m:sub>
                      </m:sSub>
                      <m:r>
                        <a:rPr lang="en-US" sz="1800" i="1" smtClean="0">
                          <a:latin typeface="Cambria Math" panose="02040503050406030204" pitchFamily="18" charset="0"/>
                          <a:sym typeface="Arial"/>
                        </a:rPr>
                        <m:t>=</m:t>
                      </m:r>
                      <m:sSub>
                        <m:sSubPr>
                          <m:ctrlPr>
                            <a:rPr lang="en-US" sz="1800" i="1" smtClean="0">
                              <a:latin typeface="Cambria Math" panose="02040503050406030204" pitchFamily="18" charset="0"/>
                              <a:sym typeface="Arial"/>
                            </a:rPr>
                          </m:ctrlPr>
                        </m:sSubPr>
                        <m:e>
                          <m:r>
                            <a:rPr lang="en-US" sz="1800" i="1" smtClean="0">
                              <a:latin typeface="Cambria Math" panose="02040503050406030204" pitchFamily="18" charset="0"/>
                              <a:sym typeface="Arial"/>
                            </a:rPr>
                            <m:t>𝐴</m:t>
                          </m:r>
                        </m:e>
                        <m:sub>
                          <m:r>
                            <a:rPr lang="en-US" sz="1800" i="1" smtClean="0">
                              <a:latin typeface="Cambria Math" panose="02040503050406030204" pitchFamily="18" charset="0"/>
                              <a:sym typeface="Arial"/>
                            </a:rPr>
                            <m:t>𝑘</m:t>
                          </m:r>
                          <m:r>
                            <a:rPr lang="en-US" sz="1800" i="1" smtClean="0">
                              <a:latin typeface="Cambria Math" panose="02040503050406030204" pitchFamily="18" charset="0"/>
                              <a:sym typeface="Arial"/>
                            </a:rPr>
                            <m:t>−1</m:t>
                          </m:r>
                        </m:sub>
                      </m:sSub>
                      <m:sSub>
                        <m:sSubPr>
                          <m:ctrlPr>
                            <a:rPr lang="en-US" sz="1800" i="1" smtClean="0">
                              <a:latin typeface="Cambria Math" panose="02040503050406030204" pitchFamily="18" charset="0"/>
                              <a:sym typeface="Arial"/>
                            </a:rPr>
                          </m:ctrlPr>
                        </m:sSubPr>
                        <m:e>
                          <m:r>
                            <a:rPr lang="en-US" sz="1800" i="1" smtClean="0">
                              <a:latin typeface="Cambria Math" panose="02040503050406030204" pitchFamily="18" charset="0"/>
                              <a:sym typeface="Arial"/>
                            </a:rPr>
                            <m:t>𝐵</m:t>
                          </m:r>
                        </m:e>
                        <m:sub>
                          <m:r>
                            <a:rPr lang="en-US" sz="1800" i="1" smtClean="0">
                              <a:latin typeface="Cambria Math" panose="02040503050406030204" pitchFamily="18" charset="0"/>
                              <a:sym typeface="Arial"/>
                            </a:rPr>
                            <m:t>𝑘</m:t>
                          </m:r>
                        </m:sub>
                      </m:sSub>
                      <m:r>
                        <a:rPr lang="en-US" sz="1800" i="1" smtClean="0">
                          <a:latin typeface="Cambria Math" panose="02040503050406030204" pitchFamily="18" charset="0"/>
                          <a:sym typeface="Arial"/>
                        </a:rPr>
                        <m:t>−</m:t>
                      </m:r>
                      <m:sSub>
                        <m:sSubPr>
                          <m:ctrlPr>
                            <a:rPr lang="en-US" sz="1800" i="1" smtClean="0">
                              <a:latin typeface="Cambria Math" panose="02040503050406030204" pitchFamily="18" charset="0"/>
                              <a:sym typeface="Arial"/>
                            </a:rPr>
                          </m:ctrlPr>
                        </m:sSubPr>
                        <m:e>
                          <m:r>
                            <a:rPr lang="en-US" sz="1800" i="1" smtClean="0">
                              <a:latin typeface="Cambria Math" panose="02040503050406030204" pitchFamily="18" charset="0"/>
                              <a:sym typeface="Arial"/>
                            </a:rPr>
                            <m:t>𝐴</m:t>
                          </m:r>
                        </m:e>
                        <m:sub>
                          <m:r>
                            <a:rPr lang="en-US" sz="1800" i="1" smtClean="0">
                              <a:latin typeface="Cambria Math" panose="02040503050406030204" pitchFamily="18" charset="0"/>
                              <a:sym typeface="Arial"/>
                            </a:rPr>
                            <m:t>𝑘</m:t>
                          </m:r>
                        </m:sub>
                      </m:sSub>
                      <m:sSub>
                        <m:sSubPr>
                          <m:ctrlPr>
                            <a:rPr lang="en-US" sz="1800" i="1" smtClean="0">
                              <a:latin typeface="Cambria Math" panose="02040503050406030204" pitchFamily="18" charset="0"/>
                              <a:sym typeface="Arial"/>
                            </a:rPr>
                          </m:ctrlPr>
                        </m:sSubPr>
                        <m:e>
                          <m:r>
                            <a:rPr lang="en-US" sz="1800" i="1" smtClean="0">
                              <a:latin typeface="Cambria Math" panose="02040503050406030204" pitchFamily="18" charset="0"/>
                              <a:sym typeface="Arial"/>
                            </a:rPr>
                            <m:t>𝐵</m:t>
                          </m:r>
                        </m:e>
                        <m:sub>
                          <m:r>
                            <a:rPr lang="en-US" sz="1800" i="1" smtClean="0">
                              <a:latin typeface="Cambria Math" panose="02040503050406030204" pitchFamily="18" charset="0"/>
                              <a:sym typeface="Arial"/>
                            </a:rPr>
                            <m:t>𝑘</m:t>
                          </m:r>
                          <m:r>
                            <a:rPr lang="en-US" sz="1800" i="1" smtClean="0">
                              <a:latin typeface="Cambria Math" panose="02040503050406030204" pitchFamily="18" charset="0"/>
                              <a:sym typeface="Arial"/>
                            </a:rPr>
                            <m:t>−1</m:t>
                          </m:r>
                        </m:sub>
                      </m:sSub>
                    </m:oMath>
                  </m:oMathPara>
                </a14:m>
                <a:endParaRPr lang="en-US" sz="1800" dirty="0">
                  <a:latin typeface="Arial"/>
                  <a:ea typeface="Arial"/>
                  <a:cs typeface="Arial"/>
                  <a:sym typeface="Arial"/>
                </a:endParaRP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r>
                  <a:rPr lang="en-US" sz="1800" dirty="0">
                    <a:latin typeface="Arial"/>
                    <a:ea typeface="Arial"/>
                    <a:cs typeface="Arial"/>
                    <a:sym typeface="Arial"/>
                  </a:rPr>
                  <a:t>If </a:t>
                </a:r>
                <a14:m>
                  <m:oMath xmlns:m="http://schemas.openxmlformats.org/officeDocument/2006/math">
                    <m:sSub>
                      <m:sSubPr>
                        <m:ctrlPr>
                          <a:rPr lang="en-US" sz="1800" i="1">
                            <a:latin typeface="Cambria Math" panose="02040503050406030204" pitchFamily="18" charset="0"/>
                            <a:sym typeface="Arial"/>
                          </a:rPr>
                        </m:ctrlPr>
                      </m:sSubPr>
                      <m:e>
                        <m:r>
                          <a:rPr lang="en-US" sz="1800" i="1">
                            <a:latin typeface="Cambria Math" panose="02040503050406030204" pitchFamily="18" charset="0"/>
                            <a:sym typeface="Arial"/>
                          </a:rPr>
                          <m:t>𝐷</m:t>
                        </m:r>
                      </m:e>
                      <m:sub>
                        <m:r>
                          <m:rPr>
                            <m:sty m:val="p"/>
                          </m:rPr>
                          <a:rPr lang="en-US" sz="1800" i="1">
                            <a:latin typeface="Cambria Math" panose="02040503050406030204" pitchFamily="18" charset="0"/>
                            <a:sym typeface="Arial"/>
                          </a:rPr>
                          <m:t>k</m:t>
                        </m:r>
                      </m:sub>
                    </m:sSub>
                    <m:r>
                      <a:rPr lang="en-US" sz="1800" b="0" i="1" smtClean="0">
                        <a:latin typeface="Cambria Math" panose="02040503050406030204" pitchFamily="18" charset="0"/>
                        <a:sym typeface="Arial"/>
                      </a:rPr>
                      <m:t>=1</m:t>
                    </m:r>
                  </m:oMath>
                </a14:m>
                <a:r>
                  <a:rPr lang="en-US" sz="1800" dirty="0">
                    <a:latin typeface="Arial"/>
                    <a:ea typeface="Arial"/>
                    <a:cs typeface="Arial"/>
                    <a:sym typeface="Arial"/>
                  </a:rPr>
                  <a:t>, CW, if </a:t>
                </a:r>
                <a14:m>
                  <m:oMath xmlns:m="http://schemas.openxmlformats.org/officeDocument/2006/math">
                    <m:sSub>
                      <m:sSubPr>
                        <m:ctrlPr>
                          <a:rPr lang="en-US" sz="1800" i="1">
                            <a:latin typeface="Cambria Math" panose="02040503050406030204" pitchFamily="18" charset="0"/>
                            <a:sym typeface="Arial"/>
                          </a:rPr>
                        </m:ctrlPr>
                      </m:sSubPr>
                      <m:e>
                        <m:r>
                          <a:rPr lang="en-US" sz="1800" i="1">
                            <a:latin typeface="Cambria Math" panose="02040503050406030204" pitchFamily="18" charset="0"/>
                            <a:sym typeface="Arial"/>
                          </a:rPr>
                          <m:t>𝐷</m:t>
                        </m:r>
                      </m:e>
                      <m:sub>
                        <m:r>
                          <m:rPr>
                            <m:sty m:val="p"/>
                          </m:rPr>
                          <a:rPr lang="en-US" sz="1800" i="1">
                            <a:latin typeface="Cambria Math" panose="02040503050406030204" pitchFamily="18" charset="0"/>
                            <a:sym typeface="Arial"/>
                          </a:rPr>
                          <m:t>k</m:t>
                        </m:r>
                      </m:sub>
                    </m:sSub>
                    <m:r>
                      <a:rPr lang="en-US" sz="1800" b="0" i="1" smtClean="0">
                        <a:latin typeface="Cambria Math" panose="02040503050406030204" pitchFamily="18" charset="0"/>
                        <a:sym typeface="Arial"/>
                      </a:rPr>
                      <m:t>=−1</m:t>
                    </m:r>
                  </m:oMath>
                </a14:m>
                <a:r>
                  <a:rPr lang="en-US" sz="1800" dirty="0">
                    <a:latin typeface="Arial"/>
                    <a:ea typeface="Arial"/>
                    <a:cs typeface="Arial"/>
                    <a:sym typeface="Arial"/>
                  </a:rPr>
                  <a:t>, CCW!</a:t>
                </a:r>
              </a:p>
            </p:txBody>
          </p:sp>
        </mc:Choice>
        <mc:Fallback xmlns="">
          <p:sp>
            <p:nvSpPr>
              <p:cNvPr id="118" name="Google Shape;118;p29">
                <a:extLst>
                  <a:ext uri="{FF2B5EF4-FFF2-40B4-BE49-F238E27FC236}">
                    <a16:creationId xmlns:a16="http://schemas.microsoft.com/office/drawing/2014/main" id="{4A59449C-24F1-B034-0422-9E294A7D5031}"/>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4046" b="-63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04DB6FF5-481E-49B0-C9F5-B05132B6EFA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DC4C81D0-FF94-E63B-7369-FA24F8779B0F}"/>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Optical Encoder - Direction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1E430338-C187-9628-5777-4F46E18A10A3}"/>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20D5564-7365-7081-1676-9F7E841146D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C1430A2-62D5-D4B5-A4CE-B37BB116198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8F63EB0-2D0A-31D8-934D-5DAB453B9F0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895AD9E-E86F-9C65-4E26-0C522520CC1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8003B19-530D-43F0-78E7-756C2EC4A35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
        <p:nvSpPr>
          <p:cNvPr id="3" name="TextBox 2">
            <a:extLst>
              <a:ext uri="{FF2B5EF4-FFF2-40B4-BE49-F238E27FC236}">
                <a16:creationId xmlns:a16="http://schemas.microsoft.com/office/drawing/2014/main" id="{DDC7F80F-E1AE-4309-9209-ADF038A218B6}"/>
              </a:ext>
            </a:extLst>
          </p:cNvPr>
          <p:cNvSpPr txBox="1"/>
          <p:nvPr/>
        </p:nvSpPr>
        <p:spPr>
          <a:xfrm>
            <a:off x="9857736" y="5583171"/>
            <a:ext cx="1835427" cy="738664"/>
          </a:xfrm>
          <a:prstGeom prst="rect">
            <a:avLst/>
          </a:prstGeom>
          <a:noFill/>
        </p:spPr>
        <p:txBody>
          <a:bodyPr wrap="square" rtlCol="0">
            <a:spAutoFit/>
          </a:bodyPr>
          <a:lstStyle/>
          <a:p>
            <a:r>
              <a:rPr lang="en-US" dirty="0"/>
              <a:t>If I do not have an animation, I did not have time to make it.</a:t>
            </a:r>
          </a:p>
        </p:txBody>
      </p:sp>
    </p:spTree>
    <p:extLst>
      <p:ext uri="{BB962C8B-B14F-4D97-AF65-F5344CB8AC3E}">
        <p14:creationId xmlns:p14="http://schemas.microsoft.com/office/powerpoint/2010/main" val="14838706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11" end="11"/>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18">
                                            <p:txEl>
                                              <p:pRg st="13" end="13"/>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18">
                                            <p:txEl>
                                              <p:pRg st="15" end="1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32E30A7-9BE1-BBB5-D602-91CC2906F78C}"/>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15E49BA9-5693-9B72-6920-AD645062FF9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84F87489-EF82-AA8A-B5E2-BA9CD83F11B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Optical Encoder - Direction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EDEAD23A-0D54-ACE7-B9F2-361014FC932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A8C285E-DA5D-BBFE-4017-BB3EFA7E37E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E67F593-29C2-A2BF-1E99-32D29FA34BF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044636A-19BB-9514-8050-FF8DFD1A725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2CB45DD-CCAC-EC4A-F8FB-F901998DB20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C815A73-2763-C6CD-A026-19D02B1EAF3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8" name="Graphic 7">
            <a:extLst>
              <a:ext uri="{FF2B5EF4-FFF2-40B4-BE49-F238E27FC236}">
                <a16:creationId xmlns:a16="http://schemas.microsoft.com/office/drawing/2014/main" id="{72EF6654-5103-A01A-DBAD-9C9F47B5C54B}"/>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576469" y="925290"/>
            <a:ext cx="10510861" cy="5007421"/>
          </a:xfrm>
          <a:prstGeom prst="rect">
            <a:avLst/>
          </a:prstGeom>
        </p:spPr>
      </p:pic>
    </p:spTree>
    <p:extLst>
      <p:ext uri="{BB962C8B-B14F-4D97-AF65-F5344CB8AC3E}">
        <p14:creationId xmlns:p14="http://schemas.microsoft.com/office/powerpoint/2010/main" val="270619933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2A759C84-A86A-FF47-EC01-0364D347F7B8}"/>
            </a:ext>
          </a:extLst>
        </p:cNvPr>
        <p:cNvGrpSpPr/>
        <p:nvPr/>
      </p:nvGrpSpPr>
      <p:grpSpPr>
        <a:xfrm>
          <a:off x="0" y="0"/>
          <a:ext cx="0" cy="0"/>
          <a:chOff x="0" y="0"/>
          <a:chExt cx="0" cy="0"/>
        </a:xfrm>
      </p:grpSpPr>
      <p:sp>
        <p:nvSpPr>
          <p:cNvPr id="89" name="Google Shape;89;p27">
            <a:extLst>
              <a:ext uri="{FF2B5EF4-FFF2-40B4-BE49-F238E27FC236}">
                <a16:creationId xmlns:a16="http://schemas.microsoft.com/office/drawing/2014/main" id="{39C725A2-3704-B6CA-F32C-06092F3069EE}"/>
              </a:ext>
            </a:extLst>
          </p:cNvPr>
          <p:cNvSpPr txBox="1"/>
          <p:nvPr/>
        </p:nvSpPr>
        <p:spPr>
          <a:xfrm>
            <a:off x="2206906" y="2459524"/>
            <a:ext cx="7778187" cy="1938952"/>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rial"/>
                <a:ea typeface="Arial"/>
                <a:cs typeface="Arial"/>
                <a:sym typeface="Arial"/>
              </a:rPr>
              <a:t>What if you turn the robot off?</a:t>
            </a:r>
            <a:endParaRPr sz="1400" b="0" i="0" u="none" strike="noStrike" cap="none" dirty="0">
              <a:solidFill>
                <a:srgbClr val="000000"/>
              </a:solidFill>
              <a:latin typeface="Arial"/>
              <a:ea typeface="Arial"/>
              <a:cs typeface="Arial"/>
              <a:sym typeface="Arial"/>
            </a:endParaRPr>
          </a:p>
        </p:txBody>
      </p:sp>
      <p:grpSp>
        <p:nvGrpSpPr>
          <p:cNvPr id="91" name="Google Shape;91;p27">
            <a:extLst>
              <a:ext uri="{FF2B5EF4-FFF2-40B4-BE49-F238E27FC236}">
                <a16:creationId xmlns:a16="http://schemas.microsoft.com/office/drawing/2014/main" id="{A99A7060-7C35-9067-EFB0-DE55880E5372}"/>
              </a:ext>
            </a:extLst>
          </p:cNvPr>
          <p:cNvGrpSpPr/>
          <p:nvPr/>
        </p:nvGrpSpPr>
        <p:grpSpPr>
          <a:xfrm>
            <a:off x="4165129" y="2021113"/>
            <a:ext cx="3861740" cy="322845"/>
            <a:chOff x="3943790" y="2676939"/>
            <a:chExt cx="3861740" cy="322845"/>
          </a:xfrm>
        </p:grpSpPr>
        <p:cxnSp>
          <p:nvCxnSpPr>
            <p:cNvPr id="92" name="Google Shape;92;p27">
              <a:extLst>
                <a:ext uri="{FF2B5EF4-FFF2-40B4-BE49-F238E27FC236}">
                  <a16:creationId xmlns:a16="http://schemas.microsoft.com/office/drawing/2014/main" id="{5726F905-5BA0-8EFE-7AA8-58C7AB383DE9}"/>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B109BBE0-692B-A2CF-FFA8-13BA513B1F7C}"/>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FF2B5EF4-FFF2-40B4-BE49-F238E27FC236}">
                <a16:creationId xmlns:a16="http://schemas.microsoft.com/office/drawing/2014/main" id="{E414F1E4-C789-82F1-4B6E-33FAAC0B14CA}"/>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95E73979-7FF9-A6F7-DDD4-85E81B0F2E4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B569C05F-EC70-B5E0-6769-015DAA2FB7F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D3C43AA6-ABAA-0D21-7C78-EBEA11E94F0C}"/>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EE3A3866-4246-67D6-B46D-97C02CABE7DD}"/>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DEB1E326-B5EC-2C10-A25A-C032F8FA5E8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extLst>
      <p:ext uri="{BB962C8B-B14F-4D97-AF65-F5344CB8AC3E}">
        <p14:creationId xmlns:p14="http://schemas.microsoft.com/office/powerpoint/2010/main" val="348256314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EA3B45F-A037-90B7-B0F4-9A5BC8BE34B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F23AB0B9-E5B6-48CB-A959-B0E4D0DFB040}"/>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dirty="0">
                <a:solidFill>
                  <a:schemeClr val="dk1"/>
                </a:solidFill>
                <a:latin typeface="+mj-lt"/>
                <a:ea typeface="Arial"/>
                <a:cs typeface="Arial"/>
                <a:sym typeface="Arial"/>
              </a:rPr>
              <a:t>An </a:t>
            </a:r>
            <a:r>
              <a:rPr lang="en-US" sz="1800" b="1" dirty="0">
                <a:solidFill>
                  <a:schemeClr val="dk1"/>
                </a:solidFill>
                <a:latin typeface="+mj-lt"/>
                <a:ea typeface="Arial"/>
                <a:cs typeface="Arial"/>
                <a:sym typeface="Arial"/>
              </a:rPr>
              <a:t>absolute </a:t>
            </a:r>
            <a:r>
              <a:rPr lang="en-US" sz="1800" dirty="0">
                <a:solidFill>
                  <a:schemeClr val="dk1"/>
                </a:solidFill>
                <a:latin typeface="+mj-lt"/>
                <a:ea typeface="Arial"/>
                <a:cs typeface="Arial"/>
                <a:sym typeface="Arial"/>
              </a:rPr>
              <a:t>optical encoder </a:t>
            </a:r>
          </a:p>
          <a:p>
            <a:pPr marL="0" lvl="0" indent="0" algn="l" rtl="0">
              <a:lnSpc>
                <a:spcPct val="100000"/>
              </a:lnSpc>
              <a:spcBef>
                <a:spcPts val="0"/>
              </a:spcBef>
              <a:spcAft>
                <a:spcPts val="0"/>
              </a:spcAft>
              <a:buSzPts val="3000"/>
              <a:buNone/>
            </a:pPr>
            <a:endParaRPr lang="en-US" sz="1800" dirty="0">
              <a:latin typeface="+mj-lt"/>
              <a:ea typeface="Arial"/>
              <a:cs typeface="Arial"/>
              <a:sym typeface="Arial"/>
            </a:endParaRPr>
          </a:p>
          <a:p>
            <a:pPr marL="285750" indent="-285750">
              <a:lnSpc>
                <a:spcPct val="100000"/>
              </a:lnSpc>
              <a:spcBef>
                <a:spcPts val="0"/>
              </a:spcBef>
              <a:buSzPts val="3000"/>
            </a:pPr>
            <a:r>
              <a:rPr lang="en-US" sz="1800" dirty="0">
                <a:solidFill>
                  <a:schemeClr val="dk1"/>
                </a:solidFill>
                <a:latin typeface="+mj-lt"/>
                <a:ea typeface="Arial"/>
                <a:cs typeface="Arial"/>
                <a:sym typeface="Arial"/>
              </a:rPr>
              <a:t>overcomes incremental disadvantages but is more expensive. An absolute optical encoder's disc is divided up into N sectors, and each sector is further divided radially along its length into opaque and transparent sections, forming a unique N-bit digital word with a maximum count of 2N – 1. </a:t>
            </a:r>
          </a:p>
          <a:p>
            <a:pPr marL="285750" indent="-285750">
              <a:lnSpc>
                <a:spcPct val="100000"/>
              </a:lnSpc>
              <a:spcBef>
                <a:spcPts val="0"/>
              </a:spcBef>
              <a:buSzPts val="3000"/>
            </a:pPr>
            <a:r>
              <a:rPr lang="en-US" sz="1800" dirty="0">
                <a:solidFill>
                  <a:schemeClr val="dk1"/>
                </a:solidFill>
                <a:latin typeface="+mj-lt"/>
                <a:ea typeface="Arial"/>
                <a:cs typeface="Arial"/>
                <a:sym typeface="Arial"/>
              </a:rPr>
              <a:t>The digital word formed radially by each sector increments in value from one sector to the next, usually employing Gray code. </a:t>
            </a:r>
          </a:p>
          <a:p>
            <a:pPr marL="285750" indent="-285750">
              <a:lnSpc>
                <a:spcPct val="100000"/>
              </a:lnSpc>
              <a:spcBef>
                <a:spcPts val="0"/>
              </a:spcBef>
              <a:buSzPts val="3000"/>
            </a:pPr>
            <a:r>
              <a:rPr lang="en-US" sz="1800" dirty="0">
                <a:solidFill>
                  <a:schemeClr val="dk1"/>
                </a:solidFill>
                <a:latin typeface="+mj-lt"/>
                <a:ea typeface="Arial"/>
                <a:cs typeface="Arial"/>
                <a:sym typeface="Arial"/>
              </a:rPr>
              <a:t>Binary coding could be used, but can produce large errors if a single bit is incorrectly interpreted by the sensors. </a:t>
            </a:r>
          </a:p>
          <a:p>
            <a:pPr marL="285750" indent="-285750">
              <a:lnSpc>
                <a:spcPct val="100000"/>
              </a:lnSpc>
              <a:spcBef>
                <a:spcPts val="0"/>
              </a:spcBef>
              <a:buSzPts val="3000"/>
            </a:pPr>
            <a:r>
              <a:rPr lang="en-US" sz="1800" dirty="0">
                <a:solidFill>
                  <a:schemeClr val="dk1"/>
                </a:solidFill>
                <a:latin typeface="+mj-lt"/>
                <a:ea typeface="Arial"/>
                <a:cs typeface="Arial"/>
                <a:sym typeface="Arial"/>
              </a:rPr>
              <a:t>Gray code overcomes this defect: the maximum error produced by an error in any single bit of the Gray code is only 1 LSB after the Gray code is converted into binary code. </a:t>
            </a:r>
          </a:p>
          <a:p>
            <a:pPr marL="285750" indent="-285750">
              <a:lnSpc>
                <a:spcPct val="100000"/>
              </a:lnSpc>
              <a:spcBef>
                <a:spcPts val="0"/>
              </a:spcBef>
              <a:buSzPts val="3000"/>
            </a:pPr>
            <a:r>
              <a:rPr lang="en-US" sz="1800" dirty="0">
                <a:solidFill>
                  <a:schemeClr val="dk1"/>
                </a:solidFill>
                <a:latin typeface="+mj-lt"/>
                <a:ea typeface="Arial"/>
                <a:cs typeface="Arial"/>
                <a:sym typeface="Arial"/>
              </a:rPr>
              <a:t>A set of N light sensors responds to the </a:t>
            </a:r>
            <a:r>
              <a:rPr lang="en-US" sz="1800" b="1" dirty="0">
                <a:solidFill>
                  <a:schemeClr val="dk1"/>
                </a:solidFill>
                <a:latin typeface="+mj-lt"/>
                <a:ea typeface="Arial"/>
                <a:cs typeface="Arial"/>
                <a:sym typeface="Arial"/>
              </a:rPr>
              <a:t>N-bit digital word </a:t>
            </a:r>
            <a:r>
              <a:rPr lang="en-US" sz="1800" dirty="0">
                <a:solidFill>
                  <a:schemeClr val="dk1"/>
                </a:solidFill>
                <a:latin typeface="+mj-lt"/>
                <a:ea typeface="Arial"/>
                <a:cs typeface="Arial"/>
                <a:sym typeface="Arial"/>
              </a:rPr>
              <a:t>which corresponds to the </a:t>
            </a:r>
            <a:r>
              <a:rPr lang="en-US" sz="1800" b="1" dirty="0">
                <a:solidFill>
                  <a:schemeClr val="dk1"/>
                </a:solidFill>
                <a:latin typeface="+mj-lt"/>
                <a:ea typeface="Arial"/>
                <a:cs typeface="Arial"/>
                <a:sym typeface="Arial"/>
              </a:rPr>
              <a:t>disc's absolute angular position</a:t>
            </a:r>
            <a:r>
              <a:rPr lang="en-US" sz="1800" dirty="0">
                <a:solidFill>
                  <a:schemeClr val="dk1"/>
                </a:solidFill>
                <a:latin typeface="+mj-lt"/>
                <a:ea typeface="Arial"/>
                <a:cs typeface="Arial"/>
                <a:sym typeface="Arial"/>
              </a:rPr>
              <a:t>. </a:t>
            </a:r>
          </a:p>
        </p:txBody>
      </p:sp>
      <p:sp>
        <p:nvSpPr>
          <p:cNvPr id="119" name="Google Shape;119;p29">
            <a:extLst>
              <a:ext uri="{FF2B5EF4-FFF2-40B4-BE49-F238E27FC236}">
                <a16:creationId xmlns:a16="http://schemas.microsoft.com/office/drawing/2014/main" id="{C3AB5FE0-6CC1-BD6D-8AD0-7B7BE91246E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0E765958-CBAD-6B74-263E-19882E26BEE9}"/>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Optical Encoder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BC78CF3E-BFED-E5A9-BCF8-1B5EFBA59F3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1BE144C-F6AE-212D-0966-30E69C394A5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1422487-7FC3-6456-0B00-8F3FE088B84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999A7AC-D414-E65B-B5B9-4347EFBCCCF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854B9C3-6CDE-1650-869D-BCDD9148756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779C0FD-571F-B317-D34B-910CEEA0DAF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421310469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F289058-954C-FB24-B250-6E9402CFE382}"/>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D81A67D4-FEFE-71DA-1915-E64D64D473E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4FADF018-A81B-C169-E1F2-071EBE780540}"/>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Optical Encoder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D1C4C1A6-A72C-7978-D449-2E3656A66CF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B576D3D-BFBF-2DF6-057F-F7B4F7A47C7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A350B03-3EB1-6774-690E-1CB3B0E93AB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09B88A7-C58B-0353-DFE3-13D34B71FF8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6E4339E-3F1A-6551-F54C-0237B70F77E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BB96DA0-9A22-C3C1-FB30-CD15CD1A9D8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Graphic 2">
            <a:extLst>
              <a:ext uri="{FF2B5EF4-FFF2-40B4-BE49-F238E27FC236}">
                <a16:creationId xmlns:a16="http://schemas.microsoft.com/office/drawing/2014/main" id="{C16E2DE4-C380-655A-EAA4-316930318A95}"/>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869193" y="1000048"/>
            <a:ext cx="6453613" cy="5392506"/>
          </a:xfrm>
          <a:prstGeom prst="rect">
            <a:avLst/>
          </a:prstGeom>
        </p:spPr>
      </p:pic>
      <p:sp>
        <p:nvSpPr>
          <p:cNvPr id="4" name="TextBox 3">
            <a:extLst>
              <a:ext uri="{FF2B5EF4-FFF2-40B4-BE49-F238E27FC236}">
                <a16:creationId xmlns:a16="http://schemas.microsoft.com/office/drawing/2014/main" id="{8E4D3AAD-6488-87E2-EEBA-81B0235D3EFE}"/>
              </a:ext>
            </a:extLst>
          </p:cNvPr>
          <p:cNvSpPr txBox="1"/>
          <p:nvPr/>
        </p:nvSpPr>
        <p:spPr>
          <a:xfrm>
            <a:off x="3872946" y="6358962"/>
            <a:ext cx="4446105" cy="261610"/>
          </a:xfrm>
          <a:prstGeom prst="rect">
            <a:avLst/>
          </a:prstGeom>
          <a:noFill/>
        </p:spPr>
        <p:txBody>
          <a:bodyPr wrap="square" rtlCol="0">
            <a:spAutoFit/>
          </a:bodyPr>
          <a:lstStyle/>
          <a:p>
            <a:r>
              <a:rPr lang="en-US" sz="1050" dirty="0">
                <a:hlinkClick r:id="rId6"/>
              </a:rPr>
              <a:t>https://www.analog.com/media/en/training-seminars/tutorials/mt-029.pdf</a:t>
            </a:r>
            <a:r>
              <a:rPr lang="en-US" sz="1050" dirty="0"/>
              <a:t> </a:t>
            </a:r>
          </a:p>
        </p:txBody>
      </p:sp>
    </p:spTree>
    <p:extLst>
      <p:ext uri="{BB962C8B-B14F-4D97-AF65-F5344CB8AC3E}">
        <p14:creationId xmlns:p14="http://schemas.microsoft.com/office/powerpoint/2010/main" val="193849377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2B7A068-3897-C21F-39F0-96FEC886A963}"/>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3864A8B0-2D45-46EC-DB9A-7AFF530F645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B71158F0-1A40-9E63-FBC2-C9A928A1872E}"/>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Optical Encoder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134411F6-82EB-17CA-2158-6358D33CBBF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B1B08CD-5189-1B8D-AF8F-2EB9D4A17D1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B86683A-3FA3-2685-DB21-09BDB045BFA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E95C861-39C8-3933-3862-859D0202F8A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CA809CE-363F-3F63-B2A5-23DCF7C728A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1403FC8-6C96-ADB0-87EF-A11F86D43FD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
        <p:nvSpPr>
          <p:cNvPr id="4" name="TextBox 3">
            <a:extLst>
              <a:ext uri="{FF2B5EF4-FFF2-40B4-BE49-F238E27FC236}">
                <a16:creationId xmlns:a16="http://schemas.microsoft.com/office/drawing/2014/main" id="{54108CD0-26BE-03BE-8B3B-B00576570A3D}"/>
              </a:ext>
            </a:extLst>
          </p:cNvPr>
          <p:cNvSpPr txBox="1"/>
          <p:nvPr/>
        </p:nvSpPr>
        <p:spPr>
          <a:xfrm>
            <a:off x="3238499" y="6255804"/>
            <a:ext cx="5715002" cy="253916"/>
          </a:xfrm>
          <a:prstGeom prst="rect">
            <a:avLst/>
          </a:prstGeom>
          <a:noFill/>
        </p:spPr>
        <p:txBody>
          <a:bodyPr wrap="square" rtlCol="0">
            <a:spAutoFit/>
          </a:bodyPr>
          <a:lstStyle/>
          <a:p>
            <a:r>
              <a:rPr lang="en-US" sz="1050" dirty="0">
                <a:hlinkClick r:id="rId4"/>
              </a:rPr>
              <a:t>https://www.akm.com/global/en/products/rotation-angle-sensor/tutorial/type-mechanism-2/</a:t>
            </a:r>
            <a:r>
              <a:rPr lang="en-US" sz="1050" dirty="0"/>
              <a:t> </a:t>
            </a:r>
          </a:p>
        </p:txBody>
      </p:sp>
      <p:pic>
        <p:nvPicPr>
          <p:cNvPr id="8194" name="Picture 2" descr="Figure 4b. Absolute rotary encoder with 5 rows of slits">
            <a:extLst>
              <a:ext uri="{FF2B5EF4-FFF2-40B4-BE49-F238E27FC236}">
                <a16:creationId xmlns:a16="http://schemas.microsoft.com/office/drawing/2014/main" id="{39F42D80-8E3C-7788-7EF7-17AEA313736D}"/>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852904" y="1072273"/>
            <a:ext cx="8486192" cy="509171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9755186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36276E6-E9DB-31B8-B3DE-F1A202B3DD75}"/>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FC1A57E9-9EB7-8BCB-9D39-268EB50B9B2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FF8B2962-7F91-6416-4E27-DD6A50B24A86}"/>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Optical Encoder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BC4DA5FB-49B3-AFB8-EA34-B2D788ED055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1DFDBF1-E2EE-B73C-D0AB-40D70E4C675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631E89E-FFCF-8B24-88F3-C76568824BD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32F7779-4AA6-8A9A-258B-3FFF0A939E9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6BD2347-5509-FBFD-F0FB-ACE6E92B5ED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2B89F1A-184D-1949-7905-BFF8F103CD6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
        <p:nvSpPr>
          <p:cNvPr id="4" name="TextBox 3">
            <a:extLst>
              <a:ext uri="{FF2B5EF4-FFF2-40B4-BE49-F238E27FC236}">
                <a16:creationId xmlns:a16="http://schemas.microsoft.com/office/drawing/2014/main" id="{477A870E-AEE1-96FD-29BC-7F179664AD64}"/>
              </a:ext>
            </a:extLst>
          </p:cNvPr>
          <p:cNvSpPr txBox="1"/>
          <p:nvPr/>
        </p:nvSpPr>
        <p:spPr>
          <a:xfrm>
            <a:off x="3238499" y="6255804"/>
            <a:ext cx="5715002" cy="253916"/>
          </a:xfrm>
          <a:prstGeom prst="rect">
            <a:avLst/>
          </a:prstGeom>
          <a:noFill/>
        </p:spPr>
        <p:txBody>
          <a:bodyPr wrap="square" rtlCol="0">
            <a:spAutoFit/>
          </a:bodyPr>
          <a:lstStyle/>
          <a:p>
            <a:r>
              <a:rPr lang="en-US" sz="1050" dirty="0">
                <a:hlinkClick r:id="rId4"/>
              </a:rPr>
              <a:t>https://www.akm.com/global/en/products/rotation-angle-sensor/tutorial/type-mechanism-2/</a:t>
            </a:r>
            <a:r>
              <a:rPr lang="en-US" sz="1050" dirty="0"/>
              <a:t> </a:t>
            </a:r>
          </a:p>
        </p:txBody>
      </p:sp>
      <p:pic>
        <p:nvPicPr>
          <p:cNvPr id="9218" name="Picture 2" descr="Figure 7. Parallel output signal and serial converted output signal">
            <a:extLst>
              <a:ext uri="{FF2B5EF4-FFF2-40B4-BE49-F238E27FC236}">
                <a16:creationId xmlns:a16="http://schemas.microsoft.com/office/drawing/2014/main" id="{660DFC84-6DC7-7D59-E703-23FA4CA73638}"/>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333500" y="1047750"/>
            <a:ext cx="9525000" cy="47625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03644667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117"/>
        <p:cNvGrpSpPr/>
        <p:nvPr/>
      </p:nvGrpSpPr>
      <p:grpSpPr>
        <a:xfrm>
          <a:off x="0" y="0"/>
          <a:ext cx="0" cy="0"/>
          <a:chOff x="0" y="0"/>
          <a:chExt cx="0" cy="0"/>
        </a:xfrm>
      </p:grpSpPr>
      <p:sp>
        <p:nvSpPr>
          <p:cNvPr id="118" name="Google Shape;118;p29"/>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600" b="1">
                <a:solidFill>
                  <a:srgbClr val="E84B36"/>
                </a:solidFill>
                <a:latin typeface="Arial"/>
                <a:ea typeface="Arial"/>
                <a:cs typeface="Arial"/>
                <a:sym typeface="Arial"/>
              </a:rPr>
              <a:t>Lorem Ipsum Dolor Sit Amet Consectetur Adipiscing</a:t>
            </a:r>
            <a:endParaRPr sz="2600" b="1">
              <a:solidFill>
                <a:srgbClr val="E84B36"/>
              </a:solidFill>
              <a:latin typeface="Arial"/>
              <a:ea typeface="Arial"/>
              <a:cs typeface="Arial"/>
              <a:sym typeface="Arial"/>
            </a:endParaRPr>
          </a:p>
          <a:p>
            <a:pPr marL="0" lvl="0" indent="0" algn="l" rtl="0">
              <a:lnSpc>
                <a:spcPct val="100000"/>
              </a:lnSpc>
              <a:spcBef>
                <a:spcPts val="0"/>
              </a:spcBef>
              <a:spcAft>
                <a:spcPts val="0"/>
              </a:spcAft>
              <a:buSzPts val="2000"/>
              <a:buNone/>
            </a:pPr>
            <a:endParaRPr sz="1800">
              <a:solidFill>
                <a:schemeClr val="dk1"/>
              </a:solidFill>
              <a:latin typeface="Arial"/>
              <a:ea typeface="Arial"/>
              <a:cs typeface="Arial"/>
              <a:sym typeface="Arial"/>
            </a:endParaRPr>
          </a:p>
          <a:p>
            <a:pPr marL="0" lvl="0" indent="0" algn="l" rtl="0">
              <a:lnSpc>
                <a:spcPct val="100000"/>
              </a:lnSpc>
              <a:spcBef>
                <a:spcPts val="0"/>
              </a:spcBef>
              <a:spcAft>
                <a:spcPts val="0"/>
              </a:spcAft>
              <a:buSzPts val="2000"/>
              <a:buNone/>
            </a:pPr>
            <a:r>
              <a:rPr lang="en-US" sz="1800">
                <a:latin typeface="Arial"/>
                <a:ea typeface="Arial"/>
                <a:cs typeface="Arial"/>
                <a:sym typeface="Arial"/>
              </a:rPr>
              <a:t>Lorem ipsum dolor sit amet, consectetur adipiscing elit, sed do eiusmod tempor incididunt ut labore et dolore magna aliqua. Ut enim ad minim veniam, quis nostrud exercitation ullamco laboris nisi ut aliquip ex ea commodo consequat. Duis aute irure dolor in reprehenderit in voluptate velit esse cillum dolore eu fugiat nulla pariatur. Excepteur sint occaecat cupidatat non proident, sunt in culpa qui officia deserunt mollit anim id est laborum.</a:t>
            </a:r>
            <a:endParaRPr/>
          </a:p>
          <a:p>
            <a:pPr marL="0" lvl="0" indent="0" algn="l" rtl="0">
              <a:lnSpc>
                <a:spcPct val="100000"/>
              </a:lnSpc>
              <a:spcBef>
                <a:spcPts val="0"/>
              </a:spcBef>
              <a:spcAft>
                <a:spcPts val="0"/>
              </a:spcAft>
              <a:buSzPts val="2000"/>
              <a:buNone/>
            </a:pPr>
            <a:endParaRPr sz="1800">
              <a:solidFill>
                <a:schemeClr val="dk1"/>
              </a:solidFill>
              <a:latin typeface="Arial"/>
              <a:ea typeface="Arial"/>
              <a:cs typeface="Arial"/>
              <a:sym typeface="Arial"/>
            </a:endParaRPr>
          </a:p>
          <a:p>
            <a:pPr marL="0" lvl="0" indent="0" algn="l" rtl="0">
              <a:lnSpc>
                <a:spcPct val="100000"/>
              </a:lnSpc>
              <a:spcBef>
                <a:spcPts val="0"/>
              </a:spcBef>
              <a:spcAft>
                <a:spcPts val="0"/>
              </a:spcAft>
              <a:buSzPts val="3000"/>
              <a:buNone/>
            </a:pPr>
            <a:r>
              <a:rPr lang="en-US" sz="2000" b="1">
                <a:solidFill>
                  <a:srgbClr val="15264B"/>
                </a:solidFill>
                <a:latin typeface="Arial"/>
                <a:ea typeface="Arial"/>
                <a:cs typeface="Arial"/>
                <a:sym typeface="Arial"/>
              </a:rPr>
              <a:t>Lorem Ipsum Dolor Sit Amet Consectetur Adipiscing</a:t>
            </a:r>
            <a:endParaRPr sz="2000" b="1">
              <a:solidFill>
                <a:srgbClr val="15264B"/>
              </a:solidFill>
              <a:latin typeface="Arial"/>
              <a:ea typeface="Arial"/>
              <a:cs typeface="Arial"/>
              <a:sym typeface="Arial"/>
            </a:endParaRPr>
          </a:p>
          <a:p>
            <a:pPr marL="0" lvl="0" indent="0" algn="l" rtl="0">
              <a:lnSpc>
                <a:spcPct val="100000"/>
              </a:lnSpc>
              <a:spcBef>
                <a:spcPts val="0"/>
              </a:spcBef>
              <a:spcAft>
                <a:spcPts val="0"/>
              </a:spcAft>
              <a:buSzPts val="3000"/>
              <a:buNone/>
            </a:pPr>
            <a:endParaRPr sz="1800" b="1">
              <a:solidFill>
                <a:schemeClr val="dk1"/>
              </a:solidFill>
              <a:latin typeface="Arial"/>
              <a:ea typeface="Arial"/>
              <a:cs typeface="Arial"/>
              <a:sym typeface="Arial"/>
            </a:endParaRPr>
          </a:p>
          <a:p>
            <a:pPr marL="0" lvl="0" indent="0" algn="l" rtl="0">
              <a:lnSpc>
                <a:spcPct val="100000"/>
              </a:lnSpc>
              <a:spcBef>
                <a:spcPts val="0"/>
              </a:spcBef>
              <a:spcAft>
                <a:spcPts val="0"/>
              </a:spcAft>
              <a:buSzPts val="3000"/>
              <a:buNone/>
            </a:pPr>
            <a:r>
              <a:rPr lang="en-US" sz="1800">
                <a:latin typeface="Arial"/>
                <a:ea typeface="Arial"/>
                <a:cs typeface="Arial"/>
                <a:sym typeface="Arial"/>
              </a:rPr>
              <a:t>Lorem ipsum dolor sit amet, consectetur adipiscing elit, sed do eiusmod tempor incididunt ut labore et dolore magna aliqua.</a:t>
            </a:r>
            <a:endParaRPr sz="1800" b="1">
              <a:solidFill>
                <a:schemeClr val="dk1"/>
              </a:solidFill>
              <a:latin typeface="Arial"/>
              <a:ea typeface="Arial"/>
              <a:cs typeface="Arial"/>
              <a:sym typeface="Arial"/>
            </a:endParaRPr>
          </a:p>
        </p:txBody>
      </p:sp>
      <p:sp>
        <p:nvSpPr>
          <p:cNvPr id="119" name="Google Shape;119;p29"/>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a:solidFill>
                  <a:schemeClr val="lt1"/>
                </a:solidFill>
                <a:latin typeface="Arial"/>
                <a:ea typeface="Arial"/>
                <a:cs typeface="Arial"/>
                <a:sym typeface="Arial"/>
              </a:rPr>
              <a:t>Slide Title</a:t>
            </a:r>
            <a:endParaRPr sz="2400" b="0" i="0" u="none" strike="noStrike" cap="none">
              <a:solidFill>
                <a:schemeClr val="lt1"/>
              </a:solidFill>
              <a:latin typeface="Arial"/>
              <a:ea typeface="Arial"/>
              <a:cs typeface="Arial"/>
              <a:sym typeface="Arial"/>
            </a:endParaRPr>
          </a:p>
        </p:txBody>
      </p:sp>
      <p:pic>
        <p:nvPicPr>
          <p:cNvPr id="121" name="Google Shape;121;p29"/>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p:cNvGrpSpPr/>
          <p:nvPr/>
        </p:nvGrpSpPr>
        <p:grpSpPr>
          <a:xfrm>
            <a:off x="4066674" y="6601537"/>
            <a:ext cx="5233412" cy="70446"/>
            <a:chOff x="4033424" y="6601537"/>
            <a:chExt cx="5233412" cy="70446"/>
          </a:xfrm>
        </p:grpSpPr>
        <p:cxnSp>
          <p:nvCxnSpPr>
            <p:cNvPr id="125" name="Google Shape;125;p29"/>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130"/>
        <p:cNvGrpSpPr/>
        <p:nvPr/>
      </p:nvGrpSpPr>
      <p:grpSpPr>
        <a:xfrm>
          <a:off x="0" y="0"/>
          <a:ext cx="0" cy="0"/>
          <a:chOff x="0" y="0"/>
          <a:chExt cx="0" cy="0"/>
        </a:xfrm>
      </p:grpSpPr>
      <p:sp>
        <p:nvSpPr>
          <p:cNvPr id="131" name="Google Shape;131;p30"/>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32" name="Google Shape;132;p30"/>
          <p:cNvSpPr txBox="1"/>
          <p:nvPr/>
        </p:nvSpPr>
        <p:spPr>
          <a:xfrm>
            <a:off x="376810" y="1334279"/>
            <a:ext cx="5442100" cy="4821102"/>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US" sz="2600" b="1" i="0" u="none" strike="noStrike" cap="none">
                <a:solidFill>
                  <a:srgbClr val="E84B36"/>
                </a:solidFill>
                <a:latin typeface="Arial"/>
                <a:ea typeface="Arial"/>
                <a:cs typeface="Arial"/>
                <a:sym typeface="Arial"/>
              </a:rPr>
              <a:t>Lorem Ipsum Dolor Sit Amet Consectetur Adipiscing</a:t>
            </a:r>
            <a:endParaRPr sz="2600" b="1" i="0" u="none" strike="noStrike" cap="none">
              <a:solidFill>
                <a:srgbClr val="E84B36"/>
              </a:solidFill>
              <a:latin typeface="Arial"/>
              <a:ea typeface="Arial"/>
              <a:cs typeface="Arial"/>
              <a:sym typeface="Arial"/>
            </a:endParaRPr>
          </a:p>
          <a:p>
            <a:pPr marL="0" marR="0" lvl="0" indent="0" algn="l" rtl="0">
              <a:lnSpc>
                <a:spcPct val="100000"/>
              </a:lnSpc>
              <a:spcBef>
                <a:spcPts val="0"/>
              </a:spcBef>
              <a:spcAft>
                <a:spcPts val="0"/>
              </a:spcAft>
              <a:buNone/>
            </a:pPr>
            <a:endParaRPr sz="1800" b="0"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None/>
            </a:pPr>
            <a:r>
              <a:rPr lang="en-US" sz="1800" b="0" i="0" u="none" strike="noStrike" cap="none">
                <a:solidFill>
                  <a:srgbClr val="000000"/>
                </a:solidFill>
                <a:latin typeface="Arial"/>
                <a:ea typeface="Arial"/>
                <a:cs typeface="Arial"/>
                <a:sym typeface="Arial"/>
              </a:rPr>
              <a:t>Lorem ipsum dolor sit amet, consectetur adipiscing elit, sed do eiusmod tempor incididunt ut labore et dolore magna aliqua. Ut enim ad minim veniam, quis nostrud exercitation ullamco laboris nisi ut aliquip ex ea commodo consequat. Duis aute irure dolor in reprehenderit in voluptate velit esse cillum dolore eu fugiat nulla pariatur. Excepteur sint occaecat cupidatat non proident, sunt in culpa qui officia deserunt mollit anim id est laborum.</a:t>
            </a:r>
            <a:endParaRPr sz="1800" b="1" i="0" u="none" strike="noStrike" cap="none">
              <a:solidFill>
                <a:schemeClr val="dk1"/>
              </a:solidFill>
              <a:latin typeface="Arial"/>
              <a:ea typeface="Arial"/>
              <a:cs typeface="Arial"/>
              <a:sym typeface="Arial"/>
            </a:endParaRPr>
          </a:p>
        </p:txBody>
      </p:sp>
      <p:sp>
        <p:nvSpPr>
          <p:cNvPr id="133" name="Google Shape;133;p30"/>
          <p:cNvSpPr txBox="1"/>
          <p:nvPr/>
        </p:nvSpPr>
        <p:spPr>
          <a:xfrm>
            <a:off x="6158774" y="1334279"/>
            <a:ext cx="5442100" cy="4821102"/>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US" sz="2000" b="1" i="0" u="none" strike="noStrike" cap="none">
                <a:solidFill>
                  <a:srgbClr val="15264B"/>
                </a:solidFill>
                <a:latin typeface="Arial"/>
                <a:ea typeface="Arial"/>
                <a:cs typeface="Arial"/>
                <a:sym typeface="Arial"/>
              </a:rPr>
              <a:t>Lorem Ipsum Dolor Sit Amet Consectetur Adipiscing</a:t>
            </a:r>
            <a:endParaRPr sz="2000" b="1" i="0" u="none" strike="noStrike" cap="none">
              <a:solidFill>
                <a:srgbClr val="15264B"/>
              </a:solidFill>
              <a:latin typeface="Arial"/>
              <a:ea typeface="Arial"/>
              <a:cs typeface="Arial"/>
              <a:sym typeface="Arial"/>
            </a:endParaRPr>
          </a:p>
          <a:p>
            <a:pPr marL="0" marR="0" lvl="0" indent="0" algn="l" rtl="0">
              <a:lnSpc>
                <a:spcPct val="100000"/>
              </a:lnSpc>
              <a:spcBef>
                <a:spcPts val="0"/>
              </a:spcBef>
              <a:spcAft>
                <a:spcPts val="0"/>
              </a:spcAft>
              <a:buNone/>
            </a:pPr>
            <a:endParaRPr sz="1800" b="0"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None/>
            </a:pPr>
            <a:r>
              <a:rPr lang="en-US" sz="1800" b="0" i="0" u="none" strike="noStrike" cap="none">
                <a:solidFill>
                  <a:srgbClr val="000000"/>
                </a:solidFill>
                <a:latin typeface="Arial"/>
                <a:ea typeface="Arial"/>
                <a:cs typeface="Arial"/>
                <a:sym typeface="Arial"/>
              </a:rPr>
              <a:t>Lorem ipsum dolor sit amet, consectetur adipiscing elit, sed do eiusmod tempor incididunt ut labore et dolore magna aliqua. Ut enim ad minim veniam, quis nostrud exercitation ullamco laboris nisi ut aliquip ex ea commodo consequat. Duis aute irure dolor in reprehenderit in voluptate velit esse cillum dolore eu fugiat nulla pariatur. Excepteur sint occaecat cupidatat non proident, sunt in culpa qui officia deserunt mollit anim id est laborum.</a:t>
            </a:r>
            <a:endParaRPr sz="1800" b="1" i="0" u="none" strike="noStrike" cap="none">
              <a:solidFill>
                <a:schemeClr val="dk1"/>
              </a:solidFill>
              <a:latin typeface="Arial"/>
              <a:ea typeface="Arial"/>
              <a:cs typeface="Arial"/>
              <a:sym typeface="Arial"/>
            </a:endParaRPr>
          </a:p>
        </p:txBody>
      </p:sp>
      <p:sp>
        <p:nvSpPr>
          <p:cNvPr id="134" name="Google Shape;134;p30"/>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a:solidFill>
                  <a:schemeClr val="lt1"/>
                </a:solidFill>
                <a:latin typeface="Arial"/>
                <a:ea typeface="Arial"/>
                <a:cs typeface="Arial"/>
                <a:sym typeface="Arial"/>
              </a:rPr>
              <a:t>Slide Title</a:t>
            </a:r>
            <a:endParaRPr sz="2400" b="0" i="0" u="none" strike="noStrike" cap="none">
              <a:solidFill>
                <a:schemeClr val="lt1"/>
              </a:solidFill>
              <a:latin typeface="Arial"/>
              <a:ea typeface="Arial"/>
              <a:cs typeface="Arial"/>
              <a:sym typeface="Arial"/>
            </a:endParaRPr>
          </a:p>
        </p:txBody>
      </p:sp>
      <p:pic>
        <p:nvPicPr>
          <p:cNvPr id="135" name="Google Shape;135;p30"/>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36" name="Google Shape;136;p30"/>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37" name="Google Shape;137;p30"/>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38" name="Google Shape;138;p30"/>
          <p:cNvGrpSpPr/>
          <p:nvPr/>
        </p:nvGrpSpPr>
        <p:grpSpPr>
          <a:xfrm>
            <a:off x="4066674" y="6601537"/>
            <a:ext cx="5233412" cy="70446"/>
            <a:chOff x="4033424" y="6601537"/>
            <a:chExt cx="5233412" cy="70446"/>
          </a:xfrm>
        </p:grpSpPr>
        <p:cxnSp>
          <p:nvCxnSpPr>
            <p:cNvPr id="139" name="Google Shape;139;p30"/>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40" name="Google Shape;140;p30"/>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144"/>
        <p:cNvGrpSpPr/>
        <p:nvPr/>
      </p:nvGrpSpPr>
      <p:grpSpPr>
        <a:xfrm>
          <a:off x="0" y="0"/>
          <a:ext cx="0" cy="0"/>
          <a:chOff x="0" y="0"/>
          <a:chExt cx="0" cy="0"/>
        </a:xfrm>
      </p:grpSpPr>
      <p:sp>
        <p:nvSpPr>
          <p:cNvPr id="145" name="Google Shape;145;p31"/>
          <p:cNvSpPr/>
          <p:nvPr/>
        </p:nvSpPr>
        <p:spPr>
          <a:xfrm>
            <a:off x="475566" y="1263717"/>
            <a:ext cx="4356660" cy="2315647"/>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146" name="Google Shape;146;p31"/>
          <p:cNvSpPr txBox="1"/>
          <p:nvPr/>
        </p:nvSpPr>
        <p:spPr>
          <a:xfrm>
            <a:off x="1494115" y="2239572"/>
            <a:ext cx="2280491" cy="369332"/>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rgbClr val="A5A5A5"/>
                </a:solidFill>
                <a:latin typeface="Arial"/>
                <a:ea typeface="Arial"/>
                <a:cs typeface="Arial"/>
                <a:sym typeface="Arial"/>
              </a:rPr>
              <a:t>IMAGE / GRAPHIC</a:t>
            </a:r>
            <a:endParaRPr sz="1400" b="0" i="0" u="none" strike="noStrike" cap="none">
              <a:solidFill>
                <a:srgbClr val="000000"/>
              </a:solidFill>
              <a:latin typeface="Arial"/>
              <a:ea typeface="Arial"/>
              <a:cs typeface="Arial"/>
              <a:sym typeface="Arial"/>
            </a:endParaRPr>
          </a:p>
        </p:txBody>
      </p:sp>
      <p:sp>
        <p:nvSpPr>
          <p:cNvPr id="147" name="Google Shape;147;p31"/>
          <p:cNvSpPr/>
          <p:nvPr/>
        </p:nvSpPr>
        <p:spPr>
          <a:xfrm>
            <a:off x="475566" y="3774068"/>
            <a:ext cx="4356660" cy="2315647"/>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148" name="Google Shape;148;p31"/>
          <p:cNvSpPr txBox="1"/>
          <p:nvPr/>
        </p:nvSpPr>
        <p:spPr>
          <a:xfrm>
            <a:off x="1494115" y="4747225"/>
            <a:ext cx="2280491" cy="369332"/>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rgbClr val="A5A5A5"/>
                </a:solidFill>
                <a:latin typeface="Arial"/>
                <a:ea typeface="Arial"/>
                <a:cs typeface="Arial"/>
                <a:sym typeface="Arial"/>
              </a:rPr>
              <a:t>IMAGE / GRAPHIC</a:t>
            </a:r>
            <a:endParaRPr sz="1400" b="0" i="0" u="none" strike="noStrike" cap="none">
              <a:solidFill>
                <a:srgbClr val="000000"/>
              </a:solidFill>
              <a:latin typeface="Arial"/>
              <a:ea typeface="Arial"/>
              <a:cs typeface="Arial"/>
              <a:sym typeface="Arial"/>
            </a:endParaRPr>
          </a:p>
        </p:txBody>
      </p:sp>
      <p:sp>
        <p:nvSpPr>
          <p:cNvPr id="149" name="Google Shape;149;p31"/>
          <p:cNvSpPr txBox="1"/>
          <p:nvPr/>
        </p:nvSpPr>
        <p:spPr>
          <a:xfrm>
            <a:off x="5122548" y="1334279"/>
            <a:ext cx="6686464" cy="4821102"/>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US" sz="2600" b="1" i="0" u="none" strike="noStrike" cap="none">
                <a:solidFill>
                  <a:srgbClr val="E84B36"/>
                </a:solidFill>
                <a:latin typeface="Arial"/>
                <a:ea typeface="Arial"/>
                <a:cs typeface="Arial"/>
                <a:sym typeface="Arial"/>
              </a:rPr>
              <a:t>Lorem Ipsum Dolor Sit Amet Consectetur Adipiscing</a:t>
            </a:r>
            <a:endParaRPr sz="2600" b="1" i="0" u="none" strike="noStrike" cap="none">
              <a:solidFill>
                <a:srgbClr val="E84B36"/>
              </a:solidFill>
              <a:latin typeface="Arial"/>
              <a:ea typeface="Arial"/>
              <a:cs typeface="Arial"/>
              <a:sym typeface="Arial"/>
            </a:endParaRPr>
          </a:p>
          <a:p>
            <a:pPr marL="0" marR="0" lvl="0" indent="0" algn="l" rtl="0">
              <a:lnSpc>
                <a:spcPct val="100000"/>
              </a:lnSpc>
              <a:spcBef>
                <a:spcPts val="0"/>
              </a:spcBef>
              <a:spcAft>
                <a:spcPts val="0"/>
              </a:spcAft>
              <a:buNone/>
            </a:pPr>
            <a:endParaRPr sz="1800" b="0"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None/>
            </a:pPr>
            <a:r>
              <a:rPr lang="en-US" sz="1800" b="0" i="0" u="none" strike="noStrike" cap="none">
                <a:solidFill>
                  <a:srgbClr val="000000"/>
                </a:solidFill>
                <a:latin typeface="Arial"/>
                <a:ea typeface="Arial"/>
                <a:cs typeface="Arial"/>
                <a:sym typeface="Arial"/>
              </a:rPr>
              <a:t>Lorem ipsum dolor sit amet, consectetur adipiscing elit, sed do eiusmod tempor incididunt ut labore et dolore magna aliqua. Ut enim ad minim veniam, quis nostrud exercitation ullamco laboris nisi ut aliquip ex ea commodo consequat. </a:t>
            </a:r>
            <a:endParaRPr/>
          </a:p>
          <a:p>
            <a:pPr marL="0" marR="0" lvl="0" indent="0" algn="l" rtl="0">
              <a:lnSpc>
                <a:spcPct val="100000"/>
              </a:lnSpc>
              <a:spcBef>
                <a:spcPts val="0"/>
              </a:spcBef>
              <a:spcAft>
                <a:spcPts val="0"/>
              </a:spcAft>
              <a:buNone/>
            </a:pPr>
            <a:endParaRPr sz="1800" b="0"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None/>
            </a:pPr>
            <a:r>
              <a:rPr lang="en-US" sz="2000" b="1" i="0" u="none" strike="noStrike" cap="none">
                <a:solidFill>
                  <a:srgbClr val="15264B"/>
                </a:solidFill>
                <a:latin typeface="Arial"/>
                <a:ea typeface="Arial"/>
                <a:cs typeface="Arial"/>
                <a:sym typeface="Arial"/>
              </a:rPr>
              <a:t>Lorem Ipsum Dolor Sit Amet Consectetur Adipiscing</a:t>
            </a:r>
            <a:endParaRPr sz="2000" b="1" i="0" u="none" strike="noStrike" cap="none">
              <a:solidFill>
                <a:srgbClr val="15264B"/>
              </a:solidFill>
              <a:latin typeface="Arial"/>
              <a:ea typeface="Arial"/>
              <a:cs typeface="Arial"/>
              <a:sym typeface="Arial"/>
            </a:endParaRPr>
          </a:p>
          <a:p>
            <a:pPr marL="0" marR="0" lvl="0" indent="0" algn="l" rtl="0">
              <a:lnSpc>
                <a:spcPct val="100000"/>
              </a:lnSpc>
              <a:spcBef>
                <a:spcPts val="0"/>
              </a:spcBef>
              <a:spcAft>
                <a:spcPts val="0"/>
              </a:spcAft>
              <a:buNone/>
            </a:pPr>
            <a:endParaRPr sz="1800" b="1"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None/>
            </a:pPr>
            <a:r>
              <a:rPr lang="en-US" sz="1800" b="0" i="0" u="none" strike="noStrike" cap="none">
                <a:solidFill>
                  <a:srgbClr val="000000"/>
                </a:solidFill>
                <a:latin typeface="Arial"/>
                <a:ea typeface="Arial"/>
                <a:cs typeface="Arial"/>
                <a:sym typeface="Arial"/>
              </a:rPr>
              <a:t>Lorem ipsum dolor sit amet, consectetur adipiscing elit, sed do eiusmod tempor incididunt ut labore et dolore magna aliqua.</a:t>
            </a:r>
            <a:endParaRPr sz="1800" b="1" i="0" u="none" strike="noStrike" cap="none">
              <a:solidFill>
                <a:schemeClr val="dk1"/>
              </a:solidFill>
              <a:latin typeface="Arial"/>
              <a:ea typeface="Arial"/>
              <a:cs typeface="Arial"/>
              <a:sym typeface="Arial"/>
            </a:endParaRPr>
          </a:p>
        </p:txBody>
      </p:sp>
      <p:sp>
        <p:nvSpPr>
          <p:cNvPr id="150" name="Google Shape;150;p31"/>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51" name="Google Shape;151;p31"/>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a:solidFill>
                  <a:schemeClr val="lt1"/>
                </a:solidFill>
                <a:latin typeface="Arial"/>
                <a:ea typeface="Arial"/>
                <a:cs typeface="Arial"/>
                <a:sym typeface="Arial"/>
              </a:rPr>
              <a:t>Slide Title</a:t>
            </a:r>
            <a:endParaRPr sz="2400" b="0" i="0" u="none" strike="noStrike" cap="none">
              <a:solidFill>
                <a:schemeClr val="lt1"/>
              </a:solidFill>
              <a:latin typeface="Arial"/>
              <a:ea typeface="Arial"/>
              <a:cs typeface="Arial"/>
              <a:sym typeface="Arial"/>
            </a:endParaRPr>
          </a:p>
        </p:txBody>
      </p:sp>
      <p:pic>
        <p:nvPicPr>
          <p:cNvPr id="152" name="Google Shape;152;p31"/>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53" name="Google Shape;153;p31"/>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54" name="Google Shape;154;p31"/>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55" name="Google Shape;155;p31"/>
          <p:cNvGrpSpPr/>
          <p:nvPr/>
        </p:nvGrpSpPr>
        <p:grpSpPr>
          <a:xfrm>
            <a:off x="4066674" y="6601537"/>
            <a:ext cx="5233412" cy="70446"/>
            <a:chOff x="4033424" y="6601537"/>
            <a:chExt cx="5233412" cy="70446"/>
          </a:xfrm>
        </p:grpSpPr>
        <p:cxnSp>
          <p:nvCxnSpPr>
            <p:cNvPr id="156" name="Google Shape;156;p31"/>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57" name="Google Shape;157;p31"/>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61"/>
        <p:cNvGrpSpPr/>
        <p:nvPr/>
      </p:nvGrpSpPr>
      <p:grpSpPr>
        <a:xfrm>
          <a:off x="0" y="0"/>
          <a:ext cx="0" cy="0"/>
          <a:chOff x="0" y="0"/>
          <a:chExt cx="0" cy="0"/>
        </a:xfrm>
      </p:grpSpPr>
      <p:sp>
        <p:nvSpPr>
          <p:cNvPr id="162" name="Google Shape;162;p7"/>
          <p:cNvSpPr/>
          <p:nvPr/>
        </p:nvSpPr>
        <p:spPr>
          <a:xfrm>
            <a:off x="7475456" y="1263717"/>
            <a:ext cx="4356660" cy="2315647"/>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163" name="Google Shape;163;p7"/>
          <p:cNvSpPr txBox="1"/>
          <p:nvPr/>
        </p:nvSpPr>
        <p:spPr>
          <a:xfrm>
            <a:off x="8494005" y="2239572"/>
            <a:ext cx="2280491" cy="369332"/>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rgbClr val="A5A5A5"/>
                </a:solidFill>
                <a:latin typeface="Arial"/>
                <a:ea typeface="Arial"/>
                <a:cs typeface="Arial"/>
                <a:sym typeface="Arial"/>
              </a:rPr>
              <a:t>IMAGE / GRAPHIC</a:t>
            </a:r>
            <a:endParaRPr sz="1400" b="0" i="0" u="none" strike="noStrike" cap="none">
              <a:solidFill>
                <a:srgbClr val="000000"/>
              </a:solidFill>
              <a:latin typeface="Arial"/>
              <a:ea typeface="Arial"/>
              <a:cs typeface="Arial"/>
              <a:sym typeface="Arial"/>
            </a:endParaRPr>
          </a:p>
        </p:txBody>
      </p:sp>
      <p:sp>
        <p:nvSpPr>
          <p:cNvPr id="164" name="Google Shape;164;p7"/>
          <p:cNvSpPr/>
          <p:nvPr/>
        </p:nvSpPr>
        <p:spPr>
          <a:xfrm>
            <a:off x="7475456" y="3774068"/>
            <a:ext cx="4356660" cy="2315647"/>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165" name="Google Shape;165;p7"/>
          <p:cNvSpPr txBox="1"/>
          <p:nvPr/>
        </p:nvSpPr>
        <p:spPr>
          <a:xfrm>
            <a:off x="8494005" y="4747225"/>
            <a:ext cx="2280491" cy="369332"/>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rgbClr val="A5A5A5"/>
                </a:solidFill>
                <a:latin typeface="Arial"/>
                <a:ea typeface="Arial"/>
                <a:cs typeface="Arial"/>
                <a:sym typeface="Arial"/>
              </a:rPr>
              <a:t>IMAGE / GRAPHIC</a:t>
            </a:r>
            <a:endParaRPr sz="1400" b="0" i="0" u="none" strike="noStrike" cap="none">
              <a:solidFill>
                <a:srgbClr val="000000"/>
              </a:solidFill>
              <a:latin typeface="Arial"/>
              <a:ea typeface="Arial"/>
              <a:cs typeface="Arial"/>
              <a:sym typeface="Arial"/>
            </a:endParaRPr>
          </a:p>
        </p:txBody>
      </p:sp>
      <p:sp>
        <p:nvSpPr>
          <p:cNvPr id="166" name="Google Shape;166;p7"/>
          <p:cNvSpPr txBox="1">
            <a:spLocks noGrp="1"/>
          </p:cNvSpPr>
          <p:nvPr>
            <p:ph type="body" idx="1"/>
          </p:nvPr>
        </p:nvSpPr>
        <p:spPr>
          <a:xfrm>
            <a:off x="376810" y="1334279"/>
            <a:ext cx="6686464"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600" b="1">
                <a:solidFill>
                  <a:srgbClr val="E84B36"/>
                </a:solidFill>
                <a:latin typeface="Arial"/>
                <a:ea typeface="Arial"/>
                <a:cs typeface="Arial"/>
                <a:sym typeface="Arial"/>
              </a:rPr>
              <a:t>Lorem Ipsum Dolor Sit Amet Consectetur Adipiscing</a:t>
            </a:r>
            <a:endParaRPr sz="2600" b="1">
              <a:solidFill>
                <a:srgbClr val="E84B36"/>
              </a:solidFill>
              <a:latin typeface="Arial"/>
              <a:ea typeface="Arial"/>
              <a:cs typeface="Arial"/>
              <a:sym typeface="Arial"/>
            </a:endParaRPr>
          </a:p>
          <a:p>
            <a:pPr marL="0" lvl="0" indent="0" algn="l" rtl="0">
              <a:lnSpc>
                <a:spcPct val="100000"/>
              </a:lnSpc>
              <a:spcBef>
                <a:spcPts val="0"/>
              </a:spcBef>
              <a:spcAft>
                <a:spcPts val="0"/>
              </a:spcAft>
              <a:buSzPts val="2000"/>
              <a:buNone/>
            </a:pPr>
            <a:endParaRPr sz="1800">
              <a:solidFill>
                <a:schemeClr val="dk1"/>
              </a:solidFill>
              <a:latin typeface="Arial"/>
              <a:ea typeface="Arial"/>
              <a:cs typeface="Arial"/>
              <a:sym typeface="Arial"/>
            </a:endParaRPr>
          </a:p>
          <a:p>
            <a:pPr marL="0" lvl="0" indent="0" algn="l" rtl="0">
              <a:lnSpc>
                <a:spcPct val="100000"/>
              </a:lnSpc>
              <a:spcBef>
                <a:spcPts val="0"/>
              </a:spcBef>
              <a:spcAft>
                <a:spcPts val="0"/>
              </a:spcAft>
              <a:buSzPts val="2000"/>
              <a:buNone/>
            </a:pPr>
            <a:r>
              <a:rPr lang="en-US" sz="1800">
                <a:latin typeface="Arial"/>
                <a:ea typeface="Arial"/>
                <a:cs typeface="Arial"/>
                <a:sym typeface="Arial"/>
              </a:rPr>
              <a:t>Lorem ipsum dolor sit amet, consectetur adipiscing elit, sed do eiusmod tempor incididunt ut labore et dolore magna aliqua. Ut enim ad minim veniam, quis nostrud exercitation ullamco laboris nisi ut aliquip ex ea commodo consequat. </a:t>
            </a:r>
            <a:endParaRPr/>
          </a:p>
          <a:p>
            <a:pPr marL="0" lvl="0" indent="0" algn="l" rtl="0">
              <a:lnSpc>
                <a:spcPct val="100000"/>
              </a:lnSpc>
              <a:spcBef>
                <a:spcPts val="0"/>
              </a:spcBef>
              <a:spcAft>
                <a:spcPts val="0"/>
              </a:spcAft>
              <a:buSzPts val="2000"/>
              <a:buNone/>
            </a:pPr>
            <a:endParaRPr sz="1800">
              <a:solidFill>
                <a:schemeClr val="dk1"/>
              </a:solidFill>
              <a:latin typeface="Arial"/>
              <a:ea typeface="Arial"/>
              <a:cs typeface="Arial"/>
              <a:sym typeface="Arial"/>
            </a:endParaRPr>
          </a:p>
          <a:p>
            <a:pPr marL="0" lvl="0" indent="0" algn="l" rtl="0">
              <a:lnSpc>
                <a:spcPct val="100000"/>
              </a:lnSpc>
              <a:spcBef>
                <a:spcPts val="0"/>
              </a:spcBef>
              <a:spcAft>
                <a:spcPts val="0"/>
              </a:spcAft>
              <a:buSzPts val="3000"/>
              <a:buNone/>
            </a:pPr>
            <a:r>
              <a:rPr lang="en-US" sz="2000" b="1">
                <a:solidFill>
                  <a:srgbClr val="15264B"/>
                </a:solidFill>
                <a:latin typeface="Arial"/>
                <a:ea typeface="Arial"/>
                <a:cs typeface="Arial"/>
                <a:sym typeface="Arial"/>
              </a:rPr>
              <a:t>Lorem Ipsum Dolor Sit Amet Consectetur Adipiscing</a:t>
            </a:r>
            <a:endParaRPr sz="2000" b="1">
              <a:solidFill>
                <a:srgbClr val="15264B"/>
              </a:solidFill>
            </a:endParaRPr>
          </a:p>
          <a:p>
            <a:pPr marL="0" lvl="0" indent="0" algn="l" rtl="0">
              <a:lnSpc>
                <a:spcPct val="100000"/>
              </a:lnSpc>
              <a:spcBef>
                <a:spcPts val="0"/>
              </a:spcBef>
              <a:spcAft>
                <a:spcPts val="0"/>
              </a:spcAft>
              <a:buSzPts val="3000"/>
              <a:buNone/>
            </a:pPr>
            <a:endParaRPr sz="1800" b="1">
              <a:solidFill>
                <a:schemeClr val="dk1"/>
              </a:solidFill>
              <a:latin typeface="Arial"/>
              <a:ea typeface="Arial"/>
              <a:cs typeface="Arial"/>
              <a:sym typeface="Arial"/>
            </a:endParaRPr>
          </a:p>
          <a:p>
            <a:pPr marL="0" lvl="0" indent="0" algn="l" rtl="0">
              <a:lnSpc>
                <a:spcPct val="100000"/>
              </a:lnSpc>
              <a:spcBef>
                <a:spcPts val="0"/>
              </a:spcBef>
              <a:spcAft>
                <a:spcPts val="0"/>
              </a:spcAft>
              <a:buSzPts val="3000"/>
              <a:buNone/>
            </a:pPr>
            <a:r>
              <a:rPr lang="en-US" sz="1800">
                <a:latin typeface="Arial"/>
                <a:ea typeface="Arial"/>
                <a:cs typeface="Arial"/>
                <a:sym typeface="Arial"/>
              </a:rPr>
              <a:t>Lorem ipsum dolor sit amet, consectetur adipiscing elit, sed do eiusmod tempor incididunt ut labore et dolore magna aliqua.</a:t>
            </a:r>
            <a:endParaRPr sz="1800" b="1">
              <a:solidFill>
                <a:schemeClr val="dk1"/>
              </a:solidFill>
              <a:latin typeface="Arial"/>
              <a:ea typeface="Arial"/>
              <a:cs typeface="Arial"/>
              <a:sym typeface="Arial"/>
            </a:endParaRPr>
          </a:p>
        </p:txBody>
      </p:sp>
      <p:sp>
        <p:nvSpPr>
          <p:cNvPr id="167" name="Google Shape;167;p7"/>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68" name="Google Shape;168;p7"/>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a:solidFill>
                  <a:schemeClr val="lt1"/>
                </a:solidFill>
                <a:latin typeface="Arial"/>
                <a:ea typeface="Arial"/>
                <a:cs typeface="Arial"/>
                <a:sym typeface="Arial"/>
              </a:rPr>
              <a:t>Slide Title</a:t>
            </a:r>
            <a:endParaRPr sz="2400" b="0" i="0" u="none" strike="noStrike" cap="none">
              <a:solidFill>
                <a:schemeClr val="lt1"/>
              </a:solidFill>
              <a:latin typeface="Arial"/>
              <a:ea typeface="Arial"/>
              <a:cs typeface="Arial"/>
              <a:sym typeface="Arial"/>
            </a:endParaRPr>
          </a:p>
        </p:txBody>
      </p:sp>
      <p:pic>
        <p:nvPicPr>
          <p:cNvPr id="169" name="Google Shape;169;p7"/>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70" name="Google Shape;170;p7"/>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71" name="Google Shape;171;p7"/>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72" name="Google Shape;172;p7"/>
          <p:cNvGrpSpPr/>
          <p:nvPr/>
        </p:nvGrpSpPr>
        <p:grpSpPr>
          <a:xfrm>
            <a:off x="4066674" y="6601537"/>
            <a:ext cx="5233412" cy="70446"/>
            <a:chOff x="4033424" y="6601537"/>
            <a:chExt cx="5233412" cy="70446"/>
          </a:xfrm>
        </p:grpSpPr>
        <p:cxnSp>
          <p:nvCxnSpPr>
            <p:cNvPr id="173" name="Google Shape;173;p7"/>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74" name="Google Shape;174;p7"/>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178"/>
        <p:cNvGrpSpPr/>
        <p:nvPr/>
      </p:nvGrpSpPr>
      <p:grpSpPr>
        <a:xfrm>
          <a:off x="0" y="0"/>
          <a:ext cx="0" cy="0"/>
          <a:chOff x="0" y="0"/>
          <a:chExt cx="0" cy="0"/>
        </a:xfrm>
      </p:grpSpPr>
      <p:sp>
        <p:nvSpPr>
          <p:cNvPr id="179" name="Google Shape;179;p32"/>
          <p:cNvSpPr/>
          <p:nvPr/>
        </p:nvSpPr>
        <p:spPr>
          <a:xfrm>
            <a:off x="431192" y="1263718"/>
            <a:ext cx="4356660" cy="4825998"/>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180" name="Google Shape;180;p32"/>
          <p:cNvSpPr txBox="1"/>
          <p:nvPr/>
        </p:nvSpPr>
        <p:spPr>
          <a:xfrm>
            <a:off x="1469276" y="3493224"/>
            <a:ext cx="2280491" cy="369332"/>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rgbClr val="A5A5A5"/>
                </a:solidFill>
                <a:latin typeface="Arial"/>
                <a:ea typeface="Arial"/>
                <a:cs typeface="Arial"/>
                <a:sym typeface="Arial"/>
              </a:rPr>
              <a:t>IMAGE / GRAPHIC</a:t>
            </a:r>
            <a:endParaRPr sz="1400" b="0" i="0" u="none" strike="noStrike" cap="none">
              <a:solidFill>
                <a:srgbClr val="000000"/>
              </a:solidFill>
              <a:latin typeface="Arial"/>
              <a:ea typeface="Arial"/>
              <a:cs typeface="Arial"/>
              <a:sym typeface="Arial"/>
            </a:endParaRPr>
          </a:p>
        </p:txBody>
      </p:sp>
      <p:sp>
        <p:nvSpPr>
          <p:cNvPr id="181" name="Google Shape;181;p32"/>
          <p:cNvSpPr txBox="1"/>
          <p:nvPr/>
        </p:nvSpPr>
        <p:spPr>
          <a:xfrm>
            <a:off x="5131837" y="1334279"/>
            <a:ext cx="6422373" cy="4821102"/>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US" sz="2600" b="1" i="0" u="none" strike="noStrike" cap="none">
                <a:solidFill>
                  <a:srgbClr val="E84B36"/>
                </a:solidFill>
                <a:latin typeface="Arial"/>
                <a:ea typeface="Arial"/>
                <a:cs typeface="Arial"/>
                <a:sym typeface="Arial"/>
              </a:rPr>
              <a:t>Lorem Ipsum Dolor Sit Amet Consectetur Adipiscing</a:t>
            </a:r>
            <a:endParaRPr sz="2600" b="1" i="0" u="none" strike="noStrike" cap="none">
              <a:solidFill>
                <a:srgbClr val="E84B36"/>
              </a:solidFill>
              <a:latin typeface="Arial"/>
              <a:ea typeface="Arial"/>
              <a:cs typeface="Arial"/>
              <a:sym typeface="Arial"/>
            </a:endParaRPr>
          </a:p>
          <a:p>
            <a:pPr marL="0" marR="0" lvl="0" indent="0" algn="l" rtl="0">
              <a:lnSpc>
                <a:spcPct val="100000"/>
              </a:lnSpc>
              <a:spcBef>
                <a:spcPts val="0"/>
              </a:spcBef>
              <a:spcAft>
                <a:spcPts val="0"/>
              </a:spcAft>
              <a:buNone/>
            </a:pPr>
            <a:endParaRPr sz="1800" b="0"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None/>
            </a:pPr>
            <a:r>
              <a:rPr lang="en-US" sz="1800" b="0" i="0" u="none" strike="noStrike" cap="none">
                <a:solidFill>
                  <a:srgbClr val="000000"/>
                </a:solidFill>
                <a:latin typeface="Arial"/>
                <a:ea typeface="Arial"/>
                <a:cs typeface="Arial"/>
                <a:sym typeface="Arial"/>
              </a:rPr>
              <a:t>Lorem ipsum dolor sit amet, consectetur adipiscing elit, sed do eiusmod tempor incididunt ut labore et dolore magna aliqua. Ut enim ad minim veniam, quis nostrud exercitation ullamco laboris nisi ut aliquip ex ea commodo consequat. </a:t>
            </a:r>
            <a:endParaRPr/>
          </a:p>
          <a:p>
            <a:pPr marL="0" marR="0" lvl="0" indent="0" algn="l" rtl="0">
              <a:lnSpc>
                <a:spcPct val="100000"/>
              </a:lnSpc>
              <a:spcBef>
                <a:spcPts val="0"/>
              </a:spcBef>
              <a:spcAft>
                <a:spcPts val="0"/>
              </a:spcAft>
              <a:buNone/>
            </a:pPr>
            <a:endParaRPr sz="1800" b="0"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None/>
            </a:pPr>
            <a:r>
              <a:rPr lang="en-US" sz="2000" b="1" i="0" u="none" strike="noStrike" cap="none">
                <a:solidFill>
                  <a:srgbClr val="15264B"/>
                </a:solidFill>
                <a:latin typeface="Arial"/>
                <a:ea typeface="Arial"/>
                <a:cs typeface="Arial"/>
                <a:sym typeface="Arial"/>
              </a:rPr>
              <a:t>Lorem Ipsum Dolor Sit Amet Consectetur Adipiscing</a:t>
            </a:r>
            <a:endParaRPr sz="2000" b="1" i="0" u="none" strike="noStrike" cap="none">
              <a:solidFill>
                <a:srgbClr val="15264B"/>
              </a:solidFill>
              <a:latin typeface="Arial"/>
              <a:ea typeface="Arial"/>
              <a:cs typeface="Arial"/>
              <a:sym typeface="Arial"/>
            </a:endParaRPr>
          </a:p>
          <a:p>
            <a:pPr marL="0" marR="0" lvl="0" indent="0" algn="l" rtl="0">
              <a:lnSpc>
                <a:spcPct val="100000"/>
              </a:lnSpc>
              <a:spcBef>
                <a:spcPts val="0"/>
              </a:spcBef>
              <a:spcAft>
                <a:spcPts val="0"/>
              </a:spcAft>
              <a:buNone/>
            </a:pPr>
            <a:endParaRPr sz="1800" b="1"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None/>
            </a:pPr>
            <a:r>
              <a:rPr lang="en-US" sz="1800" b="0" i="0" u="none" strike="noStrike" cap="none">
                <a:solidFill>
                  <a:srgbClr val="000000"/>
                </a:solidFill>
                <a:latin typeface="Arial"/>
                <a:ea typeface="Arial"/>
                <a:cs typeface="Arial"/>
                <a:sym typeface="Arial"/>
              </a:rPr>
              <a:t>Lorem ipsum dolor sit amet, consectetur adipiscing elit, sed do eiusmod tempor incididunt ut labore et dolore magna aliqua.</a:t>
            </a:r>
            <a:endParaRPr sz="1800" b="1" i="0" u="none" strike="noStrike" cap="none">
              <a:solidFill>
                <a:schemeClr val="dk1"/>
              </a:solidFill>
              <a:latin typeface="Arial"/>
              <a:ea typeface="Arial"/>
              <a:cs typeface="Arial"/>
              <a:sym typeface="Arial"/>
            </a:endParaRPr>
          </a:p>
        </p:txBody>
      </p:sp>
      <p:sp>
        <p:nvSpPr>
          <p:cNvPr id="182" name="Google Shape;182;p32"/>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83" name="Google Shape;183;p32"/>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a:solidFill>
                  <a:schemeClr val="lt1"/>
                </a:solidFill>
                <a:latin typeface="Arial"/>
                <a:ea typeface="Arial"/>
                <a:cs typeface="Arial"/>
                <a:sym typeface="Arial"/>
              </a:rPr>
              <a:t>Slide Title</a:t>
            </a:r>
            <a:endParaRPr sz="2400" b="0" i="0" u="none" strike="noStrike" cap="none">
              <a:solidFill>
                <a:schemeClr val="lt1"/>
              </a:solidFill>
              <a:latin typeface="Arial"/>
              <a:ea typeface="Arial"/>
              <a:cs typeface="Arial"/>
              <a:sym typeface="Arial"/>
            </a:endParaRPr>
          </a:p>
        </p:txBody>
      </p:sp>
      <p:pic>
        <p:nvPicPr>
          <p:cNvPr id="184" name="Google Shape;184;p32"/>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85" name="Google Shape;185;p32"/>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86" name="Google Shape;186;p32"/>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87" name="Google Shape;187;p32"/>
          <p:cNvGrpSpPr/>
          <p:nvPr/>
        </p:nvGrpSpPr>
        <p:grpSpPr>
          <a:xfrm>
            <a:off x="4066674" y="6601537"/>
            <a:ext cx="5233412" cy="70446"/>
            <a:chOff x="4033424" y="6601537"/>
            <a:chExt cx="5233412" cy="70446"/>
          </a:xfrm>
        </p:grpSpPr>
        <p:cxnSp>
          <p:nvCxnSpPr>
            <p:cNvPr id="188" name="Google Shape;188;p32"/>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89" name="Google Shape;189;p32"/>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193"/>
        <p:cNvGrpSpPr/>
        <p:nvPr/>
      </p:nvGrpSpPr>
      <p:grpSpPr>
        <a:xfrm>
          <a:off x="0" y="0"/>
          <a:ext cx="0" cy="0"/>
          <a:chOff x="0" y="0"/>
          <a:chExt cx="0" cy="0"/>
        </a:xfrm>
      </p:grpSpPr>
      <p:sp>
        <p:nvSpPr>
          <p:cNvPr id="194" name="Google Shape;194;p33"/>
          <p:cNvSpPr/>
          <p:nvPr/>
        </p:nvSpPr>
        <p:spPr>
          <a:xfrm>
            <a:off x="7452352" y="1263718"/>
            <a:ext cx="4356660" cy="4825998"/>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195" name="Google Shape;195;p33"/>
          <p:cNvSpPr txBox="1"/>
          <p:nvPr/>
        </p:nvSpPr>
        <p:spPr>
          <a:xfrm>
            <a:off x="8490436" y="3493224"/>
            <a:ext cx="2280491" cy="369332"/>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rgbClr val="A5A5A5"/>
                </a:solidFill>
                <a:latin typeface="Arial"/>
                <a:ea typeface="Arial"/>
                <a:cs typeface="Arial"/>
                <a:sym typeface="Arial"/>
              </a:rPr>
              <a:t>IMAGE / GRAPHIC</a:t>
            </a:r>
            <a:endParaRPr sz="1400" b="0" i="0" u="none" strike="noStrike" cap="none">
              <a:solidFill>
                <a:srgbClr val="000000"/>
              </a:solidFill>
              <a:latin typeface="Arial"/>
              <a:ea typeface="Arial"/>
              <a:cs typeface="Arial"/>
              <a:sym typeface="Arial"/>
            </a:endParaRPr>
          </a:p>
        </p:txBody>
      </p:sp>
      <p:sp>
        <p:nvSpPr>
          <p:cNvPr id="196" name="Google Shape;196;p33"/>
          <p:cNvSpPr txBox="1"/>
          <p:nvPr/>
        </p:nvSpPr>
        <p:spPr>
          <a:xfrm>
            <a:off x="376808" y="1334279"/>
            <a:ext cx="6422373" cy="4821102"/>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US" sz="2600" b="1" i="0" u="none" strike="noStrike" cap="none">
                <a:solidFill>
                  <a:srgbClr val="E84B36"/>
                </a:solidFill>
                <a:latin typeface="Arial"/>
                <a:ea typeface="Arial"/>
                <a:cs typeface="Arial"/>
                <a:sym typeface="Arial"/>
              </a:rPr>
              <a:t>Lorem Ipsum Dolor Sit Amet Consectetur Adipiscing</a:t>
            </a:r>
            <a:endParaRPr sz="2600" b="1" i="0" u="none" strike="noStrike" cap="none">
              <a:solidFill>
                <a:srgbClr val="E84B36"/>
              </a:solidFill>
              <a:latin typeface="Arial"/>
              <a:ea typeface="Arial"/>
              <a:cs typeface="Arial"/>
              <a:sym typeface="Arial"/>
            </a:endParaRPr>
          </a:p>
          <a:p>
            <a:pPr marL="0" marR="0" lvl="0" indent="0" algn="l" rtl="0">
              <a:lnSpc>
                <a:spcPct val="100000"/>
              </a:lnSpc>
              <a:spcBef>
                <a:spcPts val="0"/>
              </a:spcBef>
              <a:spcAft>
                <a:spcPts val="0"/>
              </a:spcAft>
              <a:buNone/>
            </a:pPr>
            <a:endParaRPr sz="1800" b="0"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None/>
            </a:pPr>
            <a:r>
              <a:rPr lang="en-US" sz="1800" b="0" i="0" u="none" strike="noStrike" cap="none">
                <a:solidFill>
                  <a:srgbClr val="000000"/>
                </a:solidFill>
                <a:latin typeface="Arial"/>
                <a:ea typeface="Arial"/>
                <a:cs typeface="Arial"/>
                <a:sym typeface="Arial"/>
              </a:rPr>
              <a:t>Lorem ipsum dolor sit amet, consectetur adipiscing elit, sed do eiusmod tempor incididunt ut labore et dolore magna aliqua. Ut enim ad minim veniam, quis nostrud exercitation ullamco laboris nisi ut aliquip ex ea commodo consequat. </a:t>
            </a:r>
            <a:endParaRPr/>
          </a:p>
          <a:p>
            <a:pPr marL="0" marR="0" lvl="0" indent="0" algn="l" rtl="0">
              <a:lnSpc>
                <a:spcPct val="100000"/>
              </a:lnSpc>
              <a:spcBef>
                <a:spcPts val="0"/>
              </a:spcBef>
              <a:spcAft>
                <a:spcPts val="0"/>
              </a:spcAft>
              <a:buNone/>
            </a:pPr>
            <a:endParaRPr sz="1800" b="0"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None/>
            </a:pPr>
            <a:r>
              <a:rPr lang="en-US" sz="2000" b="1" i="0" u="none" strike="noStrike" cap="none">
                <a:solidFill>
                  <a:srgbClr val="15264B"/>
                </a:solidFill>
                <a:latin typeface="Arial"/>
                <a:ea typeface="Arial"/>
                <a:cs typeface="Arial"/>
                <a:sym typeface="Arial"/>
              </a:rPr>
              <a:t>Lorem Ipsum Dolor Sit Amet Consectetur Adipiscing</a:t>
            </a:r>
            <a:endParaRPr sz="2000" b="1" i="0" u="none" strike="noStrike" cap="none">
              <a:solidFill>
                <a:srgbClr val="15264B"/>
              </a:solidFill>
              <a:latin typeface="Arial"/>
              <a:ea typeface="Arial"/>
              <a:cs typeface="Arial"/>
              <a:sym typeface="Arial"/>
            </a:endParaRPr>
          </a:p>
          <a:p>
            <a:pPr marL="0" marR="0" lvl="0" indent="0" algn="l" rtl="0">
              <a:lnSpc>
                <a:spcPct val="100000"/>
              </a:lnSpc>
              <a:spcBef>
                <a:spcPts val="0"/>
              </a:spcBef>
              <a:spcAft>
                <a:spcPts val="0"/>
              </a:spcAft>
              <a:buNone/>
            </a:pPr>
            <a:endParaRPr sz="1800" b="1"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None/>
            </a:pPr>
            <a:r>
              <a:rPr lang="en-US" sz="1800" b="0" i="0" u="none" strike="noStrike" cap="none">
                <a:solidFill>
                  <a:srgbClr val="000000"/>
                </a:solidFill>
                <a:latin typeface="Arial"/>
                <a:ea typeface="Arial"/>
                <a:cs typeface="Arial"/>
                <a:sym typeface="Arial"/>
              </a:rPr>
              <a:t>Lorem ipsum dolor sit amet, consectetur adipiscing elit, sed do eiusmod tempor incididunt ut labore et dolore magna aliqua.</a:t>
            </a:r>
            <a:endParaRPr sz="1800" b="1" i="0" u="none" strike="noStrike" cap="none">
              <a:solidFill>
                <a:schemeClr val="dk1"/>
              </a:solidFill>
              <a:latin typeface="Arial"/>
              <a:ea typeface="Arial"/>
              <a:cs typeface="Arial"/>
              <a:sym typeface="Arial"/>
            </a:endParaRPr>
          </a:p>
        </p:txBody>
      </p:sp>
      <p:sp>
        <p:nvSpPr>
          <p:cNvPr id="197" name="Google Shape;197;p33"/>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98" name="Google Shape;198;p33"/>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a:solidFill>
                  <a:schemeClr val="lt1"/>
                </a:solidFill>
                <a:latin typeface="Arial"/>
                <a:ea typeface="Arial"/>
                <a:cs typeface="Arial"/>
                <a:sym typeface="Arial"/>
              </a:rPr>
              <a:t>Slide Title</a:t>
            </a:r>
            <a:endParaRPr sz="2400" b="0" i="0" u="none" strike="noStrike" cap="none">
              <a:solidFill>
                <a:schemeClr val="lt1"/>
              </a:solidFill>
              <a:latin typeface="Arial"/>
              <a:ea typeface="Arial"/>
              <a:cs typeface="Arial"/>
              <a:sym typeface="Arial"/>
            </a:endParaRPr>
          </a:p>
        </p:txBody>
      </p:sp>
      <p:pic>
        <p:nvPicPr>
          <p:cNvPr id="199" name="Google Shape;199;p33"/>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200" name="Google Shape;200;p33"/>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201" name="Google Shape;201;p33"/>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202" name="Google Shape;202;p33"/>
          <p:cNvGrpSpPr/>
          <p:nvPr/>
        </p:nvGrpSpPr>
        <p:grpSpPr>
          <a:xfrm>
            <a:off x="4066674" y="6601537"/>
            <a:ext cx="5233412" cy="70446"/>
            <a:chOff x="4033424" y="6601537"/>
            <a:chExt cx="5233412" cy="70446"/>
          </a:xfrm>
        </p:grpSpPr>
        <p:cxnSp>
          <p:nvCxnSpPr>
            <p:cNvPr id="203" name="Google Shape;203;p33"/>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204" name="Google Shape;204;p33"/>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208"/>
        <p:cNvGrpSpPr/>
        <p:nvPr/>
      </p:nvGrpSpPr>
      <p:grpSpPr>
        <a:xfrm>
          <a:off x="0" y="0"/>
          <a:ext cx="0" cy="0"/>
          <a:chOff x="0" y="0"/>
          <a:chExt cx="0" cy="0"/>
        </a:xfrm>
      </p:grpSpPr>
      <p:sp>
        <p:nvSpPr>
          <p:cNvPr id="209" name="Google Shape;209;p8"/>
          <p:cNvSpPr/>
          <p:nvPr/>
        </p:nvSpPr>
        <p:spPr>
          <a:xfrm>
            <a:off x="2266934" y="1458134"/>
            <a:ext cx="7658130" cy="3688423"/>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210" name="Google Shape;210;p8"/>
          <p:cNvSpPr txBox="1"/>
          <p:nvPr/>
        </p:nvSpPr>
        <p:spPr>
          <a:xfrm>
            <a:off x="4548417" y="3123892"/>
            <a:ext cx="3095164" cy="369332"/>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rgbClr val="A5A5A5"/>
                </a:solidFill>
                <a:latin typeface="Arial"/>
                <a:ea typeface="Arial"/>
                <a:cs typeface="Arial"/>
                <a:sym typeface="Arial"/>
              </a:rPr>
              <a:t>CHART / GRAPH</a:t>
            </a:r>
            <a:endParaRPr sz="1400" b="0" i="0" u="none" strike="noStrike" cap="none">
              <a:solidFill>
                <a:srgbClr val="000000"/>
              </a:solidFill>
              <a:latin typeface="Arial"/>
              <a:ea typeface="Arial"/>
              <a:cs typeface="Arial"/>
              <a:sym typeface="Arial"/>
            </a:endParaRPr>
          </a:p>
        </p:txBody>
      </p:sp>
      <p:sp>
        <p:nvSpPr>
          <p:cNvPr id="211" name="Google Shape;211;p8"/>
          <p:cNvSpPr txBox="1"/>
          <p:nvPr/>
        </p:nvSpPr>
        <p:spPr>
          <a:xfrm>
            <a:off x="583914" y="5464730"/>
            <a:ext cx="11024170" cy="654113"/>
          </a:xfrm>
          <a:prstGeom prst="rect">
            <a:avLst/>
          </a:prstGeom>
          <a:no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chemeClr val="dk1"/>
              </a:buClr>
              <a:buSzPts val="2000"/>
              <a:buFont typeface="Helvetica Neue Light"/>
              <a:buNone/>
            </a:pPr>
            <a:r>
              <a:rPr lang="en-US" sz="1600" b="0" i="0" u="none" strike="noStrike" cap="none">
                <a:solidFill>
                  <a:schemeClr val="dk1"/>
                </a:solidFill>
                <a:latin typeface="Arial"/>
                <a:ea typeface="Arial"/>
                <a:cs typeface="Arial"/>
                <a:sym typeface="Arial"/>
              </a:rPr>
              <a:t>(Short commentary or relevant information about the contents of the chart/graph.)</a:t>
            </a:r>
            <a:endParaRPr sz="1600" b="0" i="0" u="none" strike="noStrike" cap="none">
              <a:solidFill>
                <a:srgbClr val="000000"/>
              </a:solidFill>
              <a:latin typeface="Arial"/>
              <a:ea typeface="Arial"/>
              <a:cs typeface="Arial"/>
              <a:sym typeface="Arial"/>
            </a:endParaRPr>
          </a:p>
        </p:txBody>
      </p:sp>
      <p:sp>
        <p:nvSpPr>
          <p:cNvPr id="212" name="Google Shape;212;p8"/>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213" name="Google Shape;213;p8"/>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a:solidFill>
                  <a:schemeClr val="lt1"/>
                </a:solidFill>
                <a:latin typeface="Arial"/>
                <a:ea typeface="Arial"/>
                <a:cs typeface="Arial"/>
                <a:sym typeface="Arial"/>
              </a:rPr>
              <a:t>Slide Title</a:t>
            </a:r>
            <a:endParaRPr sz="2400" b="0" i="0" u="none" strike="noStrike" cap="none">
              <a:solidFill>
                <a:schemeClr val="lt1"/>
              </a:solidFill>
              <a:latin typeface="Arial"/>
              <a:ea typeface="Arial"/>
              <a:cs typeface="Arial"/>
              <a:sym typeface="Arial"/>
            </a:endParaRPr>
          </a:p>
        </p:txBody>
      </p:sp>
      <p:pic>
        <p:nvPicPr>
          <p:cNvPr id="214" name="Google Shape;214;p8"/>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215" name="Google Shape;215;p8"/>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216" name="Google Shape;216;p8"/>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217" name="Google Shape;217;p8"/>
          <p:cNvGrpSpPr/>
          <p:nvPr/>
        </p:nvGrpSpPr>
        <p:grpSpPr>
          <a:xfrm>
            <a:off x="4066674" y="6601537"/>
            <a:ext cx="5233412" cy="70446"/>
            <a:chOff x="4033424" y="6601537"/>
            <a:chExt cx="5233412" cy="70446"/>
          </a:xfrm>
        </p:grpSpPr>
        <p:cxnSp>
          <p:nvCxnSpPr>
            <p:cNvPr id="218" name="Google Shape;218;p8"/>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219" name="Google Shape;219;p8"/>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223"/>
        <p:cNvGrpSpPr/>
        <p:nvPr/>
      </p:nvGrpSpPr>
      <p:grpSpPr>
        <a:xfrm>
          <a:off x="0" y="0"/>
          <a:ext cx="0" cy="0"/>
          <a:chOff x="0" y="0"/>
          <a:chExt cx="0" cy="0"/>
        </a:xfrm>
      </p:grpSpPr>
      <p:sp>
        <p:nvSpPr>
          <p:cNvPr id="224" name="Google Shape;224;p34"/>
          <p:cNvSpPr/>
          <p:nvPr/>
        </p:nvSpPr>
        <p:spPr>
          <a:xfrm>
            <a:off x="1" y="0"/>
            <a:ext cx="12191998" cy="4617387"/>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225" name="Google Shape;225;p34"/>
          <p:cNvSpPr txBox="1"/>
          <p:nvPr/>
        </p:nvSpPr>
        <p:spPr>
          <a:xfrm>
            <a:off x="3513296" y="2308693"/>
            <a:ext cx="5140526" cy="369291"/>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rgbClr val="A5A5A5"/>
                </a:solidFill>
                <a:latin typeface="Arial"/>
                <a:ea typeface="Arial"/>
                <a:cs typeface="Arial"/>
                <a:sym typeface="Arial"/>
              </a:rPr>
              <a:t>IMAGE (Send to back so Block I is not covered.)</a:t>
            </a:r>
            <a:endParaRPr sz="1400" b="0" i="0" u="none" strike="noStrike" cap="none">
              <a:solidFill>
                <a:srgbClr val="000000"/>
              </a:solidFill>
              <a:latin typeface="Arial"/>
              <a:ea typeface="Arial"/>
              <a:cs typeface="Arial"/>
              <a:sym typeface="Arial"/>
            </a:endParaRPr>
          </a:p>
        </p:txBody>
      </p:sp>
      <p:sp>
        <p:nvSpPr>
          <p:cNvPr id="226" name="Google Shape;226;p34"/>
          <p:cNvSpPr txBox="1"/>
          <p:nvPr/>
        </p:nvSpPr>
        <p:spPr>
          <a:xfrm>
            <a:off x="376810" y="5050453"/>
            <a:ext cx="11177400" cy="953497"/>
          </a:xfrm>
          <a:prstGeom prst="rect">
            <a:avLst/>
          </a:prstGeom>
          <a:no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chemeClr val="dk1"/>
              </a:buClr>
              <a:buSzPts val="2000"/>
              <a:buFont typeface="Helvetica Neue Light"/>
              <a:buNone/>
            </a:pPr>
            <a:r>
              <a:rPr lang="en-US" sz="2200" b="0" i="0" u="none" strike="noStrike" cap="none">
                <a:solidFill>
                  <a:schemeClr val="dk1"/>
                </a:solidFill>
                <a:latin typeface="Arial"/>
                <a:ea typeface="Arial"/>
                <a:cs typeface="Arial"/>
                <a:sym typeface="Arial"/>
              </a:rPr>
              <a:t>(Text here relevant to the photo for a larger call out on a given idea or message.) </a:t>
            </a:r>
            <a:endParaRPr/>
          </a:p>
          <a:p>
            <a:pPr marL="0" marR="0" lvl="0" indent="0" algn="ctr" rtl="0">
              <a:lnSpc>
                <a:spcPct val="100000"/>
              </a:lnSpc>
              <a:spcBef>
                <a:spcPts val="0"/>
              </a:spcBef>
              <a:spcAft>
                <a:spcPts val="0"/>
              </a:spcAft>
              <a:buClr>
                <a:schemeClr val="dk1"/>
              </a:buClr>
              <a:buSzPts val="2000"/>
              <a:buFont typeface="Helvetica Neue Light"/>
              <a:buNone/>
            </a:pPr>
            <a:r>
              <a:rPr lang="en-US" sz="2200" b="0" i="0" u="none" strike="noStrike" cap="none">
                <a:solidFill>
                  <a:schemeClr val="dk1"/>
                </a:solidFill>
                <a:latin typeface="Arial"/>
                <a:ea typeface="Arial"/>
                <a:cs typeface="Arial"/>
                <a:sym typeface="Arial"/>
              </a:rPr>
              <a:t>(Keep this text simple and short on one or two lines.)</a:t>
            </a:r>
            <a:endParaRPr sz="2200" b="0" i="0" u="none" strike="noStrike" cap="none">
              <a:solidFill>
                <a:srgbClr val="000000"/>
              </a:solidFill>
              <a:latin typeface="Arial"/>
              <a:ea typeface="Arial"/>
              <a:cs typeface="Arial"/>
              <a:sym typeface="Arial"/>
            </a:endParaRPr>
          </a:p>
        </p:txBody>
      </p:sp>
      <p:pic>
        <p:nvPicPr>
          <p:cNvPr id="227" name="Google Shape;227;p34"/>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228" name="Google Shape;228;p34"/>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229" name="Google Shape;229;p34"/>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230" name="Google Shape;230;p34"/>
          <p:cNvGrpSpPr/>
          <p:nvPr/>
        </p:nvGrpSpPr>
        <p:grpSpPr>
          <a:xfrm>
            <a:off x="4066674" y="6601537"/>
            <a:ext cx="5233412" cy="70446"/>
            <a:chOff x="4033424" y="6601537"/>
            <a:chExt cx="5233412" cy="70446"/>
          </a:xfrm>
        </p:grpSpPr>
        <p:cxnSp>
          <p:nvCxnSpPr>
            <p:cNvPr id="231" name="Google Shape;231;p34"/>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232" name="Google Shape;232;p34"/>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13294B"/>
        </a:solidFill>
        <a:effectLst/>
      </p:bgPr>
    </p:bg>
    <p:spTree>
      <p:nvGrpSpPr>
        <p:cNvPr id="1" name="Shape 236"/>
        <p:cNvGrpSpPr/>
        <p:nvPr/>
      </p:nvGrpSpPr>
      <p:grpSpPr>
        <a:xfrm>
          <a:off x="0" y="0"/>
          <a:ext cx="0" cy="0"/>
          <a:chOff x="0" y="0"/>
          <a:chExt cx="0" cy="0"/>
        </a:xfrm>
      </p:grpSpPr>
      <p:sp>
        <p:nvSpPr>
          <p:cNvPr id="237" name="Google Shape;237;p35"/>
          <p:cNvSpPr txBox="1"/>
          <p:nvPr/>
        </p:nvSpPr>
        <p:spPr>
          <a:xfrm>
            <a:off x="5131837" y="1010620"/>
            <a:ext cx="6422373" cy="4821102"/>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US" sz="2600" b="1" i="0" u="none" strike="noStrike" cap="none">
                <a:solidFill>
                  <a:schemeClr val="lt1"/>
                </a:solidFill>
                <a:latin typeface="Arial"/>
                <a:ea typeface="Arial"/>
                <a:cs typeface="Arial"/>
                <a:sym typeface="Arial"/>
              </a:rPr>
              <a:t>Lorem ipsum dolor sit amet consectetur adipiscing elit</a:t>
            </a:r>
            <a:endParaRPr sz="2600" b="1" i="0" u="none" strike="noStrike" cap="none">
              <a:solidFill>
                <a:schemeClr val="lt1"/>
              </a:solidFill>
              <a:latin typeface="Arial"/>
              <a:ea typeface="Arial"/>
              <a:cs typeface="Arial"/>
              <a:sym typeface="Arial"/>
            </a:endParaRPr>
          </a:p>
          <a:p>
            <a:pPr marL="0" marR="0" lvl="0" indent="0" algn="l" rtl="0">
              <a:lnSpc>
                <a:spcPct val="100000"/>
              </a:lnSpc>
              <a:spcBef>
                <a:spcPts val="0"/>
              </a:spcBef>
              <a:spcAft>
                <a:spcPts val="0"/>
              </a:spcAft>
              <a:buNone/>
            </a:pPr>
            <a:endParaRPr sz="1800" b="0" i="0" u="none" strike="noStrike" cap="none">
              <a:solidFill>
                <a:schemeClr val="lt1"/>
              </a:solidFill>
              <a:latin typeface="Arial"/>
              <a:ea typeface="Arial"/>
              <a:cs typeface="Arial"/>
              <a:sym typeface="Arial"/>
            </a:endParaRPr>
          </a:p>
          <a:p>
            <a:pPr marL="0" marR="0" lvl="0" indent="0" algn="l" rtl="0">
              <a:lnSpc>
                <a:spcPct val="100000"/>
              </a:lnSpc>
              <a:spcBef>
                <a:spcPts val="0"/>
              </a:spcBef>
              <a:spcAft>
                <a:spcPts val="0"/>
              </a:spcAft>
              <a:buNone/>
            </a:pPr>
            <a:r>
              <a:rPr lang="en-US" sz="1800" b="0" i="0" u="none" strike="noStrike" cap="none">
                <a:solidFill>
                  <a:schemeClr val="lt1"/>
                </a:solidFill>
                <a:latin typeface="Arial"/>
                <a:ea typeface="Arial"/>
                <a:cs typeface="Arial"/>
                <a:sym typeface="Arial"/>
              </a:rPr>
              <a:t>Lorem ipsum dolor sit amet, consectetur adipiscing elit, sed do eiusmod tempor incididunt ut labore et dolore magna aliqua. Ut enim ad minim veniam, quis nostrud exercitation ullamco laboris nisi ut aliquip ex ea commodo consequat. </a:t>
            </a:r>
            <a:endParaRPr/>
          </a:p>
          <a:p>
            <a:pPr marL="0" marR="0" lvl="0" indent="0" algn="l" rtl="0">
              <a:lnSpc>
                <a:spcPct val="100000"/>
              </a:lnSpc>
              <a:spcBef>
                <a:spcPts val="0"/>
              </a:spcBef>
              <a:spcAft>
                <a:spcPts val="0"/>
              </a:spcAft>
              <a:buNone/>
            </a:pPr>
            <a:endParaRPr sz="1800" b="0" i="0" u="none" strike="noStrike" cap="none">
              <a:solidFill>
                <a:schemeClr val="lt1"/>
              </a:solidFill>
              <a:latin typeface="Arial"/>
              <a:ea typeface="Arial"/>
              <a:cs typeface="Arial"/>
              <a:sym typeface="Arial"/>
            </a:endParaRPr>
          </a:p>
          <a:p>
            <a:pPr marL="0" marR="0" lvl="0" indent="0" algn="l" rtl="0">
              <a:lnSpc>
                <a:spcPct val="100000"/>
              </a:lnSpc>
              <a:spcBef>
                <a:spcPts val="0"/>
              </a:spcBef>
              <a:spcAft>
                <a:spcPts val="0"/>
              </a:spcAft>
              <a:buNone/>
            </a:pPr>
            <a:r>
              <a:rPr lang="en-US" sz="2000" b="1" i="0" u="none" strike="noStrike" cap="none">
                <a:solidFill>
                  <a:schemeClr val="lt1"/>
                </a:solidFill>
                <a:latin typeface="Arial"/>
                <a:ea typeface="Arial"/>
                <a:cs typeface="Arial"/>
                <a:sym typeface="Arial"/>
              </a:rPr>
              <a:t>Lorem ipsum dolor sit amet consectetur adipiscing</a:t>
            </a:r>
            <a:endParaRPr sz="2000" b="1" i="0" u="none" strike="noStrike" cap="none">
              <a:solidFill>
                <a:schemeClr val="lt1"/>
              </a:solidFill>
              <a:latin typeface="Arial"/>
              <a:ea typeface="Arial"/>
              <a:cs typeface="Arial"/>
              <a:sym typeface="Arial"/>
            </a:endParaRPr>
          </a:p>
          <a:p>
            <a:pPr marL="0" marR="0" lvl="0" indent="0" algn="l" rtl="0">
              <a:lnSpc>
                <a:spcPct val="100000"/>
              </a:lnSpc>
              <a:spcBef>
                <a:spcPts val="0"/>
              </a:spcBef>
              <a:spcAft>
                <a:spcPts val="0"/>
              </a:spcAft>
              <a:buNone/>
            </a:pPr>
            <a:endParaRPr sz="1800" b="1" i="0" u="none" strike="noStrike" cap="none">
              <a:solidFill>
                <a:schemeClr val="lt1"/>
              </a:solidFill>
              <a:latin typeface="Arial"/>
              <a:ea typeface="Arial"/>
              <a:cs typeface="Arial"/>
              <a:sym typeface="Arial"/>
            </a:endParaRPr>
          </a:p>
          <a:p>
            <a:pPr marL="0" marR="0" lvl="0" indent="0" algn="l" rtl="0">
              <a:lnSpc>
                <a:spcPct val="100000"/>
              </a:lnSpc>
              <a:spcBef>
                <a:spcPts val="0"/>
              </a:spcBef>
              <a:spcAft>
                <a:spcPts val="0"/>
              </a:spcAft>
              <a:buNone/>
            </a:pPr>
            <a:r>
              <a:rPr lang="en-US" sz="1800" b="0" i="0" u="none" strike="noStrike" cap="none">
                <a:solidFill>
                  <a:schemeClr val="lt1"/>
                </a:solidFill>
                <a:latin typeface="Arial"/>
                <a:ea typeface="Arial"/>
                <a:cs typeface="Arial"/>
                <a:sym typeface="Arial"/>
              </a:rPr>
              <a:t>Lorem ipsum dolor sit amet, consectetur adipiscing elit, sed do eiusmod tempor incididunt ut labore et dolore magna aliqua.</a:t>
            </a:r>
            <a:endParaRPr sz="1800" b="1" i="0" u="none" strike="noStrike" cap="none">
              <a:solidFill>
                <a:schemeClr val="lt1"/>
              </a:solidFill>
              <a:latin typeface="Arial"/>
              <a:ea typeface="Arial"/>
              <a:cs typeface="Arial"/>
              <a:sym typeface="Arial"/>
            </a:endParaRPr>
          </a:p>
        </p:txBody>
      </p:sp>
      <p:sp>
        <p:nvSpPr>
          <p:cNvPr id="238" name="Google Shape;238;p35"/>
          <p:cNvSpPr/>
          <p:nvPr/>
        </p:nvSpPr>
        <p:spPr>
          <a:xfrm>
            <a:off x="420782" y="344953"/>
            <a:ext cx="4109890" cy="5954248"/>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239" name="Google Shape;239;p35"/>
          <p:cNvSpPr txBox="1"/>
          <p:nvPr/>
        </p:nvSpPr>
        <p:spPr>
          <a:xfrm>
            <a:off x="1335481" y="3236505"/>
            <a:ext cx="2280491" cy="369332"/>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rgbClr val="A5A5A5"/>
                </a:solidFill>
                <a:latin typeface="Arial"/>
                <a:ea typeface="Arial"/>
                <a:cs typeface="Arial"/>
                <a:sym typeface="Arial"/>
              </a:rPr>
              <a:t>IMAGE</a:t>
            </a:r>
            <a:endParaRPr sz="1400" b="0" i="0" u="none" strike="noStrike" cap="none">
              <a:solidFill>
                <a:srgbClr val="000000"/>
              </a:solidFill>
              <a:latin typeface="Arial"/>
              <a:ea typeface="Arial"/>
              <a:cs typeface="Arial"/>
              <a:sym typeface="Arial"/>
            </a:endParaRPr>
          </a:p>
        </p:txBody>
      </p:sp>
      <p:pic>
        <p:nvPicPr>
          <p:cNvPr id="240" name="Google Shape;240;p35"/>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241" name="Google Shape;241;p35"/>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242" name="Google Shape;242;p35"/>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243" name="Google Shape;243;p35"/>
          <p:cNvGrpSpPr/>
          <p:nvPr/>
        </p:nvGrpSpPr>
        <p:grpSpPr>
          <a:xfrm>
            <a:off x="4066674" y="6601537"/>
            <a:ext cx="5233412" cy="70446"/>
            <a:chOff x="4033424" y="6601537"/>
            <a:chExt cx="5233412" cy="70446"/>
          </a:xfrm>
        </p:grpSpPr>
        <p:cxnSp>
          <p:nvCxnSpPr>
            <p:cNvPr id="244" name="Google Shape;244;p35"/>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245" name="Google Shape;245;p35"/>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249"/>
        <p:cNvGrpSpPr/>
        <p:nvPr/>
      </p:nvGrpSpPr>
      <p:grpSpPr>
        <a:xfrm>
          <a:off x="0" y="0"/>
          <a:ext cx="0" cy="0"/>
          <a:chOff x="0" y="0"/>
          <a:chExt cx="0" cy="0"/>
        </a:xfrm>
      </p:grpSpPr>
      <p:pic>
        <p:nvPicPr>
          <p:cNvPr id="250" name="Google Shape;250;p36" descr="Text, letter, whiteboard&#10;&#10;Description automatically generated"/>
          <p:cNvPicPr preferRelativeResize="0"/>
          <p:nvPr/>
        </p:nvPicPr>
        <p:blipFill rotWithShape="1">
          <a:blip r:embed="rId3">
            <a:alphaModFix/>
          </a:blip>
          <a:srcRect/>
          <a:stretch/>
        </p:blipFill>
        <p:spPr>
          <a:xfrm>
            <a:off x="0" y="0"/>
            <a:ext cx="12192000" cy="6858000"/>
          </a:xfrm>
          <a:prstGeom prst="rect">
            <a:avLst/>
          </a:prstGeom>
          <a:noFill/>
          <a:ln>
            <a:noFill/>
          </a:ln>
        </p:spPr>
      </p:pic>
      <p:sp>
        <p:nvSpPr>
          <p:cNvPr id="251" name="Google Shape;251;p36"/>
          <p:cNvSpPr/>
          <p:nvPr/>
        </p:nvSpPr>
        <p:spPr>
          <a:xfrm>
            <a:off x="0" y="0"/>
            <a:ext cx="6096000" cy="685800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252" name="Google Shape;252;p36"/>
          <p:cNvSpPr txBox="1"/>
          <p:nvPr/>
        </p:nvSpPr>
        <p:spPr>
          <a:xfrm>
            <a:off x="591671" y="3581984"/>
            <a:ext cx="4867835" cy="193895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1" i="0" u="none" strike="noStrike" cap="none">
                <a:solidFill>
                  <a:schemeClr val="lt1"/>
                </a:solidFill>
                <a:latin typeface="Arial"/>
                <a:ea typeface="Arial"/>
                <a:cs typeface="Arial"/>
                <a:sym typeface="Arial"/>
              </a:rPr>
              <a:t>(Slide the blue box and the text left or right to fit over your background image. Use this text box for a call out or caption to the image.)</a:t>
            </a:r>
            <a:endParaRPr sz="2400" b="1" i="0" u="none" strike="noStrike" cap="none">
              <a:solidFill>
                <a:schemeClr val="lt1"/>
              </a:solidFill>
              <a:latin typeface="Arial"/>
              <a:ea typeface="Arial"/>
              <a:cs typeface="Arial"/>
              <a:sym typeface="Arial"/>
            </a:endParaRPr>
          </a:p>
        </p:txBody>
      </p:sp>
      <p:sp>
        <p:nvSpPr>
          <p:cNvPr id="253" name="Google Shape;253;p36"/>
          <p:cNvSpPr txBox="1"/>
          <p:nvPr/>
        </p:nvSpPr>
        <p:spPr>
          <a:xfrm>
            <a:off x="701965" y="1422585"/>
            <a:ext cx="4608944" cy="1754286"/>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chemeClr val="lt1"/>
                </a:solidFill>
                <a:latin typeface="Arial"/>
                <a:ea typeface="Arial"/>
                <a:cs typeface="Arial"/>
                <a:sym typeface="Arial"/>
              </a:rPr>
              <a:t>IMAGE</a:t>
            </a:r>
            <a:endParaRPr/>
          </a:p>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chemeClr val="lt1"/>
                </a:solidFill>
                <a:latin typeface="Arial"/>
                <a:ea typeface="Arial"/>
                <a:cs typeface="Arial"/>
                <a:sym typeface="Arial"/>
              </a:rPr>
              <a:t> </a:t>
            </a:r>
            <a:endParaRPr/>
          </a:p>
          <a:p>
            <a:pPr marL="0" marR="0" lvl="0" indent="0" algn="ctr" rtl="0">
              <a:lnSpc>
                <a:spcPct val="100000"/>
              </a:lnSpc>
              <a:spcBef>
                <a:spcPts val="0"/>
              </a:spcBef>
              <a:spcAft>
                <a:spcPts val="0"/>
              </a:spcAft>
              <a:buNone/>
            </a:pPr>
            <a:r>
              <a:rPr lang="en-US" sz="1800" b="0" i="0" u="none" strike="noStrike" cap="none">
                <a:solidFill>
                  <a:schemeClr val="lt1"/>
                </a:solidFill>
                <a:latin typeface="Arial"/>
                <a:ea typeface="Arial"/>
                <a:cs typeface="Arial"/>
                <a:sym typeface="Arial"/>
              </a:rPr>
              <a:t>(Use a photo for the entire slide like the example shown here. Send the photo to </a:t>
            </a:r>
            <a:endParaRPr/>
          </a:p>
          <a:p>
            <a:pPr marL="0" marR="0" lvl="0" indent="0" algn="ctr" rtl="0">
              <a:lnSpc>
                <a:spcPct val="100000"/>
              </a:lnSpc>
              <a:spcBef>
                <a:spcPts val="0"/>
              </a:spcBef>
              <a:spcAft>
                <a:spcPts val="0"/>
              </a:spcAft>
              <a:buNone/>
            </a:pPr>
            <a:r>
              <a:rPr lang="en-US" sz="1800" b="0" i="0" u="none" strike="noStrike" cap="none">
                <a:solidFill>
                  <a:schemeClr val="lt1"/>
                </a:solidFill>
                <a:latin typeface="Arial"/>
                <a:ea typeface="Arial"/>
                <a:cs typeface="Arial"/>
                <a:sym typeface="Arial"/>
              </a:rPr>
              <a:t>the back so the Block I and footer text </a:t>
            </a:r>
            <a:endParaRPr/>
          </a:p>
          <a:p>
            <a:pPr marL="0" marR="0" lvl="0" indent="0" algn="ctr" rtl="0">
              <a:lnSpc>
                <a:spcPct val="100000"/>
              </a:lnSpc>
              <a:spcBef>
                <a:spcPts val="0"/>
              </a:spcBef>
              <a:spcAft>
                <a:spcPts val="0"/>
              </a:spcAft>
              <a:buNone/>
            </a:pPr>
            <a:r>
              <a:rPr lang="en-US" sz="1800" b="0" i="0" u="none" strike="noStrike" cap="none">
                <a:solidFill>
                  <a:schemeClr val="lt1"/>
                </a:solidFill>
                <a:latin typeface="Arial"/>
                <a:ea typeface="Arial"/>
                <a:cs typeface="Arial"/>
                <a:sym typeface="Arial"/>
              </a:rPr>
              <a:t>is not covered.)</a:t>
            </a:r>
            <a:endParaRPr sz="1400" b="0" i="0" u="none" strike="noStrike" cap="none">
              <a:solidFill>
                <a:schemeClr val="lt1"/>
              </a:solidFill>
              <a:latin typeface="Arial"/>
              <a:ea typeface="Arial"/>
              <a:cs typeface="Arial"/>
              <a:sym typeface="Arial"/>
            </a:endParaRPr>
          </a:p>
        </p:txBody>
      </p:sp>
      <p:pic>
        <p:nvPicPr>
          <p:cNvPr id="254" name="Google Shape;254;p36"/>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255" name="Google Shape;255;p36"/>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256" name="Google Shape;256;p36"/>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257" name="Google Shape;257;p36"/>
          <p:cNvGrpSpPr/>
          <p:nvPr/>
        </p:nvGrpSpPr>
        <p:grpSpPr>
          <a:xfrm>
            <a:off x="4066674" y="6601537"/>
            <a:ext cx="5233412" cy="70446"/>
            <a:chOff x="4033424" y="6601537"/>
            <a:chExt cx="5233412" cy="70446"/>
          </a:xfrm>
        </p:grpSpPr>
        <p:cxnSp>
          <p:nvCxnSpPr>
            <p:cNvPr id="258" name="Google Shape;258;p36"/>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259" name="Google Shape;259;p36"/>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63"/>
        <p:cNvGrpSpPr/>
        <p:nvPr/>
      </p:nvGrpSpPr>
      <p:grpSpPr>
        <a:xfrm>
          <a:off x="0" y="0"/>
          <a:ext cx="0" cy="0"/>
          <a:chOff x="0" y="0"/>
          <a:chExt cx="0" cy="0"/>
        </a:xfrm>
      </p:grpSpPr>
      <p:sp>
        <p:nvSpPr>
          <p:cNvPr id="264" name="Google Shape;264;p37"/>
          <p:cNvSpPr txBox="1"/>
          <p:nvPr/>
        </p:nvSpPr>
        <p:spPr>
          <a:xfrm>
            <a:off x="2275515" y="1778140"/>
            <a:ext cx="7640969" cy="4334209"/>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US" sz="1800" b="0" i="0" u="none" strike="noStrike" cap="none">
                <a:solidFill>
                  <a:schemeClr val="lt1"/>
                </a:solidFill>
                <a:latin typeface="Arial"/>
                <a:ea typeface="Arial"/>
                <a:cs typeface="Arial"/>
                <a:sym typeface="Arial"/>
              </a:rPr>
              <a:t>(Closing slide option. Suggestions for last slide)</a:t>
            </a:r>
            <a:endParaRPr sz="1800" b="0" i="0" u="none" strike="noStrike" cap="none">
              <a:solidFill>
                <a:schemeClr val="lt1"/>
              </a:solidFill>
              <a:latin typeface="Arial"/>
              <a:ea typeface="Arial"/>
              <a:cs typeface="Arial"/>
              <a:sym typeface="Arial"/>
            </a:endParaRPr>
          </a:p>
          <a:p>
            <a:pPr marL="0" marR="0" lvl="0" indent="0" algn="l" rtl="0">
              <a:lnSpc>
                <a:spcPct val="100000"/>
              </a:lnSpc>
              <a:spcBef>
                <a:spcPts val="0"/>
              </a:spcBef>
              <a:spcAft>
                <a:spcPts val="0"/>
              </a:spcAft>
              <a:buNone/>
            </a:pPr>
            <a:endParaRPr sz="2600" b="1" i="0" u="none" strike="noStrike" cap="none">
              <a:solidFill>
                <a:schemeClr val="lt1"/>
              </a:solidFill>
              <a:latin typeface="Arial"/>
              <a:ea typeface="Arial"/>
              <a:cs typeface="Arial"/>
              <a:sym typeface="Arial"/>
            </a:endParaRPr>
          </a:p>
          <a:p>
            <a:pPr marL="0" marR="0" lvl="0" indent="0" algn="l" rtl="0">
              <a:lnSpc>
                <a:spcPct val="100000"/>
              </a:lnSpc>
              <a:spcBef>
                <a:spcPts val="0"/>
              </a:spcBef>
              <a:spcAft>
                <a:spcPts val="0"/>
              </a:spcAft>
              <a:buNone/>
            </a:pPr>
            <a:r>
              <a:rPr lang="en-US" sz="2600" b="1" i="0" u="none" strike="noStrike" cap="none">
                <a:solidFill>
                  <a:schemeClr val="lt1"/>
                </a:solidFill>
                <a:latin typeface="Arial"/>
                <a:ea typeface="Arial"/>
                <a:cs typeface="Arial"/>
                <a:sym typeface="Arial"/>
              </a:rPr>
              <a:t>Summary</a:t>
            </a:r>
            <a:endParaRPr/>
          </a:p>
          <a:p>
            <a:pPr marL="0" marR="0" lvl="0" indent="0" algn="l" rtl="0">
              <a:lnSpc>
                <a:spcPct val="100000"/>
              </a:lnSpc>
              <a:spcBef>
                <a:spcPts val="0"/>
              </a:spcBef>
              <a:spcAft>
                <a:spcPts val="0"/>
              </a:spcAft>
              <a:buNone/>
            </a:pPr>
            <a:r>
              <a:rPr lang="en-US" sz="2600" b="1" i="0" u="none" strike="noStrike" cap="none">
                <a:solidFill>
                  <a:schemeClr val="lt1"/>
                </a:solidFill>
                <a:latin typeface="Arial"/>
                <a:ea typeface="Arial"/>
                <a:cs typeface="Arial"/>
                <a:sym typeface="Arial"/>
              </a:rPr>
              <a:t>Thank You</a:t>
            </a:r>
            <a:endParaRPr/>
          </a:p>
          <a:p>
            <a:pPr marL="0" marR="0" lvl="0" indent="0" algn="l" rtl="0">
              <a:lnSpc>
                <a:spcPct val="100000"/>
              </a:lnSpc>
              <a:spcBef>
                <a:spcPts val="0"/>
              </a:spcBef>
              <a:spcAft>
                <a:spcPts val="0"/>
              </a:spcAft>
              <a:buNone/>
            </a:pPr>
            <a:r>
              <a:rPr lang="en-US" sz="2600" b="1" i="0" u="none" strike="noStrike" cap="none">
                <a:solidFill>
                  <a:schemeClr val="lt1"/>
                </a:solidFill>
                <a:latin typeface="Arial"/>
                <a:ea typeface="Arial"/>
                <a:cs typeface="Arial"/>
                <a:sym typeface="Arial"/>
              </a:rPr>
              <a:t>Questions</a:t>
            </a:r>
            <a:endParaRPr/>
          </a:p>
          <a:p>
            <a:pPr marL="0" marR="0" lvl="0" indent="0" algn="l" rtl="0">
              <a:lnSpc>
                <a:spcPct val="100000"/>
              </a:lnSpc>
              <a:spcBef>
                <a:spcPts val="0"/>
              </a:spcBef>
              <a:spcAft>
                <a:spcPts val="0"/>
              </a:spcAft>
              <a:buNone/>
            </a:pPr>
            <a:r>
              <a:rPr lang="en-US" sz="2600" b="1" i="0" u="none" strike="noStrike" cap="none">
                <a:solidFill>
                  <a:schemeClr val="lt1"/>
                </a:solidFill>
                <a:latin typeface="Arial"/>
                <a:ea typeface="Arial"/>
                <a:cs typeface="Arial"/>
                <a:sym typeface="Arial"/>
              </a:rPr>
              <a:t>Contact Information</a:t>
            </a:r>
            <a:endParaRPr/>
          </a:p>
          <a:p>
            <a:pPr marL="0" marR="0" lvl="0" indent="0" algn="l" rtl="0">
              <a:lnSpc>
                <a:spcPct val="100000"/>
              </a:lnSpc>
              <a:spcBef>
                <a:spcPts val="0"/>
              </a:spcBef>
              <a:spcAft>
                <a:spcPts val="0"/>
              </a:spcAft>
              <a:buNone/>
            </a:pPr>
            <a:endParaRPr sz="1800" b="1" i="0" u="none" strike="noStrike" cap="none">
              <a:solidFill>
                <a:schemeClr val="lt1"/>
              </a:solidFill>
              <a:latin typeface="Arial"/>
              <a:ea typeface="Arial"/>
              <a:cs typeface="Arial"/>
              <a:sym typeface="Arial"/>
            </a:endParaRPr>
          </a:p>
          <a:p>
            <a:pPr marL="0" marR="0" lvl="0" indent="0" algn="l" rtl="0">
              <a:lnSpc>
                <a:spcPct val="100000"/>
              </a:lnSpc>
              <a:spcBef>
                <a:spcPts val="0"/>
              </a:spcBef>
              <a:spcAft>
                <a:spcPts val="0"/>
              </a:spcAft>
              <a:buNone/>
            </a:pPr>
            <a:endParaRPr sz="1800" b="1" i="0" u="none" strike="noStrike" cap="none">
              <a:solidFill>
                <a:schemeClr val="lt1"/>
              </a:solidFill>
              <a:latin typeface="Arial"/>
              <a:ea typeface="Arial"/>
              <a:cs typeface="Arial"/>
              <a:sym typeface="Arial"/>
            </a:endParaRPr>
          </a:p>
          <a:p>
            <a:pPr marL="0" marR="0" lvl="0" indent="0" algn="l" rtl="0">
              <a:lnSpc>
                <a:spcPct val="100000"/>
              </a:lnSpc>
              <a:spcBef>
                <a:spcPts val="0"/>
              </a:spcBef>
              <a:spcAft>
                <a:spcPts val="0"/>
              </a:spcAft>
              <a:buNone/>
            </a:pPr>
            <a:r>
              <a:rPr lang="en-US" sz="1800" b="0" i="0" u="none" strike="noStrike" cap="none">
                <a:solidFill>
                  <a:schemeClr val="lt1"/>
                </a:solidFill>
                <a:latin typeface="Arial"/>
                <a:ea typeface="Arial"/>
                <a:cs typeface="Arial"/>
                <a:sym typeface="Arial"/>
              </a:rPr>
              <a:t>Lorem ipsum dolor sit amet, consectetur adipiscing elit, sed do eiusmod tempor incididunt ut labore et dolore magna aliqua.</a:t>
            </a:r>
            <a:endParaRPr sz="1800" b="1" i="0" u="none" strike="noStrike" cap="none">
              <a:solidFill>
                <a:schemeClr val="lt1"/>
              </a:solidFill>
              <a:latin typeface="Arial"/>
              <a:ea typeface="Arial"/>
              <a:cs typeface="Arial"/>
              <a:sym typeface="Arial"/>
            </a:endParaRPr>
          </a:p>
        </p:txBody>
      </p:sp>
      <p:pic>
        <p:nvPicPr>
          <p:cNvPr id="265" name="Google Shape;265;p37"/>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266" name="Google Shape;266;p37"/>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267" name="Google Shape;267;p37"/>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268" name="Google Shape;268;p37"/>
          <p:cNvGrpSpPr/>
          <p:nvPr/>
        </p:nvGrpSpPr>
        <p:grpSpPr>
          <a:xfrm>
            <a:off x="4066674" y="6601537"/>
            <a:ext cx="5233412" cy="70446"/>
            <a:chOff x="4033424" y="6601537"/>
            <a:chExt cx="5233412" cy="70446"/>
          </a:xfrm>
        </p:grpSpPr>
        <p:cxnSp>
          <p:nvCxnSpPr>
            <p:cNvPr id="269" name="Google Shape;269;p37"/>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270" name="Google Shape;270;p37"/>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63">
          <a:extLst>
            <a:ext uri="{FF2B5EF4-FFF2-40B4-BE49-F238E27FC236}">
              <a16:creationId xmlns:a16="http://schemas.microsoft.com/office/drawing/2014/main" id="{FA145421-BB40-88A0-CFFD-DC4D9CAC5BB5}"/>
            </a:ext>
          </a:extLst>
        </p:cNvPr>
        <p:cNvGrpSpPr/>
        <p:nvPr/>
      </p:nvGrpSpPr>
      <p:grpSpPr>
        <a:xfrm>
          <a:off x="0" y="0"/>
          <a:ext cx="0" cy="0"/>
          <a:chOff x="0" y="0"/>
          <a:chExt cx="0" cy="0"/>
        </a:xfrm>
      </p:grpSpPr>
      <p:sp>
        <p:nvSpPr>
          <p:cNvPr id="264" name="Google Shape;264;p37">
            <a:extLst>
              <a:ext uri="{FF2B5EF4-FFF2-40B4-BE49-F238E27FC236}">
                <a16:creationId xmlns:a16="http://schemas.microsoft.com/office/drawing/2014/main" id="{B5B2745B-F5C6-8FBF-1FAE-FE621EFA88F0}"/>
              </a:ext>
            </a:extLst>
          </p:cNvPr>
          <p:cNvSpPr txBox="1"/>
          <p:nvPr/>
        </p:nvSpPr>
        <p:spPr>
          <a:xfrm>
            <a:off x="2275515" y="2823928"/>
            <a:ext cx="7640969" cy="1210143"/>
          </a:xfrm>
          <a:prstGeom prst="rect">
            <a:avLst/>
          </a:prstGeom>
          <a:noFill/>
          <a:ln>
            <a:noFill/>
          </a:ln>
        </p:spPr>
        <p:txBody>
          <a:bodyPr spcFirstLastPara="1" wrap="square" lIns="91425" tIns="45700" rIns="91425" bIns="45700" anchor="t" anchorCtr="0">
            <a:noAutofit/>
          </a:bodyPr>
          <a:lstStyle/>
          <a:p>
            <a:pPr lvl="0" algn="ctr"/>
            <a:r>
              <a:rPr lang="en-US" sz="6600" b="1" dirty="0">
                <a:solidFill>
                  <a:schemeClr val="lt1"/>
                </a:solidFill>
              </a:rPr>
              <a:t>Questions</a:t>
            </a:r>
            <a:r>
              <a:rPr lang="en-US" sz="5400" b="1" dirty="0">
                <a:solidFill>
                  <a:schemeClr val="lt1"/>
                </a:solidFill>
              </a:rPr>
              <a:t>?</a:t>
            </a:r>
          </a:p>
        </p:txBody>
      </p:sp>
      <p:pic>
        <p:nvPicPr>
          <p:cNvPr id="265" name="Google Shape;265;p37">
            <a:extLst>
              <a:ext uri="{FF2B5EF4-FFF2-40B4-BE49-F238E27FC236}">
                <a16:creationId xmlns:a16="http://schemas.microsoft.com/office/drawing/2014/main" id="{EDC8C897-5AB2-076F-5135-9B30ACCBD22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266" name="Google Shape;266;p37">
            <a:extLst>
              <a:ext uri="{FF2B5EF4-FFF2-40B4-BE49-F238E27FC236}">
                <a16:creationId xmlns:a16="http://schemas.microsoft.com/office/drawing/2014/main" id="{CF8648FC-7240-4BBB-9E09-C030BD1A805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267" name="Google Shape;267;p37">
            <a:extLst>
              <a:ext uri="{FF2B5EF4-FFF2-40B4-BE49-F238E27FC236}">
                <a16:creationId xmlns:a16="http://schemas.microsoft.com/office/drawing/2014/main" id="{6A5B7064-0FC6-E501-D020-2C92B5A6057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268" name="Google Shape;268;p37">
            <a:extLst>
              <a:ext uri="{FF2B5EF4-FFF2-40B4-BE49-F238E27FC236}">
                <a16:creationId xmlns:a16="http://schemas.microsoft.com/office/drawing/2014/main" id="{69F24B96-E9CD-EB54-C22A-3DD90799A7A7}"/>
              </a:ext>
            </a:extLst>
          </p:cNvPr>
          <p:cNvGrpSpPr/>
          <p:nvPr/>
        </p:nvGrpSpPr>
        <p:grpSpPr>
          <a:xfrm>
            <a:off x="4066674" y="6601537"/>
            <a:ext cx="5233412" cy="70446"/>
            <a:chOff x="4033424" y="6601537"/>
            <a:chExt cx="5233412" cy="70446"/>
          </a:xfrm>
        </p:grpSpPr>
        <p:cxnSp>
          <p:nvCxnSpPr>
            <p:cNvPr id="269" name="Google Shape;269;p37">
              <a:extLst>
                <a:ext uri="{FF2B5EF4-FFF2-40B4-BE49-F238E27FC236}">
                  <a16:creationId xmlns:a16="http://schemas.microsoft.com/office/drawing/2014/main" id="{BDF89024-C4A2-8F3A-DA57-A772C1368044}"/>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270" name="Google Shape;270;p37">
              <a:extLst>
                <a:ext uri="{FF2B5EF4-FFF2-40B4-BE49-F238E27FC236}">
                  <a16:creationId xmlns:a16="http://schemas.microsoft.com/office/drawing/2014/main" id="{B3758997-614E-F4D9-9F4D-D716DCC856B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extLst>
      <p:ext uri="{BB962C8B-B14F-4D97-AF65-F5344CB8AC3E}">
        <p14:creationId xmlns:p14="http://schemas.microsoft.com/office/powerpoint/2010/main" val="2315989789"/>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74"/>
        <p:cNvGrpSpPr/>
        <p:nvPr/>
      </p:nvGrpSpPr>
      <p:grpSpPr>
        <a:xfrm>
          <a:off x="0" y="0"/>
          <a:ext cx="0" cy="0"/>
          <a:chOff x="0" y="0"/>
          <a:chExt cx="0" cy="0"/>
        </a:xfrm>
      </p:grpSpPr>
      <p:pic>
        <p:nvPicPr>
          <p:cNvPr id="275" name="Google Shape;275;p38"/>
          <p:cNvPicPr preferRelativeResize="0"/>
          <p:nvPr/>
        </p:nvPicPr>
        <p:blipFill rotWithShape="1">
          <a:blip r:embed="rId4">
            <a:alphaModFix/>
          </a:blip>
          <a:srcRect/>
          <a:stretch/>
        </p:blipFill>
        <p:spPr>
          <a:xfrm>
            <a:off x="2259350" y="2791508"/>
            <a:ext cx="5414193" cy="1274984"/>
          </a:xfrm>
          <a:prstGeom prst="rect">
            <a:avLst/>
          </a:prstGeom>
          <a:noFill/>
          <a:ln>
            <a:noFill/>
          </a:ln>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288</TotalTime>
  <Words>2002</Words>
  <Application>Microsoft Office PowerPoint</Application>
  <PresentationFormat>Widescreen</PresentationFormat>
  <Paragraphs>255</Paragraphs>
  <Slides>33</Slides>
  <Notes>33</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33</vt:i4>
      </vt:variant>
    </vt:vector>
  </HeadingPairs>
  <TitlesOfParts>
    <vt:vector size="38" baseType="lpstr">
      <vt:lpstr>Arial</vt:lpstr>
      <vt:lpstr>Calibri</vt:lpstr>
      <vt:lpstr>Cambria Math</vt:lpstr>
      <vt:lpstr>Helvetica Neue Light</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Nielsen, Joshua</dc:creator>
  <cp:lastModifiedBy>Juston, Marius F</cp:lastModifiedBy>
  <cp:revision>53</cp:revision>
  <dcterms:created xsi:type="dcterms:W3CDTF">2019-01-14T22:06:33Z</dcterms:created>
  <dcterms:modified xsi:type="dcterms:W3CDTF">2026-02-06T18:06:25Z</dcterms:modified>
</cp:coreProperties>
</file>