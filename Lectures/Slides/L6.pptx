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73"/>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61" r:id="rId43"/>
    <p:sldId id="362" r:id="rId44"/>
    <p:sldId id="363" r:id="rId45"/>
    <p:sldId id="364" r:id="rId46"/>
    <p:sldId id="365" r:id="rId47"/>
    <p:sldId id="366" r:id="rId48"/>
    <p:sldId id="367" r:id="rId49"/>
    <p:sldId id="368" r:id="rId50"/>
    <p:sldId id="369" r:id="rId51"/>
    <p:sldId id="351" r:id="rId52"/>
    <p:sldId id="331" r:id="rId53"/>
    <p:sldId id="332" r:id="rId54"/>
    <p:sldId id="333" r:id="rId55"/>
    <p:sldId id="334" r:id="rId56"/>
    <p:sldId id="370" r:id="rId57"/>
    <p:sldId id="371" r:id="rId58"/>
    <p:sldId id="372" r:id="rId59"/>
    <p:sldId id="335" r:id="rId60"/>
    <p:sldId id="373" r:id="rId61"/>
    <p:sldId id="374" r:id="rId62"/>
    <p:sldId id="375" r:id="rId63"/>
    <p:sldId id="376" r:id="rId64"/>
    <p:sldId id="377" r:id="rId65"/>
    <p:sldId id="378" r:id="rId66"/>
    <p:sldId id="380" r:id="rId67"/>
    <p:sldId id="381" r:id="rId68"/>
    <p:sldId id="382" r:id="rId69"/>
    <p:sldId id="383" r:id="rId70"/>
    <p:sldId id="271" r:id="rId71"/>
    <p:sldId id="270" r:id="rId7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7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43" d="100"/>
          <a:sy n="143" d="100"/>
        </p:scale>
        <p:origin x="276"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customschemas.google.com/relationships/presentationmetadata" Target="metadata"/><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notesMaster" Target="notesMasters/notesMaster1.xml"/><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90D3CA-4583-3022-75DF-CE524C2A2D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FD6693-37DC-3F47-C791-AD126FC04B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AADE5E-C165-01E8-20AA-50453CC1E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630009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6BAC96-DA34-2065-E41B-1C5BDA7D4E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8402DF-3352-6773-799F-D689AF4EEB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ADBD5D-B8D1-3877-6C9D-E5B328837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863056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0A7872-64BF-4F7F-0B62-A41B4313D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81DBE4-EAF2-44EA-A435-E146BE4193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1D7E34-6639-1921-ACBB-F424B95A6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88821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F81BC7-C46E-822E-F9AC-59481C98F4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89D625-0C7F-69CF-F7DF-EF66F772CF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14F3E-141C-886A-56C2-AFBB679FEE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6056547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BFBA2F-81D2-834A-A408-C18D81736D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5FB1C-D264-C357-691A-71C760032C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B64D-07B1-CEC1-7550-8FE7F26DB4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433531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0C1EA4-1EC8-3DC1-BC2D-E4C6898C08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C03BAB-903E-9E3D-437A-D3A38B095D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6CA47D-7CA0-915F-9320-CAFB5BD46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854169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2D04A6-D813-EF02-970C-FD85B43C35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1AD28B-B00C-EC19-674C-B049E0DB02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B3BF9F-1695-DA2C-F3BD-7E89367468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873914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A635D3-3A12-1A47-D1AD-53A1039F118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B55496-1820-579B-DF67-8B7817E086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D4F835-C77A-4A00-49CB-9D8206F7A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301197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8D115-34C2-664B-71CD-E071AB2F68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0FEF2D-CD11-3139-7460-571F664790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7E271C-707F-7A8A-DE3F-9B8E4A2814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8328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A30273-8BBA-5CF7-EF01-5191204BCB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D9034A-6CE9-69EE-638D-3403D946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C0D415-811A-0B34-4D56-D4984B15F2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4986123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DD43F9-C1A6-0E24-B681-0AB74F3A2D4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23BA83E-6857-C36C-A8E0-55C42A7B592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3B898DC-954D-F726-2A34-C51EF469F6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387834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9208488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A9939D-61A5-04C4-B25D-81AB8606E8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326B15-99DA-7F30-80C4-A207D3379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156A98-C6FF-077E-F2B7-495727BF0B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59771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1B0C24-1DC6-9A33-46DB-7FFE87F00C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DCB08F-010A-92BA-1455-0FAE5D909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77ABC9-E62B-3F5D-9FBB-A0CE85556D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82563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985D8A-EABB-6AA3-CA60-A6542FAF50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DE3EA7-C8AE-D5C1-0E45-0DB1B5FCF9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CC8904-213E-8A1F-8DF2-EA648964C1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4309573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2.svg"/><Relationship Id="rId4" Type="http://schemas.openxmlformats.org/officeDocument/2006/relationships/image" Target="../media/image41.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5" Type="http://schemas.openxmlformats.org/officeDocument/2006/relationships/image" Target="../media/image43.jpe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45.svg"/><Relationship Id="rId4" Type="http://schemas.openxmlformats.org/officeDocument/2006/relationships/image" Target="../media/image44.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xml"/><Relationship Id="rId5" Type="http://schemas.openxmlformats.org/officeDocument/2006/relationships/image" Target="../media/image47.svg"/><Relationship Id="rId4" Type="http://schemas.openxmlformats.org/officeDocument/2006/relationships/image" Target="../media/image46.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 Id="rId5" Type="http://schemas.openxmlformats.org/officeDocument/2006/relationships/image" Target="../media/image49.svg"/><Relationship Id="rId4" Type="http://schemas.openxmlformats.org/officeDocument/2006/relationships/image" Target="../media/image48.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 Id="rId5" Type="http://schemas.openxmlformats.org/officeDocument/2006/relationships/image" Target="../media/image51.svg"/><Relationship Id="rId4" Type="http://schemas.openxmlformats.org/officeDocument/2006/relationships/image" Target="../media/image50.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5" Type="http://schemas.openxmlformats.org/officeDocument/2006/relationships/image" Target="../media/image53.svg"/><Relationship Id="rId4" Type="http://schemas.openxmlformats.org/officeDocument/2006/relationships/image" Target="../media/image52.png"/></Relationships>
</file>

<file path=ppt/slides/_rels/slide6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56.svg"/><Relationship Id="rId5" Type="http://schemas.openxmlformats.org/officeDocument/2006/relationships/image" Target="../media/image55.pn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66.xml"/><Relationship Id="rId2" Type="http://schemas.openxmlformats.org/officeDocument/2006/relationships/slideLayout" Target="../slideLayouts/slideLayout2.xml"/><Relationship Id="rId1" Type="http://schemas.openxmlformats.org/officeDocument/2006/relationships/video" Target="https://www.youtube.com/embed/3N_4VpzmKY0?feature=oembed" TargetMode="External"/><Relationship Id="rId5" Type="http://schemas.openxmlformats.org/officeDocument/2006/relationships/image" Target="../media/image57.jpeg"/><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60.svg"/><Relationship Id="rId4" Type="http://schemas.openxmlformats.org/officeDocument/2006/relationships/image" Target="../media/image59.png"/></Relationships>
</file>

<file path=ppt/slides/_rels/slide7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1.xml"/><Relationship Id="rId1" Type="http://schemas.openxmlformats.org/officeDocument/2006/relationships/slideLayout" Target="../slideLayouts/slideLayout1.xml"/><Relationship Id="rId4" Type="http://schemas.openxmlformats.org/officeDocument/2006/relationships/image" Target="../media/image62.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6: Encoders &amp; PWM</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9</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3-week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rial"/>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rial"/>
                <a:ea typeface="Arial"/>
                <a:cs typeface="Arial"/>
                <a:sym typeface="Arial"/>
              </a:rPr>
              <a:t>)</a:t>
            </a:r>
            <a:endParaRPr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Optical Encoder</a:t>
            </a:r>
            <a:endParaRPr dirty="0"/>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How do we measure angular position or motion of a shaft into a digital value?</a:t>
            </a:r>
            <a:r>
              <a:rPr lang="en-US" sz="2400" dirty="0">
                <a:latin typeface="Arial"/>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The optical encoder is composed of a light emitting device (</a:t>
            </a:r>
            <a:r>
              <a:rPr lang="en-US" sz="2400" b="1" dirty="0">
                <a:solidFill>
                  <a:schemeClr val="dk1"/>
                </a:solidFill>
                <a:latin typeface="Arial"/>
                <a:ea typeface="Arial"/>
                <a:cs typeface="Arial"/>
                <a:sym typeface="Arial"/>
              </a:rPr>
              <a:t>LED</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photo sensors</a:t>
            </a:r>
            <a:r>
              <a:rPr lang="en-US" sz="2400" dirty="0">
                <a:solidFill>
                  <a:schemeClr val="dk1"/>
                </a:solidFill>
                <a:latin typeface="Arial"/>
                <a:ea typeface="Arial"/>
                <a:cs typeface="Arial"/>
                <a:sym typeface="Arial"/>
              </a:rPr>
              <a:t>, and a disc called a </a:t>
            </a:r>
            <a:r>
              <a:rPr lang="en-US" sz="2400" b="1" dirty="0">
                <a:solidFill>
                  <a:schemeClr val="dk1"/>
                </a:solidFill>
                <a:latin typeface="Arial"/>
                <a:ea typeface="Arial"/>
                <a:cs typeface="Arial"/>
                <a:sym typeface="Arial"/>
              </a:rPr>
              <a:t>code wheel </a:t>
            </a:r>
            <a:r>
              <a:rPr lang="en-US" sz="2400" dirty="0">
                <a:solidFill>
                  <a:schemeClr val="dk1"/>
                </a:solidFill>
                <a:latin typeface="Arial"/>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02696"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905250" y="5819967"/>
            <a:ext cx="5324390" cy="253916"/>
          </a:xfrm>
          <a:prstGeom prst="rect">
            <a:avLst/>
          </a:prstGeom>
          <a:noFill/>
        </p:spPr>
        <p:txBody>
          <a:bodyPr wrap="square" rtlCol="0">
            <a:spAutoFit/>
          </a:bodyPr>
          <a:lstStyle/>
          <a:p>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Resolution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are some problems?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rial"/>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rial"/>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The combined output of (A, B), forms a 2-bit </a:t>
                </a:r>
                <a:r>
                  <a:rPr lang="en-US" sz="2400" b="1" dirty="0">
                    <a:solidFill>
                      <a:schemeClr val="dk1"/>
                    </a:solidFill>
                    <a:latin typeface="Arial"/>
                    <a:ea typeface="Arial"/>
                    <a:cs typeface="Arial"/>
                    <a:sym typeface="Arial"/>
                  </a:rPr>
                  <a:t>Gray code sequence</a:t>
                </a:r>
                <a:r>
                  <a:rPr lang="en-US" sz="2400" dirty="0">
                    <a:solidFill>
                      <a:schemeClr val="dk1"/>
                    </a:solidFill>
                    <a:latin typeface="Arial"/>
                    <a:ea typeface="Arial"/>
                    <a:cs typeface="Arial"/>
                    <a:sym typeface="Arial"/>
                  </a:rPr>
                  <a:t> (only 1 bit changes each timestep).</a:t>
                </a:r>
              </a:p>
              <a:p>
                <a:pPr marL="285750" indent="-285750">
                  <a:lnSpc>
                    <a:spcPct val="100000"/>
                  </a:lnSpc>
                  <a:spcBef>
                    <a:spcPts val="0"/>
                  </a:spcBef>
                  <a:buSzPts val="3000"/>
                </a:pPr>
                <a:r>
                  <a:rPr lang="en-US" sz="2400" dirty="0">
                    <a:latin typeface="Arial"/>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clockwise </a:t>
                </a:r>
                <a:r>
                  <a:rPr lang="en-US" sz="2400" dirty="0">
                    <a:latin typeface="Arial"/>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counter-clockwise</a:t>
                </a:r>
                <a:r>
                  <a:rPr lang="en-US" sz="2400" dirty="0">
                    <a:latin typeface="Arial"/>
                    <a:ea typeface="Arial"/>
                    <a:cs typeface="Arial"/>
                    <a:sym typeface="Arial"/>
                  </a:rPr>
                  <a:t> (CCW): B leads C, the sequence is:</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if you turn the robot off?</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3"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6" y="6358962"/>
            <a:ext cx="4446105" cy="261610"/>
          </a:xfrm>
          <a:prstGeom prst="rect">
            <a:avLst/>
          </a:prstGeom>
          <a:noFill/>
        </p:spPr>
        <p:txBody>
          <a:bodyPr wrap="square" rtlCol="0">
            <a:spAutoFit/>
          </a:bodyPr>
          <a:lstStyle/>
          <a:p>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4311650" y="872218"/>
            <a:ext cx="3568700" cy="400110"/>
          </a:xfrm>
          <a:prstGeom prst="rect">
            <a:avLst/>
          </a:prstGeom>
          <a:noFill/>
        </p:spPr>
        <p:txBody>
          <a:bodyPr wrap="square" rtlCol="0">
            <a:spAutoFit/>
          </a:bodyPr>
          <a:lstStyle/>
          <a:p>
            <a:r>
              <a:rPr lang="en-US" sz="2000" dirty="0"/>
              <a:t>What type of encoding is this?</a:t>
            </a:r>
          </a:p>
        </p:txBody>
      </p:sp>
    </p:spTree>
    <p:extLst>
      <p:ext uri="{BB962C8B-B14F-4D97-AF65-F5344CB8AC3E}">
        <p14:creationId xmlns:p14="http://schemas.microsoft.com/office/powerpoint/2010/main" val="12975518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Online Media 2" title="Gray Code's Error Reduction with Encoders">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2" y="6176442"/>
            <a:ext cx="2009775" cy="246221"/>
          </a:xfrm>
          <a:prstGeom prst="rect">
            <a:avLst/>
          </a:prstGeom>
          <a:noFill/>
        </p:spPr>
        <p:txBody>
          <a:bodyPr wrap="square" rtlCol="0">
            <a:spAutoFit/>
          </a:bodyPr>
          <a:lstStyle/>
          <a:p>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rial"/>
                <a:ea typeface="Arial"/>
                <a:cs typeface="Arial"/>
                <a:sym typeface="Arial"/>
              </a:rPr>
              <a:t>eQEP</a:t>
            </a:r>
            <a:endParaRPr dirty="0"/>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Overview diagram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5" name="Graphic 14">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Quadrature Count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Others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Group 18">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FF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5" y="1456984"/>
              <a:ext cx="4196030" cy="1912788"/>
              <a:chOff x="4405045" y="1456984"/>
              <a:chExt cx="4196030"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5" y="1456984"/>
                <a:ext cx="4196030" cy="1912788"/>
                <a:chOff x="4405045" y="1456984"/>
                <a:chExt cx="4196030"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5" y="1844917"/>
                  <a:ext cx="700087"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1" y="2530132"/>
                  <a:ext cx="700087"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FF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Group 75">
            <a:extLst>
              <a:ext uri="{FF2B5EF4-FFF2-40B4-BE49-F238E27FC236}">
                <a16:creationId xmlns:a16="http://schemas.microsoft.com/office/drawing/2014/main" id="{E35EFE63-959D-53F0-60CB-94441032AE31}"/>
              </a:ext>
            </a:extLst>
          </p:cNvPr>
          <p:cNvGrpSpPr>
            <a:grpSpLocks/>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p:cNvSpPr>
            <p:nvPr/>
          </p:nvSpPr>
          <p:spPr>
            <a:xfrm>
              <a:off x="8082949" y="2730337"/>
              <a:ext cx="1408430" cy="307777"/>
            </a:xfrm>
            <a:prstGeom prst="rect">
              <a:avLst/>
            </a:prstGeom>
            <a:noFill/>
          </p:spPr>
          <p:txBody>
            <a:bodyPr wrap="square" rtlCol="0">
              <a:spAutoFit/>
            </a:bodyPr>
            <a:lstStyle/>
            <a:p>
              <a:r>
                <a:rPr lang="en-US" dirty="0">
                  <a:solidFill>
                    <a:srgbClr val="FF0000"/>
                  </a:solidFill>
                </a:rPr>
                <a:t>Up/Down count</a:t>
              </a:r>
            </a:p>
          </p:txBody>
        </p:sp>
      </p:grp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CAP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xmlns="">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Absolute Optical Encoder</a:t>
            </a:r>
            <a:endParaRPr dirty="0"/>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Magnetic Rotary Encoder (an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DE89C46-5665-BEF6-B6FA-F938B95664F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Picture 2">
            <a:extLst>
              <a:ext uri="{FF2B5EF4-FFF2-40B4-BE49-F238E27FC236}">
                <a16:creationId xmlns:a16="http://schemas.microsoft.com/office/drawing/2014/main" id="{10B17922-CF3A-12C0-C9FE-1A65C8F40EBB}"/>
              </a:ext>
            </a:extLst>
          </p:cNvPr>
          <p:cNvPicPr>
            <a:picLocks noChangeAspect="1"/>
          </p:cNvPicPr>
          <p:nvPr/>
        </p:nvPicPr>
        <p:blipFill>
          <a:blip r:embed="rId4"/>
          <a:stretch>
            <a:fillRect/>
          </a:stretch>
        </p:blipFill>
        <p:spPr>
          <a:xfrm>
            <a:off x="3731141" y="4051015"/>
            <a:ext cx="4201363" cy="2440990"/>
          </a:xfrm>
          <a:prstGeom prst="rect">
            <a:avLst/>
          </a:prstGeom>
        </p:spPr>
      </p:pic>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AM4096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lgn="l">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FF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12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we are the ones sending the clock signal,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12</m:t>
                    </m:r>
                    <m:r>
                      <a:rPr lang="en-US" sz="1800" b="0" i="1" smtClean="0">
                        <a:solidFill>
                          <a:schemeClr val="tx1"/>
                        </a:solidFill>
                        <a:latin typeface="Cambria Math" panose="02040503050406030204" pitchFamily="18" charset="0"/>
                        <a:ea typeface="Cambria Math" panose="02040503050406030204" pitchFamily="18" charset="0"/>
                      </a:rPr>
                      <m:t>×2=24</m:t>
                    </m:r>
                  </m:oMath>
                </a14:m>
                <a:r>
                  <a:rPr lang="en-US" sz="1800" dirty="0">
                    <a:solidFill>
                      <a:schemeClr val="tx1"/>
                    </a:solidFill>
                    <a:latin typeface="+mj-lt"/>
                  </a:rPr>
                  <a:t>-bits!</a:t>
                </a:r>
              </a:p>
            </p:txBody>
          </p:sp>
        </mc:Choice>
        <mc:Fallback xmlns="">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b="-322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534521C3-3998-BE76-0BA1-58884541E12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29783" y="4096601"/>
            <a:ext cx="8932434" cy="2408746"/>
          </a:xfrm>
          <a:prstGeom prst="rect">
            <a:avLst/>
          </a:prstGeom>
        </p:spPr>
      </p:pic>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H="1" flipV="1">
            <a:off x="6897757" y="2113722"/>
            <a:ext cx="1828800" cy="3409999"/>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93165" y="2113722"/>
            <a:ext cx="2166731" cy="340999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write to clock signal </a:t>
            </a:r>
            <a:r>
              <a:rPr lang="en-US" sz="1200" dirty="0" err="1">
                <a:solidFill>
                  <a:srgbClr val="3F7F5F"/>
                </a:solidFill>
                <a:latin typeface="Consolas" panose="020B0609020204030204" pitchFamily="49" charset="0"/>
              </a:rPr>
              <a:t>spia</a:t>
            </a:r>
            <a:r>
              <a:rPr lang="en-US" sz="1200" dirty="0">
                <a:solidFill>
                  <a:srgbClr val="3F7F5F"/>
                </a:solidFill>
                <a:latin typeface="Consolas" panose="020B0609020204030204" pitchFamily="49" charset="0"/>
              </a:rPr>
              <a:t>, 0xAA = 0b10101010 (the 'u' means unsigned)</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0xAAu;</a:t>
            </a: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0x20;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FIFO</a:t>
            </a:r>
            <a:endParaRPr dirty="0"/>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did 2 weird things:</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0xAAu;</a:t>
            </a:r>
          </a:p>
          <a:p>
            <a:pPr marL="114300" indent="0">
              <a:buNone/>
            </a:pPr>
            <a:r>
              <a:rPr lang="en-US" sz="1800" dirty="0">
                <a:solidFill>
                  <a:srgbClr val="000000"/>
                </a:solidFill>
                <a:latin typeface="Consolas" panose="020B0609020204030204" pitchFamily="49" charset="0"/>
              </a:rPr>
              <a:t>}</a:t>
            </a:r>
          </a:p>
          <a:p>
            <a:pPr marL="114300" indent="0">
              <a:buNone/>
            </a:pPr>
            <a:r>
              <a:rPr lang="en-US" sz="1800" dirty="0">
                <a:solidFill>
                  <a:srgbClr val="000000"/>
                </a:solidFill>
                <a:latin typeface="+mj-lt"/>
              </a:rPr>
              <a:t>And,</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What is weird here? </a:t>
            </a:r>
          </a:p>
          <a:p>
            <a:pPr marL="114300" indent="0">
              <a:buNone/>
            </a:pPr>
            <a:r>
              <a:rPr lang="en-US" sz="1800" b="1" dirty="0">
                <a:solidFill>
                  <a:srgbClr val="000000"/>
                </a:solidFill>
                <a:latin typeface="+mj-lt"/>
              </a:rPr>
              <a:t>We are writing / reading from the same place!</a:t>
            </a:r>
            <a:r>
              <a:rPr lang="en-US" sz="1800" dirty="0">
                <a:solidFill>
                  <a:srgbClr val="000000"/>
                </a:solidFill>
                <a:latin typeface="+mj-lt"/>
              </a:rPr>
              <a:t> Why would the output be different?!</a:t>
            </a:r>
            <a:endParaRPr lang="en-US" sz="1800" dirty="0">
              <a:latin typeface="+mj-lt"/>
            </a:endParaRP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C07100-3E24-1395-9076-F85E60B6ED9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5098542-4910-D3C2-9A8D-1766746235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C5C4324-1E16-D51B-86C8-8B00CA31C87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135B07-DB70-2725-C0DD-A40D84DC9D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0EF261-5B82-E878-30E6-DD596F55F8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3B3018-6405-BD39-5F44-8728D1BBD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67566F-1E9B-5602-98B7-464A177EAA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393AB8-FDB8-C3FF-5B6F-3FF30F85BB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79B706-B81D-ABC9-FD26-4AB57CE89F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A794137-8D78-4974-4EB6-CDBBC218B43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7172" y="1158915"/>
            <a:ext cx="5331073" cy="5074772"/>
          </a:xfrm>
          <a:prstGeom prst="rect">
            <a:avLst/>
          </a:prstGeom>
        </p:spPr>
      </p:pic>
      <p:sp>
        <p:nvSpPr>
          <p:cNvPr id="6" name="TextBox 5">
            <a:extLst>
              <a:ext uri="{FF2B5EF4-FFF2-40B4-BE49-F238E27FC236}">
                <a16:creationId xmlns:a16="http://schemas.microsoft.com/office/drawing/2014/main" id="{5E20CF51-701C-91FD-3332-5ED440B20AB9}"/>
              </a:ext>
            </a:extLst>
          </p:cNvPr>
          <p:cNvSpPr txBox="1"/>
          <p:nvPr/>
        </p:nvSpPr>
        <p:spPr>
          <a:xfrm>
            <a:off x="376807" y="1345096"/>
            <a:ext cx="5672810" cy="5016758"/>
          </a:xfrm>
          <a:prstGeom prst="rect">
            <a:avLst/>
          </a:prstGeom>
          <a:noFill/>
        </p:spPr>
        <p:txBody>
          <a:bodyPr wrap="square" rtlCol="0">
            <a:spAutoFit/>
          </a:bodyPr>
          <a:lstStyle/>
          <a:p>
            <a:r>
              <a:rPr lang="en-US" sz="2000" dirty="0"/>
              <a:t>Instead of waiting every interrupt cycle to write long pieces of text to the SPI connection, we can instead use FIFO (First-In-First-Out), which is a buffer queuing system.</a:t>
            </a:r>
          </a:p>
          <a:p>
            <a:endParaRPr lang="en-US" sz="2000" dirty="0"/>
          </a:p>
          <a:p>
            <a:r>
              <a:rPr lang="en-US" sz="2000" dirty="0"/>
              <a:t>When you fill in one of the buffers RX / TX, the value automatically goes to one of the 16 FIFO slots (instantaneously), to be used later! </a:t>
            </a:r>
          </a:p>
          <a:p>
            <a:endParaRPr lang="en-US" sz="2000" dirty="0"/>
          </a:p>
          <a:p>
            <a:r>
              <a:rPr lang="en-US" sz="2000" dirty="0"/>
              <a:t>This allows you to store, in one function call, 16 FIFO buffer values both for transmit and receive!</a:t>
            </a:r>
          </a:p>
          <a:p>
            <a:endParaRPr lang="en-US" sz="2000" dirty="0"/>
          </a:p>
          <a:p>
            <a:r>
              <a:rPr lang="en-US" sz="2000" dirty="0"/>
              <a:t>Uses only “16 CPU cycles” instead of 16 interrupt calls!</a:t>
            </a:r>
          </a:p>
          <a:p>
            <a:endParaRPr lang="en-US" sz="2000" dirty="0"/>
          </a:p>
          <a:p>
            <a:r>
              <a:rPr lang="en-US" sz="2000" dirty="0"/>
              <a:t>Allows for large read / writes.</a:t>
            </a:r>
          </a:p>
        </p:txBody>
      </p:sp>
      <p:cxnSp>
        <p:nvCxnSpPr>
          <p:cNvPr id="8" name="Straight Arrow Connector 7">
            <a:extLst>
              <a:ext uri="{FF2B5EF4-FFF2-40B4-BE49-F238E27FC236}">
                <a16:creationId xmlns:a16="http://schemas.microsoft.com/office/drawing/2014/main" id="{3B252B46-052E-444B-D5C0-DE00F5016BF9}"/>
              </a:ext>
            </a:extLst>
          </p:cNvPr>
          <p:cNvCxnSpPr/>
          <p:nvPr/>
        </p:nvCxnSpPr>
        <p:spPr>
          <a:xfrm flipV="1">
            <a:off x="5830957" y="2431774"/>
            <a:ext cx="556591" cy="755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258789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76D38B-ACC7-B086-83DA-95B8C46AE7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0A8393-CEFB-4E0D-F90B-2A9DAA822C5F}"/>
              </a:ext>
            </a:extLst>
          </p:cNvPr>
          <p:cNvSpPr txBox="1">
            <a:spLocks noGrp="1"/>
          </p:cNvSpPr>
          <p:nvPr>
            <p:ph type="body" idx="1"/>
          </p:nvPr>
        </p:nvSpPr>
        <p:spPr>
          <a:xfrm>
            <a:off x="383905" y="1055164"/>
            <a:ext cx="5520410" cy="528523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Looking back:</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0xAAu;</a:t>
            </a:r>
          </a:p>
          <a:p>
            <a:pPr marL="114300" indent="0">
              <a:buNone/>
            </a:pPr>
            <a:r>
              <a:rPr lang="en-US" sz="1800" dirty="0">
                <a:solidFill>
                  <a:srgbClr val="000000"/>
                </a:solidFill>
                <a:latin typeface="Consolas" panose="020B0609020204030204" pitchFamily="49" charset="0"/>
              </a:rPr>
              <a:t>}</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p:txBody>
      </p:sp>
      <p:sp>
        <p:nvSpPr>
          <p:cNvPr id="119" name="Google Shape;119;p29">
            <a:extLst>
              <a:ext uri="{FF2B5EF4-FFF2-40B4-BE49-F238E27FC236}">
                <a16:creationId xmlns:a16="http://schemas.microsoft.com/office/drawing/2014/main" id="{072A83F2-F144-5161-A806-82CE02614B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F07707-AA34-0779-7AC2-F80EDAE8C6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3102B9-FA13-13CD-5D36-B7F27F6027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F126C8-1924-80AB-63AB-5ACA31C7D9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36B7DB-4567-64C0-E49C-B4EEE1E4C9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907B70-8140-2F83-B116-B92ED1B9E9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13564C-6C39-93B3-674F-EFAB4924D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D56BD-F581-3F90-123C-27281C0A64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09564873-1951-C30B-880E-6A5CDE4941E5}"/>
              </a:ext>
            </a:extLst>
          </p:cNvPr>
          <p:cNvSpPr txBox="1">
            <a:spLocks/>
          </p:cNvSpPr>
          <p:nvPr/>
        </p:nvSpPr>
        <p:spPr>
          <a:xfrm>
            <a:off x="6288220" y="1054691"/>
            <a:ext cx="5519875" cy="528617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buFont typeface="Arial"/>
              <a:buNone/>
            </a:pPr>
            <a:r>
              <a:rPr lang="en-US" sz="1800" dirty="0">
                <a:latin typeface="+mj-lt"/>
              </a:rPr>
              <a:t>For the TX, </a:t>
            </a:r>
            <a:r>
              <a:rPr lang="en-US" sz="1800" dirty="0">
                <a:solidFill>
                  <a:srgbClr val="000000"/>
                </a:solidFill>
                <a:latin typeface="+mj-lt"/>
              </a:rPr>
              <a:t>TX FIFO_{0,..,15} start empty.</a:t>
            </a:r>
          </a:p>
          <a:p>
            <a:pPr marL="114300" indent="0">
              <a:buFont typeface="Arial"/>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0, TX FIFO_0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1, TX FIFO_{0,1}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2, TX FIFO_{0,1,2} = 0xAAu;</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a:solidFill>
                  <a:srgbClr val="000000"/>
                </a:solidFill>
                <a:latin typeface="+mj-lt"/>
              </a:rPr>
              <a:t>For the RX</a:t>
            </a:r>
            <a:r>
              <a:rPr lang="en-US" sz="1800" dirty="0">
                <a:solidFill>
                  <a:srgbClr val="000000"/>
                </a:solidFill>
                <a:latin typeface="Consolas" panose="020B0609020204030204" pitchFamily="49" charset="0"/>
              </a:rPr>
              <a:t>, RX FIFO_{0,1,2}</a:t>
            </a:r>
            <a:r>
              <a:rPr lang="en-US" sz="1800" dirty="0">
                <a:solidFill>
                  <a:srgbClr val="000000"/>
                </a:solidFill>
                <a:latin typeface="+mj-lt"/>
              </a:rPr>
              <a:t> has data</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Consolas" panose="020B0609020204030204" pitchFamily="49" charset="0"/>
              </a:rPr>
              <a:t>Takes from RX FIFO_0 FIFO_{1,2} has data</a:t>
            </a:r>
          </a:p>
          <a:p>
            <a:pPr marL="114300" indent="0">
              <a:buNone/>
            </a:pPr>
            <a:r>
              <a:rPr lang="en-US" sz="1800" dirty="0">
                <a:solidFill>
                  <a:srgbClr val="000000"/>
                </a:solidFill>
                <a:latin typeface="Consolas" panose="020B0609020204030204" pitchFamily="49" charset="0"/>
              </a:rPr>
              <a:t>Takes from RX FIFO_1 FIFO_{2} has data</a:t>
            </a:r>
          </a:p>
          <a:p>
            <a:pPr marL="114300" indent="0">
              <a:buNone/>
            </a:pPr>
            <a:r>
              <a:rPr lang="en-US" sz="1800" dirty="0">
                <a:solidFill>
                  <a:srgbClr val="000000"/>
                </a:solidFill>
                <a:latin typeface="Consolas" panose="020B0609020204030204" pitchFamily="49" charset="0"/>
              </a:rPr>
              <a:t>Takes from RX FIFO_2 FIFO has no more data</a:t>
            </a:r>
          </a:p>
          <a:p>
            <a:pPr marL="114300" indent="0">
              <a:buNone/>
            </a:pPr>
            <a:r>
              <a:rPr lang="en-US" sz="1800" dirty="0">
                <a:solidFill>
                  <a:srgbClr val="000000"/>
                </a:solidFill>
                <a:latin typeface="+mj-lt"/>
              </a:rPr>
              <a:t>(technically the next FIFO is always FIFO_0)</a:t>
            </a:r>
          </a:p>
        </p:txBody>
      </p:sp>
    </p:spTree>
    <p:extLst>
      <p:ext uri="{BB962C8B-B14F-4D97-AF65-F5344CB8AC3E}">
        <p14:creationId xmlns:p14="http://schemas.microsoft.com/office/powerpoint/2010/main" val="97813651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PWM</a:t>
            </a:r>
            <a:endParaRPr dirty="0"/>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How do LEDs become dimmer?</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PWM Animati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110109" y="1141570"/>
            <a:ext cx="9445179" cy="5336538"/>
          </a:xfrm>
          <a:prstGeom prst="rect">
            <a:avLst/>
          </a:prstGeom>
        </p:spPr>
      </p:pic>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E163057-C04E-7706-10EC-7A176DDB94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0B54087-6B08-FC0E-A820-76387806E6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6334" y="994852"/>
            <a:ext cx="6959332" cy="5491119"/>
          </a:xfrm>
          <a:prstGeom prst="rect">
            <a:avLst/>
          </a:prstGeom>
        </p:spPr>
      </p:pic>
      <p:grpSp>
        <p:nvGrpSpPr>
          <p:cNvPr id="18" name="Group 17">
            <a:extLst>
              <a:ext uri="{FF2B5EF4-FFF2-40B4-BE49-F238E27FC236}">
                <a16:creationId xmlns:a16="http://schemas.microsoft.com/office/drawing/2014/main" id="{BD6FD0A0-45F7-4C1E-D48F-DBC5914D991D}"/>
              </a:ext>
            </a:extLst>
          </p:cNvPr>
          <p:cNvGrpSpPr/>
          <p:nvPr/>
        </p:nvGrpSpPr>
        <p:grpSpPr>
          <a:xfrm>
            <a:off x="960783" y="3578087"/>
            <a:ext cx="5572539" cy="2743748"/>
            <a:chOff x="960783" y="3578087"/>
            <a:chExt cx="5572539" cy="2743748"/>
          </a:xfrm>
        </p:grpSpPr>
        <p:sp>
          <p:nvSpPr>
            <p:cNvPr id="6" name="Rectangle 5">
              <a:extLst>
                <a:ext uri="{FF2B5EF4-FFF2-40B4-BE49-F238E27FC236}">
                  <a16:creationId xmlns:a16="http://schemas.microsoft.com/office/drawing/2014/main" id="{23314C87-86DE-5BA8-B731-20EC81E898ED}"/>
                </a:ext>
              </a:extLst>
            </p:cNvPr>
            <p:cNvSpPr/>
            <p:nvPr/>
          </p:nvSpPr>
          <p:spPr>
            <a:xfrm>
              <a:off x="2445026" y="5121965"/>
              <a:ext cx="4088296" cy="11998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F7BEB5F-86B6-E3A9-9683-8BF1BCACDA49}"/>
                </a:ext>
              </a:extLst>
            </p:cNvPr>
            <p:cNvSpPr/>
            <p:nvPr/>
          </p:nvSpPr>
          <p:spPr>
            <a:xfrm>
              <a:off x="2557670" y="3578087"/>
              <a:ext cx="1133060" cy="3180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69D8A49-B934-39E6-C274-FAA78C1D3F5E}"/>
                </a:ext>
              </a:extLst>
            </p:cNvPr>
            <p:cNvSpPr txBox="1"/>
            <p:nvPr/>
          </p:nvSpPr>
          <p:spPr>
            <a:xfrm>
              <a:off x="960783" y="4485861"/>
              <a:ext cx="1159565" cy="307777"/>
            </a:xfrm>
            <a:prstGeom prst="rect">
              <a:avLst/>
            </a:prstGeom>
            <a:noFill/>
          </p:spPr>
          <p:txBody>
            <a:bodyPr wrap="square" rtlCol="0">
              <a:spAutoFit/>
            </a:bodyPr>
            <a:lstStyle/>
            <a:p>
              <a:r>
                <a:rPr lang="en-US" dirty="0">
                  <a:solidFill>
                    <a:srgbClr val="FF0000"/>
                  </a:solidFill>
                </a:rPr>
                <a:t>Clock signal</a:t>
              </a:r>
            </a:p>
          </p:txBody>
        </p:sp>
        <p:cxnSp>
          <p:nvCxnSpPr>
            <p:cNvPr id="10" name="Straight Arrow Connector 9">
              <a:extLst>
                <a:ext uri="{FF2B5EF4-FFF2-40B4-BE49-F238E27FC236}">
                  <a16:creationId xmlns:a16="http://schemas.microsoft.com/office/drawing/2014/main" id="{07E056A5-FB74-D1E7-9A20-8E1F41342E54}"/>
                </a:ext>
              </a:extLst>
            </p:cNvPr>
            <p:cNvCxnSpPr>
              <a:cxnSpLocks/>
              <a:stCxn id="8" idx="0"/>
              <a:endCxn id="7" idx="1"/>
            </p:cNvCxnSpPr>
            <p:nvPr/>
          </p:nvCxnSpPr>
          <p:spPr>
            <a:xfrm flipV="1">
              <a:off x="1540566" y="3737113"/>
              <a:ext cx="1017104" cy="7487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4A4D490-FF0F-4A81-A52D-688E0E47FA55}"/>
                </a:ext>
              </a:extLst>
            </p:cNvPr>
            <p:cNvCxnSpPr>
              <a:cxnSpLocks/>
              <a:stCxn id="8" idx="2"/>
              <a:endCxn id="6" idx="1"/>
            </p:cNvCxnSpPr>
            <p:nvPr/>
          </p:nvCxnSpPr>
          <p:spPr>
            <a:xfrm>
              <a:off x="1540566" y="4793638"/>
              <a:ext cx="904460" cy="92826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8900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3AD731-8460-4BE7-CCAC-7C50BB72D1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7940C7-828B-83F0-AECC-4B2D7EFF884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frequency of PWM events is controlled by the </a:t>
            </a:r>
            <a:r>
              <a:rPr lang="en-US" sz="2000" b="1" dirty="0">
                <a:latin typeface="+mj-lt"/>
                <a:ea typeface="Arial"/>
                <a:cs typeface="Arial"/>
                <a:sym typeface="Arial"/>
              </a:rPr>
              <a:t>time-base period</a:t>
            </a:r>
            <a:r>
              <a:rPr lang="en-US" sz="2000" dirty="0">
                <a:latin typeface="+mj-lt"/>
                <a:ea typeface="Arial"/>
                <a:cs typeface="Arial"/>
                <a:sym typeface="Arial"/>
              </a:rPr>
              <a:t> (TBPRD) register and the mode of the time-base counter. The time increment for each step is defined by the </a:t>
            </a:r>
            <a:r>
              <a:rPr lang="en-US" sz="2000" b="1" dirty="0">
                <a:latin typeface="+mj-lt"/>
                <a:ea typeface="Arial"/>
                <a:cs typeface="Arial"/>
                <a:sym typeface="Arial"/>
              </a:rPr>
              <a:t>time-base clock </a:t>
            </a:r>
            <a:r>
              <a:rPr lang="en-US" sz="2000" dirty="0">
                <a:latin typeface="+mj-lt"/>
                <a:ea typeface="Arial"/>
                <a:cs typeface="Arial"/>
                <a:sym typeface="Arial"/>
              </a:rPr>
              <a:t>(TBCLK) which is a </a:t>
            </a:r>
            <a:r>
              <a:rPr lang="en-US" sz="2000" dirty="0" err="1">
                <a:latin typeface="+mj-lt"/>
                <a:ea typeface="Arial"/>
                <a:cs typeface="Arial"/>
                <a:sym typeface="Arial"/>
              </a:rPr>
              <a:t>prescaled</a:t>
            </a:r>
            <a:r>
              <a:rPr lang="en-US" sz="2000" dirty="0">
                <a:latin typeface="+mj-lt"/>
                <a:ea typeface="Arial"/>
                <a:cs typeface="Arial"/>
                <a:sym typeface="Arial"/>
              </a:rPr>
              <a:t> version of the </a:t>
            </a:r>
            <a:r>
              <a:rPr lang="en-US" sz="2000" dirty="0" err="1">
                <a:latin typeface="+mj-lt"/>
                <a:ea typeface="Arial"/>
                <a:cs typeface="Arial"/>
                <a:sym typeface="Arial"/>
              </a:rPr>
              <a:t>ePWM</a:t>
            </a:r>
            <a:r>
              <a:rPr lang="en-US" sz="2000" dirty="0">
                <a:latin typeface="+mj-lt"/>
                <a:ea typeface="Arial"/>
                <a:cs typeface="Arial"/>
                <a:sym typeface="Arial"/>
              </a:rPr>
              <a:t> clock (EPWMCLK).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time-base counter has </a:t>
            </a:r>
            <a:r>
              <a:rPr lang="en-US" sz="2000" b="1" dirty="0">
                <a:latin typeface="+mj-lt"/>
                <a:ea typeface="Arial"/>
                <a:cs typeface="Arial"/>
                <a:sym typeface="Arial"/>
              </a:rPr>
              <a:t>three modes </a:t>
            </a:r>
            <a:r>
              <a:rPr lang="en-US" sz="2000" dirty="0">
                <a:latin typeface="+mj-lt"/>
                <a:ea typeface="Arial"/>
                <a:cs typeface="Arial"/>
                <a:sym typeface="Arial"/>
              </a:rPr>
              <a:t>of operation selected by the time-base control register (TBCTL):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Up-Down-Count Mode</a:t>
            </a:r>
            <a:r>
              <a:rPr lang="en-US" sz="2000" dirty="0">
                <a:latin typeface="+mj-lt"/>
                <a:ea typeface="Arial"/>
                <a:cs typeface="Arial"/>
                <a:sym typeface="Arial"/>
              </a:rPr>
              <a:t>: In up-down-count mode, the time-base counter starts from zero and increments until the period (TBPRD) value is reached. When the period value is reached, the time-base counter then decrements until it reaches zero.</a:t>
            </a:r>
          </a:p>
          <a:p>
            <a:pPr marL="342900">
              <a:lnSpc>
                <a:spcPct val="100000"/>
              </a:lnSpc>
              <a:spcBef>
                <a:spcPts val="0"/>
              </a:spcBef>
              <a:buSzPts val="3000"/>
            </a:pPr>
            <a:r>
              <a:rPr lang="en-US" sz="2000" b="1" dirty="0">
                <a:latin typeface="+mj-lt"/>
                <a:ea typeface="Arial"/>
                <a:cs typeface="Arial"/>
                <a:sym typeface="Arial"/>
              </a:rPr>
              <a:t>Up-Count Mode</a:t>
            </a:r>
            <a:r>
              <a:rPr lang="en-US" sz="2000" dirty="0">
                <a:latin typeface="+mj-lt"/>
                <a:ea typeface="Arial"/>
                <a:cs typeface="Arial"/>
                <a:sym typeface="Arial"/>
              </a:rPr>
              <a:t>: In this mode, the time-base counter starts from zero and increments until it reaches the value in the period register (TBPRD).</a:t>
            </a:r>
          </a:p>
          <a:p>
            <a:pPr marL="342900">
              <a:lnSpc>
                <a:spcPct val="100000"/>
              </a:lnSpc>
              <a:spcBef>
                <a:spcPts val="0"/>
              </a:spcBef>
              <a:buSzPts val="3000"/>
            </a:pPr>
            <a:r>
              <a:rPr lang="en-US" sz="2000" b="1" dirty="0">
                <a:latin typeface="+mj-lt"/>
                <a:ea typeface="Arial"/>
                <a:cs typeface="Arial"/>
                <a:sym typeface="Arial"/>
              </a:rPr>
              <a:t>Down-Count Mode</a:t>
            </a:r>
            <a:r>
              <a:rPr lang="en-US" sz="2000" dirty="0">
                <a:latin typeface="+mj-lt"/>
                <a:ea typeface="Arial"/>
                <a:cs typeface="Arial"/>
                <a:sym typeface="Arial"/>
              </a:rPr>
              <a:t>: In down-count mode, the time-base counter starts from the period (TBPRD) value and decrements until it reaches zero.</a:t>
            </a:r>
          </a:p>
        </p:txBody>
      </p:sp>
      <p:sp>
        <p:nvSpPr>
          <p:cNvPr id="119" name="Google Shape;119;p29">
            <a:extLst>
              <a:ext uri="{FF2B5EF4-FFF2-40B4-BE49-F238E27FC236}">
                <a16:creationId xmlns:a16="http://schemas.microsoft.com/office/drawing/2014/main" id="{D49F4985-0811-C950-10A2-937A448C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C3FA9F-E34E-032E-E245-E6A4818CB2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B66303B-7A83-4488-1797-956638E651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81AD94-20F9-68CE-B6B7-625783C2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6CA26-42FB-99A1-0269-EE3A79BE74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594BD-603B-1841-49C1-AEF942A1D6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9992983-3E51-DCE7-90CD-EF3D8EDFE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E9EBD3-167A-2122-D5F4-377C9E3C8F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423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014037-127E-C7E1-39FA-A142D42E30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2230727-7F25-8ACF-D122-B9C9F9B132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19CBFB-5E38-76B4-DFDB-77DB6790F3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 mode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892F1F-5702-AB98-E3DF-062324D04F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46E5AF-FEC8-4DA3-440E-22FBFCA510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3990F8-BBC2-7953-7B71-FDB097F103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4E8B332-E27B-3275-DC90-67477DEF13C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0AC4AC-8300-62A9-DCC5-B361B864FC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EF18A2-5B7A-FD54-10A0-63B6875F82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3A556D8-4466-897D-7296-E1D7E11452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86100" y="1034163"/>
            <a:ext cx="6019800" cy="5444378"/>
          </a:xfrm>
          <a:prstGeom prst="rect">
            <a:avLst/>
          </a:prstGeom>
        </p:spPr>
      </p:pic>
      <p:grpSp>
        <p:nvGrpSpPr>
          <p:cNvPr id="20" name="Group 19">
            <a:extLst>
              <a:ext uri="{FF2B5EF4-FFF2-40B4-BE49-F238E27FC236}">
                <a16:creationId xmlns:a16="http://schemas.microsoft.com/office/drawing/2014/main" id="{64509BD5-4FD6-0DC6-3BE4-60A3327D4D97}"/>
              </a:ext>
            </a:extLst>
          </p:cNvPr>
          <p:cNvGrpSpPr/>
          <p:nvPr/>
        </p:nvGrpSpPr>
        <p:grpSpPr>
          <a:xfrm>
            <a:off x="1971676" y="1958885"/>
            <a:ext cx="1704975" cy="369332"/>
            <a:chOff x="1971676" y="1958885"/>
            <a:chExt cx="1704975" cy="369332"/>
          </a:xfrm>
        </p:grpSpPr>
        <p:sp>
          <p:nvSpPr>
            <p:cNvPr id="6" name="TextBox 5">
              <a:extLst>
                <a:ext uri="{FF2B5EF4-FFF2-40B4-BE49-F238E27FC236}">
                  <a16:creationId xmlns:a16="http://schemas.microsoft.com/office/drawing/2014/main" id="{19E3048C-C914-75C9-633E-684BAA439E06}"/>
                </a:ext>
              </a:extLst>
            </p:cNvPr>
            <p:cNvSpPr txBox="1"/>
            <p:nvPr/>
          </p:nvSpPr>
          <p:spPr>
            <a:xfrm>
              <a:off x="1971676" y="1958885"/>
              <a:ext cx="1114424" cy="369332"/>
            </a:xfrm>
            <a:prstGeom prst="rect">
              <a:avLst/>
            </a:prstGeom>
            <a:noFill/>
          </p:spPr>
          <p:txBody>
            <a:bodyPr wrap="square" rtlCol="0">
              <a:spAutoFit/>
            </a:bodyPr>
            <a:lstStyle/>
            <a:p>
              <a:pPr algn="r"/>
              <a:r>
                <a:rPr lang="en-US" sz="1800" dirty="0">
                  <a:solidFill>
                    <a:srgbClr val="FF0000"/>
                  </a:solidFill>
                </a:rPr>
                <a:t>Up count</a:t>
              </a:r>
            </a:p>
          </p:txBody>
        </p:sp>
        <p:cxnSp>
          <p:nvCxnSpPr>
            <p:cNvPr id="10" name="Straight Arrow Connector 9">
              <a:extLst>
                <a:ext uri="{FF2B5EF4-FFF2-40B4-BE49-F238E27FC236}">
                  <a16:creationId xmlns:a16="http://schemas.microsoft.com/office/drawing/2014/main" id="{F05D3BA1-8EB7-410B-2B3C-E81CB938E0FB}"/>
                </a:ext>
              </a:extLst>
            </p:cNvPr>
            <p:cNvCxnSpPr>
              <a:cxnSpLocks/>
              <a:stCxn id="6" idx="3"/>
            </p:cNvCxnSpPr>
            <p:nvPr/>
          </p:nvCxnSpPr>
          <p:spPr>
            <a:xfrm>
              <a:off x="3086100" y="2143551"/>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B595F2BF-0EC1-AE5A-C728-469878C56E76}"/>
              </a:ext>
            </a:extLst>
          </p:cNvPr>
          <p:cNvGrpSpPr/>
          <p:nvPr/>
        </p:nvGrpSpPr>
        <p:grpSpPr>
          <a:xfrm>
            <a:off x="1676401" y="3605433"/>
            <a:ext cx="2000250" cy="369332"/>
            <a:chOff x="1676401" y="3605433"/>
            <a:chExt cx="2000250" cy="369332"/>
          </a:xfrm>
        </p:grpSpPr>
        <p:sp>
          <p:nvSpPr>
            <p:cNvPr id="7" name="TextBox 6">
              <a:extLst>
                <a:ext uri="{FF2B5EF4-FFF2-40B4-BE49-F238E27FC236}">
                  <a16:creationId xmlns:a16="http://schemas.microsoft.com/office/drawing/2014/main" id="{41CFF109-63FD-E274-8427-477D0BEC6A88}"/>
                </a:ext>
              </a:extLst>
            </p:cNvPr>
            <p:cNvSpPr txBox="1"/>
            <p:nvPr/>
          </p:nvSpPr>
          <p:spPr>
            <a:xfrm>
              <a:off x="1676401" y="3605433"/>
              <a:ext cx="1409699" cy="369332"/>
            </a:xfrm>
            <a:prstGeom prst="rect">
              <a:avLst/>
            </a:prstGeom>
            <a:noFill/>
          </p:spPr>
          <p:txBody>
            <a:bodyPr wrap="square" rtlCol="0">
              <a:spAutoFit/>
            </a:bodyPr>
            <a:lstStyle/>
            <a:p>
              <a:pPr algn="r"/>
              <a:r>
                <a:rPr lang="en-US" sz="1800" dirty="0">
                  <a:solidFill>
                    <a:srgbClr val="FF0000"/>
                  </a:solidFill>
                </a:rPr>
                <a:t>Down count</a:t>
              </a:r>
            </a:p>
          </p:txBody>
        </p:sp>
        <p:cxnSp>
          <p:nvCxnSpPr>
            <p:cNvPr id="12" name="Straight Arrow Connector 11">
              <a:extLst>
                <a:ext uri="{FF2B5EF4-FFF2-40B4-BE49-F238E27FC236}">
                  <a16:creationId xmlns:a16="http://schemas.microsoft.com/office/drawing/2014/main" id="{4EF18E37-33E9-9B81-865A-C6EBE15E1E91}"/>
                </a:ext>
              </a:extLst>
            </p:cNvPr>
            <p:cNvCxnSpPr>
              <a:cxnSpLocks/>
              <a:stCxn id="7" idx="3"/>
            </p:cNvCxnSpPr>
            <p:nvPr/>
          </p:nvCxnSpPr>
          <p:spPr>
            <a:xfrm>
              <a:off x="3086100" y="3790099"/>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C9F98D4-EFE2-8757-4D78-4FE161D14121}"/>
              </a:ext>
            </a:extLst>
          </p:cNvPr>
          <p:cNvGrpSpPr/>
          <p:nvPr/>
        </p:nvGrpSpPr>
        <p:grpSpPr>
          <a:xfrm>
            <a:off x="1304925" y="5251980"/>
            <a:ext cx="2371726" cy="369332"/>
            <a:chOff x="1304925" y="5251980"/>
            <a:chExt cx="2371726" cy="369332"/>
          </a:xfrm>
        </p:grpSpPr>
        <p:sp>
          <p:nvSpPr>
            <p:cNvPr id="8" name="TextBox 7">
              <a:extLst>
                <a:ext uri="{FF2B5EF4-FFF2-40B4-BE49-F238E27FC236}">
                  <a16:creationId xmlns:a16="http://schemas.microsoft.com/office/drawing/2014/main" id="{62BCFB77-E1D8-F216-415F-7FE3E1A9B1F7}"/>
                </a:ext>
              </a:extLst>
            </p:cNvPr>
            <p:cNvSpPr txBox="1"/>
            <p:nvPr/>
          </p:nvSpPr>
          <p:spPr>
            <a:xfrm>
              <a:off x="1304925" y="5251980"/>
              <a:ext cx="1781175" cy="369332"/>
            </a:xfrm>
            <a:prstGeom prst="rect">
              <a:avLst/>
            </a:prstGeom>
            <a:noFill/>
          </p:spPr>
          <p:txBody>
            <a:bodyPr wrap="square" rtlCol="0">
              <a:spAutoFit/>
            </a:bodyPr>
            <a:lstStyle/>
            <a:p>
              <a:pPr algn="r"/>
              <a:r>
                <a:rPr lang="en-US" sz="1800" dirty="0">
                  <a:solidFill>
                    <a:srgbClr val="FF0000"/>
                  </a:solidFill>
                </a:rPr>
                <a:t>Up-down count</a:t>
              </a:r>
            </a:p>
          </p:txBody>
        </p:sp>
        <p:cxnSp>
          <p:nvCxnSpPr>
            <p:cNvPr id="13" name="Straight Arrow Connector 12">
              <a:extLst>
                <a:ext uri="{FF2B5EF4-FFF2-40B4-BE49-F238E27FC236}">
                  <a16:creationId xmlns:a16="http://schemas.microsoft.com/office/drawing/2014/main" id="{C621E986-6A64-CE46-FC8A-6402C05BB95A}"/>
                </a:ext>
              </a:extLst>
            </p:cNvPr>
            <p:cNvCxnSpPr>
              <a:cxnSpLocks/>
              <a:stCxn id="8" idx="3"/>
            </p:cNvCxnSpPr>
            <p:nvPr/>
          </p:nvCxnSpPr>
          <p:spPr>
            <a:xfrm>
              <a:off x="3086100" y="5436646"/>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6636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C16B93F-32E1-0B46-269C-6D10470B3A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59985F-6B09-5568-542B-A06A8FD84D5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counter-compare submodule takes as input the time-base counter value. </a:t>
            </a:r>
          </a:p>
          <a:p>
            <a:pPr marL="342900">
              <a:lnSpc>
                <a:spcPct val="100000"/>
              </a:lnSpc>
              <a:spcBef>
                <a:spcPts val="0"/>
              </a:spcBef>
              <a:buSzPts val="3000"/>
            </a:pPr>
            <a:r>
              <a:rPr lang="en-US" sz="2000" dirty="0">
                <a:latin typeface="+mj-lt"/>
                <a:ea typeface="Arial"/>
                <a:cs typeface="Arial"/>
                <a:sym typeface="Arial"/>
              </a:rPr>
              <a:t>This value is continuously compared to the counter-compare A (CMPA) counter-compare B (CMPB) counter-compare C (CMPC) and counter-compare D (CMPD) registers. </a:t>
            </a:r>
          </a:p>
          <a:p>
            <a:pPr marL="342900">
              <a:lnSpc>
                <a:spcPct val="100000"/>
              </a:lnSpc>
              <a:spcBef>
                <a:spcPts val="0"/>
              </a:spcBef>
              <a:buSzPts val="3000"/>
            </a:pPr>
            <a:r>
              <a:rPr lang="en-US" sz="2000" dirty="0">
                <a:latin typeface="+mj-lt"/>
                <a:ea typeface="Arial"/>
                <a:cs typeface="Arial"/>
                <a:sym typeface="Arial"/>
              </a:rPr>
              <a:t>When the time-base counter is </a:t>
            </a:r>
            <a:r>
              <a:rPr lang="en-US" sz="2000" b="1" dirty="0">
                <a:latin typeface="+mj-lt"/>
                <a:ea typeface="Arial"/>
                <a:cs typeface="Arial"/>
                <a:sym typeface="Arial"/>
              </a:rPr>
              <a:t>equal to one of the compare registers</a:t>
            </a:r>
            <a:r>
              <a:rPr lang="en-US" sz="2000" dirty="0">
                <a:latin typeface="+mj-lt"/>
                <a:ea typeface="Arial"/>
                <a:cs typeface="Arial"/>
                <a:sym typeface="Arial"/>
              </a:rPr>
              <a:t>, the counter-compare unit </a:t>
            </a:r>
            <a:r>
              <a:rPr lang="en-US" sz="2000" b="1" dirty="0">
                <a:latin typeface="+mj-lt"/>
                <a:ea typeface="Arial"/>
                <a:cs typeface="Arial"/>
                <a:sym typeface="Arial"/>
              </a:rPr>
              <a:t>generates an appropriate event</a:t>
            </a:r>
            <a:r>
              <a:rPr lang="en-US" sz="2000" dirty="0">
                <a:latin typeface="+mj-lt"/>
                <a:ea typeface="Arial"/>
                <a:cs typeface="Arial"/>
                <a:sym typeface="Arial"/>
              </a:rPr>
              <a:t>.</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8D425834-0751-D364-0803-0FC7239D7E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F0BE959-F104-899E-4DFE-A2CF40FAF0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Counter-Compare Submodule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C08605A-EA5B-BE3F-2308-4BBD0C9D12A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F0074-889D-576F-2165-246E8778D6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F068D0-1AB9-571C-6FBC-A200F89ACA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28EDC3-D2B3-8C60-0590-4747F455E1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6C259C-165E-D6F6-4045-3140769C98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75F4DF-6E88-C94A-90B8-5E75617029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ECBC909C-E185-23BE-58C2-703E817519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46004" y="3306418"/>
            <a:ext cx="10299992" cy="2789581"/>
          </a:xfrm>
          <a:prstGeom prst="rect">
            <a:avLst/>
          </a:prstGeom>
        </p:spPr>
      </p:pic>
    </p:spTree>
    <p:extLst>
      <p:ext uri="{BB962C8B-B14F-4D97-AF65-F5344CB8AC3E}">
        <p14:creationId xmlns:p14="http://schemas.microsoft.com/office/powerpoint/2010/main" val="347514563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A1E7EB-40EC-0DA2-C1E9-541F92509A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1FAD6-53AE-4A9D-5295-58AB7327FFD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From the result of the comparison that get triggered, you can then output a signal to the </a:t>
            </a:r>
            <a:r>
              <a:rPr lang="en-US" sz="2000" dirty="0" err="1">
                <a:latin typeface="+mj-lt"/>
                <a:ea typeface="Arial"/>
                <a:cs typeface="Arial"/>
                <a:sym typeface="Arial"/>
              </a:rPr>
              <a:t>ePWMA</a:t>
            </a:r>
            <a:r>
              <a:rPr lang="en-US" sz="2000" dirty="0">
                <a:latin typeface="+mj-lt"/>
                <a:ea typeface="Arial"/>
                <a:cs typeface="Arial"/>
                <a:sym typeface="Arial"/>
              </a:rPr>
              <a:t> or </a:t>
            </a:r>
            <a:r>
              <a:rPr lang="en-US" sz="2000" dirty="0" err="1">
                <a:latin typeface="+mj-lt"/>
                <a:ea typeface="Arial"/>
                <a:cs typeface="Arial"/>
                <a:sym typeface="Arial"/>
              </a:rPr>
              <a:t>ePWMB</a:t>
            </a:r>
            <a:r>
              <a:rPr lang="en-US" sz="2000" dirty="0">
                <a:latin typeface="+mj-lt"/>
                <a:ea typeface="Arial"/>
                <a:cs typeface="Arial"/>
                <a:sym typeface="Arial"/>
              </a:rPr>
              <a:t> signals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rPr>
              <a:t>The possible actions imposed on outputs </a:t>
            </a:r>
            <a:r>
              <a:rPr lang="en-US" sz="2000" dirty="0" err="1">
                <a:latin typeface="+mj-lt"/>
              </a:rPr>
              <a:t>EPWMxA</a:t>
            </a:r>
            <a:r>
              <a:rPr lang="en-US" sz="2000" dirty="0">
                <a:latin typeface="+mj-lt"/>
              </a:rPr>
              <a:t> and </a:t>
            </a:r>
            <a:r>
              <a:rPr lang="en-US" sz="2000" dirty="0" err="1">
                <a:latin typeface="+mj-lt"/>
              </a:rPr>
              <a:t>EPWMxB</a:t>
            </a:r>
            <a:r>
              <a:rPr lang="en-US" sz="2000" dirty="0">
                <a:latin typeface="+mj-lt"/>
              </a:rPr>
              <a:t> are:</a:t>
            </a:r>
          </a:p>
          <a:p>
            <a:pPr marL="285750" indent="-285750">
              <a:lnSpc>
                <a:spcPct val="100000"/>
              </a:lnSpc>
              <a:spcBef>
                <a:spcPts val="0"/>
              </a:spcBef>
              <a:buSzPts val="3000"/>
            </a:pPr>
            <a:r>
              <a:rPr lang="en-US" sz="2000" b="1" dirty="0">
                <a:latin typeface="+mj-lt"/>
              </a:rPr>
              <a:t>Set High</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high level. </a:t>
            </a:r>
          </a:p>
          <a:p>
            <a:pPr marL="285750" indent="-285750">
              <a:lnSpc>
                <a:spcPct val="100000"/>
              </a:lnSpc>
              <a:spcBef>
                <a:spcPts val="0"/>
              </a:spcBef>
              <a:buSzPts val="3000"/>
            </a:pPr>
            <a:r>
              <a:rPr lang="en-US" sz="2000" b="1" dirty="0">
                <a:latin typeface="+mj-lt"/>
              </a:rPr>
              <a:t>Clear Low</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low level. </a:t>
            </a:r>
          </a:p>
          <a:p>
            <a:pPr marL="285750" indent="-285750">
              <a:lnSpc>
                <a:spcPct val="100000"/>
              </a:lnSpc>
              <a:spcBef>
                <a:spcPts val="0"/>
              </a:spcBef>
              <a:buSzPts val="3000"/>
            </a:pPr>
            <a:r>
              <a:rPr lang="en-US" sz="2000" b="1" dirty="0">
                <a:latin typeface="+mj-lt"/>
              </a:rPr>
              <a:t>Toggle</a:t>
            </a:r>
            <a:r>
              <a:rPr lang="en-US" sz="2000" dirty="0">
                <a:latin typeface="+mj-lt"/>
              </a:rPr>
              <a:t>: Toggle </a:t>
            </a:r>
            <a:r>
              <a:rPr lang="en-US" sz="2000" dirty="0" err="1">
                <a:latin typeface="+mj-lt"/>
              </a:rPr>
              <a:t>EPWMxA</a:t>
            </a:r>
            <a:r>
              <a:rPr lang="en-US" sz="2000" dirty="0">
                <a:latin typeface="+mj-lt"/>
              </a:rPr>
              <a:t> or </a:t>
            </a:r>
            <a:r>
              <a:rPr lang="en-US" sz="2000" dirty="0" err="1">
                <a:latin typeface="+mj-lt"/>
              </a:rPr>
              <a:t>EPWMxB</a:t>
            </a:r>
            <a:endParaRPr lang="en-US" sz="2000" dirty="0">
              <a:latin typeface="+mj-lt"/>
            </a:endParaRPr>
          </a:p>
          <a:p>
            <a:pPr marL="285750" indent="-285750">
              <a:lnSpc>
                <a:spcPct val="100000"/>
              </a:lnSpc>
              <a:spcBef>
                <a:spcPts val="0"/>
              </a:spcBef>
              <a:buSzPts val="3000"/>
            </a:pPr>
            <a:r>
              <a:rPr lang="en-US" sz="2000" b="1" dirty="0">
                <a:latin typeface="+mj-lt"/>
              </a:rPr>
              <a:t>Do Nothing</a:t>
            </a:r>
            <a:r>
              <a:rPr lang="en-US" sz="2000" dirty="0">
                <a:latin typeface="+mj-lt"/>
              </a:rPr>
              <a:t>.</a:t>
            </a:r>
          </a:p>
          <a:p>
            <a:pPr marL="285750" indent="-28575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Allows you create complex signals.</a:t>
            </a:r>
          </a:p>
        </p:txBody>
      </p:sp>
      <p:sp>
        <p:nvSpPr>
          <p:cNvPr id="119" name="Google Shape;119;p29">
            <a:extLst>
              <a:ext uri="{FF2B5EF4-FFF2-40B4-BE49-F238E27FC236}">
                <a16:creationId xmlns:a16="http://schemas.microsoft.com/office/drawing/2014/main" id="{CA708DFB-8579-F5E4-A287-ED5BBD4C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E7DDD26-9000-195A-C551-0DD5BD684E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8DAA0D5-8BA9-656B-D656-A073227746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DA288B-4530-6543-F748-F425F1C7B7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4B6773-6712-3E3C-01BE-7B458E2E68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AA2B66-4473-55ED-3AA0-F3F256F244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FF609D-3D39-7390-ABEA-D067893080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3854C5-32D1-A010-5470-3B16AA5403A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849742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1F37B4-929A-9F7D-DE3E-F376105A9F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F31C4-4483-AD9A-112B-7BC8CFB83B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2B9DD1-643E-0EF3-E1CF-99FEA63BA7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2F79D1-C0CE-FBF2-4270-2256D95D81E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867CC-6418-AC4B-B0A6-E4860FE1738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10DCA8-0D66-9E15-F756-DD69A1BEE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2B9FF8-4843-405E-8928-EC7663C503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8110C0-814D-C4E5-4DE6-6659CA4B28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AF4670-2889-02BB-1EEA-945C37AEC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0BBE5DC-DAED-8E67-27CF-B97DEEC1AA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79983" y="964419"/>
            <a:ext cx="7832034" cy="5540920"/>
          </a:xfrm>
          <a:prstGeom prst="rect">
            <a:avLst/>
          </a:prstGeom>
        </p:spPr>
      </p:pic>
    </p:spTree>
    <p:extLst>
      <p:ext uri="{BB962C8B-B14F-4D97-AF65-F5344CB8AC3E}">
        <p14:creationId xmlns:p14="http://schemas.microsoft.com/office/powerpoint/2010/main" val="77434971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4C3513-7A07-4ED3-C437-31E2E0632A5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2692F4C2-E551-6A98-0705-2880667EFFE9}"/>
                  </a:ext>
                </a:extLst>
              </p:cNvPr>
              <p:cNvSpPr txBox="1">
                <a:spLocks noGrp="1"/>
              </p:cNvSpPr>
              <p:nvPr>
                <p:ph type="body" idx="1"/>
              </p:nvPr>
            </p:nvSpPr>
            <p:spPr>
              <a:xfrm>
                <a:off x="376809" y="1334279"/>
                <a:ext cx="11180700" cy="1197745"/>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PWM you can set the clock divide to be very small such that your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T</m:t>
                        </m:r>
                      </m:e>
                      <m:sub>
                        <m:r>
                          <m:rPr>
                            <m:sty m:val="p"/>
                          </m:rPr>
                          <a:rPr lang="en-US" sz="2000" b="0" i="1" smtClean="0">
                            <a:latin typeface="Cambria Math" panose="02040503050406030204" pitchFamily="18" charset="0"/>
                            <a:cs typeface="Arial"/>
                            <a:sym typeface="Arial"/>
                          </a:rPr>
                          <m:t>pwm</m:t>
                        </m:r>
                      </m:sub>
                    </m:sSub>
                  </m:oMath>
                </a14:m>
                <a:r>
                  <a:rPr lang="en-US" sz="2000" dirty="0">
                    <a:latin typeface="+mj-lt"/>
                    <a:ea typeface="Arial"/>
                    <a:cs typeface="Arial"/>
                    <a:sym typeface="Arial"/>
                  </a:rPr>
                  <a:t> is very small; however, the problem is that that reduces your duty cycle resolution. As you will run into system clock resolution limitation.</a:t>
                </a:r>
              </a:p>
            </p:txBody>
          </p:sp>
        </mc:Choice>
        <mc:Fallback>
          <p:sp>
            <p:nvSpPr>
              <p:cNvPr id="118" name="Google Shape;118;p29">
                <a:extLst>
                  <a:ext uri="{FF2B5EF4-FFF2-40B4-BE49-F238E27FC236}">
                    <a16:creationId xmlns:a16="http://schemas.microsoft.com/office/drawing/2014/main" id="{2692F4C2-E551-6A98-0705-2880667EFFE9}"/>
                  </a:ext>
                </a:extLst>
              </p:cNvPr>
              <p:cNvSpPr txBox="1">
                <a:spLocks noGrp="1" noRot="1" noChangeAspect="1" noMove="1" noResize="1" noEditPoints="1" noAdjustHandles="1" noChangeArrowheads="1" noChangeShapeType="1" noTextEdit="1"/>
              </p:cNvSpPr>
              <p:nvPr>
                <p:ph type="body" idx="1"/>
              </p:nvPr>
            </p:nvSpPr>
            <p:spPr>
              <a:xfrm>
                <a:off x="376809" y="1334279"/>
                <a:ext cx="11180700" cy="1197745"/>
              </a:xfrm>
              <a:prstGeom prst="rect">
                <a:avLst/>
              </a:prstGeom>
              <a:blipFill>
                <a:blip r:embed="rId3"/>
                <a:stretch>
                  <a:fillRect l="-600" t="-30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06D1B5-4235-411A-109C-51CB484474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1C42E2-E372-7762-6ADC-DB2A0E19E2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02B8120-B57F-9105-3A5D-726012FD07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18EE87-A4AE-3373-E3AD-4BAB39FBCD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2D359F-FC7A-EAFB-3BDC-6847CBB1E4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95773B-C114-A1E2-9460-9BE78D8004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1DB772-8AEB-2D8F-AF97-BB7C25A1B4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ECF37B-7E72-5F36-0CBD-3B504F9831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49DFD70-8BB9-B479-CA1B-F04CF5512B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6207" y="2532024"/>
            <a:ext cx="7619586" cy="3953947"/>
          </a:xfrm>
          <a:prstGeom prst="rect">
            <a:avLst/>
          </a:prstGeom>
        </p:spPr>
      </p:pic>
    </p:spTree>
    <p:extLst>
      <p:ext uri="{BB962C8B-B14F-4D97-AF65-F5344CB8AC3E}">
        <p14:creationId xmlns:p14="http://schemas.microsoft.com/office/powerpoint/2010/main" val="275324901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5B51B4-94F1-7CE3-D470-D9D788342B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AEEDF48-6806-F525-5101-F52FCA5F1388}"/>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300" dirty="0">
                <a:solidFill>
                  <a:srgbClr val="000000"/>
                </a:solidFill>
                <a:latin typeface="Consolas" panose="020B0609020204030204" pitchFamily="49" charset="0"/>
              </a:rPr>
              <a:t>EALLOW;</a:t>
            </a:r>
          </a:p>
          <a:p>
            <a:pPr marL="114300" indent="0" algn="l">
              <a:spcBef>
                <a:spcPts val="0"/>
              </a:spcBef>
              <a:buNone/>
            </a:pPr>
            <a:r>
              <a:rPr lang="en-US" sz="1300" dirty="0">
                <a:solidFill>
                  <a:srgbClr val="3F7F5F"/>
                </a:solidFill>
                <a:latin typeface="Consolas" panose="020B0609020204030204" pitchFamily="49" charset="0"/>
              </a:rPr>
              <a:t>//    TBCTL</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FREE_SOFT</a:t>
            </a:r>
            <a:r>
              <a:rPr lang="en-US" sz="1300" dirty="0">
                <a:solidFill>
                  <a:srgbClr val="000000"/>
                </a:solidFill>
                <a:latin typeface="Consolas" panose="020B0609020204030204" pitchFamily="49" charset="0"/>
              </a:rPr>
              <a:t> = 0x2;  </a:t>
            </a:r>
            <a:r>
              <a:rPr lang="en-US" sz="1300" dirty="0">
                <a:solidFill>
                  <a:srgbClr val="3F7F5F"/>
                </a:solidFill>
                <a:latin typeface="Consolas" panose="020B0609020204030204" pitchFamily="49" charset="0"/>
              </a:rPr>
              <a:t>// Free Soft emulation = Free Run</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CLKDIV</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Clock divide = 1</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CTRMODE</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Count up Mode</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PHSEN</a:t>
            </a:r>
            <a:r>
              <a:rPr lang="en-US" sz="1300" dirty="0">
                <a:solidFill>
                  <a:srgbClr val="000000"/>
                </a:solidFill>
                <a:latin typeface="Consolas" panose="020B0609020204030204" pitchFamily="49" charset="0"/>
              </a:rPr>
              <a:t> = 0;</a:t>
            </a:r>
            <a:r>
              <a:rPr lang="en-US" sz="1300" dirty="0">
                <a:solidFill>
                  <a:srgbClr val="3F7F5F"/>
                </a:solidFill>
                <a:latin typeface="Consolas" panose="020B0609020204030204" pitchFamily="49" charset="0"/>
              </a:rPr>
              <a:t>        // Do not load time time-base counter from the time-base phase registry</a:t>
            </a:r>
            <a:endParaRPr lang="en-US" sz="1300" dirty="0">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TBCTR</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TBCTR</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Start Timer at zero</a:t>
            </a:r>
            <a:endParaRPr lang="en-US" sz="1300" dirty="0">
              <a:solidFill>
                <a:srgbClr val="000000"/>
              </a:solidFill>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TBPRD</a:t>
            </a:r>
          </a:p>
          <a:p>
            <a:pPr marL="114300" indent="0" algn="l">
              <a:spcBef>
                <a:spcPts val="0"/>
              </a:spcBef>
              <a:buNone/>
            </a:pPr>
            <a:r>
              <a:rPr lang="en-US" sz="1300" dirty="0">
                <a:solidFill>
                  <a:srgbClr val="3F7F5F"/>
                </a:solidFill>
                <a:latin typeface="Consolas" panose="020B0609020204030204" pitchFamily="49" charset="0"/>
              </a:rPr>
              <a:t>//    Set period of the PWM to 5kHz (200 us)</a:t>
            </a:r>
          </a:p>
          <a:p>
            <a:pPr marL="114300" indent="0" algn="l">
              <a:spcBef>
                <a:spcPts val="0"/>
              </a:spcBef>
              <a:buNone/>
            </a:pPr>
            <a:r>
              <a:rPr lang="en-US" sz="1300" dirty="0">
                <a:solidFill>
                  <a:srgbClr val="3F7F5F"/>
                </a:solidFill>
                <a:latin typeface="Consolas" panose="020B0609020204030204" pitchFamily="49" charset="0"/>
              </a:rPr>
              <a:t>//    Counter frequency is 50MHz</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TBPRD</a:t>
            </a:r>
            <a:r>
              <a:rPr lang="en-US" sz="1300" dirty="0">
                <a:solidFill>
                  <a:srgbClr val="000000"/>
                </a:solidFill>
                <a:latin typeface="Consolas" panose="020B0609020204030204" pitchFamily="49" charset="0"/>
              </a:rPr>
              <a:t> = 10000;</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CMPA</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 = 5000;       </a:t>
            </a:r>
            <a:r>
              <a:rPr lang="en-US" sz="1300" dirty="0">
                <a:solidFill>
                  <a:srgbClr val="3F7F5F"/>
                </a:solidFill>
                <a:latin typeface="Consolas" panose="020B0609020204030204" pitchFamily="49" charset="0"/>
              </a:rPr>
              <a:t>// Duty cycle at 50%, TBPRD / 2</a:t>
            </a:r>
            <a:endParaRPr lang="en-US" sz="1300" dirty="0">
              <a:solidFill>
                <a:srgbClr val="000000"/>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CAU</a:t>
            </a:r>
            <a:r>
              <a:rPr lang="en-US" sz="1300" dirty="0">
                <a:solidFill>
                  <a:srgbClr val="000000"/>
                </a:solidFill>
                <a:latin typeface="Consolas" panose="020B0609020204030204" pitchFamily="49" charset="0"/>
              </a:rPr>
              <a:t> = 0x1;       </a:t>
            </a:r>
            <a:r>
              <a:rPr lang="en-US" sz="1300" dirty="0">
                <a:solidFill>
                  <a:srgbClr val="3F7F5F"/>
                </a:solidFill>
                <a:latin typeface="Consolas" panose="020B0609020204030204" pitchFamily="49" charset="0"/>
              </a:rPr>
              <a:t>// PWM12A output pin is set low when CMPA is reached</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ZRO </a:t>
            </a:r>
            <a:r>
              <a:rPr lang="en-US" sz="1300" dirty="0">
                <a:solidFill>
                  <a:srgbClr val="000000"/>
                </a:solidFill>
                <a:latin typeface="Consolas" panose="020B0609020204030204" pitchFamily="49" charset="0"/>
              </a:rPr>
              <a:t>= 0x2;       </a:t>
            </a:r>
            <a:r>
              <a:rPr lang="en-US" sz="1300" dirty="0">
                <a:solidFill>
                  <a:srgbClr val="3F7F5F"/>
                </a:solidFill>
                <a:latin typeface="Consolas" panose="020B0609020204030204" pitchFamily="49" charset="0"/>
              </a:rPr>
              <a:t>// the pin be set high when the TBCTR register is zero</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 = 0;</a:t>
            </a:r>
          </a:p>
          <a:p>
            <a:pPr marL="114300" indent="0">
              <a:spcBef>
                <a:spcPts val="0"/>
              </a:spcBef>
              <a:buNone/>
            </a:pPr>
            <a:r>
              <a:rPr lang="en-US" sz="1300" dirty="0">
                <a:solidFill>
                  <a:srgbClr val="000000"/>
                </a:solidFill>
                <a:latin typeface="Consolas" panose="020B0609020204030204" pitchFamily="49" charset="0"/>
              </a:rPr>
              <a:t>EDIS;</a:t>
            </a:r>
          </a:p>
          <a:p>
            <a:pPr marL="114300" indent="0">
              <a:spcBef>
                <a:spcPts val="0"/>
              </a:spcBef>
              <a:buNone/>
            </a:pPr>
            <a:endParaRPr lang="en-US" sz="1300" dirty="0">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GpioCtrlRegs.</a:t>
            </a:r>
            <a:r>
              <a:rPr lang="en-US" sz="1300" dirty="0">
                <a:solidFill>
                  <a:srgbClr val="0000C0"/>
                </a:solidFill>
                <a:latin typeface="Consolas" panose="020B0609020204030204" pitchFamily="49" charset="0"/>
              </a:rPr>
              <a:t>GPAPUD</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GPIO22</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For EPW12A</a:t>
            </a:r>
          </a:p>
        </p:txBody>
      </p:sp>
      <p:sp>
        <p:nvSpPr>
          <p:cNvPr id="119" name="Google Shape;119;p29">
            <a:extLst>
              <a:ext uri="{FF2B5EF4-FFF2-40B4-BE49-F238E27FC236}">
                <a16:creationId xmlns:a16="http://schemas.microsoft.com/office/drawing/2014/main" id="{567BF4AF-E607-3605-2970-F4CADE05C9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813BDBB-4021-8F16-627A-D8F33057C6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065594C-5525-2AC4-E887-BD896B67EA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2B30A72-7B45-854B-703A-AE4CC4F0D1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C6FAFA-299A-7A66-85E1-5DDCA6D488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4086DE-F2FA-68F3-C4E9-5F05E92070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F8A9ED-A71A-AC3F-534F-F4E491F59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E3DE58-07A1-82AD-804A-A1B70E1D9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3717733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029CD7-833A-F916-A1E1-890A9DBC72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0B207E8-8504-0BCB-840F-B7D475093F8F}"/>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5000;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latin typeface="+mj-lt"/>
              </a:rPr>
              <a:t>What is the duty cycle?</a:t>
            </a:r>
          </a:p>
          <a:p>
            <a:pPr marL="114300" indent="0">
              <a:spcBef>
                <a:spcPts val="0"/>
              </a:spcBef>
              <a:buNone/>
            </a:pPr>
            <a:r>
              <a:rPr lang="en-US" sz="2000" dirty="0">
                <a:solidFill>
                  <a:srgbClr val="000000"/>
                </a:solidFill>
                <a:latin typeface="+mj-lt"/>
              </a:rPr>
              <a:t>50%</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2500;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rPr>
              <a:t>25%</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7500;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latin typeface="+mj-lt"/>
              </a:rPr>
              <a:t>75%</a:t>
            </a:r>
          </a:p>
        </p:txBody>
      </p:sp>
      <p:sp>
        <p:nvSpPr>
          <p:cNvPr id="119" name="Google Shape;119;p29">
            <a:extLst>
              <a:ext uri="{FF2B5EF4-FFF2-40B4-BE49-F238E27FC236}">
                <a16:creationId xmlns:a16="http://schemas.microsoft.com/office/drawing/2014/main" id="{DEE06BB0-6A01-8BEB-7938-C810654371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0E25243-AB29-0D3F-03BD-8C3E91797A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0DE565-ABE6-9F2F-F4E1-60BCFBA942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DCB295-1799-E096-5FE3-105AFCF5B0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649416-DD30-571B-523F-6BC7C87F2B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C1AFA0-FF66-A41C-11DD-937D439FA3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A11F553-F054-1EB2-68DE-11F9F8F998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D4E64-C1CD-E906-4D5F-C7BFD5238D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3676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4C4B4BD-BC13-486F-19A8-F3493F5DD16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218F5CE-E75D-5809-6030-CA4C28BC295E}"/>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Motor / Servo</a:t>
            </a:r>
            <a:endParaRPr dirty="0"/>
          </a:p>
        </p:txBody>
      </p:sp>
      <p:grpSp>
        <p:nvGrpSpPr>
          <p:cNvPr id="105" name="Google Shape;105;p28">
            <a:extLst>
              <a:ext uri="{FF2B5EF4-FFF2-40B4-BE49-F238E27FC236}">
                <a16:creationId xmlns:a16="http://schemas.microsoft.com/office/drawing/2014/main" id="{C78E6D37-677F-7C64-EC93-A076876D1F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2D53AB6-8236-6CB2-147A-5A8638BB0B2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2AD31A-6AC4-FD60-E457-B4AEC430662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E3BF96B-A1D8-72F1-7A73-3FB0202FD1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415D65C-2DE8-AA57-493E-939CAE8BEA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3E1E196-43C4-70E3-FBCF-AFA96DDC30F4}"/>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DDFF747-3124-B877-462B-7DF5F12BFCD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249A8D-6F9B-EACC-CC26-29CF4558B1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384A7E9-84F6-1C98-8091-47044CD6A2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1358671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What is an H-Bridge?">
            <a:hlinkClick r:id="" action="ppaction://media"/>
            <a:extLst>
              <a:ext uri="{FF2B5EF4-FFF2-40B4-BE49-F238E27FC236}">
                <a16:creationId xmlns:a16="http://schemas.microsoft.com/office/drawing/2014/main" id="{2283BB6C-EEB9-C0EF-0D51-DB021C0321B2}"/>
              </a:ext>
            </a:extLst>
          </p:cNvPr>
          <p:cNvPicPr>
            <a:picLocks noRot="1" noChangeAspect="1"/>
          </p:cNvPicPr>
          <p:nvPr>
            <a:videoFile r:link="rId1"/>
          </p:nvPr>
        </p:nvPicPr>
        <p:blipFill>
          <a:blip r:embed="rId5"/>
          <a:stretch>
            <a:fillRect/>
          </a:stretch>
        </p:blipFill>
        <p:spPr>
          <a:xfrm>
            <a:off x="1210300" y="955418"/>
            <a:ext cx="9771399" cy="5520854"/>
          </a:xfrm>
          <a:prstGeom prst="rect">
            <a:avLst/>
          </a:prstGeom>
        </p:spPr>
      </p:pic>
    </p:spTree>
    <p:extLst>
      <p:ext uri="{BB962C8B-B14F-4D97-AF65-F5344CB8AC3E}">
        <p14:creationId xmlns:p14="http://schemas.microsoft.com/office/powerpoint/2010/main" val="4272181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C65FD4A-AB22-34F5-C68C-603FE0549C5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B2F1DD-4C9E-1250-AF87-372ABF3C9CF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RC Servos are position-controlled devices (not continuous rotation) controlled by a specific PWM protocol.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2-types of servo motor,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Closed loop</a:t>
            </a:r>
            <a:r>
              <a:rPr lang="en-US" sz="2000" dirty="0">
                <a:latin typeface="+mj-lt"/>
                <a:ea typeface="Arial"/>
                <a:cs typeface="Arial"/>
                <a:sym typeface="Arial"/>
              </a:rPr>
              <a:t>: physically limited to 0-180 degrees (usually) rotation (with an internal pin)</a:t>
            </a:r>
          </a:p>
          <a:p>
            <a:pPr marL="342900">
              <a:lnSpc>
                <a:spcPct val="100000"/>
              </a:lnSpc>
              <a:spcBef>
                <a:spcPts val="0"/>
              </a:spcBef>
              <a:buSzPts val="3000"/>
            </a:pPr>
            <a:r>
              <a:rPr lang="en-US" sz="2000" b="1" dirty="0">
                <a:latin typeface="+mj-lt"/>
                <a:ea typeface="Arial"/>
                <a:cs typeface="Arial"/>
                <a:sym typeface="Arial"/>
              </a:rPr>
              <a:t>Open loop</a:t>
            </a:r>
            <a:r>
              <a:rPr lang="en-US" sz="2000" dirty="0">
                <a:latin typeface="+mj-lt"/>
                <a:ea typeface="Arial"/>
                <a:cs typeface="Arial"/>
                <a:sym typeface="Arial"/>
              </a:rPr>
              <a:t>: can do a full 360-degree rotation.</a:t>
            </a:r>
          </a:p>
          <a:p>
            <a:pPr marL="342900">
              <a:lnSpc>
                <a:spcPct val="100000"/>
              </a:lnSpc>
              <a:spcBef>
                <a:spcPts val="0"/>
              </a:spcBef>
              <a:buSzPts val="3000"/>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3 wires: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Power </a:t>
            </a:r>
          </a:p>
          <a:p>
            <a:pPr marL="342900">
              <a:lnSpc>
                <a:spcPct val="100000"/>
              </a:lnSpc>
              <a:spcBef>
                <a:spcPts val="0"/>
              </a:spcBef>
              <a:buSzPts val="3000"/>
            </a:pPr>
            <a:r>
              <a:rPr lang="en-US" sz="2000" b="1" dirty="0">
                <a:latin typeface="+mj-lt"/>
                <a:ea typeface="Arial"/>
                <a:cs typeface="Arial"/>
                <a:sym typeface="Arial"/>
              </a:rPr>
              <a:t>GND</a:t>
            </a:r>
          </a:p>
          <a:p>
            <a:pPr marL="342900">
              <a:lnSpc>
                <a:spcPct val="100000"/>
              </a:lnSpc>
              <a:spcBef>
                <a:spcPts val="0"/>
              </a:spcBef>
              <a:buSzPts val="3000"/>
            </a:pPr>
            <a:r>
              <a:rPr lang="en-US" sz="2000" b="1" dirty="0">
                <a:latin typeface="+mj-lt"/>
                <a:ea typeface="Arial"/>
                <a:cs typeface="Arial"/>
                <a:sym typeface="Arial"/>
              </a:rPr>
              <a:t>Control</a:t>
            </a:r>
            <a:r>
              <a:rPr lang="en-US" sz="2000" dirty="0">
                <a:latin typeface="+mj-lt"/>
                <a:ea typeface="Arial"/>
                <a:cs typeface="Arial"/>
                <a:sym typeface="Arial"/>
              </a:rPr>
              <a:t>: where the PWM signal is injected</a:t>
            </a:r>
          </a:p>
        </p:txBody>
      </p:sp>
      <p:sp>
        <p:nvSpPr>
          <p:cNvPr id="119" name="Google Shape;119;p29">
            <a:extLst>
              <a:ext uri="{FF2B5EF4-FFF2-40B4-BE49-F238E27FC236}">
                <a16:creationId xmlns:a16="http://schemas.microsoft.com/office/drawing/2014/main" id="{0CA5310E-102A-9237-8DFB-6EBA2FF044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F7168A5-F318-FEC4-7CB9-53D5E67DAB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12F31B8-8C03-A34B-42D4-2A2476AF6B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526C5E-63A2-642D-CC4D-F70DCAA749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2BF78A-C7F2-1CAE-1CE4-09F46D01C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7989B1-03DC-9F52-4C46-EF885345DC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BA7C37-1161-C38C-12E3-358A3A921E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3374F1-C64D-4C37-E5B7-1ABE5D859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7" name="Picture 3">
            <a:extLst>
              <a:ext uri="{FF2B5EF4-FFF2-40B4-BE49-F238E27FC236}">
                <a16:creationId xmlns:a16="http://schemas.microsoft.com/office/drawing/2014/main" id="{DE56D442-8AB1-0A5A-E71E-372294321C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88298" y="3380238"/>
            <a:ext cx="3114257" cy="28132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8122774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AF6751-7416-7499-5388-EF8FB99D9F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68FE96-04EB-D46E-AFF0-F80FAC263B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mj-lt"/>
                <a:ea typeface="Arial"/>
                <a:cs typeface="Arial"/>
                <a:sym typeface="Arial"/>
              </a:rPr>
              <a:t>Maps PWM to desired orientation. For specific servo check the datasheet for:</a:t>
            </a:r>
          </a:p>
          <a:p>
            <a:pPr marL="0" lvl="0" indent="0" algn="l" rtl="0">
              <a:lnSpc>
                <a:spcPct val="100000"/>
              </a:lnSpc>
              <a:spcBef>
                <a:spcPts val="0"/>
              </a:spcBef>
              <a:spcAft>
                <a:spcPts val="0"/>
              </a:spcAft>
              <a:buSzPts val="3000"/>
              <a:buNone/>
            </a:pPr>
            <a:endParaRPr lang="en-US"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For the specific period </a:t>
            </a:r>
          </a:p>
          <a:p>
            <a:pPr marL="800100" lvl="1">
              <a:lnSpc>
                <a:spcPct val="100000"/>
              </a:lnSpc>
              <a:spcBef>
                <a:spcPts val="0"/>
              </a:spcBef>
              <a:buSzPts val="3000"/>
            </a:pPr>
            <a:r>
              <a:rPr lang="en-US" sz="2800" dirty="0">
                <a:latin typeface="+mj-lt"/>
                <a:ea typeface="Arial"/>
                <a:cs typeface="Arial"/>
                <a:sym typeface="Arial"/>
              </a:rPr>
              <a:t>Typically, 50Hz if not listed, which means a period of 20 </a:t>
            </a:r>
            <a:r>
              <a:rPr lang="en-US" sz="2800" dirty="0" err="1">
                <a:latin typeface="+mj-lt"/>
                <a:ea typeface="Arial"/>
                <a:cs typeface="Arial"/>
                <a:sym typeface="Arial"/>
              </a:rPr>
              <a:t>ms</a:t>
            </a:r>
            <a:r>
              <a:rPr lang="en-US" sz="2800" dirty="0">
                <a:latin typeface="+mj-lt"/>
                <a:ea typeface="Arial"/>
                <a:cs typeface="Arial"/>
                <a:sym typeface="Arial"/>
              </a:rPr>
              <a:t> = 20,000 </a:t>
            </a:r>
            <a:r>
              <a:rPr lang="el-GR" sz="2800" dirty="0">
                <a:latin typeface="+mj-lt"/>
              </a:rPr>
              <a:t>μ</a:t>
            </a:r>
            <a:r>
              <a:rPr lang="en-US" sz="2800" dirty="0">
                <a:latin typeface="+mj-lt"/>
              </a:rPr>
              <a:t>s</a:t>
            </a:r>
            <a:endParaRPr lang="en-US" sz="2800"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Operating range and duty cycle mapping.</a:t>
            </a:r>
          </a:p>
        </p:txBody>
      </p:sp>
      <p:sp>
        <p:nvSpPr>
          <p:cNvPr id="119" name="Google Shape;119;p29">
            <a:extLst>
              <a:ext uri="{FF2B5EF4-FFF2-40B4-BE49-F238E27FC236}">
                <a16:creationId xmlns:a16="http://schemas.microsoft.com/office/drawing/2014/main" id="{B3A6D611-58CA-BA7D-0138-34ED7A298B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6292F32-7821-EC7D-1AE7-D768385DA9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67F58AC-ED86-1AF3-2C6A-F184D31782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0DF778-F741-0ABD-0CB6-38D77BFF12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06525-BC3E-416F-87B2-BFF9A25BA1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03460C-0810-B007-66FC-2E353F041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9D84B6-8D31-A34D-E88A-7CB890B5E4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FA07F3-442F-ADC0-CB47-0B5C597D43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900729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9899F4-8FB2-BBFD-0990-BBAB6A70080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611D1E2-3681-8641-54FA-454488F624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4C54FB-C1F1-D69B-9481-1F00D57EF7E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 – Example Datasheet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367F6C-FCF3-7EA1-1438-0DCA906817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50A71C1-CB08-AC9B-2C16-6D5FE33F14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EA968DB-2362-2063-938C-19681B2FE9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282AF4-AD52-FCD5-05D3-EC14BF4484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33AF16-0346-F3CF-6DDE-1DF57FA0F7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2B96E0-0D86-7A62-2185-80E7FA2C3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22B5B7A-2A00-1525-E2DF-C579338779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4745" y="1495973"/>
            <a:ext cx="9827961" cy="4186800"/>
          </a:xfrm>
          <a:prstGeom prst="rect">
            <a:avLst/>
          </a:prstGeom>
        </p:spPr>
      </p:pic>
      <p:sp>
        <p:nvSpPr>
          <p:cNvPr id="6" name="TextBox 5">
            <a:extLst>
              <a:ext uri="{FF2B5EF4-FFF2-40B4-BE49-F238E27FC236}">
                <a16:creationId xmlns:a16="http://schemas.microsoft.com/office/drawing/2014/main" id="{080151E2-5468-59EB-C512-45CD377BE31F}"/>
              </a:ext>
            </a:extLst>
          </p:cNvPr>
          <p:cNvSpPr txBox="1"/>
          <p:nvPr/>
        </p:nvSpPr>
        <p:spPr>
          <a:xfrm>
            <a:off x="2261527" y="1072273"/>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0 and 180?</a:t>
            </a:r>
          </a:p>
        </p:txBody>
      </p:sp>
      <p:grpSp>
        <p:nvGrpSpPr>
          <p:cNvPr id="19" name="Group 18">
            <a:extLst>
              <a:ext uri="{FF2B5EF4-FFF2-40B4-BE49-F238E27FC236}">
                <a16:creationId xmlns:a16="http://schemas.microsoft.com/office/drawing/2014/main" id="{A1CD6994-CE17-7670-F9F3-175C29A7BCD6}"/>
              </a:ext>
            </a:extLst>
          </p:cNvPr>
          <p:cNvGrpSpPr/>
          <p:nvPr/>
        </p:nvGrpSpPr>
        <p:grpSpPr>
          <a:xfrm>
            <a:off x="2741549" y="4120525"/>
            <a:ext cx="3090274" cy="2201310"/>
            <a:chOff x="2741549" y="4120525"/>
            <a:chExt cx="3090274" cy="2201310"/>
          </a:xfrm>
        </p:grpSpPr>
        <p:sp>
          <p:nvSpPr>
            <p:cNvPr id="12" name="Rectangle 11">
              <a:extLst>
                <a:ext uri="{FF2B5EF4-FFF2-40B4-BE49-F238E27FC236}">
                  <a16:creationId xmlns:a16="http://schemas.microsoft.com/office/drawing/2014/main" id="{7B2E2296-4E00-BADD-E2B3-46E966B750E8}"/>
                </a:ext>
              </a:extLst>
            </p:cNvPr>
            <p:cNvSpPr/>
            <p:nvPr/>
          </p:nvSpPr>
          <p:spPr>
            <a:xfrm>
              <a:off x="5070934"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4F726F40-FD85-0F60-7770-A1425CB681EE}"/>
                </a:ext>
              </a:extLst>
            </p:cNvPr>
            <p:cNvCxnSpPr>
              <a:cxnSpLocks/>
              <a:stCxn id="15" idx="0"/>
              <a:endCxn id="12" idx="1"/>
            </p:cNvCxnSpPr>
            <p:nvPr/>
          </p:nvCxnSpPr>
          <p:spPr>
            <a:xfrm flipV="1">
              <a:off x="3866195" y="4230006"/>
              <a:ext cx="1204739" cy="135316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B2CDD776-BE7B-A3FF-1F0C-03E6FEAE274D}"/>
                    </a:ext>
                  </a:extLst>
                </p:cNvPr>
                <p:cNvSpPr txBox="1"/>
                <p:nvPr/>
              </p:nvSpPr>
              <p:spPr>
                <a:xfrm>
                  <a:off x="2741549" y="5583171"/>
                  <a:ext cx="2249291" cy="738664"/>
                </a:xfrm>
                <a:prstGeom prst="rect">
                  <a:avLst/>
                </a:prstGeom>
                <a:noFill/>
              </p:spPr>
              <p:txBody>
                <a:bodyPr wrap="square" rtlCol="0">
                  <a:spAutoFit/>
                </a:bodyPr>
                <a:lstStyle/>
                <a:p>
                  <a:r>
                    <a:rPr lang="en-US" dirty="0">
                      <a:solidFill>
                        <a:srgbClr val="FF0000"/>
                      </a:solidFill>
                    </a:rPr>
                    <a:t>This servo is only able to do </a:t>
                  </a:r>
                  <a14:m>
                    <m:oMath xmlns:m="http://schemas.openxmlformats.org/officeDocument/2006/math">
                      <m:r>
                        <a:rPr lang="en-US" b="0" i="1" smtClean="0">
                          <a:solidFill>
                            <a:srgbClr val="FF0000"/>
                          </a:solidFill>
                          <a:latin typeface="Cambria Math" panose="02040503050406030204" pitchFamily="18" charset="0"/>
                        </a:rPr>
                        <m:t>90</m:t>
                      </m:r>
                      <m:r>
                        <a:rPr lang="en-US" b="0" i="1" smtClean="0">
                          <a:solidFill>
                            <a:srgbClr val="FF0000"/>
                          </a:solidFill>
                          <a:latin typeface="Cambria Math" panose="02040503050406030204" pitchFamily="18" charset="0"/>
                          <a:ea typeface="Cambria Math" panose="02040503050406030204" pitchFamily="18" charset="0"/>
                        </a:rPr>
                        <m:t>±40</m:t>
                      </m:r>
                    </m:oMath>
                  </a14:m>
                  <a:r>
                    <a:rPr lang="en-US" dirty="0">
                      <a:solidFill>
                        <a:srgbClr val="FF0000"/>
                      </a:solidFill>
                    </a:rPr>
                    <a:t> and not the full 0-180 degrees!</a:t>
                  </a:r>
                </a:p>
              </p:txBody>
            </p:sp>
          </mc:Choice>
          <mc:Fallback>
            <p:sp>
              <p:nvSpPr>
                <p:cNvPr id="15" name="TextBox 14">
                  <a:extLst>
                    <a:ext uri="{FF2B5EF4-FFF2-40B4-BE49-F238E27FC236}">
                      <a16:creationId xmlns:a16="http://schemas.microsoft.com/office/drawing/2014/main" id="{B2CDD776-BE7B-A3FF-1F0C-03E6FEAE274D}"/>
                    </a:ext>
                  </a:extLst>
                </p:cNvPr>
                <p:cNvSpPr txBox="1">
                  <a:spLocks noRot="1" noChangeAspect="1" noMove="1" noResize="1" noEditPoints="1" noAdjustHandles="1" noChangeArrowheads="1" noChangeShapeType="1" noTextEdit="1"/>
                </p:cNvSpPr>
                <p:nvPr/>
              </p:nvSpPr>
              <p:spPr>
                <a:xfrm>
                  <a:off x="2741549" y="5583171"/>
                  <a:ext cx="2249291" cy="738664"/>
                </a:xfrm>
                <a:prstGeom prst="rect">
                  <a:avLst/>
                </a:prstGeom>
                <a:blipFill>
                  <a:blip r:embed="rId6"/>
                  <a:stretch>
                    <a:fillRect l="-813" t="-1653" r="-2710" b="-7438"/>
                  </a:stretch>
                </a:blipFill>
              </p:spPr>
              <p:txBody>
                <a:bodyPr/>
                <a:lstStyle/>
                <a:p>
                  <a:r>
                    <a:rPr lang="en-US">
                      <a:noFill/>
                    </a:rPr>
                    <a:t> </a:t>
                  </a:r>
                </a:p>
              </p:txBody>
            </p:sp>
          </mc:Fallback>
        </mc:AlternateContent>
      </p:grpSp>
      <p:grpSp>
        <p:nvGrpSpPr>
          <p:cNvPr id="26" name="Group 25">
            <a:extLst>
              <a:ext uri="{FF2B5EF4-FFF2-40B4-BE49-F238E27FC236}">
                <a16:creationId xmlns:a16="http://schemas.microsoft.com/office/drawing/2014/main" id="{B7D867A8-40DB-3119-957E-3C252D3705ED}"/>
              </a:ext>
            </a:extLst>
          </p:cNvPr>
          <p:cNvGrpSpPr/>
          <p:nvPr/>
        </p:nvGrpSpPr>
        <p:grpSpPr>
          <a:xfrm>
            <a:off x="7442015" y="2743200"/>
            <a:ext cx="4451861" cy="420491"/>
            <a:chOff x="7442015" y="2743200"/>
            <a:chExt cx="4451861" cy="420491"/>
          </a:xfrm>
        </p:grpSpPr>
        <p:sp>
          <p:nvSpPr>
            <p:cNvPr id="7" name="Rectangle 6">
              <a:extLst>
                <a:ext uri="{FF2B5EF4-FFF2-40B4-BE49-F238E27FC236}">
                  <a16:creationId xmlns:a16="http://schemas.microsoft.com/office/drawing/2014/main" id="{9C48EE39-25E4-5E5D-7372-980F645C58B2}"/>
                </a:ext>
              </a:extLst>
            </p:cNvPr>
            <p:cNvSpPr/>
            <p:nvPr/>
          </p:nvSpPr>
          <p:spPr>
            <a:xfrm>
              <a:off x="7442015" y="2743200"/>
              <a:ext cx="1787625" cy="42049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CFD9FFC3-D2D1-73C6-12CE-D746596878EA}"/>
                </a:ext>
              </a:extLst>
            </p:cNvPr>
            <p:cNvCxnSpPr>
              <a:cxnSpLocks/>
              <a:stCxn id="23" idx="1"/>
              <a:endCxn id="7" idx="3"/>
            </p:cNvCxnSpPr>
            <p:nvPr/>
          </p:nvCxnSpPr>
          <p:spPr>
            <a:xfrm flipH="1" flipV="1">
              <a:off x="9229640" y="2953446"/>
              <a:ext cx="414945" cy="247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F27CABB7-D3CE-43E1-D1EC-F400EAC47629}"/>
                </a:ext>
              </a:extLst>
            </p:cNvPr>
            <p:cNvSpPr txBox="1"/>
            <p:nvPr/>
          </p:nvSpPr>
          <p:spPr>
            <a:xfrm>
              <a:off x="9644585" y="2802035"/>
              <a:ext cx="2249291" cy="307777"/>
            </a:xfrm>
            <a:prstGeom prst="rect">
              <a:avLst/>
            </a:prstGeom>
            <a:noFill/>
          </p:spPr>
          <p:txBody>
            <a:bodyPr wrap="square" rtlCol="0">
              <a:spAutoFit/>
            </a:bodyPr>
            <a:lstStyle/>
            <a:p>
              <a:r>
                <a:rPr lang="en-US" dirty="0">
                  <a:solidFill>
                    <a:srgbClr val="FF0000"/>
                  </a:solidFill>
                </a:rPr>
                <a:t>Represents 90 degrees</a:t>
              </a:r>
            </a:p>
          </p:txBody>
        </p:sp>
      </p:grpSp>
      <p:sp>
        <p:nvSpPr>
          <p:cNvPr id="27" name="TextBox 26">
            <a:extLst>
              <a:ext uri="{FF2B5EF4-FFF2-40B4-BE49-F238E27FC236}">
                <a16:creationId xmlns:a16="http://schemas.microsoft.com/office/drawing/2014/main" id="{7DB16435-59F5-904F-914A-D6A5CF0D7B7C}"/>
              </a:ext>
            </a:extLst>
          </p:cNvPr>
          <p:cNvSpPr txBox="1"/>
          <p:nvPr/>
        </p:nvSpPr>
        <p:spPr>
          <a:xfrm>
            <a:off x="2261527" y="1070767"/>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50 and 130?</a:t>
            </a:r>
          </a:p>
        </p:txBody>
      </p:sp>
      <p:grpSp>
        <p:nvGrpSpPr>
          <p:cNvPr id="35" name="Group 34">
            <a:extLst>
              <a:ext uri="{FF2B5EF4-FFF2-40B4-BE49-F238E27FC236}">
                <a16:creationId xmlns:a16="http://schemas.microsoft.com/office/drawing/2014/main" id="{0230C203-153D-A033-82F8-24EE7E966D68}"/>
              </a:ext>
            </a:extLst>
          </p:cNvPr>
          <p:cNvGrpSpPr/>
          <p:nvPr/>
        </p:nvGrpSpPr>
        <p:grpSpPr>
          <a:xfrm>
            <a:off x="8029365" y="3968396"/>
            <a:ext cx="3987987" cy="523220"/>
            <a:chOff x="8029365" y="3968396"/>
            <a:chExt cx="3987987" cy="523220"/>
          </a:xfrm>
        </p:grpSpPr>
        <p:sp>
          <p:nvSpPr>
            <p:cNvPr id="8" name="Rectangle 7">
              <a:extLst>
                <a:ext uri="{FF2B5EF4-FFF2-40B4-BE49-F238E27FC236}">
                  <a16:creationId xmlns:a16="http://schemas.microsoft.com/office/drawing/2014/main" id="{8F84CAA7-F74E-DFE5-EE84-3E25E37506CF}"/>
                </a:ext>
              </a:extLst>
            </p:cNvPr>
            <p:cNvSpPr/>
            <p:nvPr/>
          </p:nvSpPr>
          <p:spPr>
            <a:xfrm>
              <a:off x="8029365"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07D6D338-2097-B031-932B-7D97C4F5E21A}"/>
                </a:ext>
              </a:extLst>
            </p:cNvPr>
            <p:cNvCxnSpPr>
              <a:cxnSpLocks/>
              <a:stCxn id="29" idx="1"/>
              <a:endCxn id="8" idx="3"/>
            </p:cNvCxnSpPr>
            <p:nvPr/>
          </p:nvCxnSpPr>
          <p:spPr>
            <a:xfrm flipH="1">
              <a:off x="8790254" y="4230006"/>
              <a:ext cx="97780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52306EC-2381-5A41-F7FF-6E50026493BD}"/>
                </a:ext>
              </a:extLst>
            </p:cNvPr>
            <p:cNvSpPr txBox="1"/>
            <p:nvPr/>
          </p:nvSpPr>
          <p:spPr>
            <a:xfrm>
              <a:off x="9768061" y="3968396"/>
              <a:ext cx="2249291" cy="523220"/>
            </a:xfrm>
            <a:prstGeom prst="rect">
              <a:avLst/>
            </a:prstGeom>
            <a:noFill/>
          </p:spPr>
          <p:txBody>
            <a:bodyPr wrap="square" rtlCol="0">
              <a:spAutoFit/>
            </a:bodyPr>
            <a:lstStyle/>
            <a:p>
              <a:r>
                <a:rPr lang="en-US" dirty="0">
                  <a:solidFill>
                    <a:srgbClr val="FF0000"/>
                  </a:solidFill>
                </a:rPr>
                <a:t>50 = 1100 us = 5.5%</a:t>
              </a:r>
            </a:p>
            <a:p>
              <a:r>
                <a:rPr lang="en-US" dirty="0">
                  <a:solidFill>
                    <a:srgbClr val="FF0000"/>
                  </a:solidFill>
                </a:rPr>
                <a:t>130 = 1900 us = 9.5%</a:t>
              </a:r>
            </a:p>
          </p:txBody>
        </p:sp>
      </p:grpSp>
      <p:grpSp>
        <p:nvGrpSpPr>
          <p:cNvPr id="42" name="Group 41">
            <a:extLst>
              <a:ext uri="{FF2B5EF4-FFF2-40B4-BE49-F238E27FC236}">
                <a16:creationId xmlns:a16="http://schemas.microsoft.com/office/drawing/2014/main" id="{E7C6C6C0-630A-713D-D05C-2B83C6B37537}"/>
              </a:ext>
            </a:extLst>
          </p:cNvPr>
          <p:cNvGrpSpPr/>
          <p:nvPr/>
        </p:nvGrpSpPr>
        <p:grpSpPr>
          <a:xfrm>
            <a:off x="8519939" y="4339488"/>
            <a:ext cx="2607316" cy="1281237"/>
            <a:chOff x="8519939" y="4339488"/>
            <a:chExt cx="2607316" cy="1281237"/>
          </a:xfrm>
        </p:grpSpPr>
        <p:sp>
          <p:nvSpPr>
            <p:cNvPr id="9" name="Rectangle 8">
              <a:extLst>
                <a:ext uri="{FF2B5EF4-FFF2-40B4-BE49-F238E27FC236}">
                  <a16:creationId xmlns:a16="http://schemas.microsoft.com/office/drawing/2014/main" id="{020D7A97-9E08-BA0E-1F50-37E8B4E13306}"/>
                </a:ext>
              </a:extLst>
            </p:cNvPr>
            <p:cNvSpPr/>
            <p:nvPr/>
          </p:nvSpPr>
          <p:spPr>
            <a:xfrm>
              <a:off x="8786153" y="4339488"/>
              <a:ext cx="760889" cy="2816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1794CEEC-38CE-CF47-78B8-56DAD5258CD1}"/>
                </a:ext>
              </a:extLst>
            </p:cNvPr>
            <p:cNvCxnSpPr>
              <a:cxnSpLocks/>
              <a:stCxn id="38" idx="0"/>
              <a:endCxn id="9" idx="2"/>
            </p:cNvCxnSpPr>
            <p:nvPr/>
          </p:nvCxnSpPr>
          <p:spPr>
            <a:xfrm flipH="1" flipV="1">
              <a:off x="9166598" y="4621164"/>
              <a:ext cx="656999" cy="47634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EA537A61-ECD0-CD61-AB05-6AA212E631CB}"/>
                </a:ext>
              </a:extLst>
            </p:cNvPr>
            <p:cNvSpPr txBox="1"/>
            <p:nvPr/>
          </p:nvSpPr>
          <p:spPr>
            <a:xfrm>
              <a:off x="8519939" y="5097505"/>
              <a:ext cx="2607316" cy="523220"/>
            </a:xfrm>
            <a:prstGeom prst="rect">
              <a:avLst/>
            </a:prstGeom>
            <a:noFill/>
          </p:spPr>
          <p:txBody>
            <a:bodyPr wrap="square" rtlCol="0">
              <a:spAutoFit/>
            </a:bodyPr>
            <a:lstStyle/>
            <a:p>
              <a:r>
                <a:rPr lang="en-US" dirty="0">
                  <a:solidFill>
                    <a:srgbClr val="FF0000"/>
                  </a:solidFill>
                </a:rPr>
                <a:t>Tells you which direction is clockwise ( 130 degrees )</a:t>
              </a:r>
            </a:p>
          </p:txBody>
        </p:sp>
      </p:grpSp>
    </p:spTree>
    <p:extLst>
      <p:ext uri="{BB962C8B-B14F-4D97-AF65-F5344CB8AC3E}">
        <p14:creationId xmlns:p14="http://schemas.microsoft.com/office/powerpoint/2010/main" val="679970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1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7" grpId="0"/>
    </p:bldLst>
  </p:timing>
</p:sld>
</file>

<file path=ppt/slides/slide7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1003</TotalTime>
  <Words>4475</Words>
  <Application>Microsoft Office PowerPoint</Application>
  <PresentationFormat>Widescreen</PresentationFormat>
  <Paragraphs>596</Paragraphs>
  <Slides>71</Slides>
  <Notes>71</Notes>
  <HiddenSlides>0</HiddenSlides>
  <MMClips>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71</vt:i4>
      </vt:variant>
    </vt:vector>
  </HeadingPairs>
  <TitlesOfParts>
    <vt:vector size="76"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345</cp:revision>
  <dcterms:created xsi:type="dcterms:W3CDTF">2019-01-14T22:06:33Z</dcterms:created>
  <dcterms:modified xsi:type="dcterms:W3CDTF">2026-02-07T09:33:57Z</dcterms:modified>
</cp:coreProperties>
</file>