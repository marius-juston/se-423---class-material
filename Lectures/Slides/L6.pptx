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71"/>
  </p:notesMasterIdLst>
  <p:sldIdLst>
    <p:sldId id="256" r:id="rId2"/>
    <p:sldId id="310" r:id="rId3"/>
    <p:sldId id="257" r:id="rId4"/>
    <p:sldId id="258" r:id="rId5"/>
    <p:sldId id="311" r:id="rId6"/>
    <p:sldId id="313" r:id="rId7"/>
    <p:sldId id="314" r:id="rId8"/>
    <p:sldId id="316" r:id="rId9"/>
    <p:sldId id="318" r:id="rId10"/>
    <p:sldId id="315" r:id="rId11"/>
    <p:sldId id="320" r:id="rId12"/>
    <p:sldId id="319" r:id="rId13"/>
    <p:sldId id="312" r:id="rId14"/>
    <p:sldId id="323" r:id="rId15"/>
    <p:sldId id="324" r:id="rId16"/>
    <p:sldId id="325" r:id="rId17"/>
    <p:sldId id="326" r:id="rId18"/>
    <p:sldId id="321" r:id="rId19"/>
    <p:sldId id="327" r:id="rId20"/>
    <p:sldId id="329" r:id="rId21"/>
    <p:sldId id="328" r:id="rId22"/>
    <p:sldId id="341" r:id="rId23"/>
    <p:sldId id="353" r:id="rId24"/>
    <p:sldId id="342" r:id="rId25"/>
    <p:sldId id="344" r:id="rId26"/>
    <p:sldId id="347" r:id="rId27"/>
    <p:sldId id="348" r:id="rId28"/>
    <p:sldId id="345" r:id="rId29"/>
    <p:sldId id="349" r:id="rId30"/>
    <p:sldId id="350" r:id="rId31"/>
    <p:sldId id="354" r:id="rId32"/>
    <p:sldId id="356" r:id="rId33"/>
    <p:sldId id="357" r:id="rId34"/>
    <p:sldId id="336" r:id="rId35"/>
    <p:sldId id="337" r:id="rId36"/>
    <p:sldId id="339" r:id="rId37"/>
    <p:sldId id="346" r:id="rId38"/>
    <p:sldId id="330" r:id="rId39"/>
    <p:sldId id="352" r:id="rId40"/>
    <p:sldId id="358" r:id="rId41"/>
    <p:sldId id="360" r:id="rId42"/>
    <p:sldId id="361" r:id="rId43"/>
    <p:sldId id="362" r:id="rId44"/>
    <p:sldId id="363" r:id="rId45"/>
    <p:sldId id="364" r:id="rId46"/>
    <p:sldId id="365" r:id="rId47"/>
    <p:sldId id="366" r:id="rId48"/>
    <p:sldId id="367" r:id="rId49"/>
    <p:sldId id="368" r:id="rId50"/>
    <p:sldId id="369" r:id="rId51"/>
    <p:sldId id="351" r:id="rId52"/>
    <p:sldId id="331" r:id="rId53"/>
    <p:sldId id="332" r:id="rId54"/>
    <p:sldId id="333" r:id="rId55"/>
    <p:sldId id="334" r:id="rId56"/>
    <p:sldId id="335" r:id="rId57"/>
    <p:sldId id="259" r:id="rId58"/>
    <p:sldId id="260" r:id="rId59"/>
    <p:sldId id="261" r:id="rId60"/>
    <p:sldId id="262" r:id="rId61"/>
    <p:sldId id="263" r:id="rId62"/>
    <p:sldId id="264" r:id="rId63"/>
    <p:sldId id="265" r:id="rId64"/>
    <p:sldId id="266" r:id="rId65"/>
    <p:sldId id="267" r:id="rId66"/>
    <p:sldId id="268" r:id="rId67"/>
    <p:sldId id="269" r:id="rId68"/>
    <p:sldId id="271" r:id="rId69"/>
    <p:sldId id="270" r:id="rId70"/>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72"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0388" autoAdjust="0"/>
  </p:normalViewPr>
  <p:slideViewPr>
    <p:cSldViewPr snapToGrid="0">
      <p:cViewPr varScale="1">
        <p:scale>
          <a:sx n="144" d="100"/>
          <a:sy n="144" d="100"/>
        </p:scale>
        <p:origin x="894" y="11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viewProps" Target="viewProp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8" Type="http://schemas.openxmlformats.org/officeDocument/2006/relationships/slide" Target="slides/slide7.xml"/><Relationship Id="rId51" Type="http://schemas.openxmlformats.org/officeDocument/2006/relationships/slide" Target="slides/slide50.xml"/><Relationship Id="rId72" Type="http://customschemas.google.com/relationships/presentationmetadata" Target="metadata"/><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tableStyles" Target="tableStyles.xml"/><Relationship Id="rId7" Type="http://schemas.openxmlformats.org/officeDocument/2006/relationships/slide" Target="slides/slide6.xml"/><Relationship Id="rId71"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11560CD-FFDE-70C6-6183-A453F3E9816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57E4E91-ED9F-DE16-BEB6-F07455961AC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063A7F12-DA54-6672-271A-7F884E56D74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9994344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p:cNvGrpSpPr/>
        <p:nvPr/>
      </p:nvGrpSpPr>
      <p:grpSpPr>
        <a:xfrm>
          <a:off x="0" y="0"/>
          <a:ext cx="0" cy="0"/>
          <a:chOff x="0" y="0"/>
          <a:chExt cx="0" cy="0"/>
        </a:xfrm>
      </p:grpSpPr>
      <p:sp>
        <p:nvSpPr>
          <p:cNvPr id="86" name="Google Shape;86;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4939FE2-9982-6513-8AE2-E7AB5B723F1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8AF4933-71B1-FAA3-0317-227D7A2A568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F2D7440-60CC-B22F-0FA1-0A65840FB35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69427518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630E4B3-6A97-9DD2-90CE-7D44EFA43F9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64285DA-872D-2945-9BF2-F355C50DD11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D76530A-1B0F-7242-84C3-8F754C885E3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1749578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B346909-97D3-6083-8379-EDC1BD4A261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3CAFF19-DF70-A91F-7918-E5D237286B4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AE4DA5A-AD55-344D-87C5-110E18AED8B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5511631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B06B8AF-430C-C6E6-4063-7E87CC8C09A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68ED08C-AF77-54A7-592E-0169A0B4900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2D49FAD-3CDB-FA83-DA4F-CE14934094B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4931340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C7B6A95-A4A5-1D5B-CB38-3824DAD14BE3}"/>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C64A4D9E-15D8-E41B-E397-E4A0A47B2F0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37A43E3D-B35E-39F9-8CEC-6FA708310F7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316911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F2CCB68-1B95-879B-3DD5-B813581853C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2009411-6539-2C85-585C-01D87CF65DE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6E7ED08-3F9C-C89D-A856-D63ED7A3A5F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5822962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F44CCE0-B0FB-EC47-D70D-F45B25C1FE8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D4BBB88-E417-7B4B-FF12-C5F1F368A2B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5C5D0CA-20C3-9795-438D-F9B08E500E7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3143789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2D9F338-228F-28E7-B0B9-0F1795771CA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26713FA-3ED7-477C-9D03-D53FA821806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CF9338F-1807-ADD8-400E-2A5D7D1D38C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4684370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176BD63-DE5F-58F1-801A-80F72A1B8C8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1ECA20E-A21F-6373-06D3-D62CFC5BFB4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11A3295-CF3D-C714-567B-08C8CE9A419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6652378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043C70C-2673-731E-5063-998308B710C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8B21352-99DC-71D9-D5D8-73CD7F673FD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6140669-098F-11C8-BCD3-DD7B5EBE52B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5591822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7450B53-A8F5-9712-ED0B-0A53B240B40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37A4377-4B3B-EAF0-9A9B-AABD4759F6B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0F34715-4F90-B133-EF3E-51DBA8D6CCC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7790927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E82ACDF8-5473-7433-9308-E6D9DB5B5874}"/>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2C05F31A-18BB-FE9C-2D22-38958029072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D7C0B9D9-44F5-59F4-FAD7-AE176A5FB78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5239579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B73894E-EA74-1955-8AAA-FB73ED7DA5A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DFDCEFB-7087-BE10-3BED-731EB161EB1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1B8D359-69DD-8FA4-FF21-8B7CF9FB27E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4217556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1BBF410-F97E-4541-10DB-E401C4ECF29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D291D2C-9232-B076-DB2E-94E2BB2B114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8C68878-4E12-D62C-1B63-2453D9104BE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285833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939739A-BA3E-0EA5-46A7-A6988490B24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DA461D4-90B0-51A2-D44A-1010F1C50E3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1C9784F-92EA-E5A3-C07E-CA0C2A299A7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28239011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ACD94F4-0947-21A0-21DC-D3554A20A7F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7BC8D85-EF8C-0DA6-5A83-1298D99F285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2C76DE6-115A-6ABF-F260-E38C6A90B0A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5856663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A26F9D6-8DF7-0CB0-2A87-04F67DB692D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9E94C35-3634-0BB3-F2E0-9A04B900DAF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774A44A-421B-B165-D22B-E816A645C37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6996815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0DCC765C-8591-A660-3F97-9516500DCF2B}"/>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6028E7CA-3AF0-69B2-3ECA-78A3FE089E5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78C65FC9-11B8-80B7-688A-0F94D55494C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1147413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985983D-8D57-B75A-5F1B-5F8CF41367A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F6BFC8B-437B-7EAA-7145-F52C0753AD8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342051F-E676-7108-9132-FDEA4EFA22B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017158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D68CEC7-776F-A080-676C-1458E97BC76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3C15642-90E6-8640-5CF4-E7FD12E9670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9B4EF2E-548F-414D-DE27-51B0AE7F416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75417900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F2D1B6B-CB8E-EEEC-BCE6-6354011C126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303FEF1-FC0B-107D-5119-2F615DEF0E2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6DB3852-C3D5-E29F-4920-28CF61FDE70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6008931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AB5C517-0DCE-F465-35E8-CB1BC0F17ED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1C13D48-4709-01CA-D434-D953FDDE0AC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87A850F-748E-C10F-B547-1EE31918C54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4313933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9462063-56A1-F443-AF86-7FD2FDA8446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688A281-F9A2-C1F9-9308-EB800B61490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13B42D6-7644-FDB3-D580-8310EF11B38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1702595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6FD8C3-1827-C884-243A-8903AE4FC5B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7E5E6FD-23E3-549E-7318-F70FD7B5728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3E52F4E-AC5B-8EE9-5D29-1FABEFD5707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3627930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0F1B6AD-151E-B889-B034-B398DCE0DAB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FDD3E68-D7FB-E6A4-142C-95518852D4C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61A05C8-9155-B7D0-AB27-8EE9FC3EAA9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1460895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E897AC8-2B47-6D18-6993-D8C46A060FD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EE4B153-ECD0-1226-7C14-6A052506EB8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1B62B67-1A69-276E-86A2-3C9B7CE7139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81614024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5E2229B-F581-7E2E-E53C-2C80C7D1B75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000DF05-720B-5ECD-223A-2059A410B93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CEC9E94-0D75-2C89-E0B6-6D5D4C017BA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0971960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906544D-9CAB-F481-2513-EEC9017A60F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B57219C-C010-18EE-E9BF-95A8D0C0397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B5B6F70-2C54-6909-D170-8FCB2D847FD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39814114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E4B3795-02FF-0AD6-4767-F6A8B020C0D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140B4F0-F823-3D69-C29C-7B96E7DE218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85A2D11-4370-C931-0944-CC3B5B84312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14592989"/>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F6B5372-0759-CA76-948A-5DEF3D94B4C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6974B07-7183-96B8-19DF-4B3088E5683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ADB4937-C7CF-75BE-4D86-9755F6477BA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1061914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82584BC-2A57-D156-F04E-04C6052FA36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CB1110A-EA3A-F862-EA40-5A112A93C60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54C8876-0B14-5AD6-EC32-FDCEA02B783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0058117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7846D17-73D7-5D99-0EF1-55C43C18058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B09C704-EE08-A348-9FFF-72D5CA1C584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5C94509-6D44-569D-2D94-0455B50B9E4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3321815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08DD1E6-79B3-9A93-2270-743AE9DD173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10EC9FC-38F9-2A8E-D59F-50B3E13D8D6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B2B33E3-2005-CDE5-22CD-E9B4F976FC4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155722145"/>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B225F85C-48F9-3FD6-E224-2E22AABA8C05}"/>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D2633DDF-C182-83D1-BA2C-C704BE82FB0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E8AB940E-C142-4C16-3EA5-9F2FFFCF585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0371573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C4293F6-0447-8CD8-015A-68618109722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25A287C-01E7-DA21-D33F-66027B86002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E33463A-CB51-5082-FCC8-F0EFF7DDCD1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118534045"/>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2D709C4-4C3D-62B1-BC0D-4BE3717AA47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0A9BE4C-CF27-BED5-F31F-63D36E3B118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1C723D6-9F32-D55C-29EF-90EAF14BFEF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663691108"/>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8EDAA3F-B398-D04C-036B-A856C9BDD27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22E5D0D-29F2-069D-8C35-EE6A9B64128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48B3675-F80F-D648-03DC-08272480F6F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18941344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5752107-7391-DB17-ED79-C30D4A6A6A9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4358447-DE16-B0A6-18C9-4BF24E27FF3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717C792-CF47-6F83-E20C-2EE66BD379A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07775184"/>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B1440F0-AAB3-9C47-F1FF-4238584E9C7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866D522-46A9-5DC4-429B-92649685AF2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97B8C61-0EA5-4035-2598-7836E87D569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02511375"/>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6FAC977-F05B-DBAD-6508-62DB02E1CB1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2850503-DBE9-ADD1-8943-D63D1E81E87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AFEEC26-932D-4C7B-EA83-CBFFCFB85CC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7317225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C8BDE9C-6FA4-46A9-4D1B-8D2C0964034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C3659EF-F386-53AD-8DEF-D7A395FCBCC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F8E25B5-7A7C-4648-5595-E6E9FDFCAF2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2567755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913C4D1-EF4B-6658-8CBD-693F8E08B50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3A13553-F799-3B82-0939-6B7E43D4A95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BBD1039-CEE2-42D2-A193-760880A86A8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4644049"/>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0CA18368-54CC-4CBC-523A-375BED23B214}"/>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F61C95C1-C50E-C96A-EF17-19C27954308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83DF2326-9F66-1F24-4958-1F9B3E10152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88102714"/>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C365A59-DF9B-6544-708E-C3CAE73B60E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F5D2EFC-E632-9DE8-AFBC-86FF34F2EC2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2691C48-2E95-B23C-15EC-5DA6FE2FF27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960569439"/>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590D3CA-4583-3022-75DF-CE524C2A2D7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DFD6693-37DC-3F47-C791-AD126FC04B1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6AADE5E-C165-01E8-20AA-50453CC1EC7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466300090"/>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C6BAC96-DA34-2065-E41B-1C5BDA7D4E1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D8402DF-3352-6773-799F-D689AF4EEBB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4ADBD5D-B8D1-3877-6C9D-E5B328837F3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38630564"/>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F56B25F8-6A12-E288-571C-214444991FBC}"/>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73BF7E24-B75E-8476-0E3D-5F7E6C5476B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C6F21C10-EBE5-E88E-2CC8-3EF78A421F2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12072780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82273E5C-284F-9D29-809E-BD942C44768D}"/>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38BCD7D5-71C5-B90C-4F69-466EEAC1FC3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FF80F812-93AD-E08F-A6AA-05F642D3A17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91437535"/>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C4AC50B-6EBA-FA69-323E-6CA9E8DED23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4B451BE-1608-9B4A-5BF7-BD0FE07079C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370DB3F-16BC-7887-813A-08FFBB451BA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72178345"/>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DE3E7C6-9C41-1915-C0BB-FEFCDD67B33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E29F96E-8BFC-1BD5-6C92-A60AD6054C6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2C625B8-997C-F5A5-3E4C-7D512089318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48854112"/>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769DCAC-4789-5962-3DD6-18D0D6891EF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FD8088E-8026-83F0-3B65-EB9507409FC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A5BBB26-5EA4-0B4D-E94D-3610D66ADE5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9506354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1E321A1-39BC-15EB-5188-A435B672CB6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40601A4-AA79-D4CB-5024-D378ECDFE2C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E5CE31F-5B91-E217-E961-40C7A3BDCDA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81994298"/>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p:cNvGrpSpPr/>
        <p:nvPr/>
      </p:nvGrpSpPr>
      <p:grpSpPr>
        <a:xfrm>
          <a:off x="0" y="0"/>
          <a:ext cx="0" cy="0"/>
          <a:chOff x="0" y="0"/>
          <a:chExt cx="0" cy="0"/>
        </a:xfrm>
      </p:grpSpPr>
      <p:sp>
        <p:nvSpPr>
          <p:cNvPr id="115" name="Google Shape;115;p29: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7"/>
        <p:cNvGrpSpPr/>
        <p:nvPr/>
      </p:nvGrpSpPr>
      <p:grpSpPr>
        <a:xfrm>
          <a:off x="0" y="0"/>
          <a:ext cx="0" cy="0"/>
          <a:chOff x="0" y="0"/>
          <a:chExt cx="0" cy="0"/>
        </a:xfrm>
      </p:grpSpPr>
      <p:sp>
        <p:nvSpPr>
          <p:cNvPr id="128" name="Google Shape;128;p3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29" name="Google Shape;129;p3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1"/>
        <p:cNvGrpSpPr/>
        <p:nvPr/>
      </p:nvGrpSpPr>
      <p:grpSpPr>
        <a:xfrm>
          <a:off x="0" y="0"/>
          <a:ext cx="0" cy="0"/>
          <a:chOff x="0" y="0"/>
          <a:chExt cx="0" cy="0"/>
        </a:xfrm>
      </p:grpSpPr>
      <p:sp>
        <p:nvSpPr>
          <p:cNvPr id="142" name="Google Shape;142;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43" name="Google Shape;143;p3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8"/>
        <p:cNvGrpSpPr/>
        <p:nvPr/>
      </p:nvGrpSpPr>
      <p:grpSpPr>
        <a:xfrm>
          <a:off x="0" y="0"/>
          <a:ext cx="0" cy="0"/>
          <a:chOff x="0" y="0"/>
          <a:chExt cx="0" cy="0"/>
        </a:xfrm>
      </p:grpSpPr>
      <p:sp>
        <p:nvSpPr>
          <p:cNvPr id="159" name="Google Shape;159;p7: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60" name="Google Shape;160;p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5"/>
        <p:cNvGrpSpPr/>
        <p:nvPr/>
      </p:nvGrpSpPr>
      <p:grpSpPr>
        <a:xfrm>
          <a:off x="0" y="0"/>
          <a:ext cx="0" cy="0"/>
          <a:chOff x="0" y="0"/>
          <a:chExt cx="0" cy="0"/>
        </a:xfrm>
      </p:grpSpPr>
      <p:sp>
        <p:nvSpPr>
          <p:cNvPr id="176" name="Google Shape;176;p3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77" name="Google Shape;177;p3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0"/>
        <p:cNvGrpSpPr/>
        <p:nvPr/>
      </p:nvGrpSpPr>
      <p:grpSpPr>
        <a:xfrm>
          <a:off x="0" y="0"/>
          <a:ext cx="0" cy="0"/>
          <a:chOff x="0" y="0"/>
          <a:chExt cx="0" cy="0"/>
        </a:xfrm>
      </p:grpSpPr>
      <p:sp>
        <p:nvSpPr>
          <p:cNvPr id="191" name="Google Shape;191;p3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92" name="Google Shape;192;p3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5"/>
        <p:cNvGrpSpPr/>
        <p:nvPr/>
      </p:nvGrpSpPr>
      <p:grpSpPr>
        <a:xfrm>
          <a:off x="0" y="0"/>
          <a:ext cx="0" cy="0"/>
          <a:chOff x="0" y="0"/>
          <a:chExt cx="0" cy="0"/>
        </a:xfrm>
      </p:grpSpPr>
      <p:sp>
        <p:nvSpPr>
          <p:cNvPr id="206" name="Google Shape;206;p8: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07" name="Google Shape;207;p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0"/>
        <p:cNvGrpSpPr/>
        <p:nvPr/>
      </p:nvGrpSpPr>
      <p:grpSpPr>
        <a:xfrm>
          <a:off x="0" y="0"/>
          <a:ext cx="0" cy="0"/>
          <a:chOff x="0" y="0"/>
          <a:chExt cx="0" cy="0"/>
        </a:xfrm>
      </p:grpSpPr>
      <p:sp>
        <p:nvSpPr>
          <p:cNvPr id="221" name="Google Shape;221;p3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22" name="Google Shape;222;p3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p3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5" name="Google Shape;235;p3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6"/>
        <p:cNvGrpSpPr/>
        <p:nvPr/>
      </p:nvGrpSpPr>
      <p:grpSpPr>
        <a:xfrm>
          <a:off x="0" y="0"/>
          <a:ext cx="0" cy="0"/>
          <a:chOff x="0" y="0"/>
          <a:chExt cx="0" cy="0"/>
        </a:xfrm>
      </p:grpSpPr>
      <p:sp>
        <p:nvSpPr>
          <p:cNvPr id="247" name="Google Shape;247;p3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48" name="Google Shape;248;p3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p:cNvGrpSpPr/>
        <p:nvPr/>
      </p:nvGrpSpPr>
      <p:grpSpPr>
        <a:xfrm>
          <a:off x="0" y="0"/>
          <a:ext cx="0" cy="0"/>
          <a:chOff x="0" y="0"/>
          <a:chExt cx="0" cy="0"/>
        </a:xfrm>
      </p:grpSpPr>
      <p:sp>
        <p:nvSpPr>
          <p:cNvPr id="261" name="Google Shape;261;p3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882365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hyperlink" Target="https://marius-juston.github.io/SE-423---Class-Material/Homeworks/HW2.pdf"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hyperlink" Target="https://marius-juston.github.io/SE-423---Class-Material/Homeworks/LabVIEW2.pdf"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hyperlink" Target="https://www.akm.com/global/en/products/rotation-angle-sensor/tutorial/optical-encoder/" TargetMode="External"/><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hyperlink" Target="https://www.akm.com/global/en/products/rotation-angle-sensor/tutorial/type-mechanism-2/" TargetMode="External"/></Relationships>
</file>

<file path=ppt/slides/_rels/slide9.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hyperlink" Target="https://www.akm.com/global/en/products/rotation-angle-sensor/tutorial/type-mechanism-2/" TargetMode="External"/><Relationship Id="rId4" Type="http://schemas.openxmlformats.org/officeDocument/2006/relationships/image" Target="../media/image10.gif"/></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image" Target="../media/image11.gif"/><Relationship Id="rId4" Type="http://schemas.openxmlformats.org/officeDocument/2006/relationships/hyperlink" Target="https://www.akm.com/global/en/products/rotation-angle-sensor/tutorial/type-mechanism-2/" TargetMode="Externa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hyperlink" Target="https://www.akm.com/global/en/products/rotation-angle-sensor/tutorial/type-mechanism-2/" TargetMode="External"/><Relationship Id="rId5" Type="http://schemas.openxmlformats.org/officeDocument/2006/relationships/image" Target="../media/image11.gif"/><Relationship Id="rId4" Type="http://schemas.openxmlformats.org/officeDocument/2006/relationships/image" Target="../media/image10.gif"/></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 Id="rId5" Type="http://schemas.openxmlformats.org/officeDocument/2006/relationships/image" Target="../media/image13.svg"/><Relationship Id="rId4" Type="http://schemas.openxmlformats.org/officeDocument/2006/relationships/image" Target="../media/image12.png"/></Relationships>
</file>

<file path=ppt/slides/_rels/slide1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18.sv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image" Target="../media/image16.svg"/><Relationship Id="rId4" Type="http://schemas.openxmlformats.org/officeDocument/2006/relationships/image" Target="../media/image15.png"/></Relationships>
</file>

<file path=ppt/slides/_rels/slide16.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hyperlink" Target="https://www.analog.com/media/en/training-seminars/tutorials/mt-029.pdf" TargetMode="External"/><Relationship Id="rId5" Type="http://schemas.openxmlformats.org/officeDocument/2006/relationships/image" Target="../media/image20.svg"/><Relationship Id="rId4" Type="http://schemas.openxmlformats.org/officeDocument/2006/relationships/image" Target="../media/image19.png"/></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9.xml"/><Relationship Id="rId1" Type="http://schemas.openxmlformats.org/officeDocument/2006/relationships/slideLayout" Target="../slideLayouts/slideLayout2.xml"/><Relationship Id="rId5" Type="http://schemas.openxmlformats.org/officeDocument/2006/relationships/image" Target="../media/image21.png"/><Relationship Id="rId4" Type="http://schemas.openxmlformats.org/officeDocument/2006/relationships/hyperlink" Target="https://www.akm.com/global/en/products/rotation-angle-sensor/tutorial/type-mechanism-2/" TargetMode="External"/></Relationships>
</file>

<file path=ppt/slides/_rels/slide20.xml.rels><?xml version="1.0" encoding="UTF-8" standalone="yes"?>
<Relationships xmlns="http://schemas.openxmlformats.org/package/2006/relationships"><Relationship Id="rId3" Type="http://schemas.openxmlformats.org/officeDocument/2006/relationships/notesSlide" Target="../notesSlides/notesSlide20.xml"/><Relationship Id="rId2" Type="http://schemas.openxmlformats.org/officeDocument/2006/relationships/slideLayout" Target="../slideLayouts/slideLayout2.xml"/><Relationship Id="rId1" Type="http://schemas.openxmlformats.org/officeDocument/2006/relationships/video" Target="https://www.youtube.com/embed/VKmMoT5hpVY?feature=oembed" TargetMode="External"/><Relationship Id="rId6" Type="http://schemas.openxmlformats.org/officeDocument/2006/relationships/hyperlink" Target="https://youtu.be/VKmMoT5hpVY" TargetMode="External"/><Relationship Id="rId5" Type="http://schemas.openxmlformats.org/officeDocument/2006/relationships/image" Target="../media/image22.jpeg"/><Relationship Id="rId4" Type="http://schemas.openxmlformats.org/officeDocument/2006/relationships/image" Target="../media/image3.png"/></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1.xml"/><Relationship Id="rId1" Type="http://schemas.openxmlformats.org/officeDocument/2006/relationships/slideLayout" Target="../slideLayouts/slideLayout2.xml"/><Relationship Id="rId5" Type="http://schemas.openxmlformats.org/officeDocument/2006/relationships/image" Target="../media/image23.gif"/><Relationship Id="rId4" Type="http://schemas.openxmlformats.org/officeDocument/2006/relationships/hyperlink" Target="https://www.akm.com/global/en/products/rotation-angle-sensor/tutorial/type-mechanism-2/" TargetMode="External"/></Relationships>
</file>

<file path=ppt/slides/_rels/slide22.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2.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2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4.xml"/><Relationship Id="rId1" Type="http://schemas.openxmlformats.org/officeDocument/2006/relationships/slideLayout" Target="../slideLayouts/slideLayout2.xml"/><Relationship Id="rId5" Type="http://schemas.openxmlformats.org/officeDocument/2006/relationships/image" Target="../media/image25.svg"/><Relationship Id="rId4" Type="http://schemas.openxmlformats.org/officeDocument/2006/relationships/image" Target="../media/image24.png"/></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7.xml"/><Relationship Id="rId1" Type="http://schemas.openxmlformats.org/officeDocument/2006/relationships/slideLayout" Target="../slideLayouts/slideLayout2.xml"/><Relationship Id="rId5" Type="http://schemas.openxmlformats.org/officeDocument/2006/relationships/image" Target="../media/image27.svg"/><Relationship Id="rId4" Type="http://schemas.openxmlformats.org/officeDocument/2006/relationships/image" Target="../media/image26.png"/></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9.xml"/><Relationship Id="rId1" Type="http://schemas.openxmlformats.org/officeDocument/2006/relationships/slideLayout" Target="../slideLayouts/slideLayout2.xml"/><Relationship Id="rId5" Type="http://schemas.openxmlformats.org/officeDocument/2006/relationships/image" Target="../media/image29.svg"/><Relationship Id="rId4" Type="http://schemas.openxmlformats.org/officeDocument/2006/relationships/image" Target="../media/image28.png"/></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1.xml"/><Relationship Id="rId1" Type="http://schemas.openxmlformats.org/officeDocument/2006/relationships/slideLayout" Target="../slideLayouts/slideLayout2.xml"/><Relationship Id="rId5" Type="http://schemas.openxmlformats.org/officeDocument/2006/relationships/image" Target="../media/image16.svg"/><Relationship Id="rId4" Type="http://schemas.openxmlformats.org/officeDocument/2006/relationships/image" Target="../media/image15.png"/></Relationships>
</file>

<file path=ppt/slides/_rels/slide3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3.xml"/><Relationship Id="rId1" Type="http://schemas.openxmlformats.org/officeDocument/2006/relationships/slideLayout" Target="../slideLayouts/slideLayout2.xml"/><Relationship Id="rId5" Type="http://schemas.openxmlformats.org/officeDocument/2006/relationships/image" Target="../media/image31.svg"/><Relationship Id="rId4" Type="http://schemas.openxmlformats.org/officeDocument/2006/relationships/image" Target="../media/image30.png"/></Relationships>
</file>

<file path=ppt/slides/_rels/slide34.xml.rels><?xml version="1.0" encoding="UTF-8" standalone="yes"?>
<Relationships xmlns="http://schemas.openxmlformats.org/package/2006/relationships"><Relationship Id="rId3" Type="http://schemas.openxmlformats.org/officeDocument/2006/relationships/image" Target="../media/image260.png"/><Relationship Id="rId2" Type="http://schemas.openxmlformats.org/officeDocument/2006/relationships/notesSlide" Target="../notesSlides/notesSlide3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5.xml"/><Relationship Id="rId1" Type="http://schemas.openxmlformats.org/officeDocument/2006/relationships/slideLayout" Target="../slideLayouts/slideLayout2.xml"/><Relationship Id="rId5" Type="http://schemas.openxmlformats.org/officeDocument/2006/relationships/image" Target="../media/image33.svg"/><Relationship Id="rId4" Type="http://schemas.openxmlformats.org/officeDocument/2006/relationships/image" Target="../media/image32.png"/></Relationships>
</file>

<file path=ppt/slides/_rels/slide36.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36.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38.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3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9.xml"/><Relationship Id="rId1" Type="http://schemas.openxmlformats.org/officeDocument/2006/relationships/slideLayout" Target="../slideLayouts/slideLayout2.xml"/><Relationship Id="rId4" Type="http://schemas.openxmlformats.org/officeDocument/2006/relationships/image" Target="../media/image35.png"/></Relationships>
</file>

<file path=ppt/slides/_rels/slide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0.xml"/><Relationship Id="rId1" Type="http://schemas.openxmlformats.org/officeDocument/2006/relationships/slideLayout" Target="../slideLayouts/slideLayout2.xml"/><Relationship Id="rId5" Type="http://schemas.openxmlformats.org/officeDocument/2006/relationships/image" Target="../media/image37.svg"/><Relationship Id="rId4" Type="http://schemas.openxmlformats.org/officeDocument/2006/relationships/image" Target="../media/image36.png"/></Relationships>
</file>

<file path=ppt/slides/_rels/slide41.xml.rels><?xml version="1.0" encoding="UTF-8" standalone="yes"?>
<Relationships xmlns="http://schemas.openxmlformats.org/package/2006/relationships"><Relationship Id="rId3" Type="http://schemas.openxmlformats.org/officeDocument/2006/relationships/hyperlink" Target="https://www.rls.si/eng/fileuploader/download/download/?d=1&amp;id=88&amp;title=Data+sheet%3A+AM4096+%E2%80%93+12+bit+angular+magnetic+encoder+IC+%28AM4096D02%29" TargetMode="External"/><Relationship Id="rId2" Type="http://schemas.openxmlformats.org/officeDocument/2006/relationships/notesSlide" Target="../notesSlides/notesSlide41.xml"/><Relationship Id="rId1" Type="http://schemas.openxmlformats.org/officeDocument/2006/relationships/slideLayout" Target="../slideLayouts/slideLayout2.xml"/><Relationship Id="rId6" Type="http://schemas.openxmlformats.org/officeDocument/2006/relationships/image" Target="../media/image39.svg"/><Relationship Id="rId5" Type="http://schemas.openxmlformats.org/officeDocument/2006/relationships/image" Target="../media/image38.png"/><Relationship Id="rId4" Type="http://schemas.openxmlformats.org/officeDocument/2006/relationships/image" Target="../media/image3.png"/></Relationships>
</file>

<file path=ppt/slides/_rels/slide4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44.xml"/><Relationship Id="rId1" Type="http://schemas.openxmlformats.org/officeDocument/2006/relationships/slideLayout" Target="../slideLayouts/slideLayout2.xml"/><Relationship Id="rId6" Type="http://schemas.openxmlformats.org/officeDocument/2006/relationships/image" Target="../media/image39.svg"/><Relationship Id="rId5" Type="http://schemas.openxmlformats.org/officeDocument/2006/relationships/image" Target="../media/image38.png"/><Relationship Id="rId4" Type="http://schemas.openxmlformats.org/officeDocument/2006/relationships/image" Target="../media/image3.png"/></Relationships>
</file>

<file path=ppt/slides/_rels/slide4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7.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4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9.xml"/><Relationship Id="rId1" Type="http://schemas.openxmlformats.org/officeDocument/2006/relationships/slideLayout" Target="../slideLayouts/slideLayout2.xml"/><Relationship Id="rId5" Type="http://schemas.openxmlformats.org/officeDocument/2006/relationships/image" Target="../media/image42.svg"/><Relationship Id="rId4" Type="http://schemas.openxmlformats.org/officeDocument/2006/relationships/image" Target="../media/image41.png"/></Relationships>
</file>

<file path=ppt/slides/_rels/slide5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51.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52.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52.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3.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5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4.xml.rels><?xml version="1.0" encoding="UTF-8" standalone="yes"?>
<Relationships xmlns="http://schemas.openxmlformats.org/package/2006/relationships"><Relationship Id="rId3" Type="http://schemas.openxmlformats.org/officeDocument/2006/relationships/notesSlide" Target="../notesSlides/notesSlide54.xml"/><Relationship Id="rId2" Type="http://schemas.openxmlformats.org/officeDocument/2006/relationships/slideLayout" Target="../slideLayouts/slideLayout2.xml"/><Relationship Id="rId1" Type="http://schemas.openxmlformats.org/officeDocument/2006/relationships/video" Target="https://www.youtube.com/embed/IO5RBfq_5Uo?feature=oembed" TargetMode="External"/><Relationship Id="rId5" Type="http://schemas.openxmlformats.org/officeDocument/2006/relationships/image" Target="../media/image43.jpeg"/><Relationship Id="rId4" Type="http://schemas.openxmlformats.org/officeDocument/2006/relationships/image" Target="../media/image3.png"/></Relationships>
</file>

<file path=ppt/slides/_rels/slide55.xml.rels><?xml version="1.0" encoding="UTF-8" standalone="yes"?>
<Relationships xmlns="http://schemas.openxmlformats.org/package/2006/relationships"><Relationship Id="rId3" Type="http://schemas.openxmlformats.org/officeDocument/2006/relationships/image" Target="../media/image350.png"/><Relationship Id="rId2" Type="http://schemas.openxmlformats.org/officeDocument/2006/relationships/notesSlide" Target="../notesSlides/notesSlide55.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6.xml"/><Relationship Id="rId1" Type="http://schemas.openxmlformats.org/officeDocument/2006/relationships/slideLayout" Target="../slideLayouts/slideLayout2.xml"/><Relationship Id="rId5" Type="http://schemas.openxmlformats.org/officeDocument/2006/relationships/image" Target="../media/image45.svg"/><Relationship Id="rId4" Type="http://schemas.openxmlformats.org/officeDocument/2006/relationships/image" Target="../media/image44.png"/></Relationships>
</file>

<file path=ppt/slides/_rels/slide5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8.xml"/><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9.xml"/><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1.xml"/><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2.xml"/><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4.xml"/><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5.xml"/><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3" Type="http://schemas.openxmlformats.org/officeDocument/2006/relationships/image" Target="../media/image46.jpg"/><Relationship Id="rId2" Type="http://schemas.openxmlformats.org/officeDocument/2006/relationships/notesSlide" Target="../notesSlides/notesSlide66.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67.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67.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68.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68.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69.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69.xml"/><Relationship Id="rId1" Type="http://schemas.openxmlformats.org/officeDocument/2006/relationships/slideLayout" Target="../slideLayouts/slideLayout1.xml"/><Relationship Id="rId4" Type="http://schemas.openxmlformats.org/officeDocument/2006/relationships/image" Target="../media/image47.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txBox="1"/>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spcBef>
                <a:spcPts val="600"/>
              </a:spcBef>
              <a:buSzPts val="4500"/>
            </a:pPr>
            <a:r>
              <a:rPr lang="en-US" sz="4500" b="1" dirty="0">
                <a:solidFill>
                  <a:schemeClr val="lt1"/>
                </a:solidFill>
              </a:rPr>
              <a:t>SE 423: Introduction to Mechatronics</a:t>
            </a:r>
            <a:endParaRPr lang="en-US" sz="4500" dirty="0"/>
          </a:p>
          <a:p>
            <a:pPr marL="0" marR="0" lvl="0" indent="0" algn="ctr" rtl="0">
              <a:lnSpc>
                <a:spcPct val="100000"/>
              </a:lnSpc>
              <a:spcBef>
                <a:spcPts val="600"/>
              </a:spcBef>
              <a:spcAft>
                <a:spcPts val="0"/>
              </a:spcAft>
              <a:buNone/>
            </a:pPr>
            <a:r>
              <a:rPr lang="en-US" sz="2500" dirty="0">
                <a:solidFill>
                  <a:schemeClr val="lt1"/>
                </a:solidFill>
              </a:rPr>
              <a:t>Lecture 6: Encoders &amp; PWM</a:t>
            </a:r>
            <a:endParaRPr dirty="0"/>
          </a:p>
          <a:p>
            <a:pPr marL="0" marR="0" lvl="0" indent="0" algn="ctr" rtl="0">
              <a:lnSpc>
                <a:spcPct val="100000"/>
              </a:lnSpc>
              <a:spcBef>
                <a:spcPts val="600"/>
              </a:spcBef>
              <a:spcAft>
                <a:spcPts val="0"/>
              </a:spcAft>
              <a:buNone/>
            </a:pPr>
            <a:endParaRPr sz="1800" b="0" i="0" u="none" strike="noStrike" cap="none" dirty="0">
              <a:solidFill>
                <a:schemeClr val="lt1"/>
              </a:solidFill>
              <a:latin typeface="Arial"/>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rial"/>
                <a:ea typeface="Arial"/>
                <a:cs typeface="Arial"/>
                <a:sym typeface="Arial"/>
              </a:rPr>
              <a:t>Marius Juston</a:t>
            </a:r>
            <a:endParaRPr sz="1800" b="0" i="0" u="none" strike="noStrike" cap="none" dirty="0">
              <a:solidFill>
                <a:srgbClr val="000000"/>
              </a:solidFill>
              <a:latin typeface="Arial"/>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dirty="0">
                <a:solidFill>
                  <a:schemeClr val="lt1"/>
                </a:solidFill>
                <a:latin typeface="Arial"/>
                <a:ea typeface="Arial"/>
                <a:cs typeface="Arial"/>
                <a:sym typeface="Arial"/>
              </a:rPr>
              <a:t>Monday, February 9</a:t>
            </a:r>
            <a:r>
              <a:rPr lang="en-US" sz="1800" b="0" i="0" u="none" strike="noStrike" cap="none" baseline="30000" dirty="0">
                <a:solidFill>
                  <a:schemeClr val="lt1"/>
                </a:solidFill>
                <a:latin typeface="Arial"/>
                <a:ea typeface="Arial"/>
                <a:cs typeface="Arial"/>
                <a:sym typeface="Arial"/>
              </a:rPr>
              <a:t>th</a:t>
            </a:r>
            <a:r>
              <a:rPr lang="en-US" sz="1800" b="0" i="0" u="none" strike="noStrike" cap="none" dirty="0">
                <a:solidFill>
                  <a:schemeClr val="lt1"/>
                </a:solidFill>
                <a:latin typeface="Arial"/>
                <a:ea typeface="Arial"/>
                <a:cs typeface="Arial"/>
                <a:sym typeface="Arial"/>
              </a:rPr>
              <a:t>, 2026</a:t>
            </a:r>
            <a:endParaRPr sz="1800" b="0" i="0" u="none" strike="noStrike" cap="none" dirty="0">
              <a:solidFill>
                <a:schemeClr val="lt1"/>
              </a:solidFill>
              <a:latin typeface="Arial"/>
              <a:ea typeface="Arial"/>
              <a:cs typeface="Arial"/>
              <a:sym typeface="Arial"/>
            </a:endParaRPr>
          </a:p>
        </p:txBody>
      </p:sp>
      <p:pic>
        <p:nvPicPr>
          <p:cNvPr id="84" name="Google Shape;84;p26"/>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81D3E48-EB5B-86EE-C4D9-54116487B2D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BCC2F8C-3A4A-AD98-3682-D9499379E41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E84B36"/>
                </a:solidFill>
                <a:latin typeface="Arial"/>
                <a:ea typeface="Arial"/>
                <a:cs typeface="Arial"/>
                <a:sym typeface="Arial"/>
              </a:rPr>
              <a:t>Office Hours:</a:t>
            </a:r>
            <a:endParaRPr lang="en-US" sz="2600" b="1" dirty="0">
              <a:solidFill>
                <a:srgbClr val="E84B36"/>
              </a:solidFill>
              <a:latin typeface="Arial"/>
              <a:ea typeface="Arial"/>
              <a:cs typeface="Arial"/>
              <a:sym typeface="Arial"/>
            </a:endParaRPr>
          </a:p>
          <a:p>
            <a:pPr marL="285750" indent="-285750">
              <a:lnSpc>
                <a:spcPct val="100000"/>
              </a:lnSpc>
              <a:spcBef>
                <a:spcPts val="0"/>
              </a:spcBef>
              <a:buSzPts val="3000"/>
            </a:pPr>
            <a:r>
              <a:rPr lang="en-US" sz="1800" b="1" dirty="0">
                <a:solidFill>
                  <a:schemeClr val="dk1"/>
                </a:solidFill>
                <a:latin typeface="Arial"/>
                <a:ea typeface="Arial"/>
                <a:cs typeface="Arial"/>
                <a:sym typeface="Arial"/>
              </a:rPr>
              <a:t>Monday: </a:t>
            </a:r>
            <a:r>
              <a:rPr lang="en-US" sz="1800" dirty="0">
                <a:solidFill>
                  <a:schemeClr val="dk1"/>
                </a:solidFill>
                <a:latin typeface="Arial"/>
                <a:ea typeface="Arial"/>
                <a:cs typeface="Arial"/>
                <a:sym typeface="Arial"/>
              </a:rPr>
              <a:t>4-6 PM</a:t>
            </a:r>
            <a:r>
              <a:rPr lang="en-US" sz="1800" b="1" dirty="0">
                <a:solidFill>
                  <a:schemeClr val="dk1"/>
                </a:solidFill>
                <a:latin typeface="Arial"/>
                <a:ea typeface="Arial"/>
                <a:cs typeface="Arial"/>
                <a:sym typeface="Arial"/>
              </a:rPr>
              <a:t>, </a:t>
            </a:r>
            <a:r>
              <a:rPr lang="en-US" sz="1800" dirty="0">
                <a:solidFill>
                  <a:schemeClr val="dk1"/>
                </a:solidFill>
                <a:latin typeface="Arial"/>
                <a:ea typeface="Arial"/>
                <a:cs typeface="Arial"/>
                <a:sym typeface="Arial"/>
              </a:rPr>
              <a:t>Neel</a:t>
            </a:r>
          </a:p>
          <a:p>
            <a:pPr marL="285750" indent="-285750">
              <a:lnSpc>
                <a:spcPct val="100000"/>
              </a:lnSpc>
              <a:spcBef>
                <a:spcPts val="0"/>
              </a:spcBef>
              <a:buSzPts val="3000"/>
            </a:pPr>
            <a:r>
              <a:rPr lang="en-US" sz="1800" b="1" dirty="0">
                <a:latin typeface="Arial"/>
                <a:ea typeface="Arial"/>
                <a:cs typeface="Arial"/>
                <a:sym typeface="Arial"/>
              </a:rPr>
              <a:t>Tuesday: </a:t>
            </a:r>
            <a:r>
              <a:rPr lang="en-US" sz="1800" dirty="0">
                <a:latin typeface="Arial"/>
                <a:ea typeface="Arial"/>
                <a:cs typeface="Arial"/>
                <a:sym typeface="Arial"/>
              </a:rPr>
              <a:t>11-1 PM</a:t>
            </a:r>
            <a:r>
              <a:rPr lang="en-US" sz="1800" b="1" dirty="0">
                <a:latin typeface="Arial"/>
                <a:ea typeface="Arial"/>
                <a:cs typeface="Arial"/>
                <a:sym typeface="Arial"/>
              </a:rPr>
              <a:t>, </a:t>
            </a:r>
            <a:r>
              <a:rPr lang="en-US" sz="1800" dirty="0">
                <a:latin typeface="Arial"/>
                <a:ea typeface="Arial"/>
                <a:cs typeface="Arial"/>
                <a:sym typeface="Arial"/>
              </a:rPr>
              <a:t>Lakshmi</a:t>
            </a:r>
          </a:p>
          <a:p>
            <a:pPr marL="285750" indent="-285750">
              <a:lnSpc>
                <a:spcPct val="100000"/>
              </a:lnSpc>
              <a:spcBef>
                <a:spcPts val="0"/>
              </a:spcBef>
              <a:buSzPts val="3000"/>
            </a:pPr>
            <a:r>
              <a:rPr lang="en-US" sz="1800" b="1" dirty="0">
                <a:solidFill>
                  <a:schemeClr val="dk1"/>
                </a:solidFill>
                <a:latin typeface="Arial"/>
                <a:ea typeface="Arial"/>
                <a:cs typeface="Arial"/>
                <a:sym typeface="Arial"/>
              </a:rPr>
              <a:t>Tuesday: </a:t>
            </a:r>
            <a:r>
              <a:rPr lang="en-US" sz="1800" dirty="0">
                <a:latin typeface="Arial"/>
                <a:ea typeface="Arial"/>
                <a:cs typeface="Arial"/>
                <a:sym typeface="Arial"/>
              </a:rPr>
              <a:t>1-3 PM</a:t>
            </a:r>
            <a:r>
              <a:rPr lang="en-US" sz="1800" b="1" dirty="0">
                <a:latin typeface="Arial"/>
                <a:ea typeface="Arial"/>
                <a:cs typeface="Arial"/>
                <a:sym typeface="Arial"/>
              </a:rPr>
              <a:t>, </a:t>
            </a:r>
            <a:r>
              <a:rPr lang="en-US" sz="1800" dirty="0">
                <a:latin typeface="Arial"/>
                <a:ea typeface="Arial"/>
                <a:cs typeface="Arial"/>
                <a:sym typeface="Arial"/>
              </a:rPr>
              <a:t>Samuel</a:t>
            </a:r>
          </a:p>
          <a:p>
            <a:pPr marL="285750" indent="-285750">
              <a:lnSpc>
                <a:spcPct val="100000"/>
              </a:lnSpc>
              <a:spcBef>
                <a:spcPts val="0"/>
              </a:spcBef>
              <a:buSzPts val="3000"/>
            </a:pPr>
            <a:r>
              <a:rPr lang="en-US" sz="1800" b="1" dirty="0">
                <a:solidFill>
                  <a:schemeClr val="dk1"/>
                </a:solidFill>
                <a:latin typeface="Arial"/>
                <a:ea typeface="Arial"/>
                <a:cs typeface="Arial"/>
                <a:sym typeface="Arial"/>
              </a:rPr>
              <a:t>Tuesday: </a:t>
            </a:r>
            <a:r>
              <a:rPr lang="en-US" sz="1800" dirty="0">
                <a:solidFill>
                  <a:schemeClr val="dk1"/>
                </a:solidFill>
                <a:latin typeface="Arial"/>
                <a:ea typeface="Arial"/>
                <a:cs typeface="Arial"/>
                <a:sym typeface="Arial"/>
              </a:rPr>
              <a:t>2-5 PM</a:t>
            </a:r>
            <a:r>
              <a:rPr lang="en-US" sz="1800" b="1" dirty="0">
                <a:solidFill>
                  <a:schemeClr val="dk1"/>
                </a:solidFill>
                <a:latin typeface="Arial"/>
                <a:ea typeface="Arial"/>
                <a:cs typeface="Arial"/>
                <a:sym typeface="Arial"/>
              </a:rPr>
              <a:t>, </a:t>
            </a:r>
            <a:r>
              <a:rPr lang="en-US" sz="1800" dirty="0">
                <a:solidFill>
                  <a:schemeClr val="dk1"/>
                </a:solidFill>
                <a:latin typeface="Arial"/>
                <a:ea typeface="Arial"/>
                <a:cs typeface="Arial"/>
                <a:sym typeface="Arial"/>
              </a:rPr>
              <a:t>Dan &amp; Marius</a:t>
            </a:r>
          </a:p>
          <a:p>
            <a:pPr marL="285750" indent="-285750">
              <a:lnSpc>
                <a:spcPct val="100000"/>
              </a:lnSpc>
              <a:spcBef>
                <a:spcPts val="0"/>
              </a:spcBef>
              <a:buSzPts val="3000"/>
            </a:pPr>
            <a:endParaRPr lang="en-US" sz="1800" b="1" dirty="0">
              <a:latin typeface="Arial"/>
              <a:ea typeface="Arial"/>
              <a:cs typeface="Arial"/>
              <a:sym typeface="Arial"/>
            </a:endParaRPr>
          </a:p>
          <a:p>
            <a:pPr marL="0" indent="0">
              <a:lnSpc>
                <a:spcPct val="100000"/>
              </a:lnSpc>
              <a:spcBef>
                <a:spcPts val="0"/>
              </a:spcBef>
              <a:buSzPts val="3000"/>
              <a:buNone/>
            </a:pPr>
            <a:r>
              <a:rPr lang="en-US" sz="1800" b="1" dirty="0">
                <a:solidFill>
                  <a:srgbClr val="E84B36"/>
                </a:solidFill>
                <a:latin typeface="Arial"/>
                <a:ea typeface="Arial"/>
                <a:cs typeface="Arial"/>
                <a:sym typeface="Arial"/>
              </a:rPr>
              <a:t>Lab: </a:t>
            </a:r>
            <a:r>
              <a:rPr lang="en-US" sz="1800" dirty="0">
                <a:latin typeface="Arial"/>
                <a:ea typeface="Arial"/>
                <a:cs typeface="Arial"/>
                <a:sym typeface="Arial"/>
              </a:rPr>
              <a:t>Starting Lab 3 this week. This a 3-week lab!</a:t>
            </a:r>
            <a:endParaRPr lang="en-US" sz="1800" dirty="0">
              <a:solidFill>
                <a:srgbClr val="E84B36"/>
              </a:solidFill>
              <a:latin typeface="Arial"/>
              <a:ea typeface="Arial"/>
              <a:cs typeface="Arial"/>
              <a:sym typeface="Arial"/>
            </a:endParaRPr>
          </a:p>
          <a:p>
            <a:pPr marL="0" indent="0">
              <a:lnSpc>
                <a:spcPct val="100000"/>
              </a:lnSpc>
              <a:spcBef>
                <a:spcPts val="0"/>
              </a:spcBef>
              <a:buSzPts val="3000"/>
              <a:buNone/>
            </a:pPr>
            <a:endParaRPr lang="en-US" sz="1800" b="1" dirty="0">
              <a:solidFill>
                <a:srgbClr val="E84B36"/>
              </a:solidFill>
              <a:latin typeface="Arial"/>
              <a:ea typeface="Arial"/>
              <a:cs typeface="Arial"/>
              <a:sym typeface="Arial"/>
            </a:endParaRPr>
          </a:p>
          <a:p>
            <a:pPr marL="0" indent="0">
              <a:lnSpc>
                <a:spcPct val="100000"/>
              </a:lnSpc>
              <a:spcBef>
                <a:spcPts val="0"/>
              </a:spcBef>
              <a:buSzPts val="3000"/>
              <a:buNone/>
            </a:pPr>
            <a:r>
              <a:rPr lang="en-US" sz="1800" b="1" dirty="0" err="1">
                <a:solidFill>
                  <a:srgbClr val="E84B36"/>
                </a:solidFill>
                <a:latin typeface="Arial"/>
                <a:ea typeface="Arial"/>
                <a:cs typeface="Arial"/>
                <a:sym typeface="Arial"/>
              </a:rPr>
              <a:t>Homeworks</a:t>
            </a:r>
            <a:r>
              <a:rPr lang="en-US" sz="1800" b="1" dirty="0">
                <a:solidFill>
                  <a:srgbClr val="E84B36"/>
                </a:solidFill>
                <a:latin typeface="Arial"/>
                <a:ea typeface="Arial"/>
                <a:cs typeface="Arial"/>
                <a:sym typeface="Arial"/>
              </a:rPr>
              <a:t>:</a:t>
            </a:r>
          </a:p>
          <a:p>
            <a:pPr marL="285750" indent="-285750">
              <a:lnSpc>
                <a:spcPct val="100000"/>
              </a:lnSpc>
              <a:spcBef>
                <a:spcPts val="0"/>
              </a:spcBef>
              <a:buSzPts val="3000"/>
            </a:pPr>
            <a:r>
              <a:rPr lang="en-US" sz="1800" dirty="0">
                <a:latin typeface="Arial"/>
                <a:ea typeface="Arial"/>
                <a:cs typeface="Arial"/>
                <a:sym typeface="Arial"/>
              </a:rPr>
              <a:t>Check-offs for </a:t>
            </a:r>
            <a:r>
              <a:rPr lang="en-US" sz="1800" dirty="0">
                <a:latin typeface="Arial"/>
                <a:ea typeface="Arial"/>
                <a:cs typeface="Arial"/>
                <a:sym typeface="Arial"/>
                <a:hlinkClick r:id="rId3"/>
              </a:rPr>
              <a:t>homework 2</a:t>
            </a:r>
            <a:r>
              <a:rPr lang="en-US" sz="1800" dirty="0">
                <a:latin typeface="Arial"/>
                <a:ea typeface="Arial"/>
                <a:cs typeface="Arial"/>
                <a:sym typeface="Arial"/>
              </a:rPr>
              <a:t> Ex 1 &amp; 2 are due </a:t>
            </a:r>
            <a:r>
              <a:rPr lang="en-US" sz="1800" b="1" dirty="0">
                <a:latin typeface="Arial"/>
                <a:ea typeface="Arial"/>
                <a:cs typeface="Arial"/>
                <a:sym typeface="Arial"/>
              </a:rPr>
              <a:t>February 17, 5PM (The end of office hours)</a:t>
            </a:r>
          </a:p>
          <a:p>
            <a:pPr marL="285750" indent="-285750">
              <a:lnSpc>
                <a:spcPct val="100000"/>
              </a:lnSpc>
              <a:spcBef>
                <a:spcPts val="0"/>
              </a:spcBef>
              <a:buSzPts val="3000"/>
            </a:pPr>
            <a:r>
              <a:rPr lang="en-US" sz="1800" dirty="0">
                <a:latin typeface="Arial"/>
                <a:ea typeface="Arial"/>
                <a:cs typeface="Arial"/>
                <a:sym typeface="Arial"/>
              </a:rPr>
              <a:t>Check-offs for </a:t>
            </a:r>
            <a:r>
              <a:rPr lang="en-US" sz="1800" dirty="0">
                <a:latin typeface="Arial"/>
                <a:ea typeface="Arial"/>
                <a:cs typeface="Arial"/>
                <a:sym typeface="Arial"/>
                <a:hlinkClick r:id="rId3"/>
              </a:rPr>
              <a:t>homework 2</a:t>
            </a:r>
            <a:r>
              <a:rPr lang="en-US" sz="1800" dirty="0">
                <a:latin typeface="Arial"/>
                <a:ea typeface="Arial"/>
                <a:cs typeface="Arial"/>
                <a:sym typeface="Arial"/>
              </a:rPr>
              <a:t> Ex 3 &amp; 4 are due </a:t>
            </a:r>
            <a:r>
              <a:rPr lang="en-US" sz="1800" b="1" dirty="0">
                <a:latin typeface="Arial"/>
                <a:ea typeface="Arial"/>
                <a:cs typeface="Arial"/>
                <a:sym typeface="Arial"/>
              </a:rPr>
              <a:t>February 24, 5PM (The end of office hours)</a:t>
            </a:r>
            <a:endParaRPr lang="en-US" sz="1800" dirty="0">
              <a:latin typeface="Arial"/>
              <a:ea typeface="Arial"/>
              <a:cs typeface="Arial"/>
              <a:sym typeface="Arial"/>
            </a:endParaRPr>
          </a:p>
          <a:p>
            <a:pPr marL="285750" indent="-285750">
              <a:lnSpc>
                <a:spcPct val="100000"/>
              </a:lnSpc>
              <a:spcBef>
                <a:spcPts val="0"/>
              </a:spcBef>
              <a:buSzPts val="3000"/>
            </a:pPr>
            <a:r>
              <a:rPr lang="en-US" sz="1800" dirty="0">
                <a:latin typeface="Arial"/>
                <a:ea typeface="Arial"/>
                <a:cs typeface="Arial"/>
                <a:sym typeface="Arial"/>
              </a:rPr>
              <a:t>Answers and code submissions for homework 2 are due </a:t>
            </a:r>
            <a:r>
              <a:rPr lang="en-US" sz="1800" b="1" dirty="0">
                <a:latin typeface="Arial"/>
                <a:ea typeface="Arial"/>
                <a:cs typeface="Arial"/>
                <a:sym typeface="Arial"/>
              </a:rPr>
              <a:t>February 17, 9AM</a:t>
            </a:r>
          </a:p>
          <a:p>
            <a:pPr marL="285750" indent="-285750">
              <a:lnSpc>
                <a:spcPct val="100000"/>
              </a:lnSpc>
              <a:spcBef>
                <a:spcPts val="0"/>
              </a:spcBef>
              <a:buSzPts val="3000"/>
            </a:pPr>
            <a:endParaRPr lang="en-US" sz="1800" dirty="0">
              <a:latin typeface="Arial"/>
              <a:ea typeface="Arial"/>
              <a:cs typeface="Arial"/>
              <a:sym typeface="Arial"/>
            </a:endParaRPr>
          </a:p>
          <a:p>
            <a:pPr marL="0" indent="0">
              <a:lnSpc>
                <a:spcPct val="100000"/>
              </a:lnSpc>
              <a:spcBef>
                <a:spcPts val="0"/>
              </a:spcBef>
              <a:buSzPts val="3000"/>
              <a:buNone/>
            </a:pPr>
            <a:r>
              <a:rPr lang="en-US" sz="1800" b="1" dirty="0">
                <a:solidFill>
                  <a:srgbClr val="E84B36"/>
                </a:solidFill>
                <a:latin typeface="Arial"/>
                <a:ea typeface="Arial"/>
                <a:cs typeface="Arial"/>
                <a:sym typeface="Arial"/>
              </a:rPr>
              <a:t>LabVIEW:</a:t>
            </a:r>
          </a:p>
          <a:p>
            <a:pPr marL="285750" indent="-285750">
              <a:lnSpc>
                <a:spcPct val="100000"/>
              </a:lnSpc>
              <a:spcBef>
                <a:spcPts val="0"/>
              </a:spcBef>
              <a:buSzPts val="3000"/>
            </a:pPr>
            <a:r>
              <a:rPr lang="en-US" sz="1800" dirty="0">
                <a:latin typeface="Arial"/>
                <a:ea typeface="Arial"/>
                <a:cs typeface="Arial"/>
                <a:sym typeface="Arial"/>
              </a:rPr>
              <a:t>All check-offs for </a:t>
            </a:r>
            <a:r>
              <a:rPr lang="en-US" sz="1800" dirty="0">
                <a:latin typeface="Arial"/>
                <a:ea typeface="Arial"/>
                <a:cs typeface="Arial"/>
                <a:sym typeface="Arial"/>
                <a:hlinkClick r:id="rId4"/>
              </a:rPr>
              <a:t>LabVIEW 2</a:t>
            </a:r>
            <a:r>
              <a:rPr lang="en-US" sz="1800" dirty="0">
                <a:latin typeface="Arial"/>
                <a:ea typeface="Arial"/>
                <a:cs typeface="Arial"/>
                <a:sym typeface="Arial"/>
              </a:rPr>
              <a:t> are due </a:t>
            </a:r>
            <a:r>
              <a:rPr lang="en-US" sz="1800" b="1" dirty="0">
                <a:latin typeface="Arial"/>
                <a:ea typeface="Arial"/>
                <a:cs typeface="Arial"/>
                <a:sym typeface="Arial"/>
              </a:rPr>
              <a:t>February 26, 5PM</a:t>
            </a:r>
          </a:p>
          <a:p>
            <a:pPr marL="285750" indent="-285750">
              <a:lnSpc>
                <a:spcPct val="100000"/>
              </a:lnSpc>
              <a:spcBef>
                <a:spcPts val="0"/>
              </a:spcBef>
              <a:buSzPts val="3000"/>
            </a:pPr>
            <a:endParaRPr lang="en-US" sz="1800" b="1" dirty="0">
              <a:latin typeface="Arial"/>
              <a:ea typeface="Arial"/>
              <a:cs typeface="Arial"/>
              <a:sym typeface="Arial"/>
            </a:endParaRPr>
          </a:p>
        </p:txBody>
      </p:sp>
      <p:sp>
        <p:nvSpPr>
          <p:cNvPr id="119" name="Google Shape;119;p29">
            <a:extLst>
              <a:ext uri="{FF2B5EF4-FFF2-40B4-BE49-F238E27FC236}">
                <a16:creationId xmlns:a16="http://schemas.microsoft.com/office/drawing/2014/main" id="{19848B8C-9075-59EA-79FA-AF5B8BFAF8D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AE21486-AEEC-E367-96A5-81B49AD32D6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Reminders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8CCE647-4D9B-354D-A2E9-718CA28CD750}"/>
              </a:ext>
            </a:extLst>
          </p:cNvPr>
          <p:cNvPicPr preferRelativeResize="0"/>
          <p:nvPr/>
        </p:nvPicPr>
        <p:blipFill rotWithShape="1">
          <a:blip r:embed="rId5">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AC87A64-580A-4863-38B3-4D1504C83F5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3649EAB-2DB3-2DA4-9AD9-5D94AEE695E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41F8E2C-2780-2776-E8ED-542B082247F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D628D6E-10A9-03E9-659C-F8F2D0023C6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BEB3CD3-0F72-FD08-8FA5-00AD37965F2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79584103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p:cNvGrpSpPr/>
        <p:nvPr/>
      </p:nvGrpSpPr>
      <p:grpSpPr>
        <a:xfrm>
          <a:off x="0" y="0"/>
          <a:ext cx="0" cy="0"/>
          <a:chOff x="0" y="0"/>
          <a:chExt cx="0" cy="0"/>
        </a:xfrm>
      </p:grpSpPr>
      <p:sp>
        <p:nvSpPr>
          <p:cNvPr id="89" name="Google Shape;89;p27"/>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rial"/>
                <a:ea typeface="Arial"/>
                <a:cs typeface="Arial"/>
                <a:sym typeface="Arial"/>
              </a:rPr>
              <a:t>Questions?</a:t>
            </a:r>
            <a:endParaRPr sz="1400" b="0" i="0" u="none" strike="noStrike" cap="none" dirty="0">
              <a:solidFill>
                <a:srgbClr val="000000"/>
              </a:solidFill>
              <a:latin typeface="Arial"/>
              <a:ea typeface="Arial"/>
              <a:cs typeface="Arial"/>
              <a:sym typeface="Arial"/>
            </a:endParaRPr>
          </a:p>
        </p:txBody>
      </p:sp>
      <p:sp>
        <p:nvSpPr>
          <p:cNvPr id="90" name="Google Shape;90;p27"/>
          <p:cNvSpPr txBox="1"/>
          <p:nvPr/>
        </p:nvSpPr>
        <p:spPr>
          <a:xfrm>
            <a:off x="1441528" y="3232230"/>
            <a:ext cx="9308941" cy="113873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rial"/>
                <a:ea typeface="Arial"/>
                <a:cs typeface="Arial"/>
                <a:sym typeface="Arial"/>
              </a:rPr>
              <a:t>Homework, Lab, LabVIEW questions? </a:t>
            </a:r>
          </a:p>
          <a:p>
            <a:pPr marL="0" marR="0" lvl="0" indent="0" algn="ctr" rtl="0">
              <a:lnSpc>
                <a:spcPct val="100000"/>
              </a:lnSpc>
              <a:spcBef>
                <a:spcPts val="0"/>
              </a:spcBef>
              <a:spcAft>
                <a:spcPts val="0"/>
              </a:spcAft>
              <a:buClr>
                <a:srgbClr val="000000"/>
              </a:buClr>
              <a:buSzPts val="2800"/>
              <a:buFont typeface="Arial"/>
              <a:buNone/>
            </a:pPr>
            <a:r>
              <a:rPr lang="en-US" sz="2000" b="0" i="0" u="none" strike="noStrike" cap="none" dirty="0">
                <a:solidFill>
                  <a:schemeClr val="lt1"/>
                </a:solidFill>
                <a:latin typeface="Arial"/>
                <a:ea typeface="Arial"/>
                <a:cs typeface="Arial"/>
                <a:sym typeface="Arial"/>
              </a:rPr>
              <a:t>(All submission times / days are final! Be early, as you see these HW can be very long! </a:t>
            </a:r>
            <a:r>
              <a:rPr lang="en-US" sz="2000" dirty="0">
                <a:solidFill>
                  <a:schemeClr val="lt1"/>
                </a:solidFill>
              </a:rPr>
              <a:t>The times / days are always on Canvas / </a:t>
            </a:r>
            <a:r>
              <a:rPr lang="en-US" sz="2000" dirty="0" err="1">
                <a:solidFill>
                  <a:schemeClr val="lt1"/>
                </a:solidFill>
              </a:rPr>
              <a:t>Gradescope</a:t>
            </a:r>
            <a:r>
              <a:rPr lang="en-US" sz="2000" dirty="0">
                <a:solidFill>
                  <a:schemeClr val="lt1"/>
                </a:solidFill>
              </a:rPr>
              <a:t> / Lectures</a:t>
            </a:r>
            <a:r>
              <a:rPr lang="en-US" sz="2000" b="0" i="0" u="none" strike="noStrike" cap="none" dirty="0">
                <a:solidFill>
                  <a:schemeClr val="lt1"/>
                </a:solidFill>
                <a:latin typeface="Arial"/>
                <a:ea typeface="Arial"/>
                <a:cs typeface="Arial"/>
                <a:sym typeface="Arial"/>
              </a:rPr>
              <a:t>)</a:t>
            </a:r>
            <a:endParaRPr b="0" i="0" u="none" strike="noStrike" cap="none" dirty="0">
              <a:solidFill>
                <a:schemeClr val="lt1"/>
              </a:solidFill>
              <a:latin typeface="Arial"/>
              <a:ea typeface="Arial"/>
              <a:cs typeface="Arial"/>
              <a:sym typeface="Arial"/>
            </a:endParaRPr>
          </a:p>
        </p:txBody>
      </p:sp>
      <p:grpSp>
        <p:nvGrpSpPr>
          <p:cNvPr id="91" name="Google Shape;91;p27"/>
          <p:cNvGrpSpPr/>
          <p:nvPr/>
        </p:nvGrpSpPr>
        <p:grpSpPr>
          <a:xfrm>
            <a:off x="3943790" y="2676939"/>
            <a:ext cx="3861740" cy="322845"/>
            <a:chOff x="3943790" y="2676939"/>
            <a:chExt cx="3861740" cy="322845"/>
          </a:xfrm>
        </p:grpSpPr>
        <p:cxnSp>
          <p:nvCxnSpPr>
            <p:cNvPr id="92" name="Google Shape;92;p27"/>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p:cNvGrpSpPr/>
          <p:nvPr/>
        </p:nvGrpSpPr>
        <p:grpSpPr>
          <a:xfrm>
            <a:off x="4066674" y="6601537"/>
            <a:ext cx="5233412" cy="70446"/>
            <a:chOff x="4033424" y="6601537"/>
            <a:chExt cx="5233412" cy="70446"/>
          </a:xfrm>
        </p:grpSpPr>
        <p:cxnSp>
          <p:nvCxnSpPr>
            <p:cNvPr id="98" name="Google Shape;98;p27"/>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txBox="1"/>
          <p:nvPr/>
        </p:nvSpPr>
        <p:spPr>
          <a:xfrm>
            <a:off x="1295400" y="3225488"/>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Optical Encoder</a:t>
            </a:r>
            <a:endParaRPr dirty="0"/>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A848DA8-FE3E-0830-9B59-1AFC92F14F0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6616D9C-4999-23D7-D15F-73DE36E2415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400" dirty="0">
                <a:solidFill>
                  <a:schemeClr val="dk1"/>
                </a:solidFill>
                <a:latin typeface="Arial"/>
                <a:ea typeface="Arial"/>
                <a:cs typeface="Arial"/>
                <a:sym typeface="Arial"/>
              </a:rPr>
              <a:t>How do we measure angular position or motion of a shaft into a digital value?</a:t>
            </a:r>
            <a:r>
              <a:rPr lang="en-US" sz="2400" dirty="0">
                <a:latin typeface="Arial"/>
                <a:ea typeface="Arial"/>
                <a:cs typeface="Arial"/>
                <a:sym typeface="Arial"/>
              </a:rPr>
              <a:t> Ideas?</a:t>
            </a:r>
          </a:p>
          <a:p>
            <a:pPr marL="0" lvl="0" indent="0" algn="l" rtl="0">
              <a:lnSpc>
                <a:spcPct val="100000"/>
              </a:lnSpc>
              <a:spcBef>
                <a:spcPts val="0"/>
              </a:spcBef>
              <a:spcAft>
                <a:spcPts val="0"/>
              </a:spcAft>
              <a:buSzPts val="3000"/>
              <a:buNone/>
            </a:pPr>
            <a:endParaRPr lang="en-US" sz="2400" dirty="0">
              <a:solidFill>
                <a:schemeClr val="dk1"/>
              </a:solidFill>
              <a:latin typeface="Arial"/>
              <a:ea typeface="Arial"/>
              <a:cs typeface="Arial"/>
              <a:sym typeface="Arial"/>
            </a:endParaRPr>
          </a:p>
          <a:p>
            <a:pPr marL="0" lvl="0" indent="0" algn="l" rtl="0">
              <a:lnSpc>
                <a:spcPct val="100000"/>
              </a:lnSpc>
              <a:spcBef>
                <a:spcPts val="0"/>
              </a:spcBef>
              <a:spcAft>
                <a:spcPts val="0"/>
              </a:spcAft>
              <a:buSzPts val="3000"/>
              <a:buNone/>
            </a:pPr>
            <a:r>
              <a:rPr lang="en-US" sz="2400" dirty="0">
                <a:solidFill>
                  <a:schemeClr val="dk1"/>
                </a:solidFill>
                <a:latin typeface="Arial"/>
                <a:ea typeface="Arial"/>
                <a:cs typeface="Arial"/>
                <a:sym typeface="Arial"/>
              </a:rPr>
              <a:t>The optical encoder is composed of a light emitting device (</a:t>
            </a:r>
            <a:r>
              <a:rPr lang="en-US" sz="2400" b="1" dirty="0">
                <a:solidFill>
                  <a:schemeClr val="dk1"/>
                </a:solidFill>
                <a:latin typeface="Arial"/>
                <a:ea typeface="Arial"/>
                <a:cs typeface="Arial"/>
                <a:sym typeface="Arial"/>
              </a:rPr>
              <a:t>LED</a:t>
            </a:r>
            <a:r>
              <a:rPr lang="en-US" sz="2400" dirty="0">
                <a:solidFill>
                  <a:schemeClr val="dk1"/>
                </a:solidFill>
                <a:latin typeface="Arial"/>
                <a:ea typeface="Arial"/>
                <a:cs typeface="Arial"/>
                <a:sym typeface="Arial"/>
              </a:rPr>
              <a:t>), </a:t>
            </a:r>
            <a:r>
              <a:rPr lang="en-US" sz="2400" b="1" dirty="0">
                <a:solidFill>
                  <a:schemeClr val="dk1"/>
                </a:solidFill>
                <a:latin typeface="Arial"/>
                <a:ea typeface="Arial"/>
                <a:cs typeface="Arial"/>
                <a:sym typeface="Arial"/>
              </a:rPr>
              <a:t>photo sensors</a:t>
            </a:r>
            <a:r>
              <a:rPr lang="en-US" sz="2400" dirty="0">
                <a:solidFill>
                  <a:schemeClr val="dk1"/>
                </a:solidFill>
                <a:latin typeface="Arial"/>
                <a:ea typeface="Arial"/>
                <a:cs typeface="Arial"/>
                <a:sym typeface="Arial"/>
              </a:rPr>
              <a:t>, and a disc called a </a:t>
            </a:r>
            <a:r>
              <a:rPr lang="en-US" sz="2400" b="1" dirty="0">
                <a:solidFill>
                  <a:schemeClr val="dk1"/>
                </a:solidFill>
                <a:latin typeface="Arial"/>
                <a:ea typeface="Arial"/>
                <a:cs typeface="Arial"/>
                <a:sym typeface="Arial"/>
              </a:rPr>
              <a:t>code wheel </a:t>
            </a:r>
            <a:r>
              <a:rPr lang="en-US" sz="2400" dirty="0">
                <a:solidFill>
                  <a:schemeClr val="dk1"/>
                </a:solidFill>
                <a:latin typeface="Arial"/>
                <a:ea typeface="Arial"/>
                <a:cs typeface="Arial"/>
                <a:sym typeface="Arial"/>
              </a:rPr>
              <a:t>with slits (holes) in the radial direction and detects rotational position information as an optical pulse signal.</a:t>
            </a:r>
          </a:p>
          <a:p>
            <a:pPr marL="0" lvl="0" indent="0" algn="l" rtl="0">
              <a:lnSpc>
                <a:spcPct val="100000"/>
              </a:lnSpc>
              <a:spcBef>
                <a:spcPts val="0"/>
              </a:spcBef>
              <a:spcAft>
                <a:spcPts val="0"/>
              </a:spcAft>
              <a:buSzPts val="3000"/>
              <a:buNone/>
            </a:pPr>
            <a:endParaRPr lang="en-US" sz="2400" dirty="0">
              <a:solidFill>
                <a:schemeClr val="dk1"/>
              </a:solidFill>
              <a:latin typeface="Arial"/>
              <a:ea typeface="Arial"/>
              <a:cs typeface="Arial"/>
              <a:sym typeface="Arial"/>
            </a:endParaRPr>
          </a:p>
          <a:p>
            <a:pPr marL="0" lvl="0" indent="0" algn="l" rtl="0">
              <a:lnSpc>
                <a:spcPct val="100000"/>
              </a:lnSpc>
              <a:spcBef>
                <a:spcPts val="0"/>
              </a:spcBef>
              <a:spcAft>
                <a:spcPts val="0"/>
              </a:spcAft>
              <a:buSzPts val="3000"/>
              <a:buNone/>
            </a:pPr>
            <a:r>
              <a:rPr lang="en-US" sz="2400" dirty="0">
                <a:solidFill>
                  <a:schemeClr val="dk1"/>
                </a:solidFill>
                <a:latin typeface="Arial"/>
                <a:ea typeface="Arial"/>
                <a:cs typeface="Arial"/>
                <a:sym typeface="Arial"/>
              </a:rPr>
              <a:t>When a code wheel attached to a rotating shaft such as a motor rotates, an optical pulse is generated depending on whether light emitted from a fixed light emitting element passes through a slit of the code wheel or not.</a:t>
            </a:r>
          </a:p>
          <a:p>
            <a:pPr marL="0" lvl="0" indent="0" algn="l" rtl="0">
              <a:lnSpc>
                <a:spcPct val="100000"/>
              </a:lnSpc>
              <a:spcBef>
                <a:spcPts val="0"/>
              </a:spcBef>
              <a:spcAft>
                <a:spcPts val="0"/>
              </a:spcAft>
              <a:buSzPts val="3000"/>
              <a:buNone/>
            </a:pPr>
            <a:endParaRPr lang="en-US" sz="2400" dirty="0">
              <a:solidFill>
                <a:schemeClr val="dk1"/>
              </a:solidFill>
              <a:latin typeface="Arial"/>
              <a:ea typeface="Arial"/>
              <a:cs typeface="Arial"/>
              <a:sym typeface="Arial"/>
            </a:endParaRPr>
          </a:p>
          <a:p>
            <a:pPr marL="0" lvl="0" indent="0" algn="l" rtl="0">
              <a:lnSpc>
                <a:spcPct val="100000"/>
              </a:lnSpc>
              <a:spcBef>
                <a:spcPts val="0"/>
              </a:spcBef>
              <a:spcAft>
                <a:spcPts val="0"/>
              </a:spcAft>
              <a:buSzPts val="3000"/>
              <a:buNone/>
            </a:pPr>
            <a:r>
              <a:rPr lang="en-US" sz="2400" dirty="0">
                <a:solidFill>
                  <a:schemeClr val="dk1"/>
                </a:solidFill>
                <a:latin typeface="Arial"/>
                <a:ea typeface="Arial"/>
                <a:cs typeface="Arial"/>
                <a:sym typeface="Arial"/>
              </a:rPr>
              <a:t>Photo sensor detects the optical pulse, converts it into an electrical signal, and outputs it.</a:t>
            </a:r>
          </a:p>
        </p:txBody>
      </p:sp>
      <p:sp>
        <p:nvSpPr>
          <p:cNvPr id="119" name="Google Shape;119;p29">
            <a:extLst>
              <a:ext uri="{FF2B5EF4-FFF2-40B4-BE49-F238E27FC236}">
                <a16:creationId xmlns:a16="http://schemas.microsoft.com/office/drawing/2014/main" id="{F63EBF5B-66AE-EEAF-5A56-9801F1570D8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CD176F3-86E7-F051-6C6A-1E87EA4A3DC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6C411FD3-A65D-CD5F-9BA5-3DF9BF104C2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B29439B-6E5A-1701-840F-2B8D6714A87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555167C-BD54-0119-099E-3D530B73F9E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3DA8207-3E4D-71B1-46E7-BDDE09E15C2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0DC9077-521E-6CE8-5EC1-3A81FCF26A3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300CBD5-C52D-B33F-10E2-7C783D82A62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28917039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622F817-1DE4-6947-566F-A73DC43F0FA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226E88ED-7384-EF6D-9E61-294ED4EBA78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26B4B84-CD52-3786-3F3C-D3CE49A30A6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86127ED-B973-10E9-7F19-2EA3D4FFBCB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C0057AE-F914-B075-D3FA-ED1BC52A282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C52B4AF-83CF-E735-21CB-5716A062973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2173034-BDF7-2BFD-94EB-F379DEB67DA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94B8CE2-7B8F-429B-69CC-1E8E4B72B12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142CC48-CE26-6740-B6AB-67863560072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2052" name="Picture 4" descr="04 Principle and advantages of optical encoder | Tutorials | Rotation Angle  Sensors | Products | Asahi Kasei Microdevices (AKM)">
            <a:extLst>
              <a:ext uri="{FF2B5EF4-FFF2-40B4-BE49-F238E27FC236}">
                <a16:creationId xmlns:a16="http://schemas.microsoft.com/office/drawing/2014/main" id="{E085C5D8-D434-61DF-7AD5-ECFC5D5480E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902696" y="1241564"/>
            <a:ext cx="5326944" cy="4794250"/>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BF01B12A-4675-2D31-D5C9-9414A2F79BFF}"/>
              </a:ext>
            </a:extLst>
          </p:cNvPr>
          <p:cNvSpPr txBox="1"/>
          <p:nvPr/>
        </p:nvSpPr>
        <p:spPr>
          <a:xfrm>
            <a:off x="3905250" y="5819967"/>
            <a:ext cx="5324390" cy="253916"/>
          </a:xfrm>
          <a:prstGeom prst="rect">
            <a:avLst/>
          </a:prstGeom>
          <a:noFill/>
        </p:spPr>
        <p:txBody>
          <a:bodyPr wrap="square" rtlCol="0">
            <a:spAutoFit/>
          </a:bodyPr>
          <a:lstStyle/>
          <a:p>
            <a:r>
              <a:rPr lang="en-US" sz="1050" dirty="0">
                <a:hlinkClick r:id="rId5"/>
              </a:rPr>
              <a:t>https://www.akm.com/global/en/products/rotation-angle-sensor/tutorial/optical-encoder/</a:t>
            </a:r>
            <a:r>
              <a:rPr lang="en-US" sz="1050" dirty="0"/>
              <a:t> </a:t>
            </a:r>
          </a:p>
        </p:txBody>
      </p:sp>
    </p:spTree>
    <p:extLst>
      <p:ext uri="{BB962C8B-B14F-4D97-AF65-F5344CB8AC3E}">
        <p14:creationId xmlns:p14="http://schemas.microsoft.com/office/powerpoint/2010/main" val="305608584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BD647A5-11CB-6DF5-85B7-EE526CF29AF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D54E0B6-0B7B-132F-4A7E-6FD22A05084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solidFill>
                  <a:schemeClr val="dk1"/>
                </a:solidFill>
                <a:latin typeface="+mj-lt"/>
                <a:ea typeface="Arial"/>
                <a:cs typeface="Arial"/>
                <a:sym typeface="Arial"/>
              </a:rPr>
              <a:t>2 Different types of optical encoders,</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endParaRPr lang="en-US" sz="2000" dirty="0">
              <a:solidFill>
                <a:schemeClr val="dk1"/>
              </a:solidFill>
              <a:latin typeface="+mj-lt"/>
              <a:ea typeface="Arial"/>
              <a:cs typeface="Arial"/>
              <a:sym typeface="Arial"/>
            </a:endParaRPr>
          </a:p>
          <a:p>
            <a:pPr marL="0" lvl="0" indent="0" algn="l" rtl="0">
              <a:lnSpc>
                <a:spcPct val="100000"/>
              </a:lnSpc>
              <a:spcBef>
                <a:spcPts val="0"/>
              </a:spcBef>
              <a:spcAft>
                <a:spcPts val="0"/>
              </a:spcAft>
              <a:buSzPts val="3000"/>
              <a:buNone/>
            </a:pPr>
            <a:r>
              <a:rPr lang="en-US" sz="2000" dirty="0">
                <a:solidFill>
                  <a:schemeClr val="dk1"/>
                </a:solidFill>
                <a:latin typeface="+mj-lt"/>
                <a:ea typeface="Arial"/>
                <a:cs typeface="Arial"/>
                <a:sym typeface="Arial"/>
              </a:rPr>
              <a:t>An </a:t>
            </a:r>
            <a:r>
              <a:rPr lang="en-US" sz="2000" b="1" dirty="0">
                <a:solidFill>
                  <a:schemeClr val="dk1"/>
                </a:solidFill>
                <a:latin typeface="+mj-lt"/>
                <a:ea typeface="Arial"/>
                <a:cs typeface="Arial"/>
                <a:sym typeface="Arial"/>
              </a:rPr>
              <a:t>incremental</a:t>
            </a:r>
            <a:r>
              <a:rPr lang="en-US" sz="2000" dirty="0">
                <a:solidFill>
                  <a:schemeClr val="dk1"/>
                </a:solidFill>
                <a:latin typeface="+mj-lt"/>
                <a:ea typeface="Arial"/>
                <a:cs typeface="Arial"/>
                <a:sym typeface="Arial"/>
              </a:rPr>
              <a:t> optical encoder:</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285750" indent="-285750">
              <a:lnSpc>
                <a:spcPct val="100000"/>
              </a:lnSpc>
              <a:spcBef>
                <a:spcPts val="0"/>
              </a:spcBef>
              <a:buSzPts val="3000"/>
            </a:pPr>
            <a:r>
              <a:rPr lang="en-US" sz="2000" dirty="0">
                <a:solidFill>
                  <a:schemeClr val="dk1"/>
                </a:solidFill>
                <a:latin typeface="+mj-lt"/>
                <a:ea typeface="Arial"/>
                <a:cs typeface="Arial"/>
                <a:sym typeface="Arial"/>
              </a:rPr>
              <a:t>The code disc divided into sectors that are alternately transparent and opaque. </a:t>
            </a:r>
          </a:p>
          <a:p>
            <a:pPr marL="285750" indent="-285750">
              <a:lnSpc>
                <a:spcPct val="100000"/>
              </a:lnSpc>
              <a:spcBef>
                <a:spcPts val="0"/>
              </a:spcBef>
              <a:buSzPts val="3000"/>
            </a:pPr>
            <a:r>
              <a:rPr lang="en-US" sz="2000" dirty="0">
                <a:solidFill>
                  <a:schemeClr val="dk1"/>
                </a:solidFill>
                <a:latin typeface="+mj-lt"/>
                <a:ea typeface="Arial"/>
                <a:cs typeface="Arial"/>
                <a:sym typeface="Arial"/>
              </a:rPr>
              <a:t>A light source is positioned on one side of the disc, and a light sensor on the other side. </a:t>
            </a:r>
          </a:p>
          <a:p>
            <a:pPr marL="285750" indent="-285750">
              <a:lnSpc>
                <a:spcPct val="100000"/>
              </a:lnSpc>
              <a:spcBef>
                <a:spcPts val="0"/>
              </a:spcBef>
              <a:buSzPts val="3000"/>
            </a:pPr>
            <a:r>
              <a:rPr lang="en-US" sz="2000" dirty="0">
                <a:solidFill>
                  <a:schemeClr val="dk1"/>
                </a:solidFill>
                <a:latin typeface="+mj-lt"/>
                <a:ea typeface="Arial"/>
                <a:cs typeface="Arial"/>
                <a:sym typeface="Arial"/>
              </a:rPr>
              <a:t>As the disc rotates, the output from the detector switches alternately on and off, depending on whether the sector appearing between the light source and the detector is transparent or opaque. </a:t>
            </a: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solidFill>
                <a:schemeClr val="dk1"/>
              </a:solidFill>
              <a:latin typeface="+mj-lt"/>
              <a:ea typeface="Arial"/>
              <a:cs typeface="Arial"/>
              <a:sym typeface="Arial"/>
            </a:endParaRPr>
          </a:p>
          <a:p>
            <a:pPr marL="0" indent="0">
              <a:lnSpc>
                <a:spcPct val="100000"/>
              </a:lnSpc>
              <a:spcBef>
                <a:spcPts val="0"/>
              </a:spcBef>
              <a:buSzPts val="3000"/>
              <a:buNone/>
            </a:pPr>
            <a:r>
              <a:rPr lang="en-US" sz="2000" dirty="0">
                <a:latin typeface="+mj-lt"/>
              </a:rPr>
              <a:t>The encoder produces a stream of square wave pulses which, when counted, indicate the angular position of the shaft.</a:t>
            </a:r>
          </a:p>
        </p:txBody>
      </p:sp>
      <p:sp>
        <p:nvSpPr>
          <p:cNvPr id="119" name="Google Shape;119;p29">
            <a:extLst>
              <a:ext uri="{FF2B5EF4-FFF2-40B4-BE49-F238E27FC236}">
                <a16:creationId xmlns:a16="http://schemas.microsoft.com/office/drawing/2014/main" id="{0DCC1397-87C6-A018-E00C-0903A0F696E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52B32E97-A388-5D70-6121-D6CDAF1A51A4}"/>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50909CB-F550-1D95-DE9C-05E3593158B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F85F69F-0F9A-6324-F80E-E286E357E15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F28274F-9D20-9ACE-556C-BCE26AF4D8D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85ABB36-0399-CB54-E569-6340916C26D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7A6DC35-72D5-7C67-F1A2-7CA6926AAB5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ACD2E0F-8636-AC50-3E58-0AAEDECF25C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71004983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1D2E858-566D-EFAE-CB85-0B0A779AB83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FFB02168-56A0-4A4B-E138-0A97387182C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4F0FA01-E215-0301-E4FE-40E58E88CAC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 - Resolution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E809CFA-4FC5-D3D8-3AD6-39D90978C4F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9775456-D617-145F-83B8-FC417B46CA8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1AA960F-5637-5FB6-7A05-45C1160410D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FB7E7D1-426D-8206-15F6-EDF5C2EE78C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D6879AF-86CE-8D3B-C7F9-10C17C99702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EFD6E72-B45D-1F16-385D-2304AF82FB9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2" name="TextBox 1">
            <a:extLst>
              <a:ext uri="{FF2B5EF4-FFF2-40B4-BE49-F238E27FC236}">
                <a16:creationId xmlns:a16="http://schemas.microsoft.com/office/drawing/2014/main" id="{E92796CA-B4E1-C6E8-8A3F-C925B633A3F6}"/>
              </a:ext>
            </a:extLst>
          </p:cNvPr>
          <p:cNvSpPr txBox="1"/>
          <p:nvPr/>
        </p:nvSpPr>
        <p:spPr>
          <a:xfrm>
            <a:off x="3346450" y="5864883"/>
            <a:ext cx="5499100" cy="253916"/>
          </a:xfrm>
          <a:prstGeom prst="rect">
            <a:avLst/>
          </a:prstGeom>
          <a:noFill/>
        </p:spPr>
        <p:txBody>
          <a:bodyPr wrap="square" rtlCol="0">
            <a:spAutoFit/>
          </a:bodyPr>
          <a:lstStyle/>
          <a:p>
            <a:r>
              <a:rPr lang="en-US" sz="1050" dirty="0">
                <a:hlinkClick r:id="rId4"/>
              </a:rPr>
              <a:t>https://www.akm.com/global/en/products/rotation-angle-sensor/tutorial/type-mechanism-2/</a:t>
            </a:r>
            <a:r>
              <a:rPr lang="en-US" sz="1050" dirty="0"/>
              <a:t> </a:t>
            </a:r>
          </a:p>
        </p:txBody>
      </p:sp>
      <p:pic>
        <p:nvPicPr>
          <p:cNvPr id="3074" name="Picture 2" descr="Figure 2a. 4-slit incremental type rotary encoder">
            <a:extLst>
              <a:ext uri="{FF2B5EF4-FFF2-40B4-BE49-F238E27FC236}">
                <a16:creationId xmlns:a16="http://schemas.microsoft.com/office/drawing/2014/main" id="{2503CA4C-C9A0-28CA-2BEA-45E13830915E}"/>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06400" y="1371600"/>
            <a:ext cx="5486400" cy="4114801"/>
          </a:xfrm>
          <a:prstGeom prst="rect">
            <a:avLst/>
          </a:prstGeom>
          <a:noFill/>
          <a:extLst>
            <a:ext uri="{909E8E84-426E-40DD-AFC4-6F175D3DCCD1}">
              <a14:hiddenFill xmlns:a14="http://schemas.microsoft.com/office/drawing/2010/main">
                <a:solidFill>
                  <a:srgbClr val="FFFFFF"/>
                </a:solidFill>
              </a14:hiddenFill>
            </a:ext>
          </a:extLst>
        </p:spPr>
      </p:pic>
      <p:pic>
        <p:nvPicPr>
          <p:cNvPr id="3076" name="Picture 4" descr="Figure 2b. 8-slit incremental type rotary encoder">
            <a:extLst>
              <a:ext uri="{FF2B5EF4-FFF2-40B4-BE49-F238E27FC236}">
                <a16:creationId xmlns:a16="http://schemas.microsoft.com/office/drawing/2014/main" id="{ABCBC115-5896-42BA-872A-0975D754F95D}"/>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299200" y="1371600"/>
            <a:ext cx="5486400" cy="4114801"/>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788ABA92-73FE-ED31-8233-8797572526F0}"/>
              </a:ext>
            </a:extLst>
          </p:cNvPr>
          <p:cNvSpPr txBox="1"/>
          <p:nvPr/>
        </p:nvSpPr>
        <p:spPr>
          <a:xfrm>
            <a:off x="1312637" y="5501216"/>
            <a:ext cx="3435350" cy="307777"/>
          </a:xfrm>
          <a:prstGeom prst="rect">
            <a:avLst/>
          </a:prstGeom>
          <a:noFill/>
        </p:spPr>
        <p:txBody>
          <a:bodyPr wrap="square" rtlCol="0">
            <a:spAutoFit/>
          </a:bodyPr>
          <a:lstStyle/>
          <a:p>
            <a:r>
              <a:rPr lang="en-US" dirty="0"/>
              <a:t>4-slit incremental type rotary encoder</a:t>
            </a:r>
          </a:p>
        </p:txBody>
      </p:sp>
      <p:sp>
        <p:nvSpPr>
          <p:cNvPr id="4" name="TextBox 3">
            <a:extLst>
              <a:ext uri="{FF2B5EF4-FFF2-40B4-BE49-F238E27FC236}">
                <a16:creationId xmlns:a16="http://schemas.microsoft.com/office/drawing/2014/main" id="{318BAE68-F809-9571-D9A2-601F046623ED}"/>
              </a:ext>
            </a:extLst>
          </p:cNvPr>
          <p:cNvSpPr txBox="1"/>
          <p:nvPr/>
        </p:nvSpPr>
        <p:spPr>
          <a:xfrm>
            <a:off x="7357837" y="5508203"/>
            <a:ext cx="3435350" cy="307777"/>
          </a:xfrm>
          <a:prstGeom prst="rect">
            <a:avLst/>
          </a:prstGeom>
          <a:noFill/>
        </p:spPr>
        <p:txBody>
          <a:bodyPr wrap="square" rtlCol="0">
            <a:spAutoFit/>
          </a:bodyPr>
          <a:lstStyle/>
          <a:p>
            <a:r>
              <a:rPr lang="en-US" dirty="0"/>
              <a:t>8-slit incremental type rotary encoder</a:t>
            </a:r>
          </a:p>
        </p:txBody>
      </p:sp>
    </p:spTree>
    <p:extLst>
      <p:ext uri="{BB962C8B-B14F-4D97-AF65-F5344CB8AC3E}">
        <p14:creationId xmlns:p14="http://schemas.microsoft.com/office/powerpoint/2010/main" val="300479569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F5C9FE3A-B845-0A38-B280-3467573D11F6}"/>
            </a:ext>
          </a:extLst>
        </p:cNvPr>
        <p:cNvGrpSpPr/>
        <p:nvPr/>
      </p:nvGrpSpPr>
      <p:grpSpPr>
        <a:xfrm>
          <a:off x="0" y="0"/>
          <a:ext cx="0" cy="0"/>
          <a:chOff x="0" y="0"/>
          <a:chExt cx="0" cy="0"/>
        </a:xfrm>
      </p:grpSpPr>
      <p:sp>
        <p:nvSpPr>
          <p:cNvPr id="89" name="Google Shape;89;p27">
            <a:extLst>
              <a:ext uri="{FF2B5EF4-FFF2-40B4-BE49-F238E27FC236}">
                <a16:creationId xmlns:a16="http://schemas.microsoft.com/office/drawing/2014/main" id="{0FE80EC5-1BA1-A1CF-1D80-53EDD5D622E0}"/>
              </a:ext>
            </a:extLst>
          </p:cNvPr>
          <p:cNvSpPr txBox="1"/>
          <p:nvPr/>
        </p:nvSpPr>
        <p:spPr>
          <a:xfrm>
            <a:off x="2206906" y="2459524"/>
            <a:ext cx="7778187" cy="193895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rial"/>
                <a:ea typeface="Arial"/>
                <a:cs typeface="Arial"/>
                <a:sym typeface="Arial"/>
              </a:rPr>
              <a:t>What are some problems?</a:t>
            </a:r>
            <a:endParaRPr sz="1400" b="0" i="0" u="none" strike="noStrike" cap="none" dirty="0">
              <a:solidFill>
                <a:srgbClr val="000000"/>
              </a:solidFill>
              <a:latin typeface="Arial"/>
              <a:ea typeface="Arial"/>
              <a:cs typeface="Arial"/>
              <a:sym typeface="Arial"/>
            </a:endParaRPr>
          </a:p>
        </p:txBody>
      </p:sp>
      <p:grpSp>
        <p:nvGrpSpPr>
          <p:cNvPr id="91" name="Google Shape;91;p27">
            <a:extLst>
              <a:ext uri="{FF2B5EF4-FFF2-40B4-BE49-F238E27FC236}">
                <a16:creationId xmlns:a16="http://schemas.microsoft.com/office/drawing/2014/main" id="{E67DDCCD-0B89-9E78-21E7-022CEC2625B9}"/>
              </a:ext>
            </a:extLst>
          </p:cNvPr>
          <p:cNvGrpSpPr/>
          <p:nvPr/>
        </p:nvGrpSpPr>
        <p:grpSpPr>
          <a:xfrm>
            <a:off x="4165129" y="2021113"/>
            <a:ext cx="3861740" cy="322845"/>
            <a:chOff x="3943790" y="2676939"/>
            <a:chExt cx="3861740" cy="322845"/>
          </a:xfrm>
        </p:grpSpPr>
        <p:cxnSp>
          <p:nvCxnSpPr>
            <p:cNvPr id="92" name="Google Shape;92;p27">
              <a:extLst>
                <a:ext uri="{FF2B5EF4-FFF2-40B4-BE49-F238E27FC236}">
                  <a16:creationId xmlns:a16="http://schemas.microsoft.com/office/drawing/2014/main" id="{32668ADE-B08B-C835-5039-189AF54C35BC}"/>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8EE84682-F891-830B-D25C-091FD3529792}"/>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D254C8B6-3C02-4DE1-84E6-D7C8E9E137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2F2CB220-E57E-4615-4508-D7A14BFBDC5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D9C08BE8-B02F-8D2C-7379-78B4F2DC2D1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EBC6B91F-1B53-7F60-E149-19A86A0EC1A8}"/>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1CD85645-7814-1040-5C9B-65150B5BA9B5}"/>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37D3BFD4-C721-E6EB-2996-37333A4D3A92}"/>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141349248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BD427FA-B6EA-596D-A34E-E8CAB20C72BF}"/>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28F8E85-3DB7-8918-B05E-E86595991AE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DEB8168-1F32-196A-7701-3E7EB83A938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 - Direction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75EF54FC-1652-1807-FBC8-04361EDAF93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84408AD-12AB-B91C-DE03-A2BC31C90F6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84963CD-EF7E-BD84-A5D8-49AE6EF8B6C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43D0122-21E6-94C7-D386-615CA0C3B1E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CD924D7-EF5B-2959-2960-062CD7761D3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0F20049-271B-A1E1-92E8-B124C4BFBB5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4098" name="Picture 2" descr="Figure 3a. Waveforms of phase A and B in clockwise">
            <a:extLst>
              <a:ext uri="{FF2B5EF4-FFF2-40B4-BE49-F238E27FC236}">
                <a16:creationId xmlns:a16="http://schemas.microsoft.com/office/drawing/2014/main" id="{8FFC8881-B788-D82E-2842-B06E2B8DD89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088623" y="960120"/>
            <a:ext cx="5486400" cy="4937760"/>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07435BA5-3A61-5339-89D4-0F152E78518A}"/>
              </a:ext>
            </a:extLst>
          </p:cNvPr>
          <p:cNvSpPr txBox="1"/>
          <p:nvPr/>
        </p:nvSpPr>
        <p:spPr>
          <a:xfrm>
            <a:off x="3346450" y="6179839"/>
            <a:ext cx="5499100" cy="253916"/>
          </a:xfrm>
          <a:prstGeom prst="rect">
            <a:avLst/>
          </a:prstGeom>
          <a:noFill/>
        </p:spPr>
        <p:txBody>
          <a:bodyPr wrap="square" rtlCol="0">
            <a:spAutoFit/>
          </a:bodyPr>
          <a:lstStyle/>
          <a:p>
            <a:r>
              <a:rPr lang="en-US" sz="1050" dirty="0">
                <a:hlinkClick r:id="rId5"/>
              </a:rPr>
              <a:t>https://www.akm.com/global/en/products/rotation-angle-sensor/tutorial/type-mechanism-2/</a:t>
            </a:r>
            <a:r>
              <a:rPr lang="en-US" sz="1050" dirty="0"/>
              <a:t> </a:t>
            </a:r>
          </a:p>
        </p:txBody>
      </p:sp>
    </p:spTree>
    <p:extLst>
      <p:ext uri="{BB962C8B-B14F-4D97-AF65-F5344CB8AC3E}">
        <p14:creationId xmlns:p14="http://schemas.microsoft.com/office/powerpoint/2010/main" val="429210570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678DE01-1D2D-881A-02C7-1AC59318EEC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DDB6EDE-0B2B-D704-5ED9-648EE5265F1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208F073-D361-13DB-9947-D22B4BAAA9A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 - Direction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50BB72F-3058-4529-1F6C-0608B1EA896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BC4DDB3-6566-ECDB-0575-7E4E9498C37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3817C3E-A11B-9374-AA89-F41DAA06F42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8207735-BAB0-6164-3FA4-FE9BEE16377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66D0B9F-1B82-9706-94D0-FAFD884411E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97A17D0-4095-A086-0C44-40E7B1E186D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2" name="TextBox 1">
            <a:extLst>
              <a:ext uri="{FF2B5EF4-FFF2-40B4-BE49-F238E27FC236}">
                <a16:creationId xmlns:a16="http://schemas.microsoft.com/office/drawing/2014/main" id="{0B2D354C-807B-891C-4475-FC1423D71401}"/>
              </a:ext>
            </a:extLst>
          </p:cNvPr>
          <p:cNvSpPr txBox="1"/>
          <p:nvPr/>
        </p:nvSpPr>
        <p:spPr>
          <a:xfrm>
            <a:off x="3346450" y="6179839"/>
            <a:ext cx="5499100" cy="253916"/>
          </a:xfrm>
          <a:prstGeom prst="rect">
            <a:avLst/>
          </a:prstGeom>
          <a:noFill/>
        </p:spPr>
        <p:txBody>
          <a:bodyPr wrap="square" rtlCol="0">
            <a:spAutoFit/>
          </a:bodyPr>
          <a:lstStyle/>
          <a:p>
            <a:r>
              <a:rPr lang="en-US" sz="1050" dirty="0">
                <a:hlinkClick r:id="rId4"/>
              </a:rPr>
              <a:t>https://www.akm.com/global/en/products/rotation-angle-sensor/tutorial/type-mechanism-2/</a:t>
            </a:r>
            <a:r>
              <a:rPr lang="en-US" sz="1050" dirty="0"/>
              <a:t> </a:t>
            </a:r>
          </a:p>
        </p:txBody>
      </p:sp>
      <p:pic>
        <p:nvPicPr>
          <p:cNvPr id="3" name="Picture 4" descr="Figure 3b. Waveforms of phase A and B in counterclockwise">
            <a:extLst>
              <a:ext uri="{FF2B5EF4-FFF2-40B4-BE49-F238E27FC236}">
                <a16:creationId xmlns:a16="http://schemas.microsoft.com/office/drawing/2014/main" id="{C2235EBB-6C90-DBE3-1B47-38AFD35D2604}"/>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088623" y="960120"/>
            <a:ext cx="5486400" cy="493776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2730885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8734313-8BE2-C43C-9DB3-0E305EBF1B7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DB713D0F-08EB-9804-47EF-969599147F9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84E9422-2D4C-0730-A9B3-6082E2405F3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 - Direction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5967D4E-D6D0-3FAC-5DE9-BCD0B215AEC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E5BB9F7-E3A3-5940-31C1-BFF18C1FF14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1D135C6-22C5-6EF2-9FAF-5A8AB0D336E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1717450-FCD3-34B9-10D4-E03923C3F23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47EBCF8-9CC9-9FF9-118D-9651304FCD2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429E300-E870-B1B7-B79F-43224A3215B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4098" name="Picture 2" descr="Figure 3a. Waveforms of phase A and B in clockwise">
            <a:extLst>
              <a:ext uri="{FF2B5EF4-FFF2-40B4-BE49-F238E27FC236}">
                <a16:creationId xmlns:a16="http://schemas.microsoft.com/office/drawing/2014/main" id="{D2EC7600-8AC7-F09B-1F53-AE9E5FDF7AF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06400" y="1054250"/>
            <a:ext cx="5486400" cy="4937760"/>
          </a:xfrm>
          <a:prstGeom prst="rect">
            <a:avLst/>
          </a:prstGeom>
          <a:noFill/>
          <a:extLst>
            <a:ext uri="{909E8E84-426E-40DD-AFC4-6F175D3DCCD1}">
              <a14:hiddenFill xmlns:a14="http://schemas.microsoft.com/office/drawing/2010/main">
                <a:solidFill>
                  <a:srgbClr val="FFFFFF"/>
                </a:solidFill>
              </a14:hiddenFill>
            </a:ext>
          </a:extLst>
        </p:spPr>
      </p:pic>
      <p:pic>
        <p:nvPicPr>
          <p:cNvPr id="4100" name="Picture 4" descr="Figure 3b. Waveforms of phase A and B in counterclockwise">
            <a:extLst>
              <a:ext uri="{FF2B5EF4-FFF2-40B4-BE49-F238E27FC236}">
                <a16:creationId xmlns:a16="http://schemas.microsoft.com/office/drawing/2014/main" id="{DBAADA90-402A-E9F4-1454-F003B9F016DD}"/>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299200" y="1054250"/>
            <a:ext cx="5486400" cy="4937760"/>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7E78C1A1-CF49-421C-6CF4-D27388057E49}"/>
              </a:ext>
            </a:extLst>
          </p:cNvPr>
          <p:cNvSpPr txBox="1"/>
          <p:nvPr/>
        </p:nvSpPr>
        <p:spPr>
          <a:xfrm>
            <a:off x="3346450" y="6179839"/>
            <a:ext cx="5499100" cy="253916"/>
          </a:xfrm>
          <a:prstGeom prst="rect">
            <a:avLst/>
          </a:prstGeom>
          <a:noFill/>
        </p:spPr>
        <p:txBody>
          <a:bodyPr wrap="square" rtlCol="0">
            <a:spAutoFit/>
          </a:bodyPr>
          <a:lstStyle/>
          <a:p>
            <a:r>
              <a:rPr lang="en-US" sz="1050" dirty="0">
                <a:hlinkClick r:id="rId6"/>
              </a:rPr>
              <a:t>https://www.akm.com/global/en/products/rotation-angle-sensor/tutorial/type-mechanism-2/</a:t>
            </a:r>
            <a:r>
              <a:rPr lang="en-US" sz="1050" dirty="0"/>
              <a:t> </a:t>
            </a:r>
          </a:p>
        </p:txBody>
      </p:sp>
    </p:spTree>
    <p:extLst>
      <p:ext uri="{BB962C8B-B14F-4D97-AF65-F5344CB8AC3E}">
        <p14:creationId xmlns:p14="http://schemas.microsoft.com/office/powerpoint/2010/main" val="161347632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DAE5D4C-60F0-A320-2DE8-31FBE0ADEEA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1BBB689-C2F8-88C6-F04B-914345C257B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1800" dirty="0">
                <a:solidFill>
                  <a:schemeClr val="dk1"/>
                </a:solidFill>
                <a:latin typeface="Arial"/>
                <a:ea typeface="Arial"/>
                <a:cs typeface="Arial"/>
                <a:sym typeface="Arial"/>
              </a:rPr>
              <a:t>To encode the direction you have 2 channels, each of them offset by a phase of 90 degrees</a:t>
            </a:r>
          </a:p>
          <a:p>
            <a:pPr marL="285750" indent="-285750">
              <a:lnSpc>
                <a:spcPct val="100000"/>
              </a:lnSpc>
              <a:spcBef>
                <a:spcPts val="0"/>
              </a:spcBef>
              <a:buSzPts val="3000"/>
            </a:pPr>
            <a:r>
              <a:rPr lang="en-US" sz="1800" dirty="0">
                <a:latin typeface="Arial"/>
                <a:ea typeface="Arial"/>
                <a:cs typeface="Arial"/>
                <a:sym typeface="Arial"/>
              </a:rPr>
              <a:t>The rotational direction can be determined depending on which pulse of the phase A or phase B rises B.</a:t>
            </a:r>
          </a:p>
          <a:p>
            <a:pPr marL="285750" indent="-285750">
              <a:lnSpc>
                <a:spcPct val="100000"/>
              </a:lnSpc>
              <a:spcBef>
                <a:spcPts val="0"/>
              </a:spcBef>
              <a:buSzPts val="3000"/>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285750" indent="-285750">
              <a:lnSpc>
                <a:spcPct val="100000"/>
              </a:lnSpc>
              <a:spcBef>
                <a:spcPts val="0"/>
              </a:spcBef>
              <a:buSzPts val="3000"/>
            </a:pPr>
            <a:r>
              <a:rPr lang="en-US" sz="1800" dirty="0">
                <a:solidFill>
                  <a:schemeClr val="dk1"/>
                </a:solidFill>
                <a:latin typeface="Arial"/>
                <a:ea typeface="Arial"/>
                <a:cs typeface="Arial"/>
                <a:sym typeface="Arial"/>
              </a:rPr>
              <a:t>By subtracting the number of pulses in reverse rotation, the amount of rotation can be accurately determined.</a:t>
            </a:r>
          </a:p>
        </p:txBody>
      </p:sp>
      <p:sp>
        <p:nvSpPr>
          <p:cNvPr id="119" name="Google Shape;119;p29">
            <a:extLst>
              <a:ext uri="{FF2B5EF4-FFF2-40B4-BE49-F238E27FC236}">
                <a16:creationId xmlns:a16="http://schemas.microsoft.com/office/drawing/2014/main" id="{B2AFE923-E67F-C4AB-BCFE-918B0AE4C83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30DD7552-06FF-6C4D-93F9-0AAB0987DE5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 - Direction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9742A0C2-0CFE-3F40-4A2B-3CFD54AA624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77A227E-3C74-1663-9C7A-6000E1D7C10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0F145C5-F2F0-A74A-EED3-DB28EFDBB13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43203F5-7910-9F59-FE86-A00EA86B291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AA1E331-EE11-D9B6-5106-E20D0653917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FFAF191-4E50-1600-A4B2-A8D01CCFA39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4" name="Graphic 3">
            <a:extLst>
              <a:ext uri="{FF2B5EF4-FFF2-40B4-BE49-F238E27FC236}">
                <a16:creationId xmlns:a16="http://schemas.microsoft.com/office/drawing/2014/main" id="{1E944887-F44C-FAD5-F9BE-FC50F812B1F6}"/>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584450" y="2063079"/>
            <a:ext cx="7023100" cy="2991714"/>
          </a:xfrm>
          <a:prstGeom prst="rect">
            <a:avLst/>
          </a:prstGeom>
        </p:spPr>
      </p:pic>
    </p:spTree>
    <p:extLst>
      <p:ext uri="{BB962C8B-B14F-4D97-AF65-F5344CB8AC3E}">
        <p14:creationId xmlns:p14="http://schemas.microsoft.com/office/powerpoint/2010/main" val="137109192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FFA381C-874E-700B-64FB-21E1E0AF9C0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A59449C-24F1-B034-0422-9E294A7D503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2400" dirty="0">
                    <a:solidFill>
                      <a:schemeClr val="dk1"/>
                    </a:solidFill>
                    <a:latin typeface="Arial"/>
                    <a:ea typeface="Arial"/>
                    <a:cs typeface="Arial"/>
                    <a:sym typeface="Arial"/>
                  </a:rPr>
                  <a:t>The combined output of (A, B), forms a 2-bit </a:t>
                </a:r>
                <a:r>
                  <a:rPr lang="en-US" sz="2400" b="1" dirty="0">
                    <a:solidFill>
                      <a:schemeClr val="dk1"/>
                    </a:solidFill>
                    <a:latin typeface="Arial"/>
                    <a:ea typeface="Arial"/>
                    <a:cs typeface="Arial"/>
                    <a:sym typeface="Arial"/>
                  </a:rPr>
                  <a:t>Gray code sequence</a:t>
                </a:r>
                <a:r>
                  <a:rPr lang="en-US" sz="2400" dirty="0">
                    <a:solidFill>
                      <a:schemeClr val="dk1"/>
                    </a:solidFill>
                    <a:latin typeface="Arial"/>
                    <a:ea typeface="Arial"/>
                    <a:cs typeface="Arial"/>
                    <a:sym typeface="Arial"/>
                  </a:rPr>
                  <a:t> (only 1 bit changes each timestep).</a:t>
                </a:r>
              </a:p>
              <a:p>
                <a:pPr marL="285750" indent="-285750">
                  <a:lnSpc>
                    <a:spcPct val="100000"/>
                  </a:lnSpc>
                  <a:spcBef>
                    <a:spcPts val="0"/>
                  </a:spcBef>
                  <a:buSzPts val="3000"/>
                </a:pPr>
                <a:r>
                  <a:rPr lang="en-US" sz="2400" dirty="0">
                    <a:latin typeface="Arial"/>
                    <a:ea typeface="Arial"/>
                    <a:cs typeface="Arial"/>
                    <a:sym typeface="Arial"/>
                  </a:rPr>
                  <a:t>The states cycle through 4 quadrants (00, 01, 10, 11)</a:t>
                </a:r>
              </a:p>
              <a:p>
                <a:pPr marL="285750" indent="-285750">
                  <a:lnSpc>
                    <a:spcPct val="100000"/>
                  </a:lnSpc>
                  <a:spcBef>
                    <a:spcPts val="0"/>
                  </a:spcBef>
                  <a:buSzPts val="3000"/>
                </a:pPr>
                <a:endParaRPr lang="en-US" sz="2400" dirty="0">
                  <a:solidFill>
                    <a:schemeClr val="dk1"/>
                  </a:solidFill>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If </a:t>
                </a:r>
                <a:r>
                  <a:rPr lang="en-US" sz="2400" b="1" dirty="0">
                    <a:latin typeface="Arial"/>
                    <a:ea typeface="Arial"/>
                    <a:cs typeface="Arial"/>
                    <a:sym typeface="Arial"/>
                  </a:rPr>
                  <a:t>clockwise </a:t>
                </a:r>
                <a:r>
                  <a:rPr lang="en-US" sz="2400" dirty="0">
                    <a:latin typeface="Arial"/>
                    <a:ea typeface="Arial"/>
                    <a:cs typeface="Arial"/>
                    <a:sym typeface="Arial"/>
                  </a:rPr>
                  <a:t>(CW): A leads B, the sequence is:</a:t>
                </a: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a:p>
                <a:pPr marL="0" indent="0" algn="ctr">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b="0" i="1" smtClean="0">
                          <a:solidFill>
                            <a:schemeClr val="dk1"/>
                          </a:solidFill>
                          <a:latin typeface="Cambria Math" panose="02040503050406030204" pitchFamily="18" charset="0"/>
                          <a:ea typeface="Arial"/>
                          <a:cs typeface="Arial"/>
                          <a:sym typeface="Arial"/>
                        </a:rPr>
                        <m:t>(0, 0)</m:t>
                      </m:r>
                      <m:r>
                        <a:rPr lang="en-US" sz="2400" b="0" i="1" smtClean="0">
                          <a:solidFill>
                            <a:schemeClr val="dk1"/>
                          </a:solidFill>
                          <a:latin typeface="Cambria Math" panose="02040503050406030204" pitchFamily="18" charset="0"/>
                          <a:ea typeface="Cambria Math" panose="02040503050406030204" pitchFamily="18" charset="0"/>
                          <a:cs typeface="Arial"/>
                          <a:sym typeface="Arial"/>
                        </a:rPr>
                        <m:t>→</m:t>
                      </m:r>
                      <m:r>
                        <a:rPr lang="en-US" sz="2400" i="1" dirty="0">
                          <a:latin typeface="Cambria Math" panose="02040503050406030204" pitchFamily="18" charset="0"/>
                          <a:ea typeface="Arial"/>
                          <a:cs typeface="Arial"/>
                          <a:sym typeface="Arial"/>
                        </a:rPr>
                        <m:t>(1,0)</m:t>
                      </m:r>
                      <m:r>
                        <a:rPr lang="en-US" sz="2400" i="1">
                          <a:latin typeface="Cambria Math" panose="02040503050406030204" pitchFamily="18" charset="0"/>
                          <a:ea typeface="Cambria Math" panose="02040503050406030204" pitchFamily="18" charset="0"/>
                          <a:cs typeface="Arial"/>
                          <a:sym typeface="Arial"/>
                        </a:rPr>
                        <m:t>→(1,1)→(0,1)→(0,0)</m:t>
                      </m:r>
                    </m:oMath>
                  </m:oMathPara>
                </a14:m>
                <a:endParaRPr lang="en-US" sz="2400" dirty="0">
                  <a:solidFill>
                    <a:schemeClr val="dk1"/>
                  </a:solidFill>
                  <a:latin typeface="Arial"/>
                  <a:ea typeface="Arial"/>
                  <a:cs typeface="Arial"/>
                  <a:sym typeface="Arial"/>
                </a:endParaRPr>
              </a:p>
              <a:p>
                <a:pPr marL="0" indent="0" algn="ctr">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If </a:t>
                </a:r>
                <a:r>
                  <a:rPr lang="en-US" sz="2400" b="1" dirty="0">
                    <a:latin typeface="Arial"/>
                    <a:ea typeface="Arial"/>
                    <a:cs typeface="Arial"/>
                    <a:sym typeface="Arial"/>
                  </a:rPr>
                  <a:t>counter-clockwise</a:t>
                </a:r>
                <a:r>
                  <a:rPr lang="en-US" sz="2400" dirty="0">
                    <a:latin typeface="Arial"/>
                    <a:ea typeface="Arial"/>
                    <a:cs typeface="Arial"/>
                    <a:sym typeface="Arial"/>
                  </a:rPr>
                  <a:t> (CCW): B leads C, the sequence is:</a:t>
                </a:r>
              </a:p>
              <a:p>
                <a:pPr marL="0" indent="0">
                  <a:lnSpc>
                    <a:spcPct val="100000"/>
                  </a:lnSpc>
                  <a:spcBef>
                    <a:spcPts val="0"/>
                  </a:spcBef>
                  <a:buSzPts val="3000"/>
                  <a:buNone/>
                </a:pPr>
                <a:endParaRPr lang="en-US" sz="2400" dirty="0">
                  <a:latin typeface="Arial"/>
                  <a:ea typeface="Arial"/>
                  <a:cs typeface="Arial"/>
                  <a:sym typeface="Arial"/>
                </a:endParaRPr>
              </a:p>
              <a:p>
                <a:pPr marL="0" indent="0" algn="ctr">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i="1">
                          <a:latin typeface="Cambria Math" panose="02040503050406030204" pitchFamily="18" charset="0"/>
                          <a:ea typeface="Arial"/>
                          <a:cs typeface="Arial"/>
                          <a:sym typeface="Arial"/>
                        </a:rPr>
                        <m:t>(0, 0)</m:t>
                      </m:r>
                      <m:r>
                        <a:rPr lang="en-US" sz="2400" i="1">
                          <a:latin typeface="Cambria Math" panose="02040503050406030204" pitchFamily="18" charset="0"/>
                          <a:ea typeface="Cambria Math" panose="02040503050406030204" pitchFamily="18" charset="0"/>
                          <a:cs typeface="Arial"/>
                          <a:sym typeface="Arial"/>
                        </a:rPr>
                        <m:t>→</m:t>
                      </m:r>
                      <m:r>
                        <a:rPr lang="en-US" sz="2400" i="1" dirty="0">
                          <a:latin typeface="Cambria Math" panose="02040503050406030204" pitchFamily="18" charset="0"/>
                          <a:ea typeface="Arial"/>
                          <a:cs typeface="Arial"/>
                          <a:sym typeface="Arial"/>
                        </a:rPr>
                        <m:t>(</m:t>
                      </m:r>
                      <m:r>
                        <a:rPr lang="en-US" sz="2400" b="0" i="1" dirty="0" smtClean="0">
                          <a:latin typeface="Cambria Math" panose="02040503050406030204" pitchFamily="18" charset="0"/>
                          <a:ea typeface="Arial"/>
                          <a:cs typeface="Arial"/>
                          <a:sym typeface="Arial"/>
                        </a:rPr>
                        <m:t>0</m:t>
                      </m:r>
                      <m:r>
                        <a:rPr lang="en-US" sz="2400" i="1" dirty="0">
                          <a:latin typeface="Cambria Math" panose="02040503050406030204" pitchFamily="18" charset="0"/>
                          <a:ea typeface="Arial"/>
                          <a:cs typeface="Arial"/>
                          <a:sym typeface="Arial"/>
                        </a:rPr>
                        <m:t>,</m:t>
                      </m:r>
                      <m:r>
                        <a:rPr lang="en-US" sz="2400" b="0" i="1" dirty="0" smtClean="0">
                          <a:latin typeface="Cambria Math" panose="02040503050406030204" pitchFamily="18" charset="0"/>
                          <a:ea typeface="Arial"/>
                          <a:cs typeface="Arial"/>
                          <a:sym typeface="Arial"/>
                        </a:rPr>
                        <m:t>1</m:t>
                      </m:r>
                      <m:r>
                        <a:rPr lang="en-US" sz="2400" i="1" dirty="0">
                          <a:latin typeface="Cambria Math" panose="02040503050406030204" pitchFamily="18" charset="0"/>
                          <a:ea typeface="Arial"/>
                          <a:cs typeface="Arial"/>
                          <a:sym typeface="Arial"/>
                        </a:rPr>
                        <m:t>)</m:t>
                      </m:r>
                      <m:r>
                        <a:rPr lang="en-US" sz="2400" i="1">
                          <a:latin typeface="Cambria Math" panose="02040503050406030204" pitchFamily="18" charset="0"/>
                          <a:ea typeface="Cambria Math" panose="02040503050406030204" pitchFamily="18" charset="0"/>
                          <a:cs typeface="Arial"/>
                          <a:sym typeface="Arial"/>
                        </a:rPr>
                        <m:t>→(</m:t>
                      </m:r>
                      <m:r>
                        <a:rPr lang="en-US" sz="2400" b="0" i="1" smtClean="0">
                          <a:latin typeface="Cambria Math" panose="02040503050406030204" pitchFamily="18" charset="0"/>
                          <a:ea typeface="Cambria Math" panose="02040503050406030204" pitchFamily="18" charset="0"/>
                          <a:cs typeface="Arial"/>
                          <a:sym typeface="Arial"/>
                        </a:rPr>
                        <m:t>1</m:t>
                      </m:r>
                      <m:r>
                        <a:rPr lang="en-US" sz="2400" i="1">
                          <a:latin typeface="Cambria Math" panose="02040503050406030204" pitchFamily="18" charset="0"/>
                          <a:ea typeface="Cambria Math" panose="02040503050406030204" pitchFamily="18" charset="0"/>
                          <a:cs typeface="Arial"/>
                          <a:sym typeface="Arial"/>
                        </a:rPr>
                        <m:t>,1)→(</m:t>
                      </m:r>
                      <m:r>
                        <a:rPr lang="en-US" sz="2400" b="0" i="1" smtClean="0">
                          <a:latin typeface="Cambria Math" panose="02040503050406030204" pitchFamily="18" charset="0"/>
                          <a:ea typeface="Cambria Math" panose="02040503050406030204" pitchFamily="18" charset="0"/>
                          <a:cs typeface="Arial"/>
                          <a:sym typeface="Arial"/>
                        </a:rPr>
                        <m:t>1</m:t>
                      </m:r>
                      <m:r>
                        <a:rPr lang="en-US" sz="2400" i="1">
                          <a:latin typeface="Cambria Math" panose="02040503050406030204" pitchFamily="18" charset="0"/>
                          <a:ea typeface="Cambria Math" panose="02040503050406030204" pitchFamily="18" charset="0"/>
                          <a:cs typeface="Arial"/>
                          <a:sym typeface="Arial"/>
                        </a:rPr>
                        <m:t>,</m:t>
                      </m:r>
                      <m:r>
                        <a:rPr lang="en-US" sz="2400" b="0" i="1" smtClean="0">
                          <a:latin typeface="Cambria Math" panose="02040503050406030204" pitchFamily="18" charset="0"/>
                          <a:ea typeface="Cambria Math" panose="02040503050406030204" pitchFamily="18" charset="0"/>
                          <a:cs typeface="Arial"/>
                          <a:sym typeface="Arial"/>
                        </a:rPr>
                        <m:t>0</m:t>
                      </m:r>
                      <m:r>
                        <a:rPr lang="en-US" sz="2400" i="1">
                          <a:latin typeface="Cambria Math" panose="02040503050406030204" pitchFamily="18" charset="0"/>
                          <a:ea typeface="Cambria Math" panose="02040503050406030204" pitchFamily="18" charset="0"/>
                          <a:cs typeface="Arial"/>
                          <a:sym typeface="Arial"/>
                        </a:rPr>
                        <m:t>)→(0,0)</m:t>
                      </m:r>
                    </m:oMath>
                  </m:oMathPara>
                </a14:m>
                <a:endParaRPr lang="en-US" sz="24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4A59449C-24F1-B034-0422-9E294A7D5031}"/>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240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04DB6FF5-481E-49B0-C9F5-B05132B6EFA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C4C81D0-FF94-E63B-7369-FA24F8779B0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 - Direction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E430338-C187-9628-5777-4F46E18A10A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20D5564-7365-7081-1676-9F7E841146D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C1430A2-62D5-D4B5-A4CE-B37BB116198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8F63EB0-2D0A-31D8-934D-5DAB453B9F0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895AD9E-E86F-9C65-4E26-0C522520CC1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8003B19-530D-43F0-78E7-756C2EC4A35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3" name="TextBox 2">
            <a:extLst>
              <a:ext uri="{FF2B5EF4-FFF2-40B4-BE49-F238E27FC236}">
                <a16:creationId xmlns:a16="http://schemas.microsoft.com/office/drawing/2014/main" id="{DDC7F80F-E1AE-4309-9209-ADF038A218B6}"/>
              </a:ext>
            </a:extLst>
          </p:cNvPr>
          <p:cNvSpPr txBox="1"/>
          <p:nvPr/>
        </p:nvSpPr>
        <p:spPr>
          <a:xfrm>
            <a:off x="9857736" y="5583171"/>
            <a:ext cx="1835427" cy="738664"/>
          </a:xfrm>
          <a:prstGeom prst="rect">
            <a:avLst/>
          </a:prstGeom>
          <a:noFill/>
        </p:spPr>
        <p:txBody>
          <a:bodyPr wrap="square" rtlCol="0">
            <a:spAutoFit/>
          </a:bodyPr>
          <a:lstStyle/>
          <a:p>
            <a:r>
              <a:rPr lang="en-US" dirty="0"/>
              <a:t>If I do not have an animation, I did not have time to make it.</a:t>
            </a:r>
          </a:p>
        </p:txBody>
      </p:sp>
    </p:spTree>
    <p:extLst>
      <p:ext uri="{BB962C8B-B14F-4D97-AF65-F5344CB8AC3E}">
        <p14:creationId xmlns:p14="http://schemas.microsoft.com/office/powerpoint/2010/main" val="14838706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32E30A7-9BE1-BBB5-D602-91CC2906F78C}"/>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5E49BA9-5693-9B72-6920-AD645062FF9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4F87489-EF82-AA8A-B5E2-BA9CD83F11B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 - Direction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EDEAD23A-0D54-ACE7-B9F2-361014FC932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A8C285E-DA5D-BBFE-4017-BB3EFA7E37E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E67F593-29C2-A2BF-1E99-32D29FA34BF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044636A-19BB-9514-8050-FF8DFD1A725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2CB45DD-CCAC-EC4A-F8FB-F901998DB20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C815A73-2763-C6CD-A026-19D02B1EAF3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8" name="Graphic 7">
            <a:extLst>
              <a:ext uri="{FF2B5EF4-FFF2-40B4-BE49-F238E27FC236}">
                <a16:creationId xmlns:a16="http://schemas.microsoft.com/office/drawing/2014/main" id="{72EF6654-5103-A01A-DBAD-9C9F47B5C54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27818" y="1544654"/>
            <a:ext cx="8550995" cy="4073732"/>
          </a:xfrm>
          <a:prstGeom prst="rect">
            <a:avLst/>
          </a:prstGeom>
        </p:spPr>
      </p:pic>
      <p:pic>
        <p:nvPicPr>
          <p:cNvPr id="3" name="Graphic 2">
            <a:extLst>
              <a:ext uri="{FF2B5EF4-FFF2-40B4-BE49-F238E27FC236}">
                <a16:creationId xmlns:a16="http://schemas.microsoft.com/office/drawing/2014/main" id="{C2253F07-688A-FE18-A290-EEAD46E118A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806631" y="1939610"/>
            <a:ext cx="3257550" cy="3283821"/>
          </a:xfrm>
          <a:prstGeom prst="rect">
            <a:avLst/>
          </a:prstGeom>
        </p:spPr>
      </p:pic>
    </p:spTree>
    <p:extLst>
      <p:ext uri="{BB962C8B-B14F-4D97-AF65-F5344CB8AC3E}">
        <p14:creationId xmlns:p14="http://schemas.microsoft.com/office/powerpoint/2010/main" val="270619933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2A759C84-A86A-FF47-EC01-0364D347F7B8}"/>
            </a:ext>
          </a:extLst>
        </p:cNvPr>
        <p:cNvGrpSpPr/>
        <p:nvPr/>
      </p:nvGrpSpPr>
      <p:grpSpPr>
        <a:xfrm>
          <a:off x="0" y="0"/>
          <a:ext cx="0" cy="0"/>
          <a:chOff x="0" y="0"/>
          <a:chExt cx="0" cy="0"/>
        </a:xfrm>
      </p:grpSpPr>
      <p:sp>
        <p:nvSpPr>
          <p:cNvPr id="89" name="Google Shape;89;p27">
            <a:extLst>
              <a:ext uri="{FF2B5EF4-FFF2-40B4-BE49-F238E27FC236}">
                <a16:creationId xmlns:a16="http://schemas.microsoft.com/office/drawing/2014/main" id="{39C725A2-3704-B6CA-F32C-06092F3069EE}"/>
              </a:ext>
            </a:extLst>
          </p:cNvPr>
          <p:cNvSpPr txBox="1"/>
          <p:nvPr/>
        </p:nvSpPr>
        <p:spPr>
          <a:xfrm>
            <a:off x="2206906" y="2459524"/>
            <a:ext cx="7778187" cy="193895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rial"/>
                <a:ea typeface="Arial"/>
                <a:cs typeface="Arial"/>
                <a:sym typeface="Arial"/>
              </a:rPr>
              <a:t>What if you turn the robot off?</a:t>
            </a:r>
            <a:endParaRPr sz="1400" b="0" i="0" u="none" strike="noStrike" cap="none" dirty="0">
              <a:solidFill>
                <a:srgbClr val="000000"/>
              </a:solidFill>
              <a:latin typeface="Arial"/>
              <a:ea typeface="Arial"/>
              <a:cs typeface="Arial"/>
              <a:sym typeface="Arial"/>
            </a:endParaRPr>
          </a:p>
        </p:txBody>
      </p:sp>
      <p:grpSp>
        <p:nvGrpSpPr>
          <p:cNvPr id="91" name="Google Shape;91;p27">
            <a:extLst>
              <a:ext uri="{FF2B5EF4-FFF2-40B4-BE49-F238E27FC236}">
                <a16:creationId xmlns:a16="http://schemas.microsoft.com/office/drawing/2014/main" id="{A99A7060-7C35-9067-EFB0-DE55880E5372}"/>
              </a:ext>
            </a:extLst>
          </p:cNvPr>
          <p:cNvGrpSpPr/>
          <p:nvPr/>
        </p:nvGrpSpPr>
        <p:grpSpPr>
          <a:xfrm>
            <a:off x="4165129" y="2021113"/>
            <a:ext cx="3861740" cy="322845"/>
            <a:chOff x="3943790" y="2676939"/>
            <a:chExt cx="3861740" cy="322845"/>
          </a:xfrm>
        </p:grpSpPr>
        <p:cxnSp>
          <p:nvCxnSpPr>
            <p:cNvPr id="92" name="Google Shape;92;p27">
              <a:extLst>
                <a:ext uri="{FF2B5EF4-FFF2-40B4-BE49-F238E27FC236}">
                  <a16:creationId xmlns:a16="http://schemas.microsoft.com/office/drawing/2014/main" id="{5726F905-5BA0-8EFE-7AA8-58C7AB383DE9}"/>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B109BBE0-692B-A2CF-FFA8-13BA513B1F7C}"/>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E414F1E4-C789-82F1-4B6E-33FAAC0B14C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95E73979-7FF9-A6F7-DDD4-85E81B0F2E4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B569C05F-EC70-B5E0-6769-015DAA2FB7F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D3C43AA6-ABAA-0D21-7C78-EBEA11E94F0C}"/>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EE3A3866-4246-67D6-B46D-97C02CABE7DD}"/>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DEB1E326-B5EC-2C10-A25A-C032F8FA5E8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348256314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EA3B45F-A037-90B7-B0F4-9A5BC8BE34B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23AB0B9-E5B6-48CB-A959-B0E4D0DFB04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solidFill>
                  <a:schemeClr val="dk1"/>
                </a:solidFill>
                <a:latin typeface="+mj-lt"/>
                <a:ea typeface="Arial"/>
                <a:cs typeface="Arial"/>
                <a:sym typeface="Arial"/>
              </a:rPr>
              <a:t>An </a:t>
            </a:r>
            <a:r>
              <a:rPr lang="en-US" sz="2000" b="1" dirty="0">
                <a:solidFill>
                  <a:schemeClr val="dk1"/>
                </a:solidFill>
                <a:latin typeface="+mj-lt"/>
                <a:ea typeface="Arial"/>
                <a:cs typeface="Arial"/>
                <a:sym typeface="Arial"/>
              </a:rPr>
              <a:t>absolute </a:t>
            </a:r>
            <a:r>
              <a:rPr lang="en-US" sz="2000" dirty="0">
                <a:solidFill>
                  <a:schemeClr val="dk1"/>
                </a:solidFill>
                <a:latin typeface="+mj-lt"/>
                <a:ea typeface="Arial"/>
                <a:cs typeface="Arial"/>
                <a:sym typeface="Arial"/>
              </a:rPr>
              <a:t>optical encoder </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285750" indent="-285750">
              <a:lnSpc>
                <a:spcPct val="100000"/>
              </a:lnSpc>
              <a:spcBef>
                <a:spcPts val="0"/>
              </a:spcBef>
              <a:buSzPts val="3000"/>
            </a:pPr>
            <a:r>
              <a:rPr lang="en-US" sz="2000" dirty="0">
                <a:solidFill>
                  <a:schemeClr val="dk1"/>
                </a:solidFill>
                <a:latin typeface="+mj-lt"/>
                <a:ea typeface="Arial"/>
                <a:cs typeface="Arial"/>
                <a:sym typeface="Arial"/>
              </a:rPr>
              <a:t>An absolute optical encoder's disc is divided up into N sectors</a:t>
            </a:r>
            <a:endParaRPr lang="en-US" sz="2000" dirty="0">
              <a:latin typeface="+mj-lt"/>
              <a:ea typeface="Arial"/>
              <a:cs typeface="Arial"/>
              <a:sym typeface="Arial"/>
            </a:endParaRPr>
          </a:p>
          <a:p>
            <a:pPr marL="742950" lvl="1" indent="-285750">
              <a:lnSpc>
                <a:spcPct val="100000"/>
              </a:lnSpc>
              <a:spcBef>
                <a:spcPts val="0"/>
              </a:spcBef>
              <a:buSzPts val="3000"/>
            </a:pPr>
            <a:r>
              <a:rPr lang="en-US" sz="2000" dirty="0">
                <a:solidFill>
                  <a:schemeClr val="dk1"/>
                </a:solidFill>
                <a:latin typeface="+mj-lt"/>
                <a:ea typeface="Arial"/>
                <a:cs typeface="Arial"/>
                <a:sym typeface="Arial"/>
              </a:rPr>
              <a:t>Each sector is further divided radially along its length into opaque and transparent sections, forming a unique N-bit digital word with a maximum count of 2N – 1. </a:t>
            </a:r>
          </a:p>
          <a:p>
            <a:pPr marL="285750" indent="-285750">
              <a:lnSpc>
                <a:spcPct val="100000"/>
              </a:lnSpc>
              <a:spcBef>
                <a:spcPts val="0"/>
              </a:spcBef>
              <a:buSzPts val="3000"/>
            </a:pPr>
            <a:r>
              <a:rPr lang="en-US" sz="2000" dirty="0">
                <a:solidFill>
                  <a:schemeClr val="dk1"/>
                </a:solidFill>
                <a:latin typeface="+mj-lt"/>
                <a:ea typeface="Arial"/>
                <a:cs typeface="Arial"/>
                <a:sym typeface="Arial"/>
              </a:rPr>
              <a:t>The digital word formed radially by each sector increments in value from one sector to the next, usually employing </a:t>
            </a:r>
            <a:r>
              <a:rPr lang="en-US" sz="2000" b="1" dirty="0">
                <a:solidFill>
                  <a:schemeClr val="dk1"/>
                </a:solidFill>
                <a:latin typeface="+mj-lt"/>
                <a:ea typeface="Arial"/>
                <a:cs typeface="Arial"/>
                <a:sym typeface="Arial"/>
              </a:rPr>
              <a:t>Gray code</a:t>
            </a:r>
            <a:r>
              <a:rPr lang="en-US" sz="2000" dirty="0">
                <a:solidFill>
                  <a:schemeClr val="dk1"/>
                </a:solidFill>
                <a:latin typeface="+mj-lt"/>
                <a:ea typeface="Arial"/>
                <a:cs typeface="Arial"/>
                <a:sym typeface="Arial"/>
              </a:rPr>
              <a:t>. </a:t>
            </a:r>
          </a:p>
          <a:p>
            <a:pPr marL="285750" indent="-285750">
              <a:lnSpc>
                <a:spcPct val="100000"/>
              </a:lnSpc>
              <a:spcBef>
                <a:spcPts val="0"/>
              </a:spcBef>
              <a:buSzPts val="3000"/>
            </a:pPr>
            <a:r>
              <a:rPr lang="en-US" sz="2000" b="1" dirty="0">
                <a:solidFill>
                  <a:schemeClr val="dk1"/>
                </a:solidFill>
                <a:latin typeface="+mj-lt"/>
                <a:ea typeface="Arial"/>
                <a:cs typeface="Arial"/>
                <a:sym typeface="Arial"/>
              </a:rPr>
              <a:t>Binary coding </a:t>
            </a:r>
            <a:r>
              <a:rPr lang="en-US" sz="2000" dirty="0">
                <a:solidFill>
                  <a:schemeClr val="dk1"/>
                </a:solidFill>
                <a:latin typeface="+mj-lt"/>
                <a:ea typeface="Arial"/>
                <a:cs typeface="Arial"/>
                <a:sym typeface="Arial"/>
              </a:rPr>
              <a:t>could be used but can produce large errors if a single bit is incorrectly interpreted by the sensors.</a:t>
            </a:r>
          </a:p>
          <a:p>
            <a:pPr marL="285750" indent="-285750">
              <a:lnSpc>
                <a:spcPct val="100000"/>
              </a:lnSpc>
              <a:spcBef>
                <a:spcPts val="0"/>
              </a:spcBef>
              <a:buSzPts val="3000"/>
            </a:pPr>
            <a:r>
              <a:rPr lang="en-US" sz="2000" dirty="0">
                <a:solidFill>
                  <a:schemeClr val="dk1"/>
                </a:solidFill>
                <a:latin typeface="+mj-lt"/>
                <a:ea typeface="Arial"/>
                <a:cs typeface="Arial"/>
                <a:sym typeface="Arial"/>
              </a:rPr>
              <a:t>Gray code overcomes this defect: the maximum error produced by an error in any single bit of the Gray code is only 1 LSB after the Gray code is converted into binary code. </a:t>
            </a:r>
          </a:p>
          <a:p>
            <a:pPr marL="285750" indent="-285750">
              <a:lnSpc>
                <a:spcPct val="100000"/>
              </a:lnSpc>
              <a:spcBef>
                <a:spcPts val="0"/>
              </a:spcBef>
              <a:buSzPts val="3000"/>
            </a:pPr>
            <a:r>
              <a:rPr lang="en-US" sz="2000" dirty="0">
                <a:solidFill>
                  <a:schemeClr val="dk1"/>
                </a:solidFill>
                <a:latin typeface="+mj-lt"/>
                <a:ea typeface="Arial"/>
                <a:cs typeface="Arial"/>
                <a:sym typeface="Arial"/>
              </a:rPr>
              <a:t>A set of N light sensors responds to the </a:t>
            </a:r>
            <a:r>
              <a:rPr lang="en-US" sz="2000" b="1" dirty="0">
                <a:solidFill>
                  <a:schemeClr val="dk1"/>
                </a:solidFill>
                <a:latin typeface="+mj-lt"/>
                <a:ea typeface="Arial"/>
                <a:cs typeface="Arial"/>
                <a:sym typeface="Arial"/>
              </a:rPr>
              <a:t>N-bit digital word </a:t>
            </a:r>
            <a:r>
              <a:rPr lang="en-US" sz="2000" dirty="0">
                <a:solidFill>
                  <a:schemeClr val="dk1"/>
                </a:solidFill>
                <a:latin typeface="+mj-lt"/>
                <a:ea typeface="Arial"/>
                <a:cs typeface="Arial"/>
                <a:sym typeface="Arial"/>
              </a:rPr>
              <a:t>which corresponds to the </a:t>
            </a:r>
            <a:r>
              <a:rPr lang="en-US" sz="2000" b="1" dirty="0">
                <a:solidFill>
                  <a:schemeClr val="dk1"/>
                </a:solidFill>
                <a:latin typeface="+mj-lt"/>
                <a:ea typeface="Arial"/>
                <a:cs typeface="Arial"/>
                <a:sym typeface="Arial"/>
              </a:rPr>
              <a:t>disc's absolute angular position</a:t>
            </a:r>
            <a:r>
              <a:rPr lang="en-US" sz="2000" dirty="0">
                <a:solidFill>
                  <a:schemeClr val="dk1"/>
                </a:solidFill>
                <a:latin typeface="+mj-lt"/>
                <a:ea typeface="Arial"/>
                <a:cs typeface="Arial"/>
                <a:sym typeface="Arial"/>
              </a:rPr>
              <a:t>. </a:t>
            </a:r>
          </a:p>
        </p:txBody>
      </p:sp>
      <p:sp>
        <p:nvSpPr>
          <p:cNvPr id="119" name="Google Shape;119;p29">
            <a:extLst>
              <a:ext uri="{FF2B5EF4-FFF2-40B4-BE49-F238E27FC236}">
                <a16:creationId xmlns:a16="http://schemas.microsoft.com/office/drawing/2014/main" id="{C3AB5FE0-6CC1-BD6D-8AD0-7B7BE91246E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E765958-CBAD-6B74-263E-19882E26BEE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C78CF3E-BFED-E5A9-BCF8-1B5EFBA59F3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1BE144C-F6AE-212D-0966-30E69C394A5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1422487-7FC3-6456-0B00-8F3FE088B84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999A7AC-D414-E65B-B5B9-4347EFBCCCF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854B9C3-6CDE-1650-869D-BCDD9148756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779C0FD-571F-B317-D34B-910CEEA0DAF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21310469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F289058-954C-FB24-B250-6E9402CFE382}"/>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D81A67D4-FEFE-71DA-1915-E64D64D473E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FADF018-A81B-C169-E1F2-071EBE78054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1C4C1A6-A72C-7978-D449-2E3656A66CF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B576D3D-BFBF-2DF6-057F-F7B4F7A47C7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A350B03-3EB1-6774-690E-1CB3B0E93AB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09B88A7-C58B-0353-DFE3-13D34B71FF8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6E4339E-3F1A-6551-F54C-0237B70F77E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BB96DA0-9A22-C3C1-FB30-CD15CD1A9D8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C16E2DE4-C380-655A-EAA4-316930318A9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869193" y="1000048"/>
            <a:ext cx="6453613" cy="5392506"/>
          </a:xfrm>
          <a:prstGeom prst="rect">
            <a:avLst/>
          </a:prstGeom>
        </p:spPr>
      </p:pic>
      <p:sp>
        <p:nvSpPr>
          <p:cNvPr id="4" name="TextBox 3">
            <a:extLst>
              <a:ext uri="{FF2B5EF4-FFF2-40B4-BE49-F238E27FC236}">
                <a16:creationId xmlns:a16="http://schemas.microsoft.com/office/drawing/2014/main" id="{8E4D3AAD-6488-87E2-EEBA-81B0235D3EFE}"/>
              </a:ext>
            </a:extLst>
          </p:cNvPr>
          <p:cNvSpPr txBox="1"/>
          <p:nvPr/>
        </p:nvSpPr>
        <p:spPr>
          <a:xfrm>
            <a:off x="3872946" y="6358962"/>
            <a:ext cx="4446105" cy="261610"/>
          </a:xfrm>
          <a:prstGeom prst="rect">
            <a:avLst/>
          </a:prstGeom>
          <a:noFill/>
        </p:spPr>
        <p:txBody>
          <a:bodyPr wrap="square" rtlCol="0">
            <a:spAutoFit/>
          </a:bodyPr>
          <a:lstStyle/>
          <a:p>
            <a:r>
              <a:rPr lang="en-US" sz="1050" dirty="0">
                <a:hlinkClick r:id="rId6"/>
              </a:rPr>
              <a:t>https://www.analog.com/media/en/training-seminars/tutorials/mt-029.pdf</a:t>
            </a:r>
            <a:r>
              <a:rPr lang="en-US" sz="1050" dirty="0"/>
              <a:t> </a:t>
            </a:r>
          </a:p>
        </p:txBody>
      </p:sp>
    </p:spTree>
    <p:extLst>
      <p:ext uri="{BB962C8B-B14F-4D97-AF65-F5344CB8AC3E}">
        <p14:creationId xmlns:p14="http://schemas.microsoft.com/office/powerpoint/2010/main" val="193849377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2B7A068-3897-C21F-39F0-96FEC886A96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3864A8B0-2D45-46EC-DB9A-7AFF530F645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B71158F0-1A40-9E63-FBC2-C9A928A1872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34411F6-82EB-17CA-2158-6358D33CBBF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B1B08CD-5189-1B8D-AF8F-2EB9D4A17D1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B86683A-3FA3-2685-DB21-09BDB045BFA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E95C861-39C8-3933-3862-859D0202F8A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CA809CE-363F-3F63-B2A5-23DCF7C728A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1403FC8-6C96-ADB0-87EF-A11F86D43FD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4" name="TextBox 3">
            <a:extLst>
              <a:ext uri="{FF2B5EF4-FFF2-40B4-BE49-F238E27FC236}">
                <a16:creationId xmlns:a16="http://schemas.microsoft.com/office/drawing/2014/main" id="{54108CD0-26BE-03BE-8B3B-B00576570A3D}"/>
              </a:ext>
            </a:extLst>
          </p:cNvPr>
          <p:cNvSpPr txBox="1"/>
          <p:nvPr/>
        </p:nvSpPr>
        <p:spPr>
          <a:xfrm>
            <a:off x="3238499" y="6255804"/>
            <a:ext cx="5715002" cy="253916"/>
          </a:xfrm>
          <a:prstGeom prst="rect">
            <a:avLst/>
          </a:prstGeom>
          <a:noFill/>
        </p:spPr>
        <p:txBody>
          <a:bodyPr wrap="square" rtlCol="0">
            <a:spAutoFit/>
          </a:bodyPr>
          <a:lstStyle/>
          <a:p>
            <a:r>
              <a:rPr lang="en-US" sz="1050" dirty="0">
                <a:hlinkClick r:id="rId4"/>
              </a:rPr>
              <a:t>https://www.akm.com/global/en/products/rotation-angle-sensor/tutorial/type-mechanism-2/</a:t>
            </a:r>
            <a:r>
              <a:rPr lang="en-US" sz="1050" dirty="0"/>
              <a:t> </a:t>
            </a:r>
          </a:p>
        </p:txBody>
      </p:sp>
      <p:pic>
        <p:nvPicPr>
          <p:cNvPr id="8194" name="Picture 2" descr="Figure 4b. Absolute rotary encoder with 5 rows of slits">
            <a:extLst>
              <a:ext uri="{FF2B5EF4-FFF2-40B4-BE49-F238E27FC236}">
                <a16:creationId xmlns:a16="http://schemas.microsoft.com/office/drawing/2014/main" id="{39F42D80-8E3C-7788-7EF7-17AEA313736D}"/>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852904" y="1072273"/>
            <a:ext cx="8486192" cy="5091715"/>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C3BE46AB-2AA2-E35F-063F-C15DD649FC0D}"/>
              </a:ext>
            </a:extLst>
          </p:cNvPr>
          <p:cNvSpPr txBox="1"/>
          <p:nvPr/>
        </p:nvSpPr>
        <p:spPr>
          <a:xfrm>
            <a:off x="4311650" y="872218"/>
            <a:ext cx="3568700" cy="400110"/>
          </a:xfrm>
          <a:prstGeom prst="rect">
            <a:avLst/>
          </a:prstGeom>
          <a:noFill/>
        </p:spPr>
        <p:txBody>
          <a:bodyPr wrap="square" rtlCol="0">
            <a:spAutoFit/>
          </a:bodyPr>
          <a:lstStyle/>
          <a:p>
            <a:r>
              <a:rPr lang="en-US" sz="2000" dirty="0"/>
              <a:t>What type of encoding is this?</a:t>
            </a:r>
          </a:p>
        </p:txBody>
      </p:sp>
    </p:spTree>
    <p:extLst>
      <p:ext uri="{BB962C8B-B14F-4D97-AF65-F5344CB8AC3E}">
        <p14:creationId xmlns:p14="http://schemas.microsoft.com/office/powerpoint/2010/main" val="12975518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6C55353-89AC-27C9-5422-D933A1794CA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45CF1FDD-F4FB-2D37-7E64-A8B03483764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4CEDC5C-D567-A8AE-3E3C-E4FE01FB189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19BA606-CAED-305C-2BDF-B9B8AA5BE81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A7DC89E-64E1-AFBB-39EC-149A9081B1F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9720C46-3C04-0465-D891-23E573CF12A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F98F4C6-59BD-5BA0-87B1-5611896CE26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09E18DF-FFF1-4EBF-D891-17F4BDDC91A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748D8E5-92F6-3BC6-14E7-7DE07F78671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Online Media 2" title="Gray Code's Error Reduction with Encoders">
            <a:hlinkClick r:id="" action="ppaction://media"/>
            <a:extLst>
              <a:ext uri="{FF2B5EF4-FFF2-40B4-BE49-F238E27FC236}">
                <a16:creationId xmlns:a16="http://schemas.microsoft.com/office/drawing/2014/main" id="{D2C9E5D5-CAAC-223E-3F23-7EEEFA886AB2}"/>
              </a:ext>
            </a:extLst>
          </p:cNvPr>
          <p:cNvPicPr>
            <a:picLocks noRot="1" noChangeAspect="1"/>
          </p:cNvPicPr>
          <p:nvPr>
            <a:videoFile r:link="rId1"/>
          </p:nvPr>
        </p:nvPicPr>
        <p:blipFill>
          <a:blip r:embed="rId5"/>
          <a:stretch>
            <a:fillRect/>
          </a:stretch>
        </p:blipFill>
        <p:spPr>
          <a:xfrm>
            <a:off x="1499354" y="951730"/>
            <a:ext cx="9193292" cy="5194222"/>
          </a:xfrm>
          <a:prstGeom prst="rect">
            <a:avLst/>
          </a:prstGeom>
        </p:spPr>
      </p:pic>
      <p:sp>
        <p:nvSpPr>
          <p:cNvPr id="5" name="TextBox 4">
            <a:extLst>
              <a:ext uri="{FF2B5EF4-FFF2-40B4-BE49-F238E27FC236}">
                <a16:creationId xmlns:a16="http://schemas.microsoft.com/office/drawing/2014/main" id="{2852A0B5-7EFB-FA26-6613-49C02DA41C20}"/>
              </a:ext>
            </a:extLst>
          </p:cNvPr>
          <p:cNvSpPr txBox="1"/>
          <p:nvPr/>
        </p:nvSpPr>
        <p:spPr>
          <a:xfrm>
            <a:off x="5091112" y="6176442"/>
            <a:ext cx="2009775" cy="246221"/>
          </a:xfrm>
          <a:prstGeom prst="rect">
            <a:avLst/>
          </a:prstGeom>
          <a:noFill/>
        </p:spPr>
        <p:txBody>
          <a:bodyPr wrap="square" rtlCol="0">
            <a:spAutoFit/>
          </a:bodyPr>
          <a:lstStyle/>
          <a:p>
            <a:r>
              <a:rPr lang="en-US" sz="1000" dirty="0">
                <a:hlinkClick r:id="rId6"/>
              </a:rPr>
              <a:t>https://youtu.be/VKmMoT5hpVY</a:t>
            </a:r>
            <a:r>
              <a:rPr lang="en-US" sz="1000" dirty="0"/>
              <a:t> </a:t>
            </a:r>
          </a:p>
        </p:txBody>
      </p:sp>
    </p:spTree>
    <p:extLst>
      <p:ext uri="{BB962C8B-B14F-4D97-AF65-F5344CB8AC3E}">
        <p14:creationId xmlns:p14="http://schemas.microsoft.com/office/powerpoint/2010/main" val="36578803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seq concurrent="1" nextAc="seek">
              <p:cTn id="8" restart="whenNotActive" fill="hold" evtFilter="cancelBubble" nodeType="interactiveSeq">
                <p:stCondLst>
                  <p:cond evt="onClick" delay="0">
                    <p:tgtEl>
                      <p:spTgt spid="3"/>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3"/>
                                        </p:tgtEl>
                                      </p:cBhvr>
                                    </p:cmd>
                                  </p:childTnLst>
                                </p:cTn>
                              </p:par>
                            </p:childTnLst>
                          </p:cTn>
                        </p:par>
                      </p:childTnLst>
                    </p:cTn>
                  </p:par>
                </p:childTnLst>
              </p:cTn>
              <p:nextCondLst>
                <p:cond evt="onClick" delay="0">
                  <p:tgtEl>
                    <p:spTgt spid="3"/>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36276E6-E9DB-31B8-B3DE-F1A202B3DD7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FC1A57E9-9EB7-8BCB-9D39-268EB50B9B2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FF8B2962-7F91-6416-4E27-DD6A50B24A8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C4DA5FB-49B3-AFB8-EA34-B2D788ED055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1DFDBF1-E2EE-B73C-D0AB-40D70E4C675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31E89E-FFCF-8B24-88F3-C76568824BD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32F7779-4AA6-8A9A-258B-3FFF0A939E9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6BD2347-5509-FBFD-F0FB-ACE6E92B5ED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2B89F1A-184D-1949-7905-BFF8F103CD6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4" name="TextBox 3">
            <a:extLst>
              <a:ext uri="{FF2B5EF4-FFF2-40B4-BE49-F238E27FC236}">
                <a16:creationId xmlns:a16="http://schemas.microsoft.com/office/drawing/2014/main" id="{477A870E-AEE1-96FD-29BC-7F179664AD64}"/>
              </a:ext>
            </a:extLst>
          </p:cNvPr>
          <p:cNvSpPr txBox="1"/>
          <p:nvPr/>
        </p:nvSpPr>
        <p:spPr>
          <a:xfrm>
            <a:off x="3238499" y="6255804"/>
            <a:ext cx="5715002" cy="253916"/>
          </a:xfrm>
          <a:prstGeom prst="rect">
            <a:avLst/>
          </a:prstGeom>
          <a:noFill/>
        </p:spPr>
        <p:txBody>
          <a:bodyPr wrap="square" rtlCol="0">
            <a:spAutoFit/>
          </a:bodyPr>
          <a:lstStyle/>
          <a:p>
            <a:r>
              <a:rPr lang="en-US" sz="1050" dirty="0">
                <a:hlinkClick r:id="rId4"/>
              </a:rPr>
              <a:t>https://www.akm.com/global/en/products/rotation-angle-sensor/tutorial/type-mechanism-2/</a:t>
            </a:r>
            <a:r>
              <a:rPr lang="en-US" sz="1050" dirty="0"/>
              <a:t> </a:t>
            </a:r>
          </a:p>
        </p:txBody>
      </p:sp>
      <p:pic>
        <p:nvPicPr>
          <p:cNvPr id="9218" name="Picture 2" descr="Figure 7. Parallel output signal and serial converted output signal">
            <a:extLst>
              <a:ext uri="{FF2B5EF4-FFF2-40B4-BE49-F238E27FC236}">
                <a16:creationId xmlns:a16="http://schemas.microsoft.com/office/drawing/2014/main" id="{660DFC84-6DC7-7D59-E703-23FA4CA73638}"/>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333500" y="1047750"/>
            <a:ext cx="9525000" cy="47625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3644667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E3CD54E4-0C40-6FD3-F5CA-EA773DDF0825}"/>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1D243276-44E0-78BB-E292-76C70CE8DD5C}"/>
              </a:ext>
            </a:extLst>
          </p:cNvPr>
          <p:cNvSpPr txBox="1"/>
          <p:nvPr/>
        </p:nvSpPr>
        <p:spPr>
          <a:xfrm>
            <a:off x="1295400" y="3225488"/>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err="1">
                <a:solidFill>
                  <a:srgbClr val="15264B"/>
                </a:solidFill>
                <a:latin typeface="Arial"/>
                <a:ea typeface="Arial"/>
                <a:cs typeface="Arial"/>
                <a:sym typeface="Arial"/>
              </a:rPr>
              <a:t>eQEP</a:t>
            </a:r>
            <a:endParaRPr dirty="0"/>
          </a:p>
        </p:txBody>
      </p:sp>
      <p:grpSp>
        <p:nvGrpSpPr>
          <p:cNvPr id="105" name="Google Shape;105;p28">
            <a:extLst>
              <a:ext uri="{FF2B5EF4-FFF2-40B4-BE49-F238E27FC236}">
                <a16:creationId xmlns:a16="http://schemas.microsoft.com/office/drawing/2014/main" id="{8C57526A-F674-E7E2-1E2B-063F26C56CFC}"/>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1DDBA8EF-D573-40BB-25D8-A8EC3126AF3E}"/>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48AA3ABB-4ACB-BA1A-A383-88C4C5898958}"/>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D65C8EBB-366E-6FBB-C8A7-AC7FD3D110AD}"/>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52F1C70A-E698-4990-1918-3C787FC1F84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42CC0A40-8000-2887-27F0-91773BDE8855}"/>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23D3B9A8-4EB9-455F-6546-31B4F65AB8FB}"/>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622F12F8-0022-8E54-0EEB-63EF4BF1C4C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89574333-BC8E-D993-12BD-E3422E3884C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73864243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2C62D51-0FC3-64FD-11B1-D69631BBC8B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F426973-59C7-93F9-A9F8-9D051F9C6A7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mj-lt"/>
                <a:ea typeface="Arial"/>
                <a:cs typeface="Arial"/>
                <a:sym typeface="Arial"/>
              </a:rPr>
              <a:t>The </a:t>
            </a:r>
            <a:r>
              <a:rPr lang="en-US" sz="2000" dirty="0" err="1">
                <a:latin typeface="+mj-lt"/>
                <a:ea typeface="Arial"/>
                <a:cs typeface="Arial"/>
                <a:sym typeface="Arial"/>
              </a:rPr>
              <a:t>eQEP</a:t>
            </a:r>
            <a:r>
              <a:rPr lang="en-US" sz="2000" dirty="0">
                <a:latin typeface="+mj-lt"/>
                <a:ea typeface="Arial"/>
                <a:cs typeface="Arial"/>
                <a:sym typeface="Arial"/>
              </a:rPr>
              <a:t> peripheral is used to read data from an </a:t>
            </a:r>
            <a:r>
              <a:rPr lang="en-US" sz="2000" b="1" dirty="0">
                <a:latin typeface="+mj-lt"/>
                <a:ea typeface="Arial"/>
                <a:cs typeface="Arial"/>
                <a:sym typeface="Arial"/>
              </a:rPr>
              <a:t>incremental </a:t>
            </a:r>
            <a:r>
              <a:rPr lang="en-US" sz="2000" dirty="0">
                <a:latin typeface="+mj-lt"/>
                <a:ea typeface="Arial"/>
                <a:cs typeface="Arial"/>
                <a:sym typeface="Arial"/>
              </a:rPr>
              <a:t>optical encoder only. </a:t>
            </a: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r>
              <a:rPr lang="en-US" sz="2000" dirty="0">
                <a:latin typeface="+mj-lt"/>
                <a:ea typeface="Arial"/>
                <a:cs typeface="Arial"/>
                <a:sym typeface="Arial"/>
              </a:rPr>
              <a:t>As such what is the main data that needs to be read in?</a:t>
            </a: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r>
              <a:rPr lang="en-US" sz="2000" dirty="0">
                <a:latin typeface="+mj-lt"/>
                <a:ea typeface="Arial"/>
                <a:cs typeface="Arial"/>
                <a:sym typeface="Arial"/>
              </a:rPr>
              <a:t>The 2 phase signals!</a:t>
            </a:r>
          </a:p>
          <a:p>
            <a:pPr marL="0" indent="0">
              <a:lnSpc>
                <a:spcPct val="100000"/>
              </a:lnSpc>
              <a:spcBef>
                <a:spcPts val="0"/>
              </a:spcBef>
              <a:buSzPts val="3000"/>
              <a:buNone/>
            </a:pPr>
            <a:endParaRPr lang="en-US" sz="2000" dirty="0">
              <a:latin typeface="+mj-lt"/>
              <a:ea typeface="Arial"/>
              <a:cs typeface="Arial"/>
              <a:sym typeface="Arial"/>
            </a:endParaRPr>
          </a:p>
          <a:p>
            <a:pPr marL="342900">
              <a:lnSpc>
                <a:spcPct val="100000"/>
              </a:lnSpc>
              <a:spcBef>
                <a:spcPts val="0"/>
              </a:spcBef>
              <a:buSzPts val="3000"/>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p:txBody>
      </p:sp>
      <p:sp>
        <p:nvSpPr>
          <p:cNvPr id="119" name="Google Shape;119;p29">
            <a:extLst>
              <a:ext uri="{FF2B5EF4-FFF2-40B4-BE49-F238E27FC236}">
                <a16:creationId xmlns:a16="http://schemas.microsoft.com/office/drawing/2014/main" id="{91B6396A-A0D6-0DA0-166D-4291599B3A4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3246EBBF-AEB6-B3D2-2367-2A65123BC93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E5C96124-B606-737A-C16B-61A46CDB3E5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8B016EC-15DC-E26C-EDD8-25DF9251A53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233945A-C99F-E520-ED86-AA4780117FA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5E1061D-15CD-F006-D62F-D04057C8E27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AB776D6-5E6E-2CF5-420C-D854B12A528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0935D2F-30AD-5B16-F142-84F08F9F63E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3488945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92ED69E-0B20-FB79-833A-1A5B1156356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EBE1EDAB-C51A-3ACB-860C-E0705D49A9B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BBB01D6-6A2E-CF42-8AB5-E583AD51911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r>
              <a:rPr lang="en-US" sz="2400" dirty="0">
                <a:solidFill>
                  <a:schemeClr val="lt1"/>
                </a:solidFill>
              </a:rPr>
              <a:t> – Overview diagram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70ADD0D-391C-230B-661A-3A2FA0A5A69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79C5838-F436-978A-E6DA-995E6482C16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5EA185A-AB80-2EB8-351F-1340697FEA6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013ED7E-8AEE-9113-10CF-674FD9722E6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5990B77-95CE-D897-9ADD-39484CA8F0A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71E4D37-0C5D-8B23-7BFA-38EEC2BD83E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04C35D3B-231B-85B9-DB11-2976AD0EF31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728913" y="983446"/>
            <a:ext cx="6734174" cy="5540590"/>
          </a:xfrm>
          <a:prstGeom prst="rect">
            <a:avLst/>
          </a:prstGeom>
        </p:spPr>
      </p:pic>
      <p:sp>
        <p:nvSpPr>
          <p:cNvPr id="10" name="Rectangle 9">
            <a:extLst>
              <a:ext uri="{FF2B5EF4-FFF2-40B4-BE49-F238E27FC236}">
                <a16:creationId xmlns:a16="http://schemas.microsoft.com/office/drawing/2014/main" id="{C8050F2B-AB9B-7C63-52E3-9CC8D6F3612F}"/>
              </a:ext>
            </a:extLst>
          </p:cNvPr>
          <p:cNvSpPr/>
          <p:nvPr/>
        </p:nvSpPr>
        <p:spPr>
          <a:xfrm>
            <a:off x="6648999" y="3975652"/>
            <a:ext cx="860635" cy="1722783"/>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Arrow Connector 11">
            <a:extLst>
              <a:ext uri="{FF2B5EF4-FFF2-40B4-BE49-F238E27FC236}">
                <a16:creationId xmlns:a16="http://schemas.microsoft.com/office/drawing/2014/main" id="{E36BCE8C-FDC1-5AD0-3100-212CB50DFDF8}"/>
              </a:ext>
            </a:extLst>
          </p:cNvPr>
          <p:cNvCxnSpPr>
            <a:cxnSpLocks/>
            <a:stCxn id="13" idx="2"/>
            <a:endCxn id="10" idx="0"/>
          </p:cNvCxnSpPr>
          <p:nvPr/>
        </p:nvCxnSpPr>
        <p:spPr>
          <a:xfrm flipH="1">
            <a:off x="7079317" y="3016332"/>
            <a:ext cx="1834267" cy="95932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414E513E-DA77-2A93-88A4-62B911988D05}"/>
              </a:ext>
            </a:extLst>
          </p:cNvPr>
          <p:cNvSpPr txBox="1"/>
          <p:nvPr/>
        </p:nvSpPr>
        <p:spPr>
          <a:xfrm>
            <a:off x="7846770" y="2493112"/>
            <a:ext cx="2133627" cy="523220"/>
          </a:xfrm>
          <a:prstGeom prst="rect">
            <a:avLst/>
          </a:prstGeom>
          <a:noFill/>
        </p:spPr>
        <p:txBody>
          <a:bodyPr wrap="square" rtlCol="0">
            <a:spAutoFit/>
          </a:bodyPr>
          <a:lstStyle/>
          <a:p>
            <a:r>
              <a:rPr lang="en-US" dirty="0">
                <a:solidFill>
                  <a:srgbClr val="FF0000"/>
                </a:solidFill>
              </a:rPr>
              <a:t>Does the decoding base on the phase signal</a:t>
            </a:r>
          </a:p>
        </p:txBody>
      </p:sp>
    </p:spTree>
    <p:extLst>
      <p:ext uri="{BB962C8B-B14F-4D97-AF65-F5344CB8AC3E}">
        <p14:creationId xmlns:p14="http://schemas.microsoft.com/office/powerpoint/2010/main" val="34931688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90801B3-E655-E3DE-5EE3-EE36267FA4F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94B0474-A6FD-FC09-3FAF-84EC4B5FAC2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lgn="l">
              <a:buNone/>
            </a:pPr>
            <a:r>
              <a:rPr lang="en-US" sz="1800" dirty="0">
                <a:solidFill>
                  <a:srgbClr val="3F7F5F"/>
                </a:solidFill>
                <a:latin typeface="Consolas" panose="020B0609020204030204" pitchFamily="49" charset="0"/>
              </a:rPr>
              <a:t>// setup eQEP1 pins for input</a:t>
            </a:r>
          </a:p>
          <a:p>
            <a:pPr marL="114300" indent="0" algn="l">
              <a:buNone/>
            </a:pPr>
            <a:r>
              <a:rPr lang="en-US" sz="1800" dirty="0">
                <a:solidFill>
                  <a:srgbClr val="000000"/>
                </a:solidFill>
                <a:latin typeface="Consolas" panose="020B0609020204030204" pitchFamily="49" charset="0"/>
              </a:rPr>
              <a:t>EALLOW;</a:t>
            </a:r>
          </a:p>
          <a:p>
            <a:pPr marL="114300" indent="0" algn="l">
              <a:buNone/>
            </a:pPr>
            <a:r>
              <a:rPr lang="en-US" sz="1800" dirty="0">
                <a:solidFill>
                  <a:srgbClr val="3F7F5F"/>
                </a:solidFill>
                <a:latin typeface="Consolas" panose="020B0609020204030204" pitchFamily="49" charset="0"/>
              </a:rPr>
              <a:t>//Disable internal pull-up for the selected output pins for reduced power consumption</a:t>
            </a:r>
          </a:p>
          <a:p>
            <a:pPr marL="114300" indent="0" algn="l">
              <a:buNone/>
            </a:pPr>
            <a:r>
              <a:rPr lang="en-US" sz="1800" dirty="0">
                <a:solidFill>
                  <a:srgbClr val="000000"/>
                </a:solidFill>
                <a:latin typeface="Consolas" panose="020B0609020204030204" pitchFamily="49" charset="0"/>
              </a:rPr>
              <a:t>GpioCtrlRegs.</a:t>
            </a:r>
            <a:r>
              <a:rPr lang="en-US" sz="1800" dirty="0">
                <a:solidFill>
                  <a:srgbClr val="0000C0"/>
                </a:solidFill>
                <a:latin typeface="Consolas" panose="020B0609020204030204" pitchFamily="49" charset="0"/>
              </a:rPr>
              <a:t>GPAPUD</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bit</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GPIO20</a:t>
            </a:r>
            <a:r>
              <a:rPr lang="en-US" sz="1800" dirty="0">
                <a:solidFill>
                  <a:srgbClr val="000000"/>
                </a:solidFill>
                <a:latin typeface="Consolas" panose="020B0609020204030204" pitchFamily="49" charset="0"/>
              </a:rPr>
              <a:t> = 1;    </a:t>
            </a:r>
            <a:r>
              <a:rPr lang="en-US" sz="1800" dirty="0">
                <a:solidFill>
                  <a:srgbClr val="3F7F5F"/>
                </a:solidFill>
                <a:latin typeface="Consolas" panose="020B0609020204030204" pitchFamily="49" charset="0"/>
              </a:rPr>
              <a:t>// Disable pull-up on GPIO20 (EQEP1A)</a:t>
            </a:r>
          </a:p>
          <a:p>
            <a:pPr marL="114300" indent="0" algn="l">
              <a:buNone/>
            </a:pPr>
            <a:r>
              <a:rPr lang="en-US" sz="1800" dirty="0">
                <a:solidFill>
                  <a:srgbClr val="000000"/>
                </a:solidFill>
                <a:latin typeface="Consolas" panose="020B0609020204030204" pitchFamily="49" charset="0"/>
              </a:rPr>
              <a:t>GpioCtrlRegs.</a:t>
            </a:r>
            <a:r>
              <a:rPr lang="en-US" sz="1800" dirty="0">
                <a:solidFill>
                  <a:srgbClr val="0000C0"/>
                </a:solidFill>
                <a:latin typeface="Consolas" panose="020B0609020204030204" pitchFamily="49" charset="0"/>
              </a:rPr>
              <a:t>GPAPUD</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bit</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GPIO21</a:t>
            </a:r>
            <a:r>
              <a:rPr lang="en-US" sz="1800" dirty="0">
                <a:solidFill>
                  <a:srgbClr val="000000"/>
                </a:solidFill>
                <a:latin typeface="Consolas" panose="020B0609020204030204" pitchFamily="49" charset="0"/>
              </a:rPr>
              <a:t> = 1;    </a:t>
            </a:r>
            <a:r>
              <a:rPr lang="en-US" sz="1800" dirty="0">
                <a:solidFill>
                  <a:srgbClr val="3F7F5F"/>
                </a:solidFill>
                <a:latin typeface="Consolas" panose="020B0609020204030204" pitchFamily="49" charset="0"/>
              </a:rPr>
              <a:t>// Disable pull-up on GPIO21 (EQEP1B)</a:t>
            </a:r>
          </a:p>
          <a:p>
            <a:pPr marL="114300" indent="0" algn="l">
              <a:buNone/>
            </a:pPr>
            <a:r>
              <a:rPr lang="en-US" sz="1800" dirty="0">
                <a:solidFill>
                  <a:srgbClr val="000000"/>
                </a:solidFill>
                <a:latin typeface="Consolas" panose="020B0609020204030204" pitchFamily="49" charset="0"/>
              </a:rPr>
              <a:t>GpioCtrlRegs.</a:t>
            </a:r>
            <a:r>
              <a:rPr lang="en-US" sz="1800" dirty="0">
                <a:solidFill>
                  <a:srgbClr val="0000C0"/>
                </a:solidFill>
                <a:latin typeface="Consolas" panose="020B0609020204030204" pitchFamily="49" charset="0"/>
              </a:rPr>
              <a:t>GPAQSEL2</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bit</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GPIO20</a:t>
            </a:r>
            <a:r>
              <a:rPr lang="en-US" sz="1800" dirty="0">
                <a:solidFill>
                  <a:srgbClr val="000000"/>
                </a:solidFill>
                <a:latin typeface="Consolas" panose="020B0609020204030204" pitchFamily="49" charset="0"/>
              </a:rPr>
              <a:t> = 2;   </a:t>
            </a:r>
            <a:r>
              <a:rPr lang="en-US" sz="1800" dirty="0">
                <a:solidFill>
                  <a:srgbClr val="3F7F5F"/>
                </a:solidFill>
                <a:latin typeface="Consolas" panose="020B0609020204030204" pitchFamily="49" charset="0"/>
              </a:rPr>
              <a:t>// Qual every 6 samples</a:t>
            </a:r>
          </a:p>
          <a:p>
            <a:pPr marL="114300" indent="0" algn="l">
              <a:buNone/>
            </a:pPr>
            <a:r>
              <a:rPr lang="en-US" sz="1800" dirty="0">
                <a:solidFill>
                  <a:srgbClr val="000000"/>
                </a:solidFill>
                <a:latin typeface="Consolas" panose="020B0609020204030204" pitchFamily="49" charset="0"/>
              </a:rPr>
              <a:t>GpioCtrlRegs.</a:t>
            </a:r>
            <a:r>
              <a:rPr lang="en-US" sz="1800" dirty="0">
                <a:solidFill>
                  <a:srgbClr val="0000C0"/>
                </a:solidFill>
                <a:latin typeface="Consolas" panose="020B0609020204030204" pitchFamily="49" charset="0"/>
              </a:rPr>
              <a:t>GPAQSEL2</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bit</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GPIO21</a:t>
            </a:r>
            <a:r>
              <a:rPr lang="en-US" sz="1800" dirty="0">
                <a:solidFill>
                  <a:srgbClr val="000000"/>
                </a:solidFill>
                <a:latin typeface="Consolas" panose="020B0609020204030204" pitchFamily="49" charset="0"/>
              </a:rPr>
              <a:t> = 2;   </a:t>
            </a:r>
            <a:r>
              <a:rPr lang="en-US" sz="1800" dirty="0">
                <a:solidFill>
                  <a:srgbClr val="3F7F5F"/>
                </a:solidFill>
                <a:latin typeface="Consolas" panose="020B0609020204030204" pitchFamily="49" charset="0"/>
              </a:rPr>
              <a:t>// Qual every 6 samples</a:t>
            </a:r>
          </a:p>
          <a:p>
            <a:pPr marL="114300" indent="0" algn="l">
              <a:buNone/>
            </a:pPr>
            <a:r>
              <a:rPr lang="en-US" sz="1800" dirty="0">
                <a:solidFill>
                  <a:srgbClr val="000000"/>
                </a:solidFill>
                <a:latin typeface="Consolas" panose="020B0609020204030204" pitchFamily="49" charset="0"/>
              </a:rPr>
              <a:t>EDIS;</a:t>
            </a:r>
            <a:endParaRPr lang="en-US" sz="1800" b="0" dirty="0">
              <a:solidFill>
                <a:srgbClr val="3B3B3B"/>
              </a:solidFill>
              <a:effectLst/>
              <a:latin typeface="Consolas" panose="020B0609020204030204" pitchFamily="49" charset="0"/>
            </a:endParaRPr>
          </a:p>
        </p:txBody>
      </p:sp>
      <p:sp>
        <p:nvSpPr>
          <p:cNvPr id="119" name="Google Shape;119;p29">
            <a:extLst>
              <a:ext uri="{FF2B5EF4-FFF2-40B4-BE49-F238E27FC236}">
                <a16:creationId xmlns:a16="http://schemas.microsoft.com/office/drawing/2014/main" id="{C240B9D8-9716-E45F-F65B-292CCED4FAB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B3770E55-B10E-752F-EF58-AC588C6A54C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4ABF717-126E-C7B3-E29B-4950C01D49B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DB8D74D-CC10-80B2-AAC5-FFDA24F21D2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9578F0C-8684-2D0A-A185-7FFB5B9BF04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969C77B-BE32-4D78-68FA-53B6A518473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4D29149-0385-2CAE-D76D-D8A4F66FB96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C21AF02-5C1C-7BBF-FF6D-94B4EC4EDDE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34682974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7FDF758-082D-AD8A-2276-18BADEA960A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AB7F1AA-D7BF-3138-FC1A-BD2E5936CFA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The number of times the signal is sampled is either three samples or six samples as specified in the qualification selection (GPAQSEL1, GPAQSEL2, GPBQSEL1, and GPBQSEL2) registers. When three or six consecutive cycles are the same, then the input change will be passed through to the MCU.</a:t>
            </a:r>
          </a:p>
          <a:p>
            <a:pPr marL="114300" indent="0">
              <a:buNone/>
            </a:pPr>
            <a:endParaRPr lang="en-US" sz="1800" dirty="0">
              <a:latin typeface="+mj-lt"/>
            </a:endParaRPr>
          </a:p>
          <a:p>
            <a:pPr marL="114300" indent="0">
              <a:buNone/>
            </a:pPr>
            <a:r>
              <a:rPr lang="en-US" sz="1800" dirty="0">
                <a:latin typeface="+mj-lt"/>
              </a:rPr>
              <a:t>All the samples must be </a:t>
            </a:r>
            <a:r>
              <a:rPr lang="en-US" sz="1800" b="1" dirty="0">
                <a:latin typeface="+mj-lt"/>
              </a:rPr>
              <a:t>consistent within that sampling period </a:t>
            </a:r>
            <a:r>
              <a:rPr lang="en-US" sz="1800" dirty="0">
                <a:latin typeface="+mj-lt"/>
              </a:rPr>
              <a:t>to change its output for the next output range.</a:t>
            </a:r>
          </a:p>
          <a:p>
            <a:pPr marL="114300" indent="0">
              <a:buNone/>
            </a:pPr>
            <a:endParaRPr lang="en-US" sz="1800" dirty="0">
              <a:latin typeface="+mj-lt"/>
            </a:endParaRPr>
          </a:p>
          <a:p>
            <a:pPr marL="114300" indent="0">
              <a:buNone/>
            </a:pPr>
            <a:r>
              <a:rPr lang="en-US" sz="1800" dirty="0">
                <a:latin typeface="+mj-lt"/>
              </a:rPr>
              <a:t>Helps with reducing noise as a random change would not change the result.</a:t>
            </a:r>
          </a:p>
        </p:txBody>
      </p:sp>
      <p:sp>
        <p:nvSpPr>
          <p:cNvPr id="119" name="Google Shape;119;p29">
            <a:extLst>
              <a:ext uri="{FF2B5EF4-FFF2-40B4-BE49-F238E27FC236}">
                <a16:creationId xmlns:a16="http://schemas.microsoft.com/office/drawing/2014/main" id="{69EF0A18-6D5A-2FC6-7FF9-08D02B9E709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13C0DDD-FA35-2E26-4F31-02095837B28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r>
              <a:rPr lang="en-US" sz="2400" dirty="0">
                <a:solidFill>
                  <a:schemeClr val="lt1"/>
                </a:solidFill>
              </a:rPr>
              <a:t> - </a:t>
            </a:r>
            <a:r>
              <a:rPr lang="en-US" sz="2400" dirty="0" err="1">
                <a:solidFill>
                  <a:schemeClr val="lt1"/>
                </a:solidFill>
              </a:rPr>
              <a:t>QPxQSELn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773ECAC6-C7FC-FA2C-0F8E-A0812B9C29B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29DB398-C798-FF11-6D85-285149736D0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CE1C3AC-DBF0-2AA1-DAB2-956EA819A68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5B46A49-53EA-EFEF-0DDA-E3599149DBF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11410A7-8074-34AB-AB63-7B47DFEEE30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7C3E05F-6ECF-CBB9-1E8C-858F0B0F4C8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19286146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64BBAA3-E76D-7EF2-AA2C-245C5A5DD54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A44DE4F-D4BB-B939-9450-6D8F85CCEEF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E186937-83C2-5550-A6A4-7B3A48D3A1F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r>
              <a:rPr lang="en-US" sz="2400" dirty="0">
                <a:solidFill>
                  <a:schemeClr val="lt1"/>
                </a:solidFill>
              </a:rPr>
              <a:t> - </a:t>
            </a:r>
            <a:r>
              <a:rPr lang="en-US" sz="2400" dirty="0" err="1">
                <a:solidFill>
                  <a:schemeClr val="lt1"/>
                </a:solidFill>
              </a:rPr>
              <a:t>QPxQSELn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050405E8-15E5-FB7A-1C33-64114F76236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9AA0FF7-25B7-4516-1A34-E596433AEF5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677B58A-CF70-F7B6-F335-10D31ED9E7B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F4DB08C-0D2A-CDE2-446F-961243DFACD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3F595AF-3325-D859-CE61-28F42E40565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D699630-5C88-D440-DA72-31F1540885F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5DF49792-1753-1EF4-6C86-6062DEE964F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00597" y="1158044"/>
            <a:ext cx="10990805" cy="4946982"/>
          </a:xfrm>
          <a:prstGeom prst="rect">
            <a:avLst/>
          </a:prstGeom>
        </p:spPr>
      </p:pic>
      <p:grpSp>
        <p:nvGrpSpPr>
          <p:cNvPr id="19" name="Group 18">
            <a:extLst>
              <a:ext uri="{FF2B5EF4-FFF2-40B4-BE49-F238E27FC236}">
                <a16:creationId xmlns:a16="http://schemas.microsoft.com/office/drawing/2014/main" id="{4BD283F9-8A3E-BA24-AB99-6424865E7189}"/>
              </a:ext>
            </a:extLst>
          </p:cNvPr>
          <p:cNvGrpSpPr/>
          <p:nvPr/>
        </p:nvGrpSpPr>
        <p:grpSpPr>
          <a:xfrm>
            <a:off x="376808" y="1666875"/>
            <a:ext cx="4823842" cy="1866245"/>
            <a:chOff x="376808" y="1666875"/>
            <a:chExt cx="4823842" cy="1866245"/>
          </a:xfrm>
        </p:grpSpPr>
        <p:sp>
          <p:nvSpPr>
            <p:cNvPr id="6" name="Rectangle 5">
              <a:extLst>
                <a:ext uri="{FF2B5EF4-FFF2-40B4-BE49-F238E27FC236}">
                  <a16:creationId xmlns:a16="http://schemas.microsoft.com/office/drawing/2014/main" id="{CFCC6E0D-F993-F1A1-7004-03359FEF062C}"/>
                </a:ext>
              </a:extLst>
            </p:cNvPr>
            <p:cNvSpPr/>
            <p:nvPr/>
          </p:nvSpPr>
          <p:spPr>
            <a:xfrm>
              <a:off x="2990850" y="1666875"/>
              <a:ext cx="2209800" cy="6096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 name="Straight Arrow Connector 7">
              <a:extLst>
                <a:ext uri="{FF2B5EF4-FFF2-40B4-BE49-F238E27FC236}">
                  <a16:creationId xmlns:a16="http://schemas.microsoft.com/office/drawing/2014/main" id="{80F5A011-D0FB-FEB1-3754-D16DE0C0C715}"/>
                </a:ext>
              </a:extLst>
            </p:cNvPr>
            <p:cNvCxnSpPr>
              <a:cxnSpLocks/>
              <a:stCxn id="9" idx="3"/>
              <a:endCxn id="6" idx="2"/>
            </p:cNvCxnSpPr>
            <p:nvPr/>
          </p:nvCxnSpPr>
          <p:spPr>
            <a:xfrm flipV="1">
              <a:off x="2662164" y="2276475"/>
              <a:ext cx="1433586" cy="995035"/>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AC0F585C-AADA-CEBF-A9D7-4420E873BFA0}"/>
                </a:ext>
              </a:extLst>
            </p:cNvPr>
            <p:cNvSpPr txBox="1"/>
            <p:nvPr/>
          </p:nvSpPr>
          <p:spPr>
            <a:xfrm>
              <a:off x="376808" y="3009900"/>
              <a:ext cx="2285356" cy="523220"/>
            </a:xfrm>
            <a:prstGeom prst="rect">
              <a:avLst/>
            </a:prstGeom>
            <a:noFill/>
          </p:spPr>
          <p:txBody>
            <a:bodyPr wrap="square" rtlCol="0">
              <a:spAutoFit/>
            </a:bodyPr>
            <a:lstStyle/>
            <a:p>
              <a:r>
                <a:rPr lang="en-US" dirty="0">
                  <a:solidFill>
                    <a:srgbClr val="FF0000"/>
                  </a:solidFill>
                </a:rPr>
                <a:t>All samples are 0, change output next cycle to be 0!</a:t>
              </a:r>
            </a:p>
          </p:txBody>
        </p:sp>
      </p:grpSp>
      <p:grpSp>
        <p:nvGrpSpPr>
          <p:cNvPr id="24" name="Group 23">
            <a:extLst>
              <a:ext uri="{FF2B5EF4-FFF2-40B4-BE49-F238E27FC236}">
                <a16:creationId xmlns:a16="http://schemas.microsoft.com/office/drawing/2014/main" id="{A0479891-0663-9584-308E-53B84E1CBC2E}"/>
              </a:ext>
            </a:extLst>
          </p:cNvPr>
          <p:cNvGrpSpPr/>
          <p:nvPr/>
        </p:nvGrpSpPr>
        <p:grpSpPr>
          <a:xfrm>
            <a:off x="4095750" y="2276475"/>
            <a:ext cx="3314700" cy="3728281"/>
            <a:chOff x="4095750" y="2276475"/>
            <a:chExt cx="3314700" cy="3728281"/>
          </a:xfrm>
        </p:grpSpPr>
        <p:sp>
          <p:nvSpPr>
            <p:cNvPr id="18" name="Rectangle 17">
              <a:extLst>
                <a:ext uri="{FF2B5EF4-FFF2-40B4-BE49-F238E27FC236}">
                  <a16:creationId xmlns:a16="http://schemas.microsoft.com/office/drawing/2014/main" id="{7B69F33C-A986-9D6D-20FA-2F3281F8C0D6}"/>
                </a:ext>
              </a:extLst>
            </p:cNvPr>
            <p:cNvSpPr/>
            <p:nvPr/>
          </p:nvSpPr>
          <p:spPr>
            <a:xfrm>
              <a:off x="5200650" y="5395156"/>
              <a:ext cx="2209800" cy="6096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1F15D8CB-0B0E-8469-6298-0682DDA39675}"/>
                </a:ext>
              </a:extLst>
            </p:cNvPr>
            <p:cNvCxnSpPr>
              <a:stCxn id="6" idx="2"/>
              <a:endCxn id="18" idx="0"/>
            </p:cNvCxnSpPr>
            <p:nvPr/>
          </p:nvCxnSpPr>
          <p:spPr>
            <a:xfrm>
              <a:off x="4095750" y="2276475"/>
              <a:ext cx="2209800" cy="311868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42919934-3565-1C0F-F86C-97868B027D9A}"/>
                </a:ext>
              </a:extLst>
            </p:cNvPr>
            <p:cNvSpPr txBox="1"/>
            <p:nvPr/>
          </p:nvSpPr>
          <p:spPr>
            <a:xfrm>
              <a:off x="5410200" y="5531090"/>
              <a:ext cx="1790700" cy="307777"/>
            </a:xfrm>
            <a:prstGeom prst="rect">
              <a:avLst/>
            </a:prstGeom>
            <a:noFill/>
          </p:spPr>
          <p:txBody>
            <a:bodyPr wrap="square" rtlCol="0">
              <a:spAutoFit/>
            </a:bodyPr>
            <a:lstStyle/>
            <a:p>
              <a:r>
                <a:rPr lang="en-US" dirty="0">
                  <a:solidFill>
                    <a:srgbClr val="FF0000"/>
                  </a:solidFill>
                </a:rPr>
                <a:t>Set GPIO value to 0</a:t>
              </a:r>
            </a:p>
          </p:txBody>
        </p:sp>
      </p:grpSp>
      <p:grpSp>
        <p:nvGrpSpPr>
          <p:cNvPr id="25" name="Group 24">
            <a:extLst>
              <a:ext uri="{FF2B5EF4-FFF2-40B4-BE49-F238E27FC236}">
                <a16:creationId xmlns:a16="http://schemas.microsoft.com/office/drawing/2014/main" id="{A13FB011-C719-E0A5-2737-2AC41EA1F644}"/>
              </a:ext>
            </a:extLst>
          </p:cNvPr>
          <p:cNvGrpSpPr/>
          <p:nvPr/>
        </p:nvGrpSpPr>
        <p:grpSpPr>
          <a:xfrm>
            <a:off x="2662164" y="1666875"/>
            <a:ext cx="4748286" cy="2278767"/>
            <a:chOff x="452364" y="1666875"/>
            <a:chExt cx="4748286" cy="2278767"/>
          </a:xfrm>
        </p:grpSpPr>
        <p:sp>
          <p:nvSpPr>
            <p:cNvPr id="26" name="Rectangle 25">
              <a:extLst>
                <a:ext uri="{FF2B5EF4-FFF2-40B4-BE49-F238E27FC236}">
                  <a16:creationId xmlns:a16="http://schemas.microsoft.com/office/drawing/2014/main" id="{AB891892-6A16-C719-06BB-43C7D519D6B6}"/>
                </a:ext>
              </a:extLst>
            </p:cNvPr>
            <p:cNvSpPr/>
            <p:nvPr/>
          </p:nvSpPr>
          <p:spPr>
            <a:xfrm>
              <a:off x="2990850" y="1666875"/>
              <a:ext cx="2209800" cy="6096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 name="Straight Arrow Connector 26">
              <a:extLst>
                <a:ext uri="{FF2B5EF4-FFF2-40B4-BE49-F238E27FC236}">
                  <a16:creationId xmlns:a16="http://schemas.microsoft.com/office/drawing/2014/main" id="{1FCB4E3E-FFB7-E7A6-2E95-27D0E460C2CB}"/>
                </a:ext>
              </a:extLst>
            </p:cNvPr>
            <p:cNvCxnSpPr>
              <a:cxnSpLocks/>
              <a:stCxn id="28" idx="3"/>
              <a:endCxn id="26" idx="2"/>
            </p:cNvCxnSpPr>
            <p:nvPr/>
          </p:nvCxnSpPr>
          <p:spPr>
            <a:xfrm flipV="1">
              <a:off x="2737720" y="2276475"/>
              <a:ext cx="1358030" cy="1299835"/>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8" name="TextBox 27">
              <a:extLst>
                <a:ext uri="{FF2B5EF4-FFF2-40B4-BE49-F238E27FC236}">
                  <a16:creationId xmlns:a16="http://schemas.microsoft.com/office/drawing/2014/main" id="{F3DBF222-7138-F845-67F2-5BE224D9C588}"/>
                </a:ext>
              </a:extLst>
            </p:cNvPr>
            <p:cNvSpPr txBox="1"/>
            <p:nvPr/>
          </p:nvSpPr>
          <p:spPr>
            <a:xfrm>
              <a:off x="452364" y="3206978"/>
              <a:ext cx="2285356" cy="738664"/>
            </a:xfrm>
            <a:prstGeom prst="rect">
              <a:avLst/>
            </a:prstGeom>
            <a:noFill/>
          </p:spPr>
          <p:txBody>
            <a:bodyPr wrap="square" rtlCol="0">
              <a:spAutoFit/>
            </a:bodyPr>
            <a:lstStyle/>
            <a:p>
              <a:r>
                <a:rPr lang="en-US" dirty="0">
                  <a:solidFill>
                    <a:srgbClr val="FF0000"/>
                  </a:solidFill>
                </a:rPr>
                <a:t>Not all samples are 0, keep the output next cycle to be 0!</a:t>
              </a:r>
            </a:p>
          </p:txBody>
        </p:sp>
      </p:grpSp>
      <p:grpSp>
        <p:nvGrpSpPr>
          <p:cNvPr id="29" name="Group 28">
            <a:extLst>
              <a:ext uri="{FF2B5EF4-FFF2-40B4-BE49-F238E27FC236}">
                <a16:creationId xmlns:a16="http://schemas.microsoft.com/office/drawing/2014/main" id="{F8B3B737-992F-EA40-5EA2-85B264C5973F}"/>
              </a:ext>
            </a:extLst>
          </p:cNvPr>
          <p:cNvGrpSpPr/>
          <p:nvPr/>
        </p:nvGrpSpPr>
        <p:grpSpPr>
          <a:xfrm>
            <a:off x="6305550" y="2273509"/>
            <a:ext cx="3314700" cy="3728281"/>
            <a:chOff x="4095750" y="2276475"/>
            <a:chExt cx="3314700" cy="3728281"/>
          </a:xfrm>
        </p:grpSpPr>
        <p:sp>
          <p:nvSpPr>
            <p:cNvPr id="30" name="Rectangle 29">
              <a:extLst>
                <a:ext uri="{FF2B5EF4-FFF2-40B4-BE49-F238E27FC236}">
                  <a16:creationId xmlns:a16="http://schemas.microsoft.com/office/drawing/2014/main" id="{DC5DDF56-940D-B56F-7293-D793B73ABE51}"/>
                </a:ext>
              </a:extLst>
            </p:cNvPr>
            <p:cNvSpPr/>
            <p:nvPr/>
          </p:nvSpPr>
          <p:spPr>
            <a:xfrm>
              <a:off x="5200650" y="5395156"/>
              <a:ext cx="2209800" cy="6096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1" name="Straight Arrow Connector 30">
              <a:extLst>
                <a:ext uri="{FF2B5EF4-FFF2-40B4-BE49-F238E27FC236}">
                  <a16:creationId xmlns:a16="http://schemas.microsoft.com/office/drawing/2014/main" id="{6AE5922C-EA3F-7156-73A7-99DEBD06DC07}"/>
                </a:ext>
              </a:extLst>
            </p:cNvPr>
            <p:cNvCxnSpPr>
              <a:endCxn id="30" idx="0"/>
            </p:cNvCxnSpPr>
            <p:nvPr/>
          </p:nvCxnSpPr>
          <p:spPr>
            <a:xfrm>
              <a:off x="4095750" y="2276475"/>
              <a:ext cx="2209800" cy="311868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2" name="TextBox 31">
              <a:extLst>
                <a:ext uri="{FF2B5EF4-FFF2-40B4-BE49-F238E27FC236}">
                  <a16:creationId xmlns:a16="http://schemas.microsoft.com/office/drawing/2014/main" id="{E88BEE57-389B-39D4-D8E1-C7397B3522CD}"/>
                </a:ext>
              </a:extLst>
            </p:cNvPr>
            <p:cNvSpPr txBox="1"/>
            <p:nvPr/>
          </p:nvSpPr>
          <p:spPr>
            <a:xfrm>
              <a:off x="5305425" y="5544574"/>
              <a:ext cx="2000250" cy="307777"/>
            </a:xfrm>
            <a:prstGeom prst="rect">
              <a:avLst/>
            </a:prstGeom>
            <a:noFill/>
          </p:spPr>
          <p:txBody>
            <a:bodyPr wrap="square" rtlCol="0">
              <a:spAutoFit/>
            </a:bodyPr>
            <a:lstStyle/>
            <a:p>
              <a:r>
                <a:rPr lang="en-US" dirty="0">
                  <a:solidFill>
                    <a:srgbClr val="FF0000"/>
                  </a:solidFill>
                </a:rPr>
                <a:t>Keep GPIO value to 0</a:t>
              </a:r>
            </a:p>
          </p:txBody>
        </p:sp>
      </p:grpSp>
      <p:grpSp>
        <p:nvGrpSpPr>
          <p:cNvPr id="37" name="Group 36">
            <a:extLst>
              <a:ext uri="{FF2B5EF4-FFF2-40B4-BE49-F238E27FC236}">
                <a16:creationId xmlns:a16="http://schemas.microsoft.com/office/drawing/2014/main" id="{10261063-B36C-F8F4-27C2-675A1BB2EDC1}"/>
              </a:ext>
            </a:extLst>
          </p:cNvPr>
          <p:cNvGrpSpPr/>
          <p:nvPr/>
        </p:nvGrpSpPr>
        <p:grpSpPr>
          <a:xfrm>
            <a:off x="7410450" y="1666875"/>
            <a:ext cx="4576299" cy="2081689"/>
            <a:chOff x="2990850" y="1666875"/>
            <a:chExt cx="4576299" cy="2081689"/>
          </a:xfrm>
        </p:grpSpPr>
        <p:sp>
          <p:nvSpPr>
            <p:cNvPr id="38" name="Rectangle 37">
              <a:extLst>
                <a:ext uri="{FF2B5EF4-FFF2-40B4-BE49-F238E27FC236}">
                  <a16:creationId xmlns:a16="http://schemas.microsoft.com/office/drawing/2014/main" id="{BD1BC2AE-84FC-168E-C9D9-04C0ABBB2E6D}"/>
                </a:ext>
              </a:extLst>
            </p:cNvPr>
            <p:cNvSpPr/>
            <p:nvPr/>
          </p:nvSpPr>
          <p:spPr>
            <a:xfrm>
              <a:off x="2990850" y="1666875"/>
              <a:ext cx="2209800" cy="6096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9" name="Straight Arrow Connector 38">
              <a:extLst>
                <a:ext uri="{FF2B5EF4-FFF2-40B4-BE49-F238E27FC236}">
                  <a16:creationId xmlns:a16="http://schemas.microsoft.com/office/drawing/2014/main" id="{6F9CDE7C-F5A1-9FBF-1FCB-9D2CA630BF17}"/>
                </a:ext>
              </a:extLst>
            </p:cNvPr>
            <p:cNvCxnSpPr>
              <a:cxnSpLocks/>
              <a:stCxn id="40" idx="0"/>
              <a:endCxn id="38" idx="2"/>
            </p:cNvCxnSpPr>
            <p:nvPr/>
          </p:nvCxnSpPr>
          <p:spPr>
            <a:xfrm flipH="1" flipV="1">
              <a:off x="4095750" y="2276475"/>
              <a:ext cx="2331012" cy="948869"/>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 name="TextBox 39">
              <a:extLst>
                <a:ext uri="{FF2B5EF4-FFF2-40B4-BE49-F238E27FC236}">
                  <a16:creationId xmlns:a16="http://schemas.microsoft.com/office/drawing/2014/main" id="{6C6EA8E4-FF40-BA52-6B67-3F70F8866495}"/>
                </a:ext>
              </a:extLst>
            </p:cNvPr>
            <p:cNvSpPr txBox="1"/>
            <p:nvPr/>
          </p:nvSpPr>
          <p:spPr>
            <a:xfrm>
              <a:off x="5286374" y="3225344"/>
              <a:ext cx="2280775" cy="523220"/>
            </a:xfrm>
            <a:prstGeom prst="rect">
              <a:avLst/>
            </a:prstGeom>
            <a:noFill/>
          </p:spPr>
          <p:txBody>
            <a:bodyPr wrap="square" rtlCol="0">
              <a:spAutoFit/>
            </a:bodyPr>
            <a:lstStyle/>
            <a:p>
              <a:r>
                <a:rPr lang="en-US" dirty="0">
                  <a:solidFill>
                    <a:srgbClr val="FF0000"/>
                  </a:solidFill>
                </a:rPr>
                <a:t>All samples are 1, change output next cycle to be 1!</a:t>
              </a:r>
            </a:p>
          </p:txBody>
        </p:sp>
      </p:grpSp>
      <p:grpSp>
        <p:nvGrpSpPr>
          <p:cNvPr id="47" name="Group 46">
            <a:extLst>
              <a:ext uri="{FF2B5EF4-FFF2-40B4-BE49-F238E27FC236}">
                <a16:creationId xmlns:a16="http://schemas.microsoft.com/office/drawing/2014/main" id="{AA84F45F-0C06-0515-BA3D-E7A08246A8CC}"/>
              </a:ext>
            </a:extLst>
          </p:cNvPr>
          <p:cNvGrpSpPr/>
          <p:nvPr/>
        </p:nvGrpSpPr>
        <p:grpSpPr>
          <a:xfrm>
            <a:off x="8515350" y="2273509"/>
            <a:ext cx="3314700" cy="3728281"/>
            <a:chOff x="4095750" y="2276475"/>
            <a:chExt cx="3314700" cy="3728281"/>
          </a:xfrm>
        </p:grpSpPr>
        <p:sp>
          <p:nvSpPr>
            <p:cNvPr id="48" name="Rectangle 47">
              <a:extLst>
                <a:ext uri="{FF2B5EF4-FFF2-40B4-BE49-F238E27FC236}">
                  <a16:creationId xmlns:a16="http://schemas.microsoft.com/office/drawing/2014/main" id="{16E76DD5-BDE9-5CCB-0EE8-469340CF94F6}"/>
                </a:ext>
              </a:extLst>
            </p:cNvPr>
            <p:cNvSpPr/>
            <p:nvPr/>
          </p:nvSpPr>
          <p:spPr>
            <a:xfrm>
              <a:off x="5200650" y="5395156"/>
              <a:ext cx="2209800" cy="6096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9" name="Straight Arrow Connector 48">
              <a:extLst>
                <a:ext uri="{FF2B5EF4-FFF2-40B4-BE49-F238E27FC236}">
                  <a16:creationId xmlns:a16="http://schemas.microsoft.com/office/drawing/2014/main" id="{A731CCE3-807E-BDDA-8548-D78DB8925AD5}"/>
                </a:ext>
              </a:extLst>
            </p:cNvPr>
            <p:cNvCxnSpPr>
              <a:endCxn id="48" idx="0"/>
            </p:cNvCxnSpPr>
            <p:nvPr/>
          </p:nvCxnSpPr>
          <p:spPr>
            <a:xfrm>
              <a:off x="4095750" y="2276475"/>
              <a:ext cx="2209800" cy="311868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0" name="TextBox 49">
              <a:extLst>
                <a:ext uri="{FF2B5EF4-FFF2-40B4-BE49-F238E27FC236}">
                  <a16:creationId xmlns:a16="http://schemas.microsoft.com/office/drawing/2014/main" id="{2C1CEE03-1344-7673-1406-FE81F91AC924}"/>
                </a:ext>
              </a:extLst>
            </p:cNvPr>
            <p:cNvSpPr txBox="1"/>
            <p:nvPr/>
          </p:nvSpPr>
          <p:spPr>
            <a:xfrm>
              <a:off x="5244085" y="5551164"/>
              <a:ext cx="2122930" cy="307777"/>
            </a:xfrm>
            <a:prstGeom prst="rect">
              <a:avLst/>
            </a:prstGeom>
            <a:noFill/>
          </p:spPr>
          <p:txBody>
            <a:bodyPr wrap="square" rtlCol="0">
              <a:spAutoFit/>
            </a:bodyPr>
            <a:lstStyle/>
            <a:p>
              <a:r>
                <a:rPr lang="en-US" dirty="0">
                  <a:solidFill>
                    <a:srgbClr val="FF0000"/>
                  </a:solidFill>
                </a:rPr>
                <a:t>Change GPIO value to 1</a:t>
              </a:r>
            </a:p>
          </p:txBody>
        </p:sp>
      </p:grpSp>
    </p:spTree>
    <p:extLst>
      <p:ext uri="{BB962C8B-B14F-4D97-AF65-F5344CB8AC3E}">
        <p14:creationId xmlns:p14="http://schemas.microsoft.com/office/powerpoint/2010/main" val="18645899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nodeType="clickEffect">
                                  <p:stCondLst>
                                    <p:cond delay="0"/>
                                  </p:stCondLst>
                                  <p:childTnLst>
                                    <p:set>
                                      <p:cBhvr>
                                        <p:cTn id="14" dur="1" fill="hold">
                                          <p:stCondLst>
                                            <p:cond delay="0"/>
                                          </p:stCondLst>
                                        </p:cTn>
                                        <p:tgtEl>
                                          <p:spTgt spid="19"/>
                                        </p:tgtEl>
                                        <p:attrNameLst>
                                          <p:attrName>style.visibility</p:attrName>
                                        </p:attrNameLst>
                                      </p:cBhvr>
                                      <p:to>
                                        <p:strVal val="hidden"/>
                                      </p:to>
                                    </p:set>
                                  </p:childTnLst>
                                </p:cTn>
                              </p:par>
                              <p:par>
                                <p:cTn id="15" presetID="1" presetClass="exit" presetSubtype="0" fill="hold" nodeType="withEffect">
                                  <p:stCondLst>
                                    <p:cond delay="0"/>
                                  </p:stCondLst>
                                  <p:childTnLst>
                                    <p:set>
                                      <p:cBhvr>
                                        <p:cTn id="16" dur="1" fill="hold">
                                          <p:stCondLst>
                                            <p:cond delay="0"/>
                                          </p:stCondLst>
                                        </p:cTn>
                                        <p:tgtEl>
                                          <p:spTgt spid="24"/>
                                        </p:tgtEl>
                                        <p:attrNameLst>
                                          <p:attrName>style.visibility</p:attrName>
                                        </p:attrNameLst>
                                      </p:cBhvr>
                                      <p:to>
                                        <p:strVal val="hidden"/>
                                      </p:to>
                                    </p:set>
                                  </p:childTnLst>
                                </p:cTn>
                              </p:par>
                              <p:par>
                                <p:cTn id="17" presetID="1" presetClass="entr" presetSubtype="0" fill="hold" nodeType="withEffect">
                                  <p:stCondLst>
                                    <p:cond delay="0"/>
                                  </p:stCondLst>
                                  <p:childTnLst>
                                    <p:set>
                                      <p:cBhvr>
                                        <p:cTn id="18" dur="1" fill="hold">
                                          <p:stCondLst>
                                            <p:cond delay="0"/>
                                          </p:stCondLst>
                                        </p:cTn>
                                        <p:tgtEl>
                                          <p:spTgt spid="2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9"/>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nodeType="clickEffect">
                                  <p:stCondLst>
                                    <p:cond delay="0"/>
                                  </p:stCondLst>
                                  <p:childTnLst>
                                    <p:set>
                                      <p:cBhvr>
                                        <p:cTn id="26" dur="1" fill="hold">
                                          <p:stCondLst>
                                            <p:cond delay="0"/>
                                          </p:stCondLst>
                                        </p:cTn>
                                        <p:tgtEl>
                                          <p:spTgt spid="25"/>
                                        </p:tgtEl>
                                        <p:attrNameLst>
                                          <p:attrName>style.visibility</p:attrName>
                                        </p:attrNameLst>
                                      </p:cBhvr>
                                      <p:to>
                                        <p:strVal val="hidden"/>
                                      </p:to>
                                    </p:set>
                                  </p:childTnLst>
                                </p:cTn>
                              </p:par>
                              <p:par>
                                <p:cTn id="27" presetID="1" presetClass="exit" presetSubtype="0" fill="hold" nodeType="withEffect">
                                  <p:stCondLst>
                                    <p:cond delay="0"/>
                                  </p:stCondLst>
                                  <p:childTnLst>
                                    <p:set>
                                      <p:cBhvr>
                                        <p:cTn id="28" dur="1" fill="hold">
                                          <p:stCondLst>
                                            <p:cond delay="0"/>
                                          </p:stCondLst>
                                        </p:cTn>
                                        <p:tgtEl>
                                          <p:spTgt spid="29"/>
                                        </p:tgtEl>
                                        <p:attrNameLst>
                                          <p:attrName>style.visibility</p:attrName>
                                        </p:attrNameLst>
                                      </p:cBhvr>
                                      <p:to>
                                        <p:strVal val="hidden"/>
                                      </p:to>
                                    </p:set>
                                  </p:childTnLst>
                                </p:cTn>
                              </p:par>
                              <p:par>
                                <p:cTn id="29" presetID="1" presetClass="entr" presetSubtype="0" fill="hold" nodeType="withEffect">
                                  <p:stCondLst>
                                    <p:cond delay="0"/>
                                  </p:stCondLst>
                                  <p:childTnLst>
                                    <p:set>
                                      <p:cBhvr>
                                        <p:cTn id="30" dur="1" fill="hold">
                                          <p:stCondLst>
                                            <p:cond delay="0"/>
                                          </p:stCondLst>
                                        </p:cTn>
                                        <p:tgtEl>
                                          <p:spTgt spid="37"/>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2474EB4-B534-69C9-F5F0-745CCBC4984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AC8A14E-C7B3-4581-86FE-568AD9F60DC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lgn="l">
              <a:buNone/>
            </a:pPr>
            <a:r>
              <a:rPr lang="en-US" sz="1600" dirty="0">
                <a:solidFill>
                  <a:srgbClr val="3F7F5F"/>
                </a:solidFill>
                <a:latin typeface="Consolas" panose="020B0609020204030204" pitchFamily="49" charset="0"/>
              </a:rPr>
              <a:t>// setup eQEP1 pins for input</a:t>
            </a:r>
          </a:p>
          <a:p>
            <a:pPr marL="114300" indent="0" algn="l">
              <a:buNone/>
            </a:pPr>
            <a:r>
              <a:rPr lang="en-US" sz="1600" dirty="0">
                <a:solidFill>
                  <a:srgbClr val="3F7F5F"/>
                </a:solidFill>
                <a:latin typeface="Consolas" panose="020B0609020204030204" pitchFamily="49" charset="0"/>
              </a:rPr>
              <a:t>// This specifies which of the possible GPIO pins will be EQEP1 functional pins.</a:t>
            </a:r>
          </a:p>
          <a:p>
            <a:pPr marL="114300" indent="0" algn="l">
              <a:buNone/>
            </a:pPr>
            <a:r>
              <a:rPr lang="en-US" sz="1600" dirty="0" err="1">
                <a:solidFill>
                  <a:srgbClr val="642880"/>
                </a:solidFill>
                <a:latin typeface="Consolas" panose="020B0609020204030204" pitchFamily="49" charset="0"/>
              </a:rPr>
              <a:t>GPIO_SetupPinMux</a:t>
            </a:r>
            <a:r>
              <a:rPr lang="en-US" sz="1600" dirty="0">
                <a:solidFill>
                  <a:srgbClr val="000000"/>
                </a:solidFill>
                <a:latin typeface="Consolas" panose="020B0609020204030204" pitchFamily="49" charset="0"/>
              </a:rPr>
              <a:t>(20, GPIO_MUX_CPU1, 1); </a:t>
            </a:r>
            <a:r>
              <a:rPr lang="en-US" sz="1600" dirty="0">
                <a:solidFill>
                  <a:srgbClr val="3F7F5F"/>
                </a:solidFill>
                <a:latin typeface="Consolas" panose="020B0609020204030204" pitchFamily="49" charset="0"/>
              </a:rPr>
              <a:t>// set pin mux EQEP2A</a:t>
            </a:r>
          </a:p>
          <a:p>
            <a:pPr marL="114300" indent="0" algn="l">
              <a:buNone/>
            </a:pPr>
            <a:r>
              <a:rPr lang="en-US" sz="1600" dirty="0" err="1">
                <a:solidFill>
                  <a:srgbClr val="642880"/>
                </a:solidFill>
                <a:latin typeface="Consolas" panose="020B0609020204030204" pitchFamily="49" charset="0"/>
              </a:rPr>
              <a:t>GPIO_SetupPinMux</a:t>
            </a:r>
            <a:r>
              <a:rPr lang="en-US" sz="1600" dirty="0">
                <a:solidFill>
                  <a:srgbClr val="000000"/>
                </a:solidFill>
                <a:latin typeface="Consolas" panose="020B0609020204030204" pitchFamily="49" charset="0"/>
              </a:rPr>
              <a:t>(21, GPIO_MUX_CPU1, 1); </a:t>
            </a:r>
            <a:r>
              <a:rPr lang="en-US" sz="1600" dirty="0">
                <a:solidFill>
                  <a:srgbClr val="3F7F5F"/>
                </a:solidFill>
                <a:latin typeface="Consolas" panose="020B0609020204030204" pitchFamily="49" charset="0"/>
              </a:rPr>
              <a:t>// set pin mux EQEP2B</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QEPCTL</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bit</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QPEN</a:t>
            </a:r>
            <a:r>
              <a:rPr lang="en-US" sz="1600" dirty="0">
                <a:solidFill>
                  <a:srgbClr val="000000"/>
                </a:solidFill>
                <a:latin typeface="Consolas" panose="020B0609020204030204" pitchFamily="49" charset="0"/>
              </a:rPr>
              <a:t> = 0;          </a:t>
            </a:r>
            <a:r>
              <a:rPr lang="en-US" sz="1600" dirty="0">
                <a:solidFill>
                  <a:srgbClr val="3F7F5F"/>
                </a:solidFill>
                <a:latin typeface="Consolas" panose="020B0609020204030204" pitchFamily="49" charset="0"/>
              </a:rPr>
              <a:t>// make sure </a:t>
            </a:r>
            <a:r>
              <a:rPr lang="en-US" sz="1600" dirty="0" err="1">
                <a:solidFill>
                  <a:srgbClr val="3F7F5F"/>
                </a:solidFill>
                <a:latin typeface="Consolas" panose="020B0609020204030204" pitchFamily="49" charset="0"/>
              </a:rPr>
              <a:t>eQEP</a:t>
            </a:r>
            <a:r>
              <a:rPr lang="en-US" sz="1600" dirty="0">
                <a:solidFill>
                  <a:srgbClr val="3F7F5F"/>
                </a:solidFill>
                <a:latin typeface="Consolas" panose="020B0609020204030204" pitchFamily="49" charset="0"/>
              </a:rPr>
              <a:t> in reset</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QDECCTL</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bit</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QSRC</a:t>
            </a:r>
            <a:r>
              <a:rPr lang="en-US" sz="1600" dirty="0">
                <a:solidFill>
                  <a:srgbClr val="000000"/>
                </a:solidFill>
                <a:latin typeface="Consolas" panose="020B0609020204030204" pitchFamily="49" charset="0"/>
              </a:rPr>
              <a:t> = 0;         </a:t>
            </a:r>
            <a:r>
              <a:rPr lang="en-US" sz="1600" dirty="0">
                <a:solidFill>
                  <a:srgbClr val="3F7F5F"/>
                </a:solidFill>
                <a:latin typeface="Consolas" panose="020B0609020204030204" pitchFamily="49" charset="0"/>
              </a:rPr>
              <a:t>// Quadrature count mode</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QPOSCTL</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all</a:t>
            </a:r>
            <a:r>
              <a:rPr lang="en-US" sz="1600" dirty="0">
                <a:solidFill>
                  <a:srgbClr val="000000"/>
                </a:solidFill>
                <a:latin typeface="Consolas" panose="020B0609020204030204" pitchFamily="49" charset="0"/>
              </a:rPr>
              <a:t> = 0x0;            </a:t>
            </a:r>
            <a:r>
              <a:rPr lang="en-US" sz="1600" dirty="0">
                <a:solidFill>
                  <a:srgbClr val="3F7F5F"/>
                </a:solidFill>
                <a:latin typeface="Consolas" panose="020B0609020204030204" pitchFamily="49" charset="0"/>
              </a:rPr>
              <a:t>// Disable </a:t>
            </a:r>
            <a:r>
              <a:rPr lang="en-US" sz="1600" dirty="0" err="1">
                <a:solidFill>
                  <a:srgbClr val="3F7F5F"/>
                </a:solidFill>
                <a:latin typeface="Consolas" panose="020B0609020204030204" pitchFamily="49" charset="0"/>
              </a:rPr>
              <a:t>eQEP</a:t>
            </a:r>
            <a:r>
              <a:rPr lang="en-US" sz="1600" dirty="0">
                <a:solidFill>
                  <a:srgbClr val="3F7F5F"/>
                </a:solidFill>
                <a:latin typeface="Consolas" panose="020B0609020204030204" pitchFamily="49" charset="0"/>
              </a:rPr>
              <a:t> Position Compare</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QCAPCTL</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all</a:t>
            </a:r>
            <a:r>
              <a:rPr lang="en-US" sz="1600" dirty="0">
                <a:solidFill>
                  <a:srgbClr val="000000"/>
                </a:solidFill>
                <a:latin typeface="Consolas" panose="020B0609020204030204" pitchFamily="49" charset="0"/>
              </a:rPr>
              <a:t> = 0x0;            </a:t>
            </a:r>
            <a:r>
              <a:rPr lang="en-US" sz="1600" dirty="0">
                <a:solidFill>
                  <a:srgbClr val="3F7F5F"/>
                </a:solidFill>
                <a:latin typeface="Consolas" panose="020B0609020204030204" pitchFamily="49" charset="0"/>
              </a:rPr>
              <a:t>// Disable </a:t>
            </a:r>
            <a:r>
              <a:rPr lang="en-US" sz="1600" dirty="0" err="1">
                <a:solidFill>
                  <a:srgbClr val="3F7F5F"/>
                </a:solidFill>
                <a:latin typeface="Consolas" panose="020B0609020204030204" pitchFamily="49" charset="0"/>
              </a:rPr>
              <a:t>eQEP</a:t>
            </a:r>
            <a:r>
              <a:rPr lang="en-US" sz="1600" dirty="0">
                <a:solidFill>
                  <a:srgbClr val="3F7F5F"/>
                </a:solidFill>
                <a:latin typeface="Consolas" panose="020B0609020204030204" pitchFamily="49" charset="0"/>
              </a:rPr>
              <a:t> Capture</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QEINT</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all</a:t>
            </a:r>
            <a:r>
              <a:rPr lang="en-US" sz="1600" dirty="0">
                <a:solidFill>
                  <a:srgbClr val="000000"/>
                </a:solidFill>
                <a:latin typeface="Consolas" panose="020B0609020204030204" pitchFamily="49" charset="0"/>
              </a:rPr>
              <a:t> = 0x0;              </a:t>
            </a:r>
            <a:r>
              <a:rPr lang="en-US" sz="1600" dirty="0">
                <a:solidFill>
                  <a:srgbClr val="3F7F5F"/>
                </a:solidFill>
                <a:latin typeface="Consolas" panose="020B0609020204030204" pitchFamily="49" charset="0"/>
              </a:rPr>
              <a:t>// Disable all </a:t>
            </a:r>
            <a:r>
              <a:rPr lang="en-US" sz="1600" dirty="0" err="1">
                <a:solidFill>
                  <a:srgbClr val="3F7F5F"/>
                </a:solidFill>
                <a:latin typeface="Consolas" panose="020B0609020204030204" pitchFamily="49" charset="0"/>
              </a:rPr>
              <a:t>eQEP</a:t>
            </a:r>
            <a:r>
              <a:rPr lang="en-US" sz="1600" dirty="0">
                <a:solidFill>
                  <a:srgbClr val="3F7F5F"/>
                </a:solidFill>
                <a:latin typeface="Consolas" panose="020B0609020204030204" pitchFamily="49" charset="0"/>
              </a:rPr>
              <a:t> interrupts</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QPOSMAX</a:t>
            </a:r>
            <a:r>
              <a:rPr lang="en-US" sz="1600" dirty="0">
                <a:solidFill>
                  <a:srgbClr val="000000"/>
                </a:solidFill>
                <a:latin typeface="Consolas" panose="020B0609020204030204" pitchFamily="49" charset="0"/>
              </a:rPr>
              <a:t> = 0xFFFFFFFF;         </a:t>
            </a:r>
            <a:r>
              <a:rPr lang="en-US" sz="1600" dirty="0">
                <a:solidFill>
                  <a:srgbClr val="3F7F5F"/>
                </a:solidFill>
                <a:latin typeface="Consolas" panose="020B0609020204030204" pitchFamily="49" charset="0"/>
              </a:rPr>
              <a:t>// use full range of the 32-bit count</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QEPCTL</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bit</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FREE_SOFT</a:t>
            </a:r>
            <a:r>
              <a:rPr lang="en-US" sz="1600" dirty="0">
                <a:solidFill>
                  <a:srgbClr val="000000"/>
                </a:solidFill>
                <a:latin typeface="Consolas" panose="020B0609020204030204" pitchFamily="49" charset="0"/>
              </a:rPr>
              <a:t> = 2;     </a:t>
            </a:r>
            <a:r>
              <a:rPr lang="en-US" sz="1600" dirty="0">
                <a:solidFill>
                  <a:srgbClr val="3F7F5F"/>
                </a:solidFill>
                <a:latin typeface="Consolas" panose="020B0609020204030204" pitchFamily="49" charset="0"/>
              </a:rPr>
              <a:t>// </a:t>
            </a:r>
            <a:r>
              <a:rPr lang="en-US" sz="1600" dirty="0" err="1">
                <a:solidFill>
                  <a:srgbClr val="3F7F5F"/>
                </a:solidFill>
                <a:latin typeface="Consolas" panose="020B0609020204030204" pitchFamily="49" charset="0"/>
              </a:rPr>
              <a:t>eQEP</a:t>
            </a:r>
            <a:r>
              <a:rPr lang="en-US" sz="1600" dirty="0">
                <a:solidFill>
                  <a:srgbClr val="3F7F5F"/>
                </a:solidFill>
                <a:latin typeface="Consolas" panose="020B0609020204030204" pitchFamily="49" charset="0"/>
              </a:rPr>
              <a:t> unaffected by emulation suspend in Code Composer</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QPOSCNT</a:t>
            </a:r>
            <a:r>
              <a:rPr lang="en-US" sz="1600" dirty="0">
                <a:solidFill>
                  <a:srgbClr val="000000"/>
                </a:solidFill>
                <a:latin typeface="Consolas" panose="020B0609020204030204" pitchFamily="49" charset="0"/>
              </a:rPr>
              <a:t> = 0;                  </a:t>
            </a:r>
            <a:r>
              <a:rPr lang="en-US" sz="1600" dirty="0">
                <a:solidFill>
                  <a:srgbClr val="3F7F5F"/>
                </a:solidFill>
                <a:latin typeface="Consolas" panose="020B0609020204030204" pitchFamily="49" charset="0"/>
              </a:rPr>
              <a:t>// Set the initial position of the encoder</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QEPCTL</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bit</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QPEN</a:t>
            </a:r>
            <a:r>
              <a:rPr lang="en-US" sz="1600" dirty="0">
                <a:solidFill>
                  <a:srgbClr val="000000"/>
                </a:solidFill>
                <a:latin typeface="Consolas" panose="020B0609020204030204" pitchFamily="49" charset="0"/>
              </a:rPr>
              <a:t> = 1;          </a:t>
            </a:r>
            <a:r>
              <a:rPr lang="en-US" sz="1600" dirty="0">
                <a:solidFill>
                  <a:srgbClr val="3F7F5F"/>
                </a:solidFill>
                <a:latin typeface="Consolas" panose="020B0609020204030204" pitchFamily="49" charset="0"/>
              </a:rPr>
              <a:t>// Enable </a:t>
            </a:r>
            <a:r>
              <a:rPr lang="en-US" sz="1600" dirty="0" err="1">
                <a:solidFill>
                  <a:srgbClr val="3F7F5F"/>
                </a:solidFill>
                <a:latin typeface="Consolas" panose="020B0609020204030204" pitchFamily="49" charset="0"/>
              </a:rPr>
              <a:t>eQEP</a:t>
            </a:r>
            <a:endParaRPr lang="en-US" sz="1600" b="0" dirty="0">
              <a:solidFill>
                <a:srgbClr val="3B3B3B"/>
              </a:solidFill>
              <a:effectLst/>
              <a:latin typeface="Consolas" panose="020B0609020204030204" pitchFamily="49" charset="0"/>
            </a:endParaRPr>
          </a:p>
        </p:txBody>
      </p:sp>
      <p:sp>
        <p:nvSpPr>
          <p:cNvPr id="119" name="Google Shape;119;p29">
            <a:extLst>
              <a:ext uri="{FF2B5EF4-FFF2-40B4-BE49-F238E27FC236}">
                <a16:creationId xmlns:a16="http://schemas.microsoft.com/office/drawing/2014/main" id="{7406183F-9F9B-5303-D88E-5BCB83AF1B0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02D8C66-0651-2923-4241-E1B47FE8C0E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0C984279-8968-3E29-D607-549EA71B514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1C2E7C0-B3FC-7A80-4D71-37F4E057A07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D37E9F8-C890-611C-1264-349B5DAE2B1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9BEC37A-6B1F-9A69-2683-F7B0E3AF6DA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5D84452-10AA-CE21-8499-4DF7B165474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4B38D23-48B6-E4DE-C90D-B894324A5E7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33367804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57241FA-4288-0F6E-DFFE-75FF223E6B5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ADA549DC-582B-180C-85FA-4B6BFEAC7C5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0BD5600-314C-246C-00E9-A2882FE38F9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CABCA5E-BE82-33CF-CDB9-624C170021D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2E5AE54-5015-A914-B756-B63DE28D795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B2A7082-5A9B-4C22-9E75-8BA00A14557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5DAFF4D-8A3E-047A-48B8-FF1F8618822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F80D3AC-07E3-EACC-2C47-9110F28466A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18B8414-79B0-01A6-B9F3-F24B2B4B55B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15" name="Graphic 14">
            <a:extLst>
              <a:ext uri="{FF2B5EF4-FFF2-40B4-BE49-F238E27FC236}">
                <a16:creationId xmlns:a16="http://schemas.microsoft.com/office/drawing/2014/main" id="{A370D3DB-FB40-D562-2467-3F6AF16A1A6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328987" y="906290"/>
            <a:ext cx="5381625" cy="5648325"/>
          </a:xfrm>
          <a:prstGeom prst="rect">
            <a:avLst/>
          </a:prstGeom>
        </p:spPr>
      </p:pic>
      <p:sp>
        <p:nvSpPr>
          <p:cNvPr id="13" name="Rectangle 12">
            <a:extLst>
              <a:ext uri="{FF2B5EF4-FFF2-40B4-BE49-F238E27FC236}">
                <a16:creationId xmlns:a16="http://schemas.microsoft.com/office/drawing/2014/main" id="{F2F2F680-C6D0-171C-53EE-CB503D6A3253}"/>
              </a:ext>
            </a:extLst>
          </p:cNvPr>
          <p:cNvSpPr/>
          <p:nvPr/>
        </p:nvSpPr>
        <p:spPr>
          <a:xfrm>
            <a:off x="6728460" y="6217733"/>
            <a:ext cx="655320" cy="374951"/>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6294D22E-2BAD-0890-45EE-116FBD010B06}"/>
              </a:ext>
            </a:extLst>
          </p:cNvPr>
          <p:cNvSpPr/>
          <p:nvPr/>
        </p:nvSpPr>
        <p:spPr>
          <a:xfrm>
            <a:off x="6728460" y="2240280"/>
            <a:ext cx="655320" cy="374951"/>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07BBCB5C-C58B-E31E-EA8D-5C28DA1EB6E7}"/>
              </a:ext>
            </a:extLst>
          </p:cNvPr>
          <p:cNvSpPr/>
          <p:nvPr/>
        </p:nvSpPr>
        <p:spPr>
          <a:xfrm>
            <a:off x="5364479" y="4023234"/>
            <a:ext cx="655320" cy="374951"/>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4039599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43D4931-1E60-7E3A-3C5E-DBAB8F6D299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3B0C40C-DCC9-3631-D2DB-7FD333AF6EC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Position-counter source selection</a:t>
            </a:r>
          </a:p>
          <a:p>
            <a:r>
              <a:rPr lang="en-US" sz="1800" dirty="0">
                <a:latin typeface="+mj-lt"/>
              </a:rPr>
              <a:t>0h (R/W) = Quadrature count mode (QCLK = </a:t>
            </a:r>
            <a:r>
              <a:rPr lang="en-US" sz="1800" dirty="0" err="1">
                <a:latin typeface="+mj-lt"/>
              </a:rPr>
              <a:t>iCLK</a:t>
            </a:r>
            <a:r>
              <a:rPr lang="en-US" sz="1800" dirty="0">
                <a:latin typeface="+mj-lt"/>
              </a:rPr>
              <a:t>, QDIR = </a:t>
            </a:r>
            <a:r>
              <a:rPr lang="en-US" sz="1800" dirty="0" err="1">
                <a:latin typeface="+mj-lt"/>
              </a:rPr>
              <a:t>iDIR</a:t>
            </a:r>
            <a:r>
              <a:rPr lang="en-US" sz="1800" dirty="0">
                <a:latin typeface="+mj-lt"/>
              </a:rPr>
              <a:t>)</a:t>
            </a:r>
          </a:p>
          <a:p>
            <a:r>
              <a:rPr lang="en-US" sz="1800" dirty="0">
                <a:latin typeface="+mj-lt"/>
              </a:rPr>
              <a:t>1h (R/W) = Direction-count mode (QCLK = </a:t>
            </a:r>
            <a:r>
              <a:rPr lang="en-US" sz="1800" dirty="0" err="1">
                <a:latin typeface="+mj-lt"/>
              </a:rPr>
              <a:t>xCLK</a:t>
            </a:r>
            <a:r>
              <a:rPr lang="en-US" sz="1800" dirty="0">
                <a:latin typeface="+mj-lt"/>
              </a:rPr>
              <a:t>, QDIR = </a:t>
            </a:r>
            <a:r>
              <a:rPr lang="en-US" sz="1800" dirty="0" err="1">
                <a:latin typeface="+mj-lt"/>
              </a:rPr>
              <a:t>xDIR</a:t>
            </a:r>
            <a:r>
              <a:rPr lang="en-US" sz="1800" dirty="0">
                <a:latin typeface="+mj-lt"/>
              </a:rPr>
              <a:t>)</a:t>
            </a:r>
          </a:p>
          <a:p>
            <a:r>
              <a:rPr lang="en-US" sz="1800" dirty="0">
                <a:latin typeface="+mj-lt"/>
              </a:rPr>
              <a:t>2h (R/W) = UP count mode for frequency measurement (QCLK = </a:t>
            </a:r>
            <a:r>
              <a:rPr lang="en-US" sz="1800" dirty="0" err="1">
                <a:latin typeface="+mj-lt"/>
              </a:rPr>
              <a:t>xCLK</a:t>
            </a:r>
            <a:r>
              <a:rPr lang="en-US" sz="1800" dirty="0">
                <a:latin typeface="+mj-lt"/>
              </a:rPr>
              <a:t>, QDIR = 1)</a:t>
            </a:r>
          </a:p>
          <a:p>
            <a:r>
              <a:rPr lang="en-US" sz="1800" dirty="0">
                <a:latin typeface="+mj-lt"/>
              </a:rPr>
              <a:t>3h (R/W) = DOWN count mode for frequency measurement (QCLK= </a:t>
            </a:r>
            <a:r>
              <a:rPr lang="en-US" sz="1800" dirty="0" err="1">
                <a:latin typeface="+mj-lt"/>
              </a:rPr>
              <a:t>xCLK</a:t>
            </a:r>
            <a:r>
              <a:rPr lang="en-US" sz="1800" dirty="0">
                <a:latin typeface="+mj-lt"/>
              </a:rPr>
              <a:t>, QDIR = 0)</a:t>
            </a:r>
          </a:p>
        </p:txBody>
      </p:sp>
      <p:sp>
        <p:nvSpPr>
          <p:cNvPr id="119" name="Google Shape;119;p29">
            <a:extLst>
              <a:ext uri="{FF2B5EF4-FFF2-40B4-BE49-F238E27FC236}">
                <a16:creationId xmlns:a16="http://schemas.microsoft.com/office/drawing/2014/main" id="{852F8272-E2F7-E3D2-4028-08E2DD3F671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5D470F2-61FC-146A-64FC-F2A8211D0881}"/>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r>
              <a:rPr lang="en-US" sz="2400" dirty="0">
                <a:solidFill>
                  <a:schemeClr val="lt1"/>
                </a:solidFill>
              </a:rPr>
              <a:t> – QDECCTL:QSRC</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B5F0420-5D7C-BD10-292A-B10CB91B1CA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DC902F8-835B-13C6-459B-622F396D54A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5ECB32E-3B3F-ED93-000A-90B29904982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D7628DC-FA88-998A-EA3D-9A81F849107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92EF814-ABC1-0899-0D32-E245AA668B8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7949CD0-76A9-E265-56F6-75996989FAF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48371548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82415E2-209C-6C5A-2143-C7C9FB17222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458FDCF-5870-BCA4-3FEB-AC2F990A7490}"/>
              </a:ext>
            </a:extLst>
          </p:cNvPr>
          <p:cNvSpPr txBox="1">
            <a:spLocks noGrp="1"/>
          </p:cNvSpPr>
          <p:nvPr>
            <p:ph type="body" idx="1"/>
          </p:nvPr>
        </p:nvSpPr>
        <p:spPr>
          <a:xfrm>
            <a:off x="376809" y="1334279"/>
            <a:ext cx="11177401" cy="868222"/>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The quadrature decoder generates the direction and clock to the position counter in quadrature count</a:t>
            </a:r>
          </a:p>
          <a:p>
            <a:pPr marL="114300" indent="0">
              <a:buNone/>
            </a:pPr>
            <a:r>
              <a:rPr lang="en-US" sz="1800" dirty="0">
                <a:latin typeface="+mj-lt"/>
              </a:rPr>
              <a:t>mode. Uses the 2-phase input to get the position and direction, this is the standard method.</a:t>
            </a:r>
          </a:p>
        </p:txBody>
      </p:sp>
      <p:sp>
        <p:nvSpPr>
          <p:cNvPr id="119" name="Google Shape;119;p29">
            <a:extLst>
              <a:ext uri="{FF2B5EF4-FFF2-40B4-BE49-F238E27FC236}">
                <a16:creationId xmlns:a16="http://schemas.microsoft.com/office/drawing/2014/main" id="{192A5927-3060-41B3-3669-3EBE0FD90E9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C5BAC67-6E93-95B6-81C5-31C4E141B17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r>
              <a:rPr lang="en-US" sz="2400" dirty="0">
                <a:solidFill>
                  <a:schemeClr val="lt1"/>
                </a:solidFill>
              </a:rPr>
              <a:t> – QDECCTL:QSRC – Quadrature Count Mode </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98B41CC4-07BD-8A0B-F302-E1608731682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4E4FF15-356A-817B-F059-4393F469523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2B69BDB-54D2-0E1D-35AE-EE6AE90EB6F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20E157F-3BA7-E2DD-A60F-61D7D75751D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0C8223A-B05A-0C1D-C0AE-F133C8F6D1D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3B78608-0B9B-C230-4E88-358034EFDA0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2" name="Graphic 1">
            <a:extLst>
              <a:ext uri="{FF2B5EF4-FFF2-40B4-BE49-F238E27FC236}">
                <a16:creationId xmlns:a16="http://schemas.microsoft.com/office/drawing/2014/main" id="{346D31BF-2F08-2FB7-5DE7-17CF7C27117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820502" y="2202501"/>
            <a:ext cx="8550995" cy="4073732"/>
          </a:xfrm>
          <a:prstGeom prst="rect">
            <a:avLst/>
          </a:prstGeom>
        </p:spPr>
      </p:pic>
    </p:spTree>
    <p:extLst>
      <p:ext uri="{BB962C8B-B14F-4D97-AF65-F5344CB8AC3E}">
        <p14:creationId xmlns:p14="http://schemas.microsoft.com/office/powerpoint/2010/main" val="303130383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7993A60-EF63-5E3B-2D6C-D6ACA85B54C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DD5602E-C273-FA15-50DA-51B622B942BE}"/>
              </a:ext>
            </a:extLst>
          </p:cNvPr>
          <p:cNvSpPr txBox="1">
            <a:spLocks noGrp="1"/>
          </p:cNvSpPr>
          <p:nvPr>
            <p:ph type="body" idx="1"/>
          </p:nvPr>
        </p:nvSpPr>
        <p:spPr>
          <a:xfrm>
            <a:off x="376809" y="1334278"/>
            <a:ext cx="11177401" cy="4987553"/>
          </a:xfrm>
          <a:prstGeom prst="rect">
            <a:avLst/>
          </a:prstGeom>
          <a:noFill/>
          <a:ln>
            <a:noFill/>
          </a:ln>
        </p:spPr>
        <p:txBody>
          <a:bodyPr spcFirstLastPara="1" wrap="square" lIns="91425" tIns="45700" rIns="91425" bIns="45700" anchor="t" anchorCtr="0">
            <a:noAutofit/>
          </a:bodyPr>
          <a:lstStyle/>
          <a:p>
            <a:pPr marL="114300" indent="0">
              <a:buNone/>
            </a:pPr>
            <a:r>
              <a:rPr lang="en-US" sz="1800" b="1" dirty="0"/>
              <a:t>Direction-Count Mode</a:t>
            </a:r>
            <a:endParaRPr lang="en-US" sz="1800" b="1" dirty="0">
              <a:latin typeface="+mj-lt"/>
            </a:endParaRPr>
          </a:p>
          <a:p>
            <a:pPr marL="114300" indent="0">
              <a:buNone/>
            </a:pPr>
            <a:r>
              <a:rPr lang="en-US" sz="1800" dirty="0">
                <a:latin typeface="+mj-lt"/>
              </a:rPr>
              <a:t>Some position encoders provide direction and clock outputs, instead of quadrature outputs. In such cases,</a:t>
            </a:r>
          </a:p>
          <a:p>
            <a:pPr marL="114300" indent="0">
              <a:buNone/>
            </a:pPr>
            <a:r>
              <a:rPr lang="en-US" sz="1800" dirty="0">
                <a:latin typeface="+mj-lt"/>
              </a:rPr>
              <a:t>direction-count mode can be used. </a:t>
            </a:r>
          </a:p>
          <a:p>
            <a:r>
              <a:rPr lang="en-US" sz="1800" dirty="0">
                <a:latin typeface="+mj-lt"/>
              </a:rPr>
              <a:t>QEPA input will provide the clock for the position counter</a:t>
            </a:r>
          </a:p>
          <a:p>
            <a:r>
              <a:rPr lang="en-US" sz="1800" dirty="0">
                <a:latin typeface="+mj-lt"/>
              </a:rPr>
              <a:t>QEPB input will have the direction information. </a:t>
            </a:r>
          </a:p>
          <a:p>
            <a:pPr marL="114300" indent="0">
              <a:buNone/>
            </a:pPr>
            <a:r>
              <a:rPr lang="en-US" sz="1800" dirty="0">
                <a:latin typeface="+mj-lt"/>
              </a:rPr>
              <a:t>The position counter is incremented on every rising edge of a QEPA input when the direction input is high, and decremented when the direction input is low.</a:t>
            </a:r>
          </a:p>
          <a:p>
            <a:pPr marL="114300" indent="0">
              <a:buNone/>
            </a:pPr>
            <a:endParaRPr lang="en-US" sz="1800" dirty="0">
              <a:latin typeface="+mj-lt"/>
            </a:endParaRPr>
          </a:p>
          <a:p>
            <a:pPr marL="114300" indent="0">
              <a:buNone/>
            </a:pPr>
            <a:r>
              <a:rPr lang="en-US" sz="1800" b="1" dirty="0"/>
              <a:t>Up-Count Mode / Down-Count Mode</a:t>
            </a:r>
          </a:p>
          <a:p>
            <a:pPr marL="114300" indent="0">
              <a:buNone/>
            </a:pPr>
            <a:r>
              <a:rPr lang="en-US" sz="1800" dirty="0">
                <a:latin typeface="+mj-lt"/>
              </a:rPr>
              <a:t>The counter direction signal is hard-wired for up / down -count and the position counter is used to measure the frequency of the QEPA input.</a:t>
            </a:r>
          </a:p>
          <a:p>
            <a:pPr marL="114300" indent="0">
              <a:buNone/>
            </a:pPr>
            <a:r>
              <a:rPr lang="en-US" sz="1800" dirty="0">
                <a:latin typeface="+mj-lt"/>
              </a:rPr>
              <a:t>In up-count mode, it is recommended that the application not configure QEPB as a GPIO mux option, or ensure that a signal edge is not generated on the QEPB input.</a:t>
            </a:r>
          </a:p>
        </p:txBody>
      </p:sp>
      <p:sp>
        <p:nvSpPr>
          <p:cNvPr id="119" name="Google Shape;119;p29">
            <a:extLst>
              <a:ext uri="{FF2B5EF4-FFF2-40B4-BE49-F238E27FC236}">
                <a16:creationId xmlns:a16="http://schemas.microsoft.com/office/drawing/2014/main" id="{BA954E36-4756-3DD2-F6CF-51EC2EC3E7B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82FDA15-E593-EDD4-B99D-57FF1703079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r>
              <a:rPr lang="en-US" sz="2400" dirty="0">
                <a:solidFill>
                  <a:schemeClr val="lt1"/>
                </a:solidFill>
              </a:rPr>
              <a:t> – QDECCTL:QSRC – Others Mode </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707372F-B8B7-073A-9A1D-9F8E5AAF1AB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2ADD40A-9632-658B-DCB1-E5B662D88FF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A5FAE52-1821-8651-7E51-490D89614E5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ADF992E-47BA-0B36-563D-42B276D8081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56D8B1A-E1F4-91FD-03FA-748BB08F510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49EF36A-49AD-56CB-B376-99E753D8626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07552567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4F178D7-D587-02FE-1ADA-93F053F7B548}"/>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FF92A00F-DC91-852E-BB42-353868331F2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6951382-2727-D083-54CA-6ACABB6F14C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745990C-40E2-3FD2-B69F-826F864A8EA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F4B24C1-CC68-16E8-C32B-99F99949FCD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7136F02-0A8C-C42B-5D27-2606E3F2B74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1B55345-564F-5F47-E9E6-CEE23EA4EA2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00E2849-8422-5E5C-D22F-D7F496027D3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7B2825D-BC9F-4B10-8D1F-CD4C8481CA3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56783C8F-784F-097E-8E37-01F2BF23054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693215" y="997634"/>
            <a:ext cx="4805570" cy="5526406"/>
          </a:xfrm>
          <a:prstGeom prst="rect">
            <a:avLst/>
          </a:prstGeom>
        </p:spPr>
      </p:pic>
      <p:grpSp>
        <p:nvGrpSpPr>
          <p:cNvPr id="19" name="Group 18">
            <a:extLst>
              <a:ext uri="{FF2B5EF4-FFF2-40B4-BE49-F238E27FC236}">
                <a16:creationId xmlns:a16="http://schemas.microsoft.com/office/drawing/2014/main" id="{39D301C8-64EE-05FA-F626-91C25E9D955B}"/>
              </a:ext>
            </a:extLst>
          </p:cNvPr>
          <p:cNvGrpSpPr>
            <a:grpSpLocks/>
          </p:cNvGrpSpPr>
          <p:nvPr/>
        </p:nvGrpSpPr>
        <p:grpSpPr>
          <a:xfrm>
            <a:off x="4405812" y="1457325"/>
            <a:ext cx="5422832" cy="1791312"/>
            <a:chOff x="4405812" y="1457325"/>
            <a:chExt cx="5422832" cy="1791312"/>
          </a:xfrm>
        </p:grpSpPr>
        <p:sp>
          <p:nvSpPr>
            <p:cNvPr id="6" name="Rectangle 5">
              <a:extLst>
                <a:ext uri="{FF2B5EF4-FFF2-40B4-BE49-F238E27FC236}">
                  <a16:creationId xmlns:a16="http://schemas.microsoft.com/office/drawing/2014/main" id="{ACC289CF-9F85-8B74-EECE-7803DE15D341}"/>
                </a:ext>
              </a:extLst>
            </p:cNvPr>
            <p:cNvSpPr>
              <a:spLocks/>
            </p:cNvSpPr>
            <p:nvPr/>
          </p:nvSpPr>
          <p:spPr>
            <a:xfrm>
              <a:off x="7648575" y="1457325"/>
              <a:ext cx="952500" cy="966787"/>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FC5B4D4E-85B1-EF83-91C6-E562702E93B8}"/>
                </a:ext>
              </a:extLst>
            </p:cNvPr>
            <p:cNvSpPr>
              <a:spLocks/>
            </p:cNvSpPr>
            <p:nvPr/>
          </p:nvSpPr>
          <p:spPr>
            <a:xfrm>
              <a:off x="4462463" y="1662114"/>
              <a:ext cx="700087" cy="233362"/>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FB4B4EBE-379B-F3CE-30B1-2C01EBACD455}"/>
                </a:ext>
              </a:extLst>
            </p:cNvPr>
            <p:cNvSpPr>
              <a:spLocks/>
            </p:cNvSpPr>
            <p:nvPr/>
          </p:nvSpPr>
          <p:spPr>
            <a:xfrm>
              <a:off x="4405812" y="2362201"/>
              <a:ext cx="700087" cy="233362"/>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AADD2BF1-5443-B288-5A5E-0A09437D750C}"/>
                </a:ext>
              </a:extLst>
            </p:cNvPr>
            <p:cNvSpPr txBox="1">
              <a:spLocks/>
            </p:cNvSpPr>
            <p:nvPr/>
          </p:nvSpPr>
          <p:spPr>
            <a:xfrm>
              <a:off x="8368144" y="2725417"/>
              <a:ext cx="1460500" cy="523220"/>
            </a:xfrm>
            <a:prstGeom prst="rect">
              <a:avLst/>
            </a:prstGeom>
            <a:noFill/>
          </p:spPr>
          <p:txBody>
            <a:bodyPr wrap="square" rtlCol="0">
              <a:spAutoFit/>
            </a:bodyPr>
            <a:lstStyle/>
            <a:p>
              <a:r>
                <a:rPr lang="en-US" dirty="0">
                  <a:solidFill>
                    <a:srgbClr val="FF0000"/>
                  </a:solidFill>
                </a:rPr>
                <a:t>Quadrature count mode</a:t>
              </a:r>
            </a:p>
          </p:txBody>
        </p:sp>
        <p:cxnSp>
          <p:nvCxnSpPr>
            <p:cNvPr id="12" name="Straight Arrow Connector 11">
              <a:extLst>
                <a:ext uri="{FF2B5EF4-FFF2-40B4-BE49-F238E27FC236}">
                  <a16:creationId xmlns:a16="http://schemas.microsoft.com/office/drawing/2014/main" id="{742D1B4D-A991-81F5-D6D1-E271032A4815}"/>
                </a:ext>
              </a:extLst>
            </p:cNvPr>
            <p:cNvCxnSpPr>
              <a:cxnSpLocks/>
              <a:stCxn id="10" idx="0"/>
              <a:endCxn id="6" idx="3"/>
            </p:cNvCxnSpPr>
            <p:nvPr/>
          </p:nvCxnSpPr>
          <p:spPr>
            <a:xfrm flipH="1" flipV="1">
              <a:off x="8601075" y="1940719"/>
              <a:ext cx="497319" cy="78469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4A64178C-D70C-A725-9775-4B7EE52DCC3C}"/>
                </a:ext>
              </a:extLst>
            </p:cNvPr>
            <p:cNvCxnSpPr>
              <a:cxnSpLocks/>
              <a:stCxn id="10" idx="1"/>
              <a:endCxn id="9" idx="3"/>
            </p:cNvCxnSpPr>
            <p:nvPr/>
          </p:nvCxnSpPr>
          <p:spPr>
            <a:xfrm flipH="1" flipV="1">
              <a:off x="5105899" y="2478882"/>
              <a:ext cx="3262245" cy="508145"/>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AA0140F0-F7E0-B4DA-BD33-A539CA479E20}"/>
                </a:ext>
              </a:extLst>
            </p:cNvPr>
            <p:cNvCxnSpPr>
              <a:cxnSpLocks/>
              <a:stCxn id="10" idx="1"/>
              <a:endCxn id="8" idx="3"/>
            </p:cNvCxnSpPr>
            <p:nvPr/>
          </p:nvCxnSpPr>
          <p:spPr>
            <a:xfrm flipH="1" flipV="1">
              <a:off x="5162550" y="1778795"/>
              <a:ext cx="3205594" cy="120823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60" name="Group 59">
            <a:extLst>
              <a:ext uri="{FF2B5EF4-FFF2-40B4-BE49-F238E27FC236}">
                <a16:creationId xmlns:a16="http://schemas.microsoft.com/office/drawing/2014/main" id="{ACEC34AB-EB0C-4AAB-BEEF-E4D0E7C1B608}"/>
              </a:ext>
            </a:extLst>
          </p:cNvPr>
          <p:cNvGrpSpPr>
            <a:grpSpLocks/>
          </p:cNvGrpSpPr>
          <p:nvPr/>
        </p:nvGrpSpPr>
        <p:grpSpPr>
          <a:xfrm>
            <a:off x="1746250" y="1456984"/>
            <a:ext cx="6854825" cy="1954507"/>
            <a:chOff x="1746250" y="1456984"/>
            <a:chExt cx="6854825" cy="1954507"/>
          </a:xfrm>
        </p:grpSpPr>
        <p:grpSp>
          <p:nvGrpSpPr>
            <p:cNvPr id="52" name="Group 51">
              <a:extLst>
                <a:ext uri="{FF2B5EF4-FFF2-40B4-BE49-F238E27FC236}">
                  <a16:creationId xmlns:a16="http://schemas.microsoft.com/office/drawing/2014/main" id="{D394E289-48A8-6256-3EE9-AF7E0D597717}"/>
                </a:ext>
              </a:extLst>
            </p:cNvPr>
            <p:cNvGrpSpPr>
              <a:grpSpLocks/>
            </p:cNvGrpSpPr>
            <p:nvPr/>
          </p:nvGrpSpPr>
          <p:grpSpPr>
            <a:xfrm>
              <a:off x="4405045" y="1456984"/>
              <a:ext cx="4196030" cy="1912788"/>
              <a:chOff x="4405045" y="1456984"/>
              <a:chExt cx="4196030" cy="1912788"/>
            </a:xfrm>
          </p:grpSpPr>
          <p:cxnSp>
            <p:nvCxnSpPr>
              <p:cNvPr id="46" name="Straight Connector 45">
                <a:extLst>
                  <a:ext uri="{FF2B5EF4-FFF2-40B4-BE49-F238E27FC236}">
                    <a16:creationId xmlns:a16="http://schemas.microsoft.com/office/drawing/2014/main" id="{B85539D3-443B-DBC2-398D-38D74AEADAEA}"/>
                  </a:ext>
                </a:extLst>
              </p:cNvPr>
              <p:cNvCxnSpPr>
                <a:cxnSpLocks/>
              </p:cNvCxnSpPr>
              <p:nvPr/>
            </p:nvCxnSpPr>
            <p:spPr>
              <a:xfrm>
                <a:off x="5101645" y="1999073"/>
                <a:ext cx="0" cy="121211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nvGrpSpPr>
              <p:cNvPr id="51" name="Group 50">
                <a:extLst>
                  <a:ext uri="{FF2B5EF4-FFF2-40B4-BE49-F238E27FC236}">
                    <a16:creationId xmlns:a16="http://schemas.microsoft.com/office/drawing/2014/main" id="{C722EA9F-70A7-E1E5-5924-DF3BAE67183C}"/>
                  </a:ext>
                </a:extLst>
              </p:cNvPr>
              <p:cNvGrpSpPr>
                <a:grpSpLocks/>
              </p:cNvGrpSpPr>
              <p:nvPr/>
            </p:nvGrpSpPr>
            <p:grpSpPr>
              <a:xfrm>
                <a:off x="4405045" y="1456984"/>
                <a:ext cx="4196030" cy="1912788"/>
                <a:chOff x="4405045" y="1456984"/>
                <a:chExt cx="4196030" cy="1912788"/>
              </a:xfrm>
            </p:grpSpPr>
            <p:sp>
              <p:nvSpPr>
                <p:cNvPr id="28" name="Rectangle 27">
                  <a:extLst>
                    <a:ext uri="{FF2B5EF4-FFF2-40B4-BE49-F238E27FC236}">
                      <a16:creationId xmlns:a16="http://schemas.microsoft.com/office/drawing/2014/main" id="{34481DFF-ED92-B8CE-02F5-A620B095B8FF}"/>
                    </a:ext>
                  </a:extLst>
                </p:cNvPr>
                <p:cNvSpPr>
                  <a:spLocks/>
                </p:cNvSpPr>
                <p:nvPr/>
              </p:nvSpPr>
              <p:spPr>
                <a:xfrm>
                  <a:off x="7648575" y="1456984"/>
                  <a:ext cx="952500" cy="467078"/>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0" name="Straight Connector 29">
                  <a:extLst>
                    <a:ext uri="{FF2B5EF4-FFF2-40B4-BE49-F238E27FC236}">
                      <a16:creationId xmlns:a16="http://schemas.microsoft.com/office/drawing/2014/main" id="{C1D69263-C2A5-88F7-027F-CAA95542FCA8}"/>
                    </a:ext>
                  </a:extLst>
                </p:cNvPr>
                <p:cNvCxnSpPr>
                  <a:cxnSpLocks/>
                </p:cNvCxnSpPr>
                <p:nvPr/>
              </p:nvCxnSpPr>
              <p:spPr>
                <a:xfrm flipH="1">
                  <a:off x="6737021" y="1778795"/>
                  <a:ext cx="209879"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91837004-C95B-502B-2D84-A015526BEB06}"/>
                    </a:ext>
                  </a:extLst>
                </p:cNvPr>
                <p:cNvCxnSpPr>
                  <a:cxnSpLocks/>
                </p:cNvCxnSpPr>
                <p:nvPr/>
              </p:nvCxnSpPr>
              <p:spPr>
                <a:xfrm flipV="1">
                  <a:off x="6732768" y="1778795"/>
                  <a:ext cx="4253" cy="1469842"/>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3E98F7DA-B8C0-021A-C7C9-86D1E9C15B18}"/>
                    </a:ext>
                  </a:extLst>
                </p:cNvPr>
                <p:cNvCxnSpPr>
                  <a:cxnSpLocks/>
                </p:cNvCxnSpPr>
                <p:nvPr/>
              </p:nvCxnSpPr>
              <p:spPr>
                <a:xfrm flipH="1">
                  <a:off x="6219605" y="3230220"/>
                  <a:ext cx="513163"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41" name="Rectangle 40">
                  <a:extLst>
                    <a:ext uri="{FF2B5EF4-FFF2-40B4-BE49-F238E27FC236}">
                      <a16:creationId xmlns:a16="http://schemas.microsoft.com/office/drawing/2014/main" id="{F231CE4B-7460-31FD-D4D3-0C7937927AC3}"/>
                    </a:ext>
                  </a:extLst>
                </p:cNvPr>
                <p:cNvSpPr>
                  <a:spLocks/>
                </p:cNvSpPr>
                <p:nvPr/>
              </p:nvSpPr>
              <p:spPr>
                <a:xfrm>
                  <a:off x="5701610" y="3090667"/>
                  <a:ext cx="517995" cy="279105"/>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2" name="Straight Connector 41">
                  <a:extLst>
                    <a:ext uri="{FF2B5EF4-FFF2-40B4-BE49-F238E27FC236}">
                      <a16:creationId xmlns:a16="http://schemas.microsoft.com/office/drawing/2014/main" id="{550D59EC-FA08-626F-B4EC-E2D7B9F4EEB8}"/>
                    </a:ext>
                  </a:extLst>
                </p:cNvPr>
                <p:cNvCxnSpPr>
                  <a:cxnSpLocks/>
                  <a:stCxn id="41" idx="1"/>
                </p:cNvCxnSpPr>
                <p:nvPr/>
              </p:nvCxnSpPr>
              <p:spPr>
                <a:xfrm flipH="1" flipV="1">
                  <a:off x="5101645" y="3230219"/>
                  <a:ext cx="599965"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49" name="Rectangle 48">
                  <a:extLst>
                    <a:ext uri="{FF2B5EF4-FFF2-40B4-BE49-F238E27FC236}">
                      <a16:creationId xmlns:a16="http://schemas.microsoft.com/office/drawing/2014/main" id="{716FAB9E-4B3A-0AE5-D901-D86F0DB98218}"/>
                    </a:ext>
                  </a:extLst>
                </p:cNvPr>
                <p:cNvSpPr>
                  <a:spLocks/>
                </p:cNvSpPr>
                <p:nvPr/>
              </p:nvSpPr>
              <p:spPr>
                <a:xfrm>
                  <a:off x="4405045" y="1844917"/>
                  <a:ext cx="700087" cy="484908"/>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Rectangle 49">
                  <a:extLst>
                    <a:ext uri="{FF2B5EF4-FFF2-40B4-BE49-F238E27FC236}">
                      <a16:creationId xmlns:a16="http://schemas.microsoft.com/office/drawing/2014/main" id="{2D1DBD00-B3DC-0BFE-25CA-5F5358646BC2}"/>
                    </a:ext>
                  </a:extLst>
                </p:cNvPr>
                <p:cNvSpPr>
                  <a:spLocks/>
                </p:cNvSpPr>
                <p:nvPr/>
              </p:nvSpPr>
              <p:spPr>
                <a:xfrm>
                  <a:off x="4405811" y="2530132"/>
                  <a:ext cx="700087" cy="190457"/>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sp>
          <p:nvSpPr>
            <p:cNvPr id="53" name="TextBox 52">
              <a:extLst>
                <a:ext uri="{FF2B5EF4-FFF2-40B4-BE49-F238E27FC236}">
                  <a16:creationId xmlns:a16="http://schemas.microsoft.com/office/drawing/2014/main" id="{2F8F7E5C-3907-8EB4-0724-5629BA463F39}"/>
                </a:ext>
              </a:extLst>
            </p:cNvPr>
            <p:cNvSpPr txBox="1">
              <a:spLocks/>
            </p:cNvSpPr>
            <p:nvPr/>
          </p:nvSpPr>
          <p:spPr>
            <a:xfrm>
              <a:off x="1746250" y="3103714"/>
              <a:ext cx="1920930" cy="307777"/>
            </a:xfrm>
            <a:prstGeom prst="rect">
              <a:avLst/>
            </a:prstGeom>
            <a:noFill/>
          </p:spPr>
          <p:txBody>
            <a:bodyPr wrap="square" rtlCol="0">
              <a:spAutoFit/>
            </a:bodyPr>
            <a:lstStyle/>
            <a:p>
              <a:r>
                <a:rPr lang="en-US" dirty="0">
                  <a:solidFill>
                    <a:srgbClr val="FF0000"/>
                  </a:solidFill>
                </a:rPr>
                <a:t>Direction count mode</a:t>
              </a:r>
            </a:p>
          </p:txBody>
        </p:sp>
        <p:cxnSp>
          <p:nvCxnSpPr>
            <p:cNvPr id="54" name="Straight Arrow Connector 53">
              <a:extLst>
                <a:ext uri="{FF2B5EF4-FFF2-40B4-BE49-F238E27FC236}">
                  <a16:creationId xmlns:a16="http://schemas.microsoft.com/office/drawing/2014/main" id="{88458315-9120-1763-1720-8EE2FF9C367B}"/>
                </a:ext>
              </a:extLst>
            </p:cNvPr>
            <p:cNvCxnSpPr>
              <a:cxnSpLocks/>
              <a:stCxn id="53" idx="3"/>
            </p:cNvCxnSpPr>
            <p:nvPr/>
          </p:nvCxnSpPr>
          <p:spPr>
            <a:xfrm flipV="1">
              <a:off x="3667180" y="3222363"/>
              <a:ext cx="1434465" cy="3524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76" name="Group 75">
            <a:extLst>
              <a:ext uri="{FF2B5EF4-FFF2-40B4-BE49-F238E27FC236}">
                <a16:creationId xmlns:a16="http://schemas.microsoft.com/office/drawing/2014/main" id="{E35EFE63-959D-53F0-60CB-94441032AE31}"/>
              </a:ext>
            </a:extLst>
          </p:cNvPr>
          <p:cNvGrpSpPr>
            <a:grpSpLocks/>
          </p:cNvGrpSpPr>
          <p:nvPr/>
        </p:nvGrpSpPr>
        <p:grpSpPr>
          <a:xfrm>
            <a:off x="4299266" y="1463987"/>
            <a:ext cx="5192113" cy="1588861"/>
            <a:chOff x="4299266" y="1463987"/>
            <a:chExt cx="5192113" cy="1588861"/>
          </a:xfrm>
        </p:grpSpPr>
        <p:sp>
          <p:nvSpPr>
            <p:cNvPr id="62" name="Rectangle 61">
              <a:extLst>
                <a:ext uri="{FF2B5EF4-FFF2-40B4-BE49-F238E27FC236}">
                  <a16:creationId xmlns:a16="http://schemas.microsoft.com/office/drawing/2014/main" id="{5659A974-3986-EE5B-7E45-A5B39C10743A}"/>
                </a:ext>
              </a:extLst>
            </p:cNvPr>
            <p:cNvSpPr>
              <a:spLocks/>
            </p:cNvSpPr>
            <p:nvPr/>
          </p:nvSpPr>
          <p:spPr>
            <a:xfrm>
              <a:off x="7648575" y="1463987"/>
              <a:ext cx="952500" cy="467078"/>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Rectangle 62">
              <a:extLst>
                <a:ext uri="{FF2B5EF4-FFF2-40B4-BE49-F238E27FC236}">
                  <a16:creationId xmlns:a16="http://schemas.microsoft.com/office/drawing/2014/main" id="{D0A6C5A8-4FB4-5465-0CC5-27E40337B604}"/>
                </a:ext>
              </a:extLst>
            </p:cNvPr>
            <p:cNvSpPr>
              <a:spLocks/>
            </p:cNvSpPr>
            <p:nvPr/>
          </p:nvSpPr>
          <p:spPr>
            <a:xfrm>
              <a:off x="4299266" y="2720589"/>
              <a:ext cx="742713" cy="332259"/>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5" name="Straight Arrow Connector 64">
              <a:extLst>
                <a:ext uri="{FF2B5EF4-FFF2-40B4-BE49-F238E27FC236}">
                  <a16:creationId xmlns:a16="http://schemas.microsoft.com/office/drawing/2014/main" id="{C55EFD8D-36DF-FABC-40FE-37515A976D55}"/>
                </a:ext>
              </a:extLst>
            </p:cNvPr>
            <p:cNvCxnSpPr>
              <a:cxnSpLocks/>
              <a:stCxn id="69" idx="1"/>
              <a:endCxn id="63" idx="3"/>
            </p:cNvCxnSpPr>
            <p:nvPr/>
          </p:nvCxnSpPr>
          <p:spPr>
            <a:xfrm flipH="1">
              <a:off x="5041979" y="2884226"/>
              <a:ext cx="3040970" cy="2493"/>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66" name="Straight Arrow Connector 65">
              <a:extLst>
                <a:ext uri="{FF2B5EF4-FFF2-40B4-BE49-F238E27FC236}">
                  <a16:creationId xmlns:a16="http://schemas.microsoft.com/office/drawing/2014/main" id="{F5FF3956-5D62-FFD7-AD37-E9690525343E}"/>
                </a:ext>
              </a:extLst>
            </p:cNvPr>
            <p:cNvCxnSpPr>
              <a:cxnSpLocks/>
              <a:stCxn id="69" idx="0"/>
              <a:endCxn id="62" idx="2"/>
            </p:cNvCxnSpPr>
            <p:nvPr/>
          </p:nvCxnSpPr>
          <p:spPr>
            <a:xfrm flipH="1" flipV="1">
              <a:off x="8124825" y="1931065"/>
              <a:ext cx="662339" cy="79927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9" name="TextBox 68">
              <a:extLst>
                <a:ext uri="{FF2B5EF4-FFF2-40B4-BE49-F238E27FC236}">
                  <a16:creationId xmlns:a16="http://schemas.microsoft.com/office/drawing/2014/main" id="{D65B20DA-326E-D11E-7475-F221771129FC}"/>
                </a:ext>
              </a:extLst>
            </p:cNvPr>
            <p:cNvSpPr txBox="1">
              <a:spLocks/>
            </p:cNvSpPr>
            <p:nvPr/>
          </p:nvSpPr>
          <p:spPr>
            <a:xfrm>
              <a:off x="8082949" y="2730337"/>
              <a:ext cx="1408430" cy="307777"/>
            </a:xfrm>
            <a:prstGeom prst="rect">
              <a:avLst/>
            </a:prstGeom>
            <a:noFill/>
          </p:spPr>
          <p:txBody>
            <a:bodyPr wrap="square" rtlCol="0">
              <a:spAutoFit/>
            </a:bodyPr>
            <a:lstStyle/>
            <a:p>
              <a:r>
                <a:rPr lang="en-US" dirty="0">
                  <a:solidFill>
                    <a:srgbClr val="FF0000"/>
                  </a:solidFill>
                </a:rPr>
                <a:t>Up/Down count</a:t>
              </a:r>
            </a:p>
          </p:txBody>
        </p:sp>
      </p:grpSp>
    </p:spTree>
    <p:extLst>
      <p:ext uri="{BB962C8B-B14F-4D97-AF65-F5344CB8AC3E}">
        <p14:creationId xmlns:p14="http://schemas.microsoft.com/office/powerpoint/2010/main" val="39557304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nodeType="clickEffect">
                                  <p:stCondLst>
                                    <p:cond delay="0"/>
                                  </p:stCondLst>
                                  <p:childTnLst>
                                    <p:set>
                                      <p:cBhvr>
                                        <p:cTn id="10" dur="1" fill="hold">
                                          <p:stCondLst>
                                            <p:cond delay="0"/>
                                          </p:stCondLst>
                                        </p:cTn>
                                        <p:tgtEl>
                                          <p:spTgt spid="19"/>
                                        </p:tgtEl>
                                        <p:attrNameLst>
                                          <p:attrName>style.visibility</p:attrName>
                                        </p:attrNameLst>
                                      </p:cBhvr>
                                      <p:to>
                                        <p:strVal val="hidden"/>
                                      </p:to>
                                    </p:set>
                                  </p:childTnLst>
                                </p:cTn>
                              </p:par>
                              <p:par>
                                <p:cTn id="11" presetID="1" presetClass="entr" presetSubtype="0" fill="hold" nodeType="withEffect">
                                  <p:stCondLst>
                                    <p:cond delay="0"/>
                                  </p:stCondLst>
                                  <p:childTnLst>
                                    <p:set>
                                      <p:cBhvr>
                                        <p:cTn id="12" dur="1" fill="hold">
                                          <p:stCondLst>
                                            <p:cond delay="0"/>
                                          </p:stCondLst>
                                        </p:cTn>
                                        <p:tgtEl>
                                          <p:spTgt spid="6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xit" presetSubtype="0" fill="hold" nodeType="clickEffect">
                                  <p:stCondLst>
                                    <p:cond delay="0"/>
                                  </p:stCondLst>
                                  <p:childTnLst>
                                    <p:set>
                                      <p:cBhvr>
                                        <p:cTn id="16" dur="1" fill="hold">
                                          <p:stCondLst>
                                            <p:cond delay="0"/>
                                          </p:stCondLst>
                                        </p:cTn>
                                        <p:tgtEl>
                                          <p:spTgt spid="60"/>
                                        </p:tgtEl>
                                        <p:attrNameLst>
                                          <p:attrName>style.visibility</p:attrName>
                                        </p:attrNameLst>
                                      </p:cBhvr>
                                      <p:to>
                                        <p:strVal val="hidden"/>
                                      </p:to>
                                    </p:set>
                                  </p:childTnLst>
                                </p:cTn>
                              </p:par>
                              <p:par>
                                <p:cTn id="17" presetID="1" presetClass="entr" presetSubtype="0" fill="hold" nodeType="withEffect">
                                  <p:stCondLst>
                                    <p:cond delay="0"/>
                                  </p:stCondLst>
                                  <p:childTnLst>
                                    <p:set>
                                      <p:cBhvr>
                                        <p:cTn id="18" dur="1" fill="hold">
                                          <p:stCondLst>
                                            <p:cond delay="0"/>
                                          </p:stCondLst>
                                        </p:cTn>
                                        <p:tgtEl>
                                          <p:spTgt spid="7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338456F-E993-039E-73BE-8F0E658EC395}"/>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8FFFBBE2-B976-B930-AA49-9E208238245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The </a:t>
                </a:r>
                <a:r>
                  <a:rPr lang="en-US" sz="2000" dirty="0" err="1">
                    <a:latin typeface="+mj-lt"/>
                    <a:ea typeface="Arial"/>
                    <a:cs typeface="Arial"/>
                    <a:sym typeface="Arial"/>
                  </a:rPr>
                  <a:t>eQEP</a:t>
                </a:r>
                <a:r>
                  <a:rPr lang="en-US" sz="2000" dirty="0">
                    <a:latin typeface="+mj-lt"/>
                    <a:ea typeface="Arial"/>
                    <a:cs typeface="Arial"/>
                    <a:sym typeface="Arial"/>
                  </a:rPr>
                  <a:t> peripheral includes an integrated edge capture unit to measure the elapsed time between the unit position. </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r>
                  <a:rPr lang="en-US" sz="2000" dirty="0">
                    <a:latin typeface="+mj-lt"/>
                    <a:ea typeface="Arial"/>
                    <a:cs typeface="Arial"/>
                    <a:sym typeface="Arial"/>
                  </a:rPr>
                  <a:t>This feature is typically used for low-speed measurement using the following equation:</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ea typeface="Arial"/>
                          <a:cs typeface="Arial"/>
                          <a:sym typeface="Arial"/>
                        </a:rPr>
                        <m:t>𝑣</m:t>
                      </m:r>
                      <m:d>
                        <m:dPr>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𝑘</m:t>
                          </m:r>
                        </m:e>
                      </m:d>
                      <m:r>
                        <a:rPr lang="en-US" sz="2000" b="0" i="1" smtClean="0">
                          <a:latin typeface="Cambria Math" panose="02040503050406030204" pitchFamily="18" charset="0"/>
                          <a:ea typeface="Arial"/>
                          <a:cs typeface="Arial"/>
                          <a:sym typeface="Arial"/>
                        </a:rPr>
                        <m:t>=</m:t>
                      </m:r>
                      <m:f>
                        <m:fPr>
                          <m:ctrlPr>
                            <a:rPr lang="en-US" sz="2000" b="0" i="1" smtClean="0">
                              <a:latin typeface="Cambria Math" panose="02040503050406030204" pitchFamily="18" charset="0"/>
                              <a:cs typeface="Arial"/>
                              <a:sym typeface="Arial"/>
                            </a:rPr>
                          </m:ctrlPr>
                        </m:fPr>
                        <m:num>
                          <m:r>
                            <a:rPr lang="en-US" sz="2000" b="0" i="1" smtClean="0">
                              <a:latin typeface="Cambria Math" panose="02040503050406030204" pitchFamily="18" charset="0"/>
                              <a:cs typeface="Arial"/>
                              <a:sym typeface="Arial"/>
                            </a:rPr>
                            <m:t>𝑋</m:t>
                          </m:r>
                        </m:num>
                        <m:den>
                          <m:r>
                            <a:rPr lang="en-US" sz="2000" b="0" i="1" smtClean="0">
                              <a:latin typeface="Cambria Math" panose="02040503050406030204" pitchFamily="18" charset="0"/>
                              <a:cs typeface="Arial"/>
                              <a:sym typeface="Arial"/>
                            </a:rPr>
                            <m:t>𝑡</m:t>
                          </m:r>
                          <m:d>
                            <m:dPr>
                              <m:ctrlPr>
                                <a:rPr lang="en-US" sz="2000" b="0" i="1" smtClean="0">
                                  <a:latin typeface="Cambria Math" panose="02040503050406030204" pitchFamily="18" charset="0"/>
                                  <a:cs typeface="Arial"/>
                                  <a:sym typeface="Arial"/>
                                </a:rPr>
                              </m:ctrlPr>
                            </m:dPr>
                            <m:e>
                              <m:r>
                                <a:rPr lang="en-US" sz="2000" b="0" i="1" smtClean="0">
                                  <a:latin typeface="Cambria Math" panose="02040503050406030204" pitchFamily="18" charset="0"/>
                                  <a:cs typeface="Arial"/>
                                  <a:sym typeface="Arial"/>
                                </a:rPr>
                                <m:t>𝑘</m:t>
                              </m:r>
                            </m:e>
                          </m:d>
                          <m:r>
                            <a:rPr lang="en-US" sz="2000" b="0" i="1" smtClean="0">
                              <a:latin typeface="Cambria Math" panose="02040503050406030204" pitchFamily="18" charset="0"/>
                              <a:cs typeface="Arial"/>
                              <a:sym typeface="Arial"/>
                            </a:rPr>
                            <m:t>−</m:t>
                          </m:r>
                          <m:r>
                            <a:rPr lang="en-US" sz="2000" b="0" i="1" smtClean="0">
                              <a:latin typeface="Cambria Math" panose="02040503050406030204" pitchFamily="18" charset="0"/>
                              <a:cs typeface="Arial"/>
                              <a:sym typeface="Arial"/>
                            </a:rPr>
                            <m:t>𝑡</m:t>
                          </m:r>
                          <m:r>
                            <a:rPr lang="en-US" sz="2000" b="0" i="1" smtClean="0">
                              <a:latin typeface="Cambria Math" panose="02040503050406030204" pitchFamily="18" charset="0"/>
                              <a:cs typeface="Arial"/>
                              <a:sym typeface="Arial"/>
                            </a:rPr>
                            <m:t>(</m:t>
                          </m:r>
                          <m:r>
                            <a:rPr lang="en-US" sz="2000" b="0" i="1" smtClean="0">
                              <a:latin typeface="Cambria Math" panose="02040503050406030204" pitchFamily="18" charset="0"/>
                              <a:cs typeface="Arial"/>
                              <a:sym typeface="Arial"/>
                            </a:rPr>
                            <m:t>𝑘</m:t>
                          </m:r>
                          <m:r>
                            <a:rPr lang="en-US" sz="2000" b="0" i="1" smtClean="0">
                              <a:latin typeface="Cambria Math" panose="02040503050406030204" pitchFamily="18" charset="0"/>
                              <a:cs typeface="Arial"/>
                              <a:sym typeface="Arial"/>
                            </a:rPr>
                            <m:t>−1)</m:t>
                          </m:r>
                        </m:den>
                      </m:f>
                      <m:r>
                        <a:rPr lang="en-US" sz="2000" b="0" i="1" smtClean="0">
                          <a:latin typeface="Cambria Math" panose="02040503050406030204" pitchFamily="18" charset="0"/>
                          <a:cs typeface="Arial"/>
                          <a:sym typeface="Arial"/>
                        </a:rPr>
                        <m:t>=</m:t>
                      </m:r>
                      <m:f>
                        <m:fPr>
                          <m:ctrlPr>
                            <a:rPr lang="en-US" sz="2000" b="0" i="1" smtClean="0">
                              <a:latin typeface="Cambria Math" panose="02040503050406030204" pitchFamily="18" charset="0"/>
                              <a:cs typeface="Arial"/>
                              <a:sym typeface="Arial"/>
                            </a:rPr>
                          </m:ctrlPr>
                        </m:fPr>
                        <m:num>
                          <m:r>
                            <a:rPr lang="en-US" sz="2000" b="0" i="1" smtClean="0">
                              <a:latin typeface="Cambria Math" panose="02040503050406030204" pitchFamily="18" charset="0"/>
                              <a:cs typeface="Arial"/>
                              <a:sym typeface="Arial"/>
                            </a:rPr>
                            <m:t>𝑋</m:t>
                          </m:r>
                        </m:num>
                        <m:den>
                          <m:r>
                            <a:rPr lang="en-US" sz="2000" b="0" i="1" smtClean="0">
                              <a:latin typeface="Cambria Math" panose="02040503050406030204" pitchFamily="18" charset="0"/>
                              <a:ea typeface="Cambria Math" panose="02040503050406030204" pitchFamily="18" charset="0"/>
                              <a:cs typeface="Arial"/>
                              <a:sym typeface="Arial"/>
                            </a:rPr>
                            <m:t>∆</m:t>
                          </m:r>
                          <m:r>
                            <a:rPr lang="en-US" sz="2000" b="0" i="1" smtClean="0">
                              <a:latin typeface="Cambria Math" panose="02040503050406030204" pitchFamily="18" charset="0"/>
                              <a:ea typeface="Cambria Math" panose="02040503050406030204" pitchFamily="18" charset="0"/>
                              <a:cs typeface="Arial"/>
                              <a:sym typeface="Arial"/>
                            </a:rPr>
                            <m:t>𝑇</m:t>
                          </m:r>
                        </m:den>
                      </m:f>
                    </m:oMath>
                  </m:oMathPara>
                </a14:m>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r>
                  <a:rPr lang="en-US" sz="2000" dirty="0">
                    <a:latin typeface="+mj-lt"/>
                    <a:ea typeface="Arial"/>
                    <a:cs typeface="Arial"/>
                    <a:sym typeface="Arial"/>
                  </a:rPr>
                  <a:t>Where,</a:t>
                </a:r>
              </a:p>
              <a:p>
                <a:pPr marL="342900">
                  <a:lnSpc>
                    <a:spcPct val="100000"/>
                  </a:lnSpc>
                  <a:spcBef>
                    <a:spcPts val="0"/>
                  </a:spcBef>
                  <a:buSzPts val="3000"/>
                </a:pPr>
                <a14:m>
                  <m:oMath xmlns:m="http://schemas.openxmlformats.org/officeDocument/2006/math">
                    <m:r>
                      <a:rPr lang="en-US" sz="2000" b="0" i="1" smtClean="0">
                        <a:latin typeface="Cambria Math" panose="02040503050406030204" pitchFamily="18" charset="0"/>
                        <a:cs typeface="Arial"/>
                        <a:sym typeface="Arial"/>
                      </a:rPr>
                      <m:t>𝑋</m:t>
                    </m:r>
                  </m:oMath>
                </a14:m>
                <a:r>
                  <a:rPr lang="en-US" sz="2000" dirty="0">
                    <a:latin typeface="+mj-lt"/>
                    <a:ea typeface="Arial"/>
                    <a:cs typeface="Arial"/>
                    <a:sym typeface="Arial"/>
                  </a:rPr>
                  <a:t>: Unit position defined by integer multiple of quadrature edges</a:t>
                </a:r>
              </a:p>
              <a:p>
                <a:pPr marL="342900">
                  <a:lnSpc>
                    <a:spcPct val="100000"/>
                  </a:lnSpc>
                  <a:spcBef>
                    <a:spcPts val="0"/>
                  </a:spcBef>
                  <a:buSzPts val="3000"/>
                </a:pPr>
                <a14:m>
                  <m:oMath xmlns:m="http://schemas.openxmlformats.org/officeDocument/2006/math">
                    <m:r>
                      <a:rPr lang="en-US" sz="2000" b="0" i="1" smtClean="0">
                        <a:latin typeface="Cambria Math" panose="02040503050406030204" pitchFamily="18" charset="0"/>
                        <a:ea typeface="Cambria Math" panose="02040503050406030204" pitchFamily="18" charset="0"/>
                        <a:cs typeface="Arial"/>
                        <a:sym typeface="Arial"/>
                      </a:rPr>
                      <m:t>∆</m:t>
                    </m:r>
                    <m:r>
                      <a:rPr lang="en-US" sz="2000" b="0" i="1" smtClean="0">
                        <a:latin typeface="Cambria Math" panose="02040503050406030204" pitchFamily="18" charset="0"/>
                        <a:ea typeface="Cambria Math" panose="02040503050406030204" pitchFamily="18" charset="0"/>
                        <a:cs typeface="Arial"/>
                        <a:sym typeface="Arial"/>
                      </a:rPr>
                      <m:t>𝑇</m:t>
                    </m:r>
                  </m:oMath>
                </a14:m>
                <a:r>
                  <a:rPr lang="en-US" sz="2000" dirty="0">
                    <a:latin typeface="+mj-lt"/>
                    <a:ea typeface="Arial"/>
                    <a:cs typeface="Arial"/>
                    <a:sym typeface="Arial"/>
                  </a:rPr>
                  <a:t>: Elapsed time between unit position events</a:t>
                </a:r>
              </a:p>
              <a:p>
                <a:pPr marL="342900">
                  <a:lnSpc>
                    <a:spcPct val="100000"/>
                  </a:lnSpc>
                  <a:spcBef>
                    <a:spcPts val="0"/>
                  </a:spcBef>
                  <a:buSzPts val="3000"/>
                </a:pPr>
                <a14:m>
                  <m:oMath xmlns:m="http://schemas.openxmlformats.org/officeDocument/2006/math">
                    <m:r>
                      <a:rPr lang="en-US" sz="2000" b="0" i="1" smtClean="0">
                        <a:latin typeface="Cambria Math" panose="02040503050406030204" pitchFamily="18" charset="0"/>
                        <a:ea typeface="Arial"/>
                        <a:cs typeface="Arial"/>
                        <a:sym typeface="Arial"/>
                      </a:rPr>
                      <m:t>𝑣</m:t>
                    </m:r>
                    <m:d>
                      <m:dPr>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𝑘</m:t>
                        </m:r>
                      </m:e>
                    </m:d>
                  </m:oMath>
                </a14:m>
                <a:r>
                  <a:rPr lang="en-US" sz="2000" dirty="0">
                    <a:latin typeface="+mj-lt"/>
                    <a:ea typeface="Arial"/>
                    <a:cs typeface="Arial"/>
                    <a:sym typeface="Arial"/>
                  </a:rPr>
                  <a:t>: Velocity at time instant “</a:t>
                </a:r>
                <a14:m>
                  <m:oMath xmlns:m="http://schemas.openxmlformats.org/officeDocument/2006/math">
                    <m:r>
                      <a:rPr lang="en-US" sz="2000" i="1">
                        <a:latin typeface="Cambria Math" panose="02040503050406030204" pitchFamily="18" charset="0"/>
                        <a:ea typeface="Arial"/>
                        <a:cs typeface="Arial"/>
                        <a:sym typeface="Arial"/>
                      </a:rPr>
                      <m:t>𝑘</m:t>
                    </m:r>
                  </m:oMath>
                </a14:m>
                <a:r>
                  <a:rPr lang="en-US" sz="2000" dirty="0">
                    <a:latin typeface="+mj-lt"/>
                    <a:ea typeface="Arial"/>
                    <a:cs typeface="Arial"/>
                    <a:sym typeface="Arial"/>
                  </a:rPr>
                  <a:t>”</a:t>
                </a:r>
              </a:p>
              <a:p>
                <a:pPr marL="342900">
                  <a:lnSpc>
                    <a:spcPct val="100000"/>
                  </a:lnSpc>
                  <a:spcBef>
                    <a:spcPts val="0"/>
                  </a:spcBef>
                  <a:buSzPts val="3000"/>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p:txBody>
          </p:sp>
        </mc:Choice>
        <mc:Fallback xmlns="">
          <p:sp>
            <p:nvSpPr>
              <p:cNvPr id="118" name="Google Shape;118;p29">
                <a:extLst>
                  <a:ext uri="{FF2B5EF4-FFF2-40B4-BE49-F238E27FC236}">
                    <a16:creationId xmlns:a16="http://schemas.microsoft.com/office/drawing/2014/main" id="{8FFFBBE2-B976-B930-AA49-9E208238245B}"/>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11A8F2E9-46DC-1761-B0D0-A13EF85208D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BBA1B7D-FC65-8058-D58D-28C54FC7FAF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r>
              <a:rPr lang="en-US" sz="2400" dirty="0">
                <a:solidFill>
                  <a:schemeClr val="lt1"/>
                </a:solidFill>
              </a:rPr>
              <a:t> - CAP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706EAC9-F15D-86AB-BB08-584FB0E49BCC}"/>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DC1C697-2D56-ED5D-DBF3-F987114EDAC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E5DAD4E-D048-7A47-9EA0-B0863C29D1C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D904A3B-E77C-6D98-9BFD-E37F98B4E9F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C05170D-26F9-5FC9-DFB8-3DC2B74C1D4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542E4D5-47EF-D0EB-86A2-8C63272CF99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69237303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4F31257-384D-CA3A-47BE-3BBA44087268}"/>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746A9E00-F133-8FB2-121D-D1F795391A1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63B1641-33C3-CF70-2452-E73CE6138C0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EC5AC05-9A0B-31D2-EF8E-811C4F85EE8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EDB5AF9-CC90-7505-4B7A-087F4E51F2E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D440BDF-11AD-AFA7-CDA6-DE55EC905D0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D5707EE-2639-3D18-150F-C78335368AE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70E14ED-CA43-2064-34D4-7329CF0A6AF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992B0EB-AD00-9D73-0279-ED469BB01E6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D6C1C104-7CA8-65B2-5496-0F26999FB65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515494" y="1105749"/>
            <a:ext cx="7161012" cy="5296329"/>
          </a:xfrm>
          <a:prstGeom prst="rect">
            <a:avLst/>
          </a:prstGeom>
        </p:spPr>
      </p:pic>
    </p:spTree>
    <p:extLst>
      <p:ext uri="{BB962C8B-B14F-4D97-AF65-F5344CB8AC3E}">
        <p14:creationId xmlns:p14="http://schemas.microsoft.com/office/powerpoint/2010/main" val="370824420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73E3490-3269-0849-5787-F4EF6E513A05}"/>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998B6AEA-F55E-457F-C40B-2FA2D84CF1B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mj-lt"/>
                    <a:ea typeface="Arial"/>
                    <a:cs typeface="Arial"/>
                    <a:sym typeface="Arial"/>
                  </a:rPr>
                  <a:t>The </a:t>
                </a:r>
                <a:r>
                  <a:rPr lang="en-US" sz="2000" dirty="0" err="1">
                    <a:latin typeface="+mj-lt"/>
                    <a:ea typeface="Arial"/>
                    <a:cs typeface="Arial"/>
                    <a:sym typeface="Arial"/>
                  </a:rPr>
                  <a:t>eQEP</a:t>
                </a:r>
                <a:r>
                  <a:rPr lang="en-US" sz="2000" dirty="0">
                    <a:latin typeface="+mj-lt"/>
                    <a:ea typeface="Arial"/>
                    <a:cs typeface="Arial"/>
                    <a:sym typeface="Arial"/>
                  </a:rPr>
                  <a:t> peripheral includes a 32-bit timer (QUTMR) that is clocked by SYSCLKOUT to generate periodic interrupts for velocity calculations. Whenever the unit timer (QUTMR) matches the unit period register (QUPRD), it resets the unit timer (QUPRD) it resets the unit timer (QUTMR).</a:t>
                </a: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r>
                  <a:rPr lang="en-US" sz="2000" dirty="0">
                    <a:latin typeface="+mj-lt"/>
                    <a:ea typeface="Arial"/>
                    <a:cs typeface="Arial"/>
                    <a:sym typeface="Arial"/>
                  </a:rPr>
                  <a:t>Time measurement (</a:t>
                </a:r>
                <a14:m>
                  <m:oMath xmlns:m="http://schemas.openxmlformats.org/officeDocument/2006/math">
                    <m:r>
                      <a:rPr lang="en-US" sz="2000" i="1">
                        <a:latin typeface="Cambria Math" panose="02040503050406030204" pitchFamily="18" charset="0"/>
                        <a:ea typeface="Cambria Math" panose="02040503050406030204" pitchFamily="18" charset="0"/>
                        <a:cs typeface="Arial"/>
                        <a:sym typeface="Arial"/>
                      </a:rPr>
                      <m:t>∆</m:t>
                    </m:r>
                    <m:r>
                      <a:rPr lang="en-US" sz="2000" i="1">
                        <a:latin typeface="Cambria Math" panose="02040503050406030204" pitchFamily="18" charset="0"/>
                        <a:ea typeface="Cambria Math" panose="02040503050406030204" pitchFamily="18" charset="0"/>
                        <a:cs typeface="Arial"/>
                        <a:sym typeface="Arial"/>
                      </a:rPr>
                      <m:t>𝑇</m:t>
                    </m:r>
                  </m:oMath>
                </a14:m>
                <a:r>
                  <a:rPr lang="en-US" sz="2000" dirty="0">
                    <a:latin typeface="+mj-lt"/>
                    <a:ea typeface="Arial"/>
                    <a:cs typeface="Arial"/>
                    <a:sym typeface="Arial"/>
                  </a:rPr>
                  <a:t>) between unit position events will be correct if the following conditions are met:</a:t>
                </a:r>
              </a:p>
              <a:p>
                <a:pPr marL="342900">
                  <a:lnSpc>
                    <a:spcPct val="100000"/>
                  </a:lnSpc>
                  <a:spcBef>
                    <a:spcPts val="0"/>
                  </a:spcBef>
                  <a:buSzPts val="3000"/>
                </a:pPr>
                <a:r>
                  <a:rPr lang="en-US" sz="2000" dirty="0">
                    <a:latin typeface="+mj-lt"/>
                    <a:ea typeface="Arial"/>
                    <a:cs typeface="Arial"/>
                    <a:sym typeface="Arial"/>
                  </a:rPr>
                  <a:t>No more than 65,535 counts have occurred between unit position events (16-bit register).</a:t>
                </a:r>
              </a:p>
              <a:p>
                <a:pPr marL="342900">
                  <a:lnSpc>
                    <a:spcPct val="100000"/>
                  </a:lnSpc>
                  <a:spcBef>
                    <a:spcPts val="0"/>
                  </a:spcBef>
                  <a:buSzPts val="3000"/>
                </a:pPr>
                <a:r>
                  <a:rPr lang="en-US" sz="2000" dirty="0">
                    <a:latin typeface="+mj-lt"/>
                    <a:ea typeface="Arial"/>
                    <a:cs typeface="Arial"/>
                    <a:sym typeface="Arial"/>
                  </a:rPr>
                  <a:t>No direction change between unit position events.</a:t>
                </a:r>
              </a:p>
            </p:txBody>
          </p:sp>
        </mc:Choice>
        <mc:Fallback>
          <p:sp>
            <p:nvSpPr>
              <p:cNvPr id="118" name="Google Shape;118;p29">
                <a:extLst>
                  <a:ext uri="{FF2B5EF4-FFF2-40B4-BE49-F238E27FC236}">
                    <a16:creationId xmlns:a16="http://schemas.microsoft.com/office/drawing/2014/main" id="{998B6AEA-F55E-457F-C40B-2FA2D84CF1B0}"/>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632" r="-87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C462348F-525A-6FCF-526F-0B29474EB60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AFC789D-5280-6C82-45E0-5FA2E5985AB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DD0846D-CD7F-769D-0701-4549CE6B1A9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0AA94D1-36F7-D345-0A23-2BFA20DD146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F9E0042-B1BA-A376-7193-DD04BDB57CD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93869D8-7143-971C-FF34-619F693A9E9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2C28C40-A145-C25A-5C2E-BE613A1BEB3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50D0354-5FCD-511A-5796-E13F96B6594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56100485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2E27C57-6BF5-4F28-39A1-FCAA5A73247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3430B8E-BCE5-394A-2722-7C8971B7DF2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lgn="l">
              <a:buNone/>
            </a:pPr>
            <a:r>
              <a:rPr lang="en-US" dirty="0">
                <a:solidFill>
                  <a:srgbClr val="7F0055"/>
                </a:solidFill>
                <a:latin typeface="Consolas" panose="020B0609020204030204" pitchFamily="49" charset="0"/>
              </a:rPr>
              <a:t>float</a:t>
            </a:r>
            <a:r>
              <a:rPr lang="en-US" dirty="0">
                <a:solidFill>
                  <a:srgbClr val="000000"/>
                </a:solidFill>
                <a:latin typeface="Consolas" panose="020B0609020204030204" pitchFamily="49" charset="0"/>
              </a:rPr>
              <a:t> </a:t>
            </a:r>
            <a:r>
              <a:rPr lang="en-US" dirty="0" err="1">
                <a:solidFill>
                  <a:srgbClr val="000000"/>
                </a:solidFill>
                <a:latin typeface="Consolas" panose="020B0609020204030204" pitchFamily="49" charset="0"/>
              </a:rPr>
              <a:t>readEncLeft</a:t>
            </a:r>
            <a:r>
              <a:rPr lang="en-US" dirty="0">
                <a:solidFill>
                  <a:srgbClr val="000000"/>
                </a:solidFill>
                <a:latin typeface="Consolas" panose="020B0609020204030204" pitchFamily="49" charset="0"/>
              </a:rPr>
              <a:t>(</a:t>
            </a:r>
            <a:r>
              <a:rPr lang="en-US" dirty="0">
                <a:solidFill>
                  <a:srgbClr val="7F0055"/>
                </a:solidFill>
                <a:latin typeface="Consolas" panose="020B0609020204030204" pitchFamily="49" charset="0"/>
              </a:rPr>
              <a:t>void</a:t>
            </a:r>
            <a:r>
              <a:rPr lang="en-US" dirty="0">
                <a:solidFill>
                  <a:srgbClr val="000000"/>
                </a:solidFill>
                <a:latin typeface="Consolas" panose="020B0609020204030204" pitchFamily="49" charset="0"/>
              </a:rPr>
              <a:t>) {</a:t>
            </a:r>
          </a:p>
          <a:p>
            <a:pPr marL="114300" indent="0" algn="l">
              <a:buNone/>
            </a:pPr>
            <a:r>
              <a:rPr lang="en-US" dirty="0">
                <a:solidFill>
                  <a:srgbClr val="000000"/>
                </a:solidFill>
                <a:latin typeface="Consolas" panose="020B0609020204030204" pitchFamily="49" charset="0"/>
              </a:rPr>
              <a:t>    </a:t>
            </a:r>
            <a:r>
              <a:rPr lang="en-US" dirty="0">
                <a:solidFill>
                  <a:srgbClr val="005032"/>
                </a:solidFill>
                <a:latin typeface="Consolas" panose="020B0609020204030204" pitchFamily="49" charset="0"/>
              </a:rPr>
              <a:t>int32_t</a:t>
            </a:r>
            <a:r>
              <a:rPr lang="en-US" dirty="0">
                <a:solidFill>
                  <a:srgbClr val="000000"/>
                </a:solidFill>
                <a:latin typeface="Consolas" panose="020B0609020204030204" pitchFamily="49" charset="0"/>
              </a:rPr>
              <a:t> raw = EQep1Regs.</a:t>
            </a:r>
            <a:r>
              <a:rPr lang="en-US" dirty="0">
                <a:solidFill>
                  <a:srgbClr val="0000C0"/>
                </a:solidFill>
                <a:latin typeface="Consolas" panose="020B0609020204030204" pitchFamily="49" charset="0"/>
              </a:rPr>
              <a:t>QPOSCNT</a:t>
            </a:r>
            <a:r>
              <a:rPr lang="en-US" dirty="0">
                <a:solidFill>
                  <a:srgbClr val="000000"/>
                </a:solidFill>
                <a:latin typeface="Consolas" panose="020B0609020204030204" pitchFamily="49" charset="0"/>
              </a:rPr>
              <a:t>;</a:t>
            </a:r>
          </a:p>
          <a:p>
            <a:pPr marL="114300" indent="0" algn="l">
              <a:buNone/>
            </a:pPr>
            <a:endParaRPr lang="en-US" dirty="0">
              <a:latin typeface="Consolas" panose="020B0609020204030204" pitchFamily="49" charset="0"/>
            </a:endParaRPr>
          </a:p>
          <a:p>
            <a:pPr marL="114300" indent="0" algn="l">
              <a:buNone/>
            </a:pPr>
            <a:r>
              <a:rPr lang="en-US" dirty="0">
                <a:solidFill>
                  <a:srgbClr val="000000"/>
                </a:solidFill>
                <a:latin typeface="Consolas" panose="020B0609020204030204" pitchFamily="49" charset="0"/>
              </a:rPr>
              <a:t>    </a:t>
            </a:r>
            <a:r>
              <a:rPr lang="en-US" dirty="0">
                <a:solidFill>
                  <a:srgbClr val="7F0055"/>
                </a:solidFill>
                <a:latin typeface="Consolas" panose="020B0609020204030204" pitchFamily="49" charset="0"/>
              </a:rPr>
              <a:t>return</a:t>
            </a:r>
            <a:r>
              <a:rPr lang="en-US" dirty="0">
                <a:solidFill>
                  <a:srgbClr val="000000"/>
                </a:solidFill>
                <a:latin typeface="Consolas" panose="020B0609020204030204" pitchFamily="49" charset="0"/>
              </a:rPr>
              <a:t> (raw*(-2*PI/(2000.0*20.0)));</a:t>
            </a:r>
          </a:p>
          <a:p>
            <a:pPr marL="114300" indent="0" algn="l">
              <a:buNone/>
            </a:pPr>
            <a:r>
              <a:rPr lang="en-US" dirty="0">
                <a:solidFill>
                  <a:srgbClr val="000000"/>
                </a:solidFill>
                <a:latin typeface="Consolas" panose="020B0609020204030204" pitchFamily="49" charset="0"/>
              </a:rPr>
              <a:t>}</a:t>
            </a:r>
          </a:p>
          <a:p>
            <a:pPr marL="114300" indent="0" algn="l">
              <a:buNone/>
            </a:pPr>
            <a:endParaRPr lang="en-US" dirty="0">
              <a:solidFill>
                <a:srgbClr val="000000"/>
              </a:solidFill>
              <a:latin typeface="Consolas" panose="020B0609020204030204" pitchFamily="49" charset="0"/>
            </a:endParaRPr>
          </a:p>
          <a:p>
            <a:pPr marL="114300" indent="0" algn="l">
              <a:buNone/>
            </a:pPr>
            <a:endParaRPr lang="en-US" dirty="0">
              <a:solidFill>
                <a:srgbClr val="000000"/>
              </a:solidFill>
              <a:latin typeface="Consolas" panose="020B0609020204030204" pitchFamily="49" charset="0"/>
            </a:endParaRPr>
          </a:p>
          <a:p>
            <a:pPr marL="114300" indent="0" algn="ctr">
              <a:buNone/>
            </a:pPr>
            <a:r>
              <a:rPr lang="en-US" b="0" dirty="0">
                <a:solidFill>
                  <a:srgbClr val="000000"/>
                </a:solidFill>
                <a:effectLst/>
                <a:latin typeface="+mj-lt"/>
              </a:rPr>
              <a:t>Simple as that! You just read the registry!</a:t>
            </a:r>
            <a:endParaRPr lang="en-US" b="0" dirty="0">
              <a:solidFill>
                <a:srgbClr val="3B3B3B"/>
              </a:solidFill>
              <a:effectLst/>
              <a:latin typeface="+mj-lt"/>
            </a:endParaRPr>
          </a:p>
        </p:txBody>
      </p:sp>
      <p:sp>
        <p:nvSpPr>
          <p:cNvPr id="119" name="Google Shape;119;p29">
            <a:extLst>
              <a:ext uri="{FF2B5EF4-FFF2-40B4-BE49-F238E27FC236}">
                <a16:creationId xmlns:a16="http://schemas.microsoft.com/office/drawing/2014/main" id="{2A4881D7-713B-914B-AC92-48345DD9E1B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A483811A-CB7A-9C76-4E71-5344DBE2C01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7E7DEA7-578B-E1A1-5371-4D32D8C2D64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C08B3A0-3171-DAF8-C0A0-32667A349EA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028B152-72C1-ED16-0424-391759ADC67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3DBEA00-60CB-66AF-E205-F7BD9539030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B942795-3DFB-66A5-82CA-0E882F6BDEB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75E5FCD-7996-F8E0-2DB8-22F51036859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41523218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2A713CDF-0B8B-108B-42D6-17FDD2EBBF0C}"/>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1F34033B-0A6F-2DE7-275B-87638A846C53}"/>
              </a:ext>
            </a:extLst>
          </p:cNvPr>
          <p:cNvSpPr txBox="1"/>
          <p:nvPr/>
        </p:nvSpPr>
        <p:spPr>
          <a:xfrm>
            <a:off x="1295400" y="3225488"/>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Absolute Optical Encoder</a:t>
            </a:r>
            <a:endParaRPr dirty="0"/>
          </a:p>
        </p:txBody>
      </p:sp>
      <p:grpSp>
        <p:nvGrpSpPr>
          <p:cNvPr id="105" name="Google Shape;105;p28">
            <a:extLst>
              <a:ext uri="{FF2B5EF4-FFF2-40B4-BE49-F238E27FC236}">
                <a16:creationId xmlns:a16="http://schemas.microsoft.com/office/drawing/2014/main" id="{1D833E33-3903-F12E-3037-5D4DAB6E7270}"/>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1F477EB1-B485-1087-5A29-9DBFE6886498}"/>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31BF6ED0-B16F-48E7-B88F-E8C86264E5FE}"/>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893FED50-DA62-A68F-53A6-2526B2AC4B17}"/>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40D16EC1-C525-EBA8-ABFB-C7D28A7FD3C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E56A7D34-A249-29FC-9D1B-980CD1EF863C}"/>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2E15231D-E819-1A10-65F1-3AC52B59C01E}"/>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0C99C46B-1F9A-4E67-DC21-4B588937352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2B27191B-2A5E-3909-9854-09308CE50B4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9066579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40F3FB9-E50E-A6C0-05B5-B93B84614EF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7D06D7E-30EB-6610-46B3-CD293E080559}"/>
              </a:ext>
            </a:extLst>
          </p:cNvPr>
          <p:cNvSpPr txBox="1">
            <a:spLocks noGrp="1"/>
          </p:cNvSpPr>
          <p:nvPr>
            <p:ph type="body" idx="1"/>
          </p:nvPr>
        </p:nvSpPr>
        <p:spPr>
          <a:xfrm>
            <a:off x="376809" y="1334279"/>
            <a:ext cx="11177401" cy="2716733"/>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There are multiple protocols for reading data from an optical encoder. We only use </a:t>
            </a:r>
            <a:r>
              <a:rPr lang="en-US" sz="1800" b="1" dirty="0">
                <a:latin typeface="+mj-lt"/>
              </a:rPr>
              <a:t>incremental </a:t>
            </a:r>
            <a:r>
              <a:rPr lang="en-US" sz="1800" dirty="0">
                <a:latin typeface="+mj-lt"/>
              </a:rPr>
              <a:t>encoders in this class.</a:t>
            </a:r>
          </a:p>
          <a:p>
            <a:pPr marL="114300" indent="0">
              <a:buNone/>
            </a:pPr>
            <a:endParaRPr lang="en-US" sz="1800" dirty="0">
              <a:latin typeface="+mj-lt"/>
            </a:endParaRPr>
          </a:p>
          <a:p>
            <a:pPr marL="114300" indent="0">
              <a:buNone/>
            </a:pPr>
            <a:r>
              <a:rPr lang="en-US" sz="1800" dirty="0">
                <a:latin typeface="+mj-lt"/>
              </a:rPr>
              <a:t>Some protocols use SPI, some use UART or some kind of DAC signal, </a:t>
            </a:r>
            <a:r>
              <a:rPr lang="en-US" sz="1800" dirty="0" err="1">
                <a:latin typeface="+mj-lt"/>
              </a:rPr>
              <a:t>etc</a:t>
            </a:r>
            <a:r>
              <a:rPr lang="en-US" sz="1800" dirty="0">
                <a:latin typeface="+mj-lt"/>
              </a:rPr>
              <a:t>… the only way to be sure is to look at the official documentation!</a:t>
            </a:r>
          </a:p>
          <a:p>
            <a:pPr marL="114300" indent="0">
              <a:buNone/>
            </a:pPr>
            <a:endParaRPr lang="en-US" sz="1800" dirty="0">
              <a:latin typeface="+mj-lt"/>
            </a:endParaRPr>
          </a:p>
          <a:p>
            <a:pPr marL="114300" indent="0">
              <a:buNone/>
            </a:pPr>
            <a:r>
              <a:rPr lang="en-US" sz="1800" dirty="0">
                <a:latin typeface="+mj-lt"/>
              </a:rPr>
              <a:t>For the following Magnetic Rotary Encoder (an absolute encoder that uses a magnet on top of the IC), we can extract the data from the SSI communication protocol.</a:t>
            </a:r>
          </a:p>
          <a:p>
            <a:pPr marL="114300" indent="0">
              <a:buNone/>
            </a:pPr>
            <a:endParaRPr lang="en-US" sz="1800" dirty="0">
              <a:latin typeface="+mj-lt"/>
            </a:endParaRPr>
          </a:p>
        </p:txBody>
      </p:sp>
      <p:sp>
        <p:nvSpPr>
          <p:cNvPr id="119" name="Google Shape;119;p29">
            <a:extLst>
              <a:ext uri="{FF2B5EF4-FFF2-40B4-BE49-F238E27FC236}">
                <a16:creationId xmlns:a16="http://schemas.microsoft.com/office/drawing/2014/main" id="{F0D21858-C077-DDB7-1D4A-6664F1D3300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E0BC6E5-9F01-D328-0339-30FD5FE48D4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Absolute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DE89C46-5665-BEF6-B6FA-F938B95664F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3C4D165-0887-4C22-F2DB-5A1760FCC18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7A93078-1151-E7B3-35DB-BC963DE7660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7D341A9-0D4D-2C20-5ED3-886ADAF3C06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8F4E004-26AA-1519-48B2-6E3ED9F3143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07E892B-A210-6AF8-5984-8B15D950DD3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Picture 2">
            <a:extLst>
              <a:ext uri="{FF2B5EF4-FFF2-40B4-BE49-F238E27FC236}">
                <a16:creationId xmlns:a16="http://schemas.microsoft.com/office/drawing/2014/main" id="{10B17922-CF3A-12C0-C9FE-1A65C8F40EBB}"/>
              </a:ext>
            </a:extLst>
          </p:cNvPr>
          <p:cNvPicPr>
            <a:picLocks noChangeAspect="1"/>
          </p:cNvPicPr>
          <p:nvPr/>
        </p:nvPicPr>
        <p:blipFill>
          <a:blip r:embed="rId4"/>
          <a:stretch>
            <a:fillRect/>
          </a:stretch>
        </p:blipFill>
        <p:spPr>
          <a:xfrm>
            <a:off x="3731141" y="4051015"/>
            <a:ext cx="4201363" cy="2440990"/>
          </a:xfrm>
          <a:prstGeom prst="rect">
            <a:avLst/>
          </a:prstGeom>
        </p:spPr>
      </p:pic>
    </p:spTree>
    <p:extLst>
      <p:ext uri="{BB962C8B-B14F-4D97-AF65-F5344CB8AC3E}">
        <p14:creationId xmlns:p14="http://schemas.microsoft.com/office/powerpoint/2010/main" val="257544584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AD1448E-D08C-DC31-0D9A-EA6E046A7F87}"/>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F8115637-6EF3-F197-933B-2B02BDAB7E4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87E3C5B-9ECD-C269-27E2-F3CB530D796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SSI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7A3C2A31-7173-C43D-B076-905026996DA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4C1CA9C-C3A1-7481-D671-DC511BC300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761AD3F-D8CB-1E0A-0679-0DB13C8D19D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C33D9FF-1B8A-6BAB-AFB6-A47E80EAF15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2A085CB-3649-02D8-1E90-44E2053197D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5973852-7A22-5AD6-FE0D-20C9398CD84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6" name="Graphic 5">
            <a:extLst>
              <a:ext uri="{FF2B5EF4-FFF2-40B4-BE49-F238E27FC236}">
                <a16:creationId xmlns:a16="http://schemas.microsoft.com/office/drawing/2014/main" id="{977D35C3-3E13-7431-61F2-75DAC4F586AC}"/>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939564" y="949760"/>
            <a:ext cx="6312873" cy="5536211"/>
          </a:xfrm>
          <a:prstGeom prst="rect">
            <a:avLst/>
          </a:prstGeom>
        </p:spPr>
      </p:pic>
      <p:sp>
        <p:nvSpPr>
          <p:cNvPr id="2" name="Rectangle 1">
            <a:extLst>
              <a:ext uri="{FF2B5EF4-FFF2-40B4-BE49-F238E27FC236}">
                <a16:creationId xmlns:a16="http://schemas.microsoft.com/office/drawing/2014/main" id="{1E6219F5-8824-58F0-4E25-1B30F4C384BB}"/>
              </a:ext>
            </a:extLst>
          </p:cNvPr>
          <p:cNvSpPr/>
          <p:nvPr/>
        </p:nvSpPr>
        <p:spPr>
          <a:xfrm>
            <a:off x="6924261" y="2166730"/>
            <a:ext cx="1928191" cy="510209"/>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08054083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645BCC3-3CF1-2A17-F081-0B7096AC7BE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34C8644-08CA-F9AF-0363-324D2B41E79A}"/>
              </a:ext>
            </a:extLst>
          </p:cNvPr>
          <p:cNvSpPr txBox="1">
            <a:spLocks noGrp="1"/>
          </p:cNvSpPr>
          <p:nvPr>
            <p:ph type="body" idx="1"/>
          </p:nvPr>
        </p:nvSpPr>
        <p:spPr>
          <a:xfrm>
            <a:off x="376809" y="1334279"/>
            <a:ext cx="11177401" cy="1726422"/>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Like UART, start with high, then to start communication you start with a low value. The difference is that you are not sending “data” to ask, you are just sending a clock signal. The sensor is sending its preconfigured “data”. </a:t>
            </a:r>
          </a:p>
          <a:p>
            <a:pPr marL="114300" indent="0">
              <a:buNone/>
            </a:pPr>
            <a:r>
              <a:rPr lang="en-US" sz="1800" dirty="0">
                <a:latin typeface="+mj-lt"/>
              </a:rPr>
              <a:t>This is a full-duplex signal (you send and receive at the same time). </a:t>
            </a:r>
          </a:p>
          <a:p>
            <a:pPr marL="114300" indent="0">
              <a:buNone/>
            </a:pPr>
            <a:r>
              <a:rPr lang="en-US" sz="1800" dirty="0">
                <a:latin typeface="+mj-lt"/>
              </a:rPr>
              <a:t>The data below is specifically for the </a:t>
            </a:r>
            <a:r>
              <a:rPr lang="en-US" sz="1800" dirty="0">
                <a:latin typeface="+mj-lt"/>
                <a:hlinkClick r:id="rId3"/>
              </a:rPr>
              <a:t>AM4096 – 12 bit angular magnetic encoder IC</a:t>
            </a:r>
            <a:endParaRPr lang="en-US" sz="1800" dirty="0">
              <a:latin typeface="+mj-lt"/>
            </a:endParaRPr>
          </a:p>
        </p:txBody>
      </p:sp>
      <p:sp>
        <p:nvSpPr>
          <p:cNvPr id="119" name="Google Shape;119;p29">
            <a:extLst>
              <a:ext uri="{FF2B5EF4-FFF2-40B4-BE49-F238E27FC236}">
                <a16:creationId xmlns:a16="http://schemas.microsoft.com/office/drawing/2014/main" id="{DB1EA12D-4D56-1BB7-FBB9-22708B069D6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0812357-B7F6-610E-92E6-0D18A555D79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SSI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0B90ACC7-F8A2-8D28-F3EA-B50FE2E5441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8F7EEE6-4D8D-9ABC-E2DD-679024C4F04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EB6B466-82E5-5500-770E-2967961543C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1A871DB-9205-0371-9797-BE4435C85C2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0FE7ACC-327C-965C-1805-FEC62F2D94C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15E2BAA-6F65-4347-9560-55776C0F3E9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4" name="Graphic 3">
            <a:extLst>
              <a:ext uri="{FF2B5EF4-FFF2-40B4-BE49-F238E27FC236}">
                <a16:creationId xmlns:a16="http://schemas.microsoft.com/office/drawing/2014/main" id="{430ABF43-E62D-6C07-F34F-0100345B7801}"/>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978253" y="3429000"/>
            <a:ext cx="10235494" cy="2760133"/>
          </a:xfrm>
          <a:prstGeom prst="rect">
            <a:avLst/>
          </a:prstGeom>
        </p:spPr>
      </p:pic>
    </p:spTree>
    <p:extLst>
      <p:ext uri="{BB962C8B-B14F-4D97-AF65-F5344CB8AC3E}">
        <p14:creationId xmlns:p14="http://schemas.microsoft.com/office/powerpoint/2010/main" val="296131015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C05CA4B-D740-0B7D-DD1D-FEBA9BE7FC9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6E3C71E-61F8-5060-14D6-FED9A935397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1400" dirty="0">
                <a:latin typeface="+mj-lt"/>
              </a:rPr>
              <a:t>Communicate through the SPI</a:t>
            </a:r>
          </a:p>
          <a:p>
            <a:pPr marL="114300" indent="0">
              <a:buNone/>
            </a:pPr>
            <a:endParaRPr lang="en-US" sz="1400" dirty="0">
              <a:latin typeface="+mj-lt"/>
            </a:endParaRPr>
          </a:p>
          <a:p>
            <a:pPr marL="114300" indent="0" algn="l">
              <a:buNone/>
            </a:pPr>
            <a:r>
              <a:rPr lang="en-US" sz="1400" dirty="0">
                <a:solidFill>
                  <a:srgbClr val="3F7F5F"/>
                </a:solidFill>
                <a:latin typeface="Consolas" panose="020B0609020204030204" pitchFamily="49" charset="0"/>
              </a:rPr>
              <a:t>//need clock polarity = 1 (falling edge)</a:t>
            </a:r>
          </a:p>
          <a:p>
            <a:pPr marL="114300" indent="0" algn="l">
              <a:buNone/>
            </a:pPr>
            <a:r>
              <a:rPr lang="en-US" sz="1400" dirty="0">
                <a:solidFill>
                  <a:srgbClr val="3F7F5F"/>
                </a:solidFill>
                <a:latin typeface="Consolas" panose="020B0609020204030204" pitchFamily="49" charset="0"/>
              </a:rPr>
              <a:t>//collect data on falling edge -&gt; phase = 1 (with delay)</a:t>
            </a: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SPICCR</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bit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SPISWRESET</a:t>
            </a:r>
            <a:r>
              <a:rPr lang="en-US" sz="1400" dirty="0">
                <a:solidFill>
                  <a:srgbClr val="000000"/>
                </a:solidFill>
                <a:latin typeface="Consolas" panose="020B0609020204030204" pitchFamily="49" charset="0"/>
              </a:rPr>
              <a:t> = 0;     </a:t>
            </a:r>
            <a:r>
              <a:rPr lang="en-US" sz="1400" dirty="0">
                <a:solidFill>
                  <a:srgbClr val="3F7F5F"/>
                </a:solidFill>
                <a:latin typeface="Consolas" panose="020B0609020204030204" pitchFamily="49" charset="0"/>
              </a:rPr>
              <a:t>//put </a:t>
            </a:r>
            <a:r>
              <a:rPr lang="en-US" sz="1400" dirty="0" err="1">
                <a:solidFill>
                  <a:srgbClr val="3F7F5F"/>
                </a:solidFill>
                <a:latin typeface="Consolas" panose="020B0609020204030204" pitchFamily="49" charset="0"/>
              </a:rPr>
              <a:t>spi</a:t>
            </a:r>
            <a:r>
              <a:rPr lang="en-US" sz="1400" dirty="0">
                <a:solidFill>
                  <a:srgbClr val="3F7F5F"/>
                </a:solidFill>
                <a:latin typeface="Consolas" panose="020B0609020204030204" pitchFamily="49" charset="0"/>
              </a:rPr>
              <a:t> in reset (reset before </a:t>
            </a:r>
            <a:r>
              <a:rPr lang="en-US" sz="1400" dirty="0" err="1">
                <a:solidFill>
                  <a:srgbClr val="3F7F5F"/>
                </a:solidFill>
                <a:latin typeface="Consolas" panose="020B0609020204030204" pitchFamily="49" charset="0"/>
              </a:rPr>
              <a:t>changin</a:t>
            </a:r>
            <a:r>
              <a:rPr lang="en-US" sz="1400" dirty="0">
                <a:solidFill>
                  <a:srgbClr val="3F7F5F"/>
                </a:solidFill>
                <a:latin typeface="Consolas" panose="020B0609020204030204" pitchFamily="49" charset="0"/>
              </a:rPr>
              <a:t> configurations)</a:t>
            </a:r>
          </a:p>
          <a:p>
            <a:pPr algn="l"/>
            <a:endParaRPr lang="en-US" sz="1400" dirty="0">
              <a:latin typeface="Consolas" panose="020B0609020204030204" pitchFamily="49" charset="0"/>
            </a:endParaRP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SPICCR</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bit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CLKPOLARITY</a:t>
            </a:r>
            <a:r>
              <a:rPr lang="en-US" sz="1400" dirty="0">
                <a:solidFill>
                  <a:srgbClr val="000000"/>
                </a:solidFill>
                <a:latin typeface="Consolas" panose="020B0609020204030204" pitchFamily="49" charset="0"/>
              </a:rPr>
              <a:t> = 1;    </a:t>
            </a:r>
            <a:r>
              <a:rPr lang="en-US" sz="1400" dirty="0">
                <a:solidFill>
                  <a:srgbClr val="3F7F5F"/>
                </a:solidFill>
                <a:latin typeface="Consolas" panose="020B0609020204030204" pitchFamily="49" charset="0"/>
              </a:rPr>
              <a:t>//falling edge clock (starts high)</a:t>
            </a: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SPICCR</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bit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SPICHAR</a:t>
            </a:r>
            <a:r>
              <a:rPr lang="en-US" sz="1400" dirty="0">
                <a:solidFill>
                  <a:srgbClr val="000000"/>
                </a:solidFill>
                <a:latin typeface="Consolas" panose="020B0609020204030204" pitchFamily="49" charset="0"/>
              </a:rPr>
              <a:t> = 7;        </a:t>
            </a:r>
            <a:r>
              <a:rPr lang="en-US" sz="1400" dirty="0">
                <a:solidFill>
                  <a:srgbClr val="3F7F5F"/>
                </a:solidFill>
                <a:latin typeface="Consolas" panose="020B0609020204030204" pitchFamily="49" charset="0"/>
              </a:rPr>
              <a:t>//shift length for one character is 8 bits</a:t>
            </a: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SPICTL</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all</a:t>
            </a:r>
            <a:r>
              <a:rPr lang="en-US" sz="1400" dirty="0">
                <a:solidFill>
                  <a:srgbClr val="000000"/>
                </a:solidFill>
                <a:latin typeface="Consolas" panose="020B0609020204030204" pitchFamily="49" charset="0"/>
              </a:rPr>
              <a:t> = 0x000E;           </a:t>
            </a:r>
            <a:r>
              <a:rPr lang="en-US" sz="1400" dirty="0">
                <a:solidFill>
                  <a:srgbClr val="3F7F5F"/>
                </a:solidFill>
                <a:latin typeface="Consolas" panose="020B0609020204030204" pitchFamily="49" charset="0"/>
              </a:rPr>
              <a:t>//0000000000001110-&gt;</a:t>
            </a:r>
            <a:r>
              <a:rPr lang="en-US" sz="1400" dirty="0" err="1">
                <a:solidFill>
                  <a:srgbClr val="3F7F5F"/>
                </a:solidFill>
                <a:latin typeface="Consolas" panose="020B0609020204030204" pitchFamily="49" charset="0"/>
              </a:rPr>
              <a:t>clkphase</a:t>
            </a:r>
            <a:r>
              <a:rPr lang="en-US" sz="1400" dirty="0">
                <a:solidFill>
                  <a:srgbClr val="3F7F5F"/>
                </a:solidFill>
                <a:latin typeface="Consolas" panose="020B0609020204030204" pitchFamily="49" charset="0"/>
              </a:rPr>
              <a:t> = 1 (with delay), master mode,</a:t>
            </a:r>
          </a:p>
          <a:p>
            <a:pPr marL="114300" indent="0" algn="l">
              <a:buNone/>
            </a:pPr>
            <a:r>
              <a:rPr lang="en-US" sz="1400" dirty="0">
                <a:solidFill>
                  <a:srgbClr val="3F7F5F"/>
                </a:solidFill>
                <a:latin typeface="Consolas" panose="020B0609020204030204" pitchFamily="49" charset="0"/>
              </a:rPr>
              <a:t>//enable talk, </a:t>
            </a:r>
            <a:r>
              <a:rPr lang="en-US" sz="1400" dirty="0" err="1">
                <a:solidFill>
                  <a:srgbClr val="3F7F5F"/>
                </a:solidFill>
                <a:latin typeface="Consolas" panose="020B0609020204030204" pitchFamily="49" charset="0"/>
              </a:rPr>
              <a:t>spi</a:t>
            </a:r>
            <a:r>
              <a:rPr lang="en-US" sz="1400" dirty="0">
                <a:solidFill>
                  <a:srgbClr val="3F7F5F"/>
                </a:solidFill>
                <a:latin typeface="Consolas" panose="020B0609020204030204" pitchFamily="49" charset="0"/>
              </a:rPr>
              <a:t> int disabled</a:t>
            </a:r>
          </a:p>
          <a:p>
            <a:pPr marL="114300" indent="0" algn="l">
              <a:buNone/>
            </a:pPr>
            <a:endParaRPr lang="en-US" sz="1400" dirty="0">
              <a:latin typeface="Consolas" panose="020B0609020204030204" pitchFamily="49" charset="0"/>
            </a:endParaRP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SPIBRR</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bit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SPI_BIT_RATE</a:t>
            </a:r>
            <a:r>
              <a:rPr lang="en-US" sz="1400" dirty="0">
                <a:solidFill>
                  <a:srgbClr val="000000"/>
                </a:solidFill>
                <a:latin typeface="Consolas" panose="020B0609020204030204" pitchFamily="49" charset="0"/>
              </a:rPr>
              <a:t> = 49;  </a:t>
            </a:r>
            <a:r>
              <a:rPr lang="en-US" sz="1400" dirty="0">
                <a:solidFill>
                  <a:srgbClr val="3F7F5F"/>
                </a:solidFill>
                <a:latin typeface="Consolas" panose="020B0609020204030204" pitchFamily="49" charset="0"/>
              </a:rPr>
              <a:t>//set bit rate to 1Mhz so 50Mhz/50?</a:t>
            </a: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SPIPRI</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bit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FREE</a:t>
            </a:r>
            <a:r>
              <a:rPr lang="en-US" sz="1400" dirty="0">
                <a:solidFill>
                  <a:srgbClr val="000000"/>
                </a:solidFill>
                <a:latin typeface="Consolas" panose="020B0609020204030204" pitchFamily="49" charset="0"/>
              </a:rPr>
              <a:t> = 1;           </a:t>
            </a:r>
            <a:r>
              <a:rPr lang="en-US" sz="1400" dirty="0">
                <a:solidFill>
                  <a:srgbClr val="3F7F5F"/>
                </a:solidFill>
                <a:latin typeface="Consolas" panose="020B0609020204030204" pitchFamily="49" charset="0"/>
              </a:rPr>
              <a:t>//</a:t>
            </a:r>
            <a:r>
              <a:rPr lang="en-US" sz="1400" dirty="0" err="1">
                <a:solidFill>
                  <a:srgbClr val="3F7F5F"/>
                </a:solidFill>
                <a:latin typeface="Consolas" panose="020B0609020204030204" pitchFamily="49" charset="0"/>
              </a:rPr>
              <a:t>spi</a:t>
            </a:r>
            <a:r>
              <a:rPr lang="en-US" sz="1400" dirty="0">
                <a:solidFill>
                  <a:srgbClr val="3F7F5F"/>
                </a:solidFill>
                <a:latin typeface="Consolas" panose="020B0609020204030204" pitchFamily="49" charset="0"/>
              </a:rPr>
              <a:t> </a:t>
            </a:r>
            <a:r>
              <a:rPr lang="en-US" sz="1400" dirty="0" err="1">
                <a:solidFill>
                  <a:srgbClr val="3F7F5F"/>
                </a:solidFill>
                <a:latin typeface="Consolas" panose="020B0609020204030204" pitchFamily="49" charset="0"/>
              </a:rPr>
              <a:t>contunes</a:t>
            </a:r>
            <a:r>
              <a:rPr lang="en-US" sz="1400" dirty="0">
                <a:solidFill>
                  <a:srgbClr val="3F7F5F"/>
                </a:solidFill>
                <a:latin typeface="Consolas" panose="020B0609020204030204" pitchFamily="49" charset="0"/>
              </a:rPr>
              <a:t> even when emu halted</a:t>
            </a: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SPISTS</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all</a:t>
            </a:r>
            <a:r>
              <a:rPr lang="en-US" sz="1400" dirty="0">
                <a:solidFill>
                  <a:srgbClr val="000000"/>
                </a:solidFill>
                <a:latin typeface="Consolas" panose="020B0609020204030204" pitchFamily="49" charset="0"/>
              </a:rPr>
              <a:t>=0x0000;             </a:t>
            </a:r>
            <a:r>
              <a:rPr lang="en-US" sz="1400" dirty="0">
                <a:solidFill>
                  <a:srgbClr val="3F7F5F"/>
                </a:solidFill>
                <a:latin typeface="Consolas" panose="020B0609020204030204" pitchFamily="49" charset="0"/>
              </a:rPr>
              <a:t>//clear all flags</a:t>
            </a: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SPIFFCT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all</a:t>
            </a:r>
            <a:r>
              <a:rPr lang="en-US" sz="1400" dirty="0">
                <a:solidFill>
                  <a:srgbClr val="000000"/>
                </a:solidFill>
                <a:latin typeface="Consolas" panose="020B0609020204030204" pitchFamily="49" charset="0"/>
              </a:rPr>
              <a:t>=0x00;              </a:t>
            </a:r>
            <a:r>
              <a:rPr lang="en-US" sz="1400" dirty="0">
                <a:solidFill>
                  <a:srgbClr val="3F7F5F"/>
                </a:solidFill>
                <a:latin typeface="Consolas" panose="020B0609020204030204" pitchFamily="49" charset="0"/>
              </a:rPr>
              <a:t>//set </a:t>
            </a:r>
            <a:r>
              <a:rPr lang="en-US" sz="1400" dirty="0" err="1">
                <a:solidFill>
                  <a:srgbClr val="3F7F5F"/>
                </a:solidFill>
                <a:latin typeface="Consolas" panose="020B0609020204030204" pitchFamily="49" charset="0"/>
              </a:rPr>
              <a:t>tx</a:t>
            </a:r>
            <a:r>
              <a:rPr lang="en-US" sz="1400" dirty="0">
                <a:solidFill>
                  <a:srgbClr val="3F7F5F"/>
                </a:solidFill>
                <a:latin typeface="Consolas" panose="020B0609020204030204" pitchFamily="49" charset="0"/>
              </a:rPr>
              <a:t> delay to no delays for full duplex ( read and write at the same time )</a:t>
            </a:r>
          </a:p>
        </p:txBody>
      </p:sp>
      <p:sp>
        <p:nvSpPr>
          <p:cNvPr id="119" name="Google Shape;119;p29">
            <a:extLst>
              <a:ext uri="{FF2B5EF4-FFF2-40B4-BE49-F238E27FC236}">
                <a16:creationId xmlns:a16="http://schemas.microsoft.com/office/drawing/2014/main" id="{BEFED4CD-B805-DA06-E51B-22A3B2F4F11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7A2569D-3CEC-42F6-A964-CD75E2FDFAD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SSI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E94EB566-CAF3-74CE-48CE-C8D92D80C8D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6117436-CAB1-1C1A-587E-FB7FBEEF552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E9EFD2F-BA16-EB24-D798-5851BA1E42F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924A1D2-1860-B021-86CA-8F41FDDF8D2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C390568-658D-0AA7-8089-A196026825B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50446F4-C570-AD76-C3E6-C98482A07F3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07323756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116E55F-B75F-B765-2783-1B4880A7390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A8B28A8-03E3-C942-A8D7-51546637DB8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SPIFFTX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TXFIFO</a:t>
            </a:r>
            <a:r>
              <a:rPr lang="en-US" sz="1100" dirty="0">
                <a:solidFill>
                  <a:srgbClr val="000000"/>
                </a:solidFill>
                <a:latin typeface="Consolas" panose="020B0609020204030204" pitchFamily="49" charset="0"/>
              </a:rPr>
              <a:t> = 0;        </a:t>
            </a:r>
            <a:r>
              <a:rPr lang="en-US" sz="1100" dirty="0">
                <a:solidFill>
                  <a:srgbClr val="3F7F5F"/>
                </a:solidFill>
                <a:latin typeface="Consolas" panose="020B0609020204030204" pitchFamily="49" charset="0"/>
              </a:rPr>
              <a:t>//put </a:t>
            </a:r>
            <a:r>
              <a:rPr lang="en-US" sz="1100" dirty="0" err="1">
                <a:solidFill>
                  <a:srgbClr val="3F7F5F"/>
                </a:solidFill>
                <a:latin typeface="Consolas" panose="020B0609020204030204" pitchFamily="49" charset="0"/>
              </a:rPr>
              <a:t>tx</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in reset and hold there</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SPIFFTX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TXFFINTCLR</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//clear </a:t>
            </a:r>
            <a:r>
              <a:rPr lang="en-US" sz="1100" dirty="0" err="1">
                <a:solidFill>
                  <a:srgbClr val="3F7F5F"/>
                </a:solidFill>
                <a:latin typeface="Consolas" panose="020B0609020204030204" pitchFamily="49" charset="0"/>
              </a:rPr>
              <a:t>tx</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interrupt flag (will not be using)</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SPIFFRX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RXFIFORESET</a:t>
            </a:r>
            <a:r>
              <a:rPr lang="en-US" sz="1100" dirty="0">
                <a:solidFill>
                  <a:srgbClr val="000000"/>
                </a:solidFill>
                <a:latin typeface="Consolas" panose="020B0609020204030204" pitchFamily="49" charset="0"/>
              </a:rPr>
              <a:t> = 0;   </a:t>
            </a:r>
            <a:r>
              <a:rPr lang="en-US" sz="1100" dirty="0">
                <a:solidFill>
                  <a:srgbClr val="3F7F5F"/>
                </a:solidFill>
                <a:latin typeface="Consolas" panose="020B0609020204030204" pitchFamily="49" charset="0"/>
              </a:rPr>
              <a:t>//put </a:t>
            </a:r>
            <a:r>
              <a:rPr lang="en-US" sz="1100" dirty="0" err="1">
                <a:solidFill>
                  <a:srgbClr val="3F7F5F"/>
                </a:solidFill>
                <a:latin typeface="Consolas" panose="020B0609020204030204" pitchFamily="49" charset="0"/>
              </a:rPr>
              <a:t>rx</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in reset and hold there</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SPIFFTX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SPIFFENA</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a:t>
            </a:r>
            <a:r>
              <a:rPr lang="en-US" sz="1100" dirty="0" err="1">
                <a:solidFill>
                  <a:srgbClr val="3F7F5F"/>
                </a:solidFill>
                <a:latin typeface="Consolas" panose="020B0609020204030204" pitchFamily="49" charset="0"/>
              </a:rPr>
              <a:t>spi</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enhancements enable</a:t>
            </a:r>
          </a:p>
          <a:p>
            <a:pPr marL="114300" indent="0">
              <a:buNone/>
            </a:pPr>
            <a:endParaRPr lang="en-US" sz="1100" dirty="0">
              <a:latin typeface="Consolas" panose="020B0609020204030204" pitchFamily="49" charset="0"/>
            </a:endParaRP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SPIFFRX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RXFFINTCLR</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//clear receive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interrupt flag</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SPIFFRX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RXFFIL</a:t>
            </a:r>
            <a:r>
              <a:rPr lang="en-US" sz="1100" dirty="0">
                <a:solidFill>
                  <a:srgbClr val="000000"/>
                </a:solidFill>
                <a:latin typeface="Consolas" panose="020B0609020204030204" pitchFamily="49" charset="0"/>
              </a:rPr>
              <a:t> = 3;        </a:t>
            </a:r>
            <a:r>
              <a:rPr lang="en-US" sz="1100" dirty="0">
                <a:solidFill>
                  <a:srgbClr val="3F7F5F"/>
                </a:solidFill>
                <a:latin typeface="Consolas" panose="020B0609020204030204" pitchFamily="49" charset="0"/>
              </a:rPr>
              <a:t>//interrupt level is one word</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SPIFFRX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RXFFIENA</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a:t>
            </a:r>
            <a:r>
              <a:rPr lang="en-US" sz="1100" dirty="0" err="1">
                <a:solidFill>
                  <a:srgbClr val="3F7F5F"/>
                </a:solidFill>
                <a:latin typeface="Consolas" panose="020B0609020204030204" pitchFamily="49" charset="0"/>
              </a:rPr>
              <a:t>rx</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interrupt enable</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SPICTL</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OVERRUNINTENA</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//overrun interrupt enable</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SPICTL</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SPIINTENA</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//interrupt enable</a:t>
            </a:r>
          </a:p>
          <a:p>
            <a:pPr marL="114300" indent="0">
              <a:buNone/>
            </a:pPr>
            <a:endParaRPr lang="en-US" sz="1100" dirty="0">
              <a:latin typeface="Consolas" panose="020B0609020204030204" pitchFamily="49" charset="0"/>
            </a:endParaRP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SPIFFTX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TXFIFO</a:t>
            </a:r>
            <a:r>
              <a:rPr lang="en-US" sz="1100" dirty="0">
                <a:solidFill>
                  <a:srgbClr val="000000"/>
                </a:solidFill>
                <a:latin typeface="Consolas" panose="020B0609020204030204" pitchFamily="49" charset="0"/>
              </a:rPr>
              <a:t>=1;          </a:t>
            </a:r>
            <a:r>
              <a:rPr lang="en-US" sz="1100" dirty="0">
                <a:solidFill>
                  <a:srgbClr val="3F7F5F"/>
                </a:solidFill>
                <a:latin typeface="Consolas" panose="020B0609020204030204" pitchFamily="49" charset="0"/>
              </a:rPr>
              <a:t>//release </a:t>
            </a:r>
            <a:r>
              <a:rPr lang="en-US" sz="1100" dirty="0" err="1">
                <a:solidFill>
                  <a:srgbClr val="3F7F5F"/>
                </a:solidFill>
                <a:latin typeface="Consolas" panose="020B0609020204030204" pitchFamily="49" charset="0"/>
              </a:rPr>
              <a:t>tx</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to operate</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SPIFFRX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RXFIFORESET</a:t>
            </a:r>
            <a:r>
              <a:rPr lang="en-US" sz="1100" dirty="0">
                <a:solidFill>
                  <a:srgbClr val="000000"/>
                </a:solidFill>
                <a:latin typeface="Consolas" panose="020B0609020204030204" pitchFamily="49" charset="0"/>
              </a:rPr>
              <a:t>=1;     </a:t>
            </a:r>
            <a:r>
              <a:rPr lang="en-US" sz="1100" dirty="0">
                <a:solidFill>
                  <a:srgbClr val="3F7F5F"/>
                </a:solidFill>
                <a:latin typeface="Consolas" panose="020B0609020204030204" pitchFamily="49" charset="0"/>
              </a:rPr>
              <a:t>//release </a:t>
            </a:r>
            <a:r>
              <a:rPr lang="en-US" sz="1100" dirty="0" err="1">
                <a:solidFill>
                  <a:srgbClr val="3F7F5F"/>
                </a:solidFill>
                <a:latin typeface="Consolas" panose="020B0609020204030204" pitchFamily="49" charset="0"/>
              </a:rPr>
              <a:t>rx</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to operate</a:t>
            </a:r>
          </a:p>
          <a:p>
            <a:pPr marL="114300" indent="0">
              <a:buNone/>
            </a:pPr>
            <a:endParaRPr lang="en-US" sz="1100" dirty="0">
              <a:latin typeface="Consolas" panose="020B0609020204030204" pitchFamily="49" charset="0"/>
            </a:endParaRP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SPIFFTX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SPIRST</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a:t>
            </a:r>
            <a:r>
              <a:rPr lang="en-US" sz="1100" dirty="0" err="1">
                <a:solidFill>
                  <a:srgbClr val="3F7F5F"/>
                </a:solidFill>
                <a:latin typeface="Consolas" panose="020B0609020204030204" pitchFamily="49" charset="0"/>
              </a:rPr>
              <a:t>spi</a:t>
            </a:r>
            <a:r>
              <a:rPr lang="en-US" sz="1100" dirty="0">
                <a:solidFill>
                  <a:srgbClr val="3F7F5F"/>
                </a:solidFill>
                <a:latin typeface="Consolas" panose="020B0609020204030204" pitchFamily="49" charset="0"/>
              </a:rPr>
              <a:t> can resume </a:t>
            </a:r>
            <a:r>
              <a:rPr lang="en-US" sz="1100" dirty="0" err="1">
                <a:solidFill>
                  <a:srgbClr val="3F7F5F"/>
                </a:solidFill>
                <a:latin typeface="Consolas" panose="020B0609020204030204" pitchFamily="49" charset="0"/>
              </a:rPr>
              <a:t>tx</a:t>
            </a:r>
            <a:r>
              <a:rPr lang="en-US" sz="1100" dirty="0">
                <a:solidFill>
                  <a:srgbClr val="3F7F5F"/>
                </a:solidFill>
                <a:latin typeface="Consolas" panose="020B0609020204030204" pitchFamily="49" charset="0"/>
              </a:rPr>
              <a:t> or </a:t>
            </a:r>
            <a:r>
              <a:rPr lang="en-US" sz="1100" dirty="0" err="1">
                <a:solidFill>
                  <a:srgbClr val="3F7F5F"/>
                </a:solidFill>
                <a:latin typeface="Consolas" panose="020B0609020204030204" pitchFamily="49" charset="0"/>
              </a:rPr>
              <a:t>rx</a:t>
            </a:r>
            <a:r>
              <a:rPr lang="en-US" sz="1100" dirty="0">
                <a:solidFill>
                  <a:srgbClr val="3F7F5F"/>
                </a:solidFill>
                <a:latin typeface="Consolas" panose="020B0609020204030204" pitchFamily="49" charset="0"/>
              </a:rPr>
              <a:t> (pull out of reset)</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SPICCR</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SPISWRESET</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//pull </a:t>
            </a:r>
            <a:r>
              <a:rPr lang="en-US" sz="1100" dirty="0" err="1">
                <a:solidFill>
                  <a:srgbClr val="3F7F5F"/>
                </a:solidFill>
                <a:latin typeface="Consolas" panose="020B0609020204030204" pitchFamily="49" charset="0"/>
              </a:rPr>
              <a:t>spi</a:t>
            </a:r>
            <a:r>
              <a:rPr lang="en-US" sz="1100" dirty="0">
                <a:solidFill>
                  <a:srgbClr val="3F7F5F"/>
                </a:solidFill>
                <a:latin typeface="Consolas" panose="020B0609020204030204" pitchFamily="49" charset="0"/>
              </a:rPr>
              <a:t> out of reset (enable </a:t>
            </a:r>
            <a:r>
              <a:rPr lang="en-US" sz="1100" dirty="0" err="1">
                <a:solidFill>
                  <a:srgbClr val="3F7F5F"/>
                </a:solidFill>
                <a:latin typeface="Consolas" panose="020B0609020204030204" pitchFamily="49" charset="0"/>
              </a:rPr>
              <a:t>spi</a:t>
            </a:r>
            <a:r>
              <a:rPr lang="en-US" sz="1100" dirty="0">
                <a:solidFill>
                  <a:srgbClr val="3F7F5F"/>
                </a:solidFill>
                <a:latin typeface="Consolas" panose="020B0609020204030204" pitchFamily="49" charset="0"/>
              </a:rPr>
              <a:t>)</a:t>
            </a:r>
          </a:p>
          <a:p>
            <a:pPr marL="114300" indent="0">
              <a:buNone/>
            </a:pPr>
            <a:r>
              <a:rPr lang="en-US" sz="1100" dirty="0">
                <a:solidFill>
                  <a:srgbClr val="3F7F5F"/>
                </a:solidFill>
                <a:latin typeface="Consolas" panose="020B0609020204030204" pitchFamily="49" charset="0"/>
              </a:rPr>
              <a:t>//pie and </a:t>
            </a:r>
            <a:r>
              <a:rPr lang="en-US" sz="1100" dirty="0" err="1">
                <a:solidFill>
                  <a:srgbClr val="3F7F5F"/>
                </a:solidFill>
                <a:latin typeface="Consolas" panose="020B0609020204030204" pitchFamily="49" charset="0"/>
              </a:rPr>
              <a:t>cpu</a:t>
            </a:r>
            <a:r>
              <a:rPr lang="en-US" sz="1100" dirty="0">
                <a:solidFill>
                  <a:srgbClr val="3F7F5F"/>
                </a:solidFill>
                <a:latin typeface="Consolas" panose="020B0609020204030204" pitchFamily="49" charset="0"/>
              </a:rPr>
              <a:t> enables for group 6 done in </a:t>
            </a:r>
            <a:r>
              <a:rPr lang="en-US" sz="1100" dirty="0" err="1">
                <a:solidFill>
                  <a:srgbClr val="3F7F5F"/>
                </a:solidFill>
                <a:latin typeface="Consolas" panose="020B0609020204030204" pitchFamily="49" charset="0"/>
              </a:rPr>
              <a:t>setupSpib</a:t>
            </a:r>
            <a:r>
              <a:rPr lang="en-US" sz="1100" dirty="0">
                <a:solidFill>
                  <a:srgbClr val="3F7F5F"/>
                </a:solidFill>
                <a:latin typeface="Consolas" panose="020B0609020204030204" pitchFamily="49" charset="0"/>
              </a:rPr>
              <a:t> (6.1 and 6.2 for </a:t>
            </a:r>
            <a:r>
              <a:rPr lang="en-US" sz="1100" dirty="0" err="1">
                <a:solidFill>
                  <a:srgbClr val="3F7F5F"/>
                </a:solidFill>
                <a:latin typeface="Consolas" panose="020B0609020204030204" pitchFamily="49" charset="0"/>
              </a:rPr>
              <a:t>spia</a:t>
            </a:r>
            <a:r>
              <a:rPr lang="en-US" sz="1100" dirty="0">
                <a:solidFill>
                  <a:srgbClr val="3F7F5F"/>
                </a:solidFill>
                <a:latin typeface="Consolas" panose="020B0609020204030204" pitchFamily="49" charset="0"/>
              </a:rPr>
              <a:t>)</a:t>
            </a:r>
            <a:endParaRPr lang="en-US" sz="2400" dirty="0">
              <a:solidFill>
                <a:srgbClr val="3F7F5F"/>
              </a:solidFill>
              <a:latin typeface="Consolas" panose="020B0609020204030204" pitchFamily="49" charset="0"/>
            </a:endParaRPr>
          </a:p>
        </p:txBody>
      </p:sp>
      <p:sp>
        <p:nvSpPr>
          <p:cNvPr id="119" name="Google Shape;119;p29">
            <a:extLst>
              <a:ext uri="{FF2B5EF4-FFF2-40B4-BE49-F238E27FC236}">
                <a16:creationId xmlns:a16="http://schemas.microsoft.com/office/drawing/2014/main" id="{C19E05FB-DA95-5DD5-3B37-D7FF44B348D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D0117D2-36DB-1FE7-7ED5-6123F60AFA4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SSI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B7D197E-4BC5-E75B-3010-9E00685B03F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C98F2E1-68D2-0F28-7D17-6CBCDBF4AD3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080872D-3FF7-A210-567A-C7B2ACB9D75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3FFD826-DC0B-44E8-BFC0-97758D13ACD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E84ADBD-2897-7F16-09AA-218062CB247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3706542-726C-8C32-B57E-5973EFEDCD9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57818596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5261733-8478-5A30-3E98-CDE297551536}"/>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458150B3-CA3C-5FC7-5E37-75F31BF34B29}"/>
                  </a:ext>
                </a:extLst>
              </p:cNvPr>
              <p:cNvSpPr txBox="1">
                <a:spLocks noGrp="1"/>
              </p:cNvSpPr>
              <p:nvPr>
                <p:ph type="body" idx="1"/>
              </p:nvPr>
            </p:nvSpPr>
            <p:spPr>
              <a:xfrm>
                <a:off x="376809" y="1334279"/>
                <a:ext cx="11177401" cy="2833530"/>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This sensor send’s its information from most significant bit to least significant bit (left-to-right)</a:t>
                </a:r>
              </a:p>
              <a:p>
                <a:pPr marL="114300" indent="0" algn="ctr">
                  <a:buNone/>
                </a:pPr>
                <a:r>
                  <a:rPr lang="en-US" sz="1800" dirty="0">
                    <a:latin typeface="+mj-lt"/>
                  </a:rPr>
                  <a:t>0b</a:t>
                </a:r>
                <a:r>
                  <a:rPr lang="en-US" sz="1800" dirty="0">
                    <a:solidFill>
                      <a:srgbClr val="FF0000"/>
                    </a:solidFill>
                    <a:latin typeface="+mj-lt"/>
                  </a:rPr>
                  <a:t>1</a:t>
                </a:r>
                <a:r>
                  <a:rPr lang="en-US" sz="1800" dirty="0">
                    <a:latin typeface="+mj-lt"/>
                  </a:rPr>
                  <a:t>0100010101</a:t>
                </a:r>
                <a:r>
                  <a:rPr lang="en-US" sz="1800" dirty="0">
                    <a:solidFill>
                      <a:srgbClr val="0070C0"/>
                    </a:solidFill>
                    <a:latin typeface="+mj-lt"/>
                  </a:rPr>
                  <a:t>0</a:t>
                </a:r>
              </a:p>
              <a:p>
                <a:pPr marL="114300" indent="0">
                  <a:buNone/>
                </a:pPr>
                <a:r>
                  <a:rPr lang="en-US" sz="1800" dirty="0">
                    <a:solidFill>
                      <a:schemeClr val="tx1"/>
                    </a:solidFill>
                    <a:latin typeface="+mj-lt"/>
                  </a:rPr>
                  <a:t>This sensor sends it information as 12 bits of information; however, only on the rising edge of the clock signal!</a:t>
                </a:r>
              </a:p>
              <a:p>
                <a:pPr marL="114300" indent="0">
                  <a:buNone/>
                </a:pPr>
                <a:endParaRPr lang="en-US" sz="1800" dirty="0">
                  <a:solidFill>
                    <a:schemeClr val="tx1"/>
                  </a:solidFill>
                  <a:latin typeface="+mj-lt"/>
                </a:endParaRPr>
              </a:p>
              <a:p>
                <a:pPr marL="114300" indent="0">
                  <a:buNone/>
                </a:pPr>
                <a:r>
                  <a:rPr lang="en-US" sz="1800" dirty="0">
                    <a:solidFill>
                      <a:schemeClr val="tx1"/>
                    </a:solidFill>
                    <a:latin typeface="+mj-lt"/>
                  </a:rPr>
                  <a:t>Since we are the ones sending the clock signal, how many bits at minimum to do we need to get the full signal?</a:t>
                </a:r>
              </a:p>
              <a:p>
                <a:pPr marL="114300" indent="0" algn="ctr">
                  <a:buNone/>
                </a:pPr>
                <a14:m>
                  <m:oMath xmlns:m="http://schemas.openxmlformats.org/officeDocument/2006/math">
                    <m:r>
                      <a:rPr lang="en-US" sz="1800" b="0" i="1" smtClean="0">
                        <a:solidFill>
                          <a:schemeClr val="tx1"/>
                        </a:solidFill>
                        <a:latin typeface="Cambria Math" panose="02040503050406030204" pitchFamily="18" charset="0"/>
                      </a:rPr>
                      <m:t>12</m:t>
                    </m:r>
                    <m:r>
                      <a:rPr lang="en-US" sz="1800" b="0" i="1" smtClean="0">
                        <a:solidFill>
                          <a:schemeClr val="tx1"/>
                        </a:solidFill>
                        <a:latin typeface="Cambria Math" panose="02040503050406030204" pitchFamily="18" charset="0"/>
                        <a:ea typeface="Cambria Math" panose="02040503050406030204" pitchFamily="18" charset="0"/>
                      </a:rPr>
                      <m:t>×2=24</m:t>
                    </m:r>
                  </m:oMath>
                </a14:m>
                <a:r>
                  <a:rPr lang="en-US" sz="1800" dirty="0">
                    <a:solidFill>
                      <a:schemeClr val="tx1"/>
                    </a:solidFill>
                    <a:latin typeface="+mj-lt"/>
                  </a:rPr>
                  <a:t>-bits!</a:t>
                </a:r>
              </a:p>
            </p:txBody>
          </p:sp>
        </mc:Choice>
        <mc:Fallback>
          <p:sp>
            <p:nvSpPr>
              <p:cNvPr id="118" name="Google Shape;118;p29">
                <a:extLst>
                  <a:ext uri="{FF2B5EF4-FFF2-40B4-BE49-F238E27FC236}">
                    <a16:creationId xmlns:a16="http://schemas.microsoft.com/office/drawing/2014/main" id="{458150B3-CA3C-5FC7-5E37-75F31BF34B29}"/>
                  </a:ext>
                </a:extLst>
              </p:cNvPr>
              <p:cNvSpPr txBox="1">
                <a:spLocks noGrp="1" noRot="1" noChangeAspect="1" noMove="1" noResize="1" noEditPoints="1" noAdjustHandles="1" noChangeArrowheads="1" noChangeShapeType="1" noTextEdit="1"/>
              </p:cNvSpPr>
              <p:nvPr>
                <p:ph type="body" idx="1"/>
              </p:nvPr>
            </p:nvSpPr>
            <p:spPr>
              <a:xfrm>
                <a:off x="376809" y="1334279"/>
                <a:ext cx="11177401" cy="2833530"/>
              </a:xfrm>
              <a:prstGeom prst="rect">
                <a:avLst/>
              </a:prstGeom>
              <a:blipFill>
                <a:blip r:embed="rId3"/>
                <a:stretch>
                  <a:fillRect b="-3226"/>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E2E4CC6D-A2D9-6A69-6569-741E84AE6A6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FDAB9D6-61D4-B9B1-FF5A-A1E54A33AA2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SSI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615F04F-4EE4-99C3-711D-80E422CEB8A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7E8E2EE-F020-0B26-5A5C-EE8DBDA2F2C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62A5278-6216-E042-DE0C-C35D46D6D74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9C1A1B2-E512-8347-E571-F0FDE6D290C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CC9D18F-7EA2-0AC6-48E0-EED531ED80B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EEA974D-348A-7211-0228-32C91241AE7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2" name="Graphic 1">
            <a:extLst>
              <a:ext uri="{FF2B5EF4-FFF2-40B4-BE49-F238E27FC236}">
                <a16:creationId xmlns:a16="http://schemas.microsoft.com/office/drawing/2014/main" id="{534521C3-3998-BE76-0BA1-58884541E12F}"/>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629783" y="4096601"/>
            <a:ext cx="8932434" cy="2408746"/>
          </a:xfrm>
          <a:prstGeom prst="rect">
            <a:avLst/>
          </a:prstGeom>
        </p:spPr>
      </p:pic>
      <p:cxnSp>
        <p:nvCxnSpPr>
          <p:cNvPr id="5" name="Straight Arrow Connector 4">
            <a:extLst>
              <a:ext uri="{FF2B5EF4-FFF2-40B4-BE49-F238E27FC236}">
                <a16:creationId xmlns:a16="http://schemas.microsoft.com/office/drawing/2014/main" id="{E97228B5-96AA-4CAD-E5F4-6645FFAD0BCA}"/>
              </a:ext>
            </a:extLst>
          </p:cNvPr>
          <p:cNvCxnSpPr>
            <a:cxnSpLocks/>
          </p:cNvCxnSpPr>
          <p:nvPr/>
        </p:nvCxnSpPr>
        <p:spPr>
          <a:xfrm flipH="1" flipV="1">
            <a:off x="6897757" y="2113722"/>
            <a:ext cx="1828800" cy="3409999"/>
          </a:xfrm>
          <a:prstGeom prst="straightConnector1">
            <a:avLst/>
          </a:prstGeom>
          <a:ln w="38100">
            <a:solidFill>
              <a:srgbClr val="0070C0"/>
            </a:solidFill>
            <a:tailEnd type="triangle"/>
          </a:ln>
        </p:spPr>
        <p:style>
          <a:lnRef idx="1">
            <a:schemeClr val="accent1"/>
          </a:lnRef>
          <a:fillRef idx="0">
            <a:schemeClr val="accent1"/>
          </a:fillRef>
          <a:effectRef idx="0">
            <a:schemeClr val="accent1"/>
          </a:effectRef>
          <a:fontRef idx="minor">
            <a:schemeClr val="tx1"/>
          </a:fontRef>
        </p:style>
      </p:cxnSp>
      <p:cxnSp>
        <p:nvCxnSpPr>
          <p:cNvPr id="6" name="Straight Arrow Connector 5">
            <a:extLst>
              <a:ext uri="{FF2B5EF4-FFF2-40B4-BE49-F238E27FC236}">
                <a16:creationId xmlns:a16="http://schemas.microsoft.com/office/drawing/2014/main" id="{D166C46A-E96F-D1A6-A10C-98629367F021}"/>
              </a:ext>
            </a:extLst>
          </p:cNvPr>
          <p:cNvCxnSpPr>
            <a:cxnSpLocks/>
          </p:cNvCxnSpPr>
          <p:nvPr/>
        </p:nvCxnSpPr>
        <p:spPr>
          <a:xfrm flipV="1">
            <a:off x="3293165" y="2113722"/>
            <a:ext cx="2166731" cy="3409999"/>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781450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xit" presetSubtype="0" fill="hold" nodeType="clickEffect">
                                  <p:stCondLst>
                                    <p:cond delay="0"/>
                                  </p:stCondLst>
                                  <p:childTnLst>
                                    <p:set>
                                      <p:cBhvr>
                                        <p:cTn id="12" dur="1" fill="hold">
                                          <p:stCondLst>
                                            <p:cond delay="0"/>
                                          </p:stCondLst>
                                        </p:cTn>
                                        <p:tgtEl>
                                          <p:spTgt spid="6"/>
                                        </p:tgtEl>
                                        <p:attrNameLst>
                                          <p:attrName>style.visibility</p:attrName>
                                        </p:attrNameLst>
                                      </p:cBhvr>
                                      <p:to>
                                        <p:strVal val="hidden"/>
                                      </p:to>
                                    </p:set>
                                  </p:childTnLst>
                                </p:cTn>
                              </p:par>
                              <p:par>
                                <p:cTn id="13" presetID="1" presetClass="exit" presetSubtype="0" fill="hold" nodeType="withEffect">
                                  <p:stCondLst>
                                    <p:cond delay="0"/>
                                  </p:stCondLst>
                                  <p:childTnLst>
                                    <p:set>
                                      <p:cBhvr>
                                        <p:cTn id="14" dur="1" fill="hold">
                                          <p:stCondLst>
                                            <p:cond delay="0"/>
                                          </p:stCondLst>
                                        </p:cTn>
                                        <p:tgtEl>
                                          <p:spTgt spid="5"/>
                                        </p:tgtEl>
                                        <p:attrNameLst>
                                          <p:attrName>style.visibility</p:attrName>
                                        </p:attrNameLst>
                                      </p:cBhvr>
                                      <p:to>
                                        <p:strVal val="hidden"/>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BC87D93-FC47-2EAC-985D-6A73374E407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E09783A-0AF5-646D-32CB-6028C50F030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1800" dirty="0">
                <a:solidFill>
                  <a:schemeClr val="tx1"/>
                </a:solidFill>
                <a:latin typeface="+mj-lt"/>
              </a:rPr>
              <a:t>Problem is that SPICHAR (how many bits SPI sends at a time), has a maximum of 16-bits and we need to send 24-bits. So, what do we do?</a:t>
            </a:r>
          </a:p>
          <a:p>
            <a:pPr marL="114300" indent="0" algn="l">
              <a:buNone/>
            </a:pPr>
            <a:r>
              <a:rPr lang="en-US" sz="1200" dirty="0">
                <a:solidFill>
                  <a:srgbClr val="3F7F5F"/>
                </a:solidFill>
                <a:latin typeface="Consolas" panose="020B0609020204030204" pitchFamily="49" charset="0"/>
              </a:rPr>
              <a:t>// Send 8-bit words</a:t>
            </a:r>
          </a:p>
          <a:p>
            <a:pPr marL="114300" indent="0" algn="l">
              <a:buNone/>
            </a:pPr>
            <a:r>
              <a:rPr lang="en-US" sz="1200" dirty="0" err="1">
                <a:solidFill>
                  <a:srgbClr val="000000"/>
                </a:solidFill>
                <a:latin typeface="Consolas" panose="020B0609020204030204" pitchFamily="49" charset="0"/>
              </a:rPr>
              <a:t>SpiaRegs.</a:t>
            </a:r>
            <a:r>
              <a:rPr lang="en-US" sz="1200" dirty="0" err="1">
                <a:solidFill>
                  <a:srgbClr val="0000C0"/>
                </a:solidFill>
                <a:latin typeface="Consolas" panose="020B0609020204030204" pitchFamily="49" charset="0"/>
              </a:rPr>
              <a:t>SPICCR</a:t>
            </a:r>
            <a:r>
              <a:rPr lang="en-US" sz="1200" dirty="0" err="1">
                <a:solidFill>
                  <a:srgbClr val="000000"/>
                </a:solidFill>
                <a:latin typeface="Consolas" panose="020B0609020204030204" pitchFamily="49" charset="0"/>
              </a:rPr>
              <a:t>.</a:t>
            </a:r>
            <a:r>
              <a:rPr lang="en-US" sz="1200" dirty="0" err="1">
                <a:solidFill>
                  <a:srgbClr val="0000C0"/>
                </a:solidFill>
                <a:latin typeface="Consolas" panose="020B0609020204030204" pitchFamily="49" charset="0"/>
              </a:rPr>
              <a:t>bit</a:t>
            </a:r>
            <a:r>
              <a:rPr lang="en-US" sz="1200" dirty="0" err="1">
                <a:solidFill>
                  <a:srgbClr val="000000"/>
                </a:solidFill>
                <a:latin typeface="Consolas" panose="020B0609020204030204" pitchFamily="49" charset="0"/>
              </a:rPr>
              <a:t>.</a:t>
            </a:r>
            <a:r>
              <a:rPr lang="en-US" sz="1200" dirty="0" err="1">
                <a:solidFill>
                  <a:srgbClr val="0000C0"/>
                </a:solidFill>
                <a:latin typeface="Consolas" panose="020B0609020204030204" pitchFamily="49" charset="0"/>
              </a:rPr>
              <a:t>SPICHAR</a:t>
            </a:r>
            <a:r>
              <a:rPr lang="en-US" sz="1200" dirty="0">
                <a:solidFill>
                  <a:srgbClr val="000000"/>
                </a:solidFill>
                <a:latin typeface="Consolas" panose="020B0609020204030204" pitchFamily="49" charset="0"/>
              </a:rPr>
              <a:t> = 7;</a:t>
            </a:r>
          </a:p>
          <a:p>
            <a:pPr marL="114300" indent="0" algn="l">
              <a:buNone/>
            </a:pPr>
            <a:endParaRPr lang="en-US" sz="1200" dirty="0">
              <a:latin typeface="Consolas" panose="020B0609020204030204" pitchFamily="49" charset="0"/>
            </a:endParaRPr>
          </a:p>
          <a:p>
            <a:pPr marL="114300" indent="0" algn="l">
              <a:buNone/>
            </a:pPr>
            <a:r>
              <a:rPr lang="en-US" sz="1200" dirty="0">
                <a:solidFill>
                  <a:srgbClr val="3F7F5F"/>
                </a:solidFill>
                <a:latin typeface="Consolas" panose="020B0609020204030204" pitchFamily="49" charset="0"/>
              </a:rPr>
              <a:t>// Sending data function</a:t>
            </a:r>
            <a:endParaRPr lang="en-US" sz="1200" dirty="0">
              <a:latin typeface="Consolas" panose="020B0609020204030204" pitchFamily="49" charset="0"/>
            </a:endParaRPr>
          </a:p>
          <a:p>
            <a:pPr marL="114300" indent="0" algn="l">
              <a:buNone/>
            </a:pPr>
            <a:r>
              <a:rPr lang="en-US" sz="1200" dirty="0">
                <a:solidFill>
                  <a:srgbClr val="7F0055"/>
                </a:solidFill>
                <a:latin typeface="Consolas" panose="020B0609020204030204" pitchFamily="49" charset="0"/>
              </a:rPr>
              <a:t>void</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sendSPIData</a:t>
            </a:r>
            <a:r>
              <a:rPr lang="en-US" sz="1200" dirty="0">
                <a:solidFill>
                  <a:srgbClr val="000000"/>
                </a:solidFill>
                <a:latin typeface="Consolas" panose="020B0609020204030204" pitchFamily="49" charset="0"/>
              </a:rPr>
              <a:t>(</a:t>
            </a:r>
            <a:r>
              <a:rPr lang="en-US" sz="1200" dirty="0">
                <a:solidFill>
                  <a:srgbClr val="7F0055"/>
                </a:solidFill>
                <a:latin typeface="Consolas" panose="020B0609020204030204" pitchFamily="49" charset="0"/>
              </a:rPr>
              <a:t>void</a:t>
            </a:r>
            <a:r>
              <a:rPr lang="en-US" sz="1200" dirty="0">
                <a:solidFill>
                  <a:srgbClr val="000000"/>
                </a:solidFill>
                <a:latin typeface="Consolas" panose="020B0609020204030204" pitchFamily="49" charset="0"/>
              </a:rPr>
              <a:t>){</a:t>
            </a:r>
          </a:p>
          <a:p>
            <a:pPr marL="114300" indent="0" algn="l">
              <a:buNone/>
            </a:pP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SpiaRegs.</a:t>
            </a:r>
            <a:r>
              <a:rPr lang="en-US" sz="1200" dirty="0" err="1">
                <a:solidFill>
                  <a:srgbClr val="0000C0"/>
                </a:solidFill>
                <a:latin typeface="Consolas" panose="020B0609020204030204" pitchFamily="49" charset="0"/>
              </a:rPr>
              <a:t>SPIFFRX</a:t>
            </a:r>
            <a:r>
              <a:rPr lang="en-US" sz="1200" dirty="0" err="1">
                <a:solidFill>
                  <a:srgbClr val="000000"/>
                </a:solidFill>
                <a:latin typeface="Consolas" panose="020B0609020204030204" pitchFamily="49" charset="0"/>
              </a:rPr>
              <a:t>.</a:t>
            </a:r>
            <a:r>
              <a:rPr lang="en-US" sz="1200" dirty="0" err="1">
                <a:solidFill>
                  <a:srgbClr val="0000C0"/>
                </a:solidFill>
                <a:latin typeface="Consolas" panose="020B0609020204030204" pitchFamily="49" charset="0"/>
              </a:rPr>
              <a:t>bit</a:t>
            </a:r>
            <a:r>
              <a:rPr lang="en-US" sz="1200" dirty="0" err="1">
                <a:solidFill>
                  <a:srgbClr val="000000"/>
                </a:solidFill>
                <a:latin typeface="Consolas" panose="020B0609020204030204" pitchFamily="49" charset="0"/>
              </a:rPr>
              <a:t>.</a:t>
            </a:r>
            <a:r>
              <a:rPr lang="en-US" sz="1200" dirty="0" err="1">
                <a:solidFill>
                  <a:srgbClr val="0000C0"/>
                </a:solidFill>
                <a:latin typeface="Consolas" panose="020B0609020204030204" pitchFamily="49" charset="0"/>
              </a:rPr>
              <a:t>RXFFIL</a:t>
            </a:r>
            <a:r>
              <a:rPr lang="en-US" sz="1200" dirty="0">
                <a:solidFill>
                  <a:srgbClr val="000000"/>
                </a:solidFill>
                <a:latin typeface="Consolas" panose="020B0609020204030204" pitchFamily="49" charset="0"/>
              </a:rPr>
              <a:t> = 3;                </a:t>
            </a:r>
            <a:r>
              <a:rPr lang="en-US" sz="1200" dirty="0">
                <a:solidFill>
                  <a:srgbClr val="3F7F5F"/>
                </a:solidFill>
                <a:latin typeface="Consolas" panose="020B0609020204030204" pitchFamily="49" charset="0"/>
              </a:rPr>
              <a:t>//Going to R/W 3 entries</a:t>
            </a:r>
          </a:p>
          <a:p>
            <a:pPr marL="114300" indent="0" algn="l">
              <a:buNone/>
            </a:pPr>
            <a:r>
              <a:rPr lang="en-US" sz="1200" dirty="0">
                <a:solidFill>
                  <a:srgbClr val="000000"/>
                </a:solidFill>
                <a:latin typeface="Consolas" panose="020B0609020204030204" pitchFamily="49" charset="0"/>
              </a:rPr>
              <a:t>    GpioDataRegs.</a:t>
            </a:r>
            <a:r>
              <a:rPr lang="en-US" sz="1200" dirty="0">
                <a:solidFill>
                  <a:srgbClr val="0000C0"/>
                </a:solidFill>
                <a:latin typeface="Consolas" panose="020B0609020204030204" pitchFamily="49" charset="0"/>
              </a:rPr>
              <a:t>GPCCLEAR</a:t>
            </a:r>
            <a:r>
              <a:rPr lang="en-US" sz="1200" dirty="0">
                <a:solidFill>
                  <a:srgbClr val="000000"/>
                </a:solidFill>
                <a:latin typeface="Consolas" panose="020B0609020204030204" pitchFamily="49" charset="0"/>
              </a:rPr>
              <a:t>.</a:t>
            </a:r>
            <a:r>
              <a:rPr lang="en-US" sz="1200" dirty="0">
                <a:solidFill>
                  <a:srgbClr val="0000C0"/>
                </a:solidFill>
                <a:latin typeface="Consolas" panose="020B0609020204030204" pitchFamily="49" charset="0"/>
              </a:rPr>
              <a:t>bit</a:t>
            </a:r>
            <a:r>
              <a:rPr lang="en-US" sz="1200" dirty="0">
                <a:solidFill>
                  <a:srgbClr val="000000"/>
                </a:solidFill>
                <a:latin typeface="Consolas" panose="020B0609020204030204" pitchFamily="49" charset="0"/>
              </a:rPr>
              <a:t>.</a:t>
            </a:r>
            <a:r>
              <a:rPr lang="en-US" sz="1200" dirty="0">
                <a:solidFill>
                  <a:srgbClr val="0000C0"/>
                </a:solidFill>
                <a:latin typeface="Consolas" panose="020B0609020204030204" pitchFamily="49" charset="0"/>
              </a:rPr>
              <a:t>GPIO73</a:t>
            </a:r>
            <a:r>
              <a:rPr lang="en-US" sz="1200" dirty="0">
                <a:solidFill>
                  <a:srgbClr val="000000"/>
                </a:solidFill>
                <a:latin typeface="Consolas" panose="020B0609020204030204" pitchFamily="49" charset="0"/>
              </a:rPr>
              <a:t> = 1;           </a:t>
            </a:r>
            <a:r>
              <a:rPr lang="en-US" sz="1200" dirty="0">
                <a:solidFill>
                  <a:srgbClr val="3F7F5F"/>
                </a:solidFill>
                <a:latin typeface="Consolas" panose="020B0609020204030204" pitchFamily="49" charset="0"/>
              </a:rPr>
              <a:t>//pull cs low to get ready to </a:t>
            </a:r>
            <a:r>
              <a:rPr lang="en-US" sz="1200" dirty="0" err="1">
                <a:solidFill>
                  <a:srgbClr val="3F7F5F"/>
                </a:solidFill>
                <a:latin typeface="Consolas" panose="020B0609020204030204" pitchFamily="49" charset="0"/>
              </a:rPr>
              <a:t>tx</a:t>
            </a:r>
            <a:r>
              <a:rPr lang="en-US" sz="1200" dirty="0">
                <a:solidFill>
                  <a:srgbClr val="3F7F5F"/>
                </a:solidFill>
                <a:latin typeface="Consolas" panose="020B0609020204030204" pitchFamily="49" charset="0"/>
              </a:rPr>
              <a:t>/</a:t>
            </a:r>
            <a:r>
              <a:rPr lang="en-US" sz="1200" dirty="0" err="1">
                <a:solidFill>
                  <a:srgbClr val="3F7F5F"/>
                </a:solidFill>
                <a:latin typeface="Consolas" panose="020B0609020204030204" pitchFamily="49" charset="0"/>
              </a:rPr>
              <a:t>rx</a:t>
            </a:r>
            <a:endParaRPr lang="en-US" sz="1200" dirty="0">
              <a:solidFill>
                <a:srgbClr val="3F7F5F"/>
              </a:solidFill>
              <a:latin typeface="Consolas" panose="020B0609020204030204" pitchFamily="49" charset="0"/>
            </a:endParaRPr>
          </a:p>
          <a:p>
            <a:pPr marL="114300" indent="0" algn="l">
              <a:buNone/>
            </a:pPr>
            <a:r>
              <a:rPr lang="en-US" sz="1200" dirty="0">
                <a:solidFill>
                  <a:srgbClr val="000000"/>
                </a:solidFill>
                <a:latin typeface="Consolas" panose="020B0609020204030204" pitchFamily="49" charset="0"/>
              </a:rPr>
              <a:t>    </a:t>
            </a:r>
          </a:p>
          <a:p>
            <a:pPr marL="114300" indent="0" algn="l">
              <a:buNone/>
            </a:pPr>
            <a:r>
              <a:rPr lang="en-US" sz="1200" dirty="0">
                <a:solidFill>
                  <a:srgbClr val="000000"/>
                </a:solidFill>
                <a:latin typeface="Consolas" panose="020B0609020204030204" pitchFamily="49" charset="0"/>
              </a:rPr>
              <a:t>    </a:t>
            </a:r>
            <a:r>
              <a:rPr lang="en-US" sz="1200" dirty="0">
                <a:solidFill>
                  <a:srgbClr val="3F7F5F"/>
                </a:solidFill>
                <a:latin typeface="Consolas" panose="020B0609020204030204" pitchFamily="49" charset="0"/>
              </a:rPr>
              <a:t>// write to clock signal </a:t>
            </a:r>
            <a:r>
              <a:rPr lang="en-US" sz="1200" dirty="0" err="1">
                <a:solidFill>
                  <a:srgbClr val="3F7F5F"/>
                </a:solidFill>
                <a:latin typeface="Consolas" panose="020B0609020204030204" pitchFamily="49" charset="0"/>
              </a:rPr>
              <a:t>spia</a:t>
            </a:r>
            <a:r>
              <a:rPr lang="en-US" sz="1200" dirty="0">
                <a:solidFill>
                  <a:srgbClr val="3F7F5F"/>
                </a:solidFill>
                <a:latin typeface="Consolas" panose="020B0609020204030204" pitchFamily="49" charset="0"/>
              </a:rPr>
              <a:t>, 0xAA = 0b10101010 (the 'u' means unsigned)</a:t>
            </a:r>
          </a:p>
          <a:p>
            <a:pPr marL="114300" indent="0" algn="l">
              <a:buNone/>
            </a:pPr>
            <a:r>
              <a:rPr lang="en-US" sz="1200" dirty="0">
                <a:solidFill>
                  <a:srgbClr val="000000"/>
                </a:solidFill>
                <a:latin typeface="Consolas" panose="020B0609020204030204" pitchFamily="49" charset="0"/>
              </a:rPr>
              <a:t>    </a:t>
            </a:r>
            <a:r>
              <a:rPr lang="en-US" sz="1200" dirty="0">
                <a:solidFill>
                  <a:srgbClr val="3F7F5F"/>
                </a:solidFill>
                <a:latin typeface="Consolas" panose="020B0609020204030204" pitchFamily="49" charset="0"/>
              </a:rPr>
              <a:t>// SPI is set to FIFO mode so this works in a special way</a:t>
            </a:r>
          </a:p>
          <a:p>
            <a:pPr marL="114300" indent="0" algn="l">
              <a:buNone/>
            </a:pPr>
            <a:r>
              <a:rPr lang="nn-NO" sz="1200" dirty="0">
                <a:solidFill>
                  <a:srgbClr val="000000"/>
                </a:solidFill>
                <a:latin typeface="Consolas" panose="020B0609020204030204" pitchFamily="49" charset="0"/>
              </a:rPr>
              <a:t>    </a:t>
            </a:r>
            <a:r>
              <a:rPr lang="nn-NO" sz="1200" dirty="0">
                <a:solidFill>
                  <a:srgbClr val="7F0055"/>
                </a:solidFill>
                <a:latin typeface="Consolas" panose="020B0609020204030204" pitchFamily="49" charset="0"/>
              </a:rPr>
              <a:t>for</a:t>
            </a:r>
            <a:r>
              <a:rPr lang="nn-NO" sz="1200" dirty="0">
                <a:solidFill>
                  <a:srgbClr val="000000"/>
                </a:solidFill>
                <a:latin typeface="Consolas" panose="020B0609020204030204" pitchFamily="49" charset="0"/>
              </a:rPr>
              <a:t>(i = 0; i &lt; 3; i++) {</a:t>
            </a:r>
          </a:p>
          <a:p>
            <a:pPr marL="114300" indent="0" algn="l">
              <a:buNone/>
            </a:pP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SpiaRegs.</a:t>
            </a:r>
            <a:r>
              <a:rPr lang="en-US" sz="1200" dirty="0" err="1">
                <a:solidFill>
                  <a:srgbClr val="0000C0"/>
                </a:solidFill>
                <a:latin typeface="Consolas" panose="020B0609020204030204" pitchFamily="49" charset="0"/>
              </a:rPr>
              <a:t>SPITXBUF</a:t>
            </a:r>
            <a:r>
              <a:rPr lang="en-US" sz="1200" dirty="0">
                <a:solidFill>
                  <a:srgbClr val="000000"/>
                </a:solidFill>
                <a:latin typeface="Consolas" panose="020B0609020204030204" pitchFamily="49" charset="0"/>
              </a:rPr>
              <a:t> = 0xAAu;</a:t>
            </a:r>
          </a:p>
          <a:p>
            <a:pPr marL="114300" indent="0" algn="l">
              <a:buNone/>
            </a:pPr>
            <a:r>
              <a:rPr lang="en-US" sz="1200" dirty="0">
                <a:solidFill>
                  <a:srgbClr val="000000"/>
                </a:solidFill>
                <a:latin typeface="Consolas" panose="020B0609020204030204" pitchFamily="49" charset="0"/>
              </a:rPr>
              <a:t>    }</a:t>
            </a:r>
          </a:p>
          <a:p>
            <a:pPr marL="114300" indent="0" algn="l">
              <a:buNone/>
            </a:pPr>
            <a:r>
              <a:rPr lang="en-US" sz="1200" dirty="0">
                <a:solidFill>
                  <a:srgbClr val="000000"/>
                </a:solidFill>
                <a:latin typeface="Consolas" panose="020B0609020204030204" pitchFamily="49" charset="0"/>
              </a:rPr>
              <a:t>}</a:t>
            </a:r>
            <a:endParaRPr lang="en-US" sz="1800" dirty="0">
              <a:solidFill>
                <a:schemeClr val="tx1"/>
              </a:solidFill>
              <a:latin typeface="+mj-lt"/>
            </a:endParaRPr>
          </a:p>
        </p:txBody>
      </p:sp>
      <p:sp>
        <p:nvSpPr>
          <p:cNvPr id="119" name="Google Shape;119;p29">
            <a:extLst>
              <a:ext uri="{FF2B5EF4-FFF2-40B4-BE49-F238E27FC236}">
                <a16:creationId xmlns:a16="http://schemas.microsoft.com/office/drawing/2014/main" id="{D4C253F1-CCD5-EB3B-E4DF-4F45E307BF4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92A38B0-2E19-E0C7-E02B-4BF8AC845DD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SSI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08E1319-F333-BF17-2767-88C3A7E0C40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F7E7EA9-B16C-26E4-1F50-37B0C1C314B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B549FA1-50CD-23FF-CD09-8756D472D21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C9182B1-FC37-F619-CE8E-03E9FE02B8C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8AD78C6-4620-A2A1-083A-D20AE44679D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3F5E50B-C9AA-6902-D7EF-E5307738623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2" name="Rectangle 1">
            <a:extLst>
              <a:ext uri="{FF2B5EF4-FFF2-40B4-BE49-F238E27FC236}">
                <a16:creationId xmlns:a16="http://schemas.microsoft.com/office/drawing/2014/main" id="{EDD30E21-B40B-FB9B-6A82-E4342714582D}"/>
              </a:ext>
            </a:extLst>
          </p:cNvPr>
          <p:cNvSpPr/>
          <p:nvPr/>
        </p:nvSpPr>
        <p:spPr>
          <a:xfrm>
            <a:off x="1802296" y="4932092"/>
            <a:ext cx="616226" cy="337930"/>
          </a:xfrm>
          <a:prstGeom prst="rect">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324115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E61144A-5DEB-B72F-3E9D-CFCAE517856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396123F-9D6B-45CC-CD9F-495BE2848F6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lgn="l">
              <a:buNone/>
            </a:pPr>
            <a:r>
              <a:rPr lang="en-US" sz="1400" dirty="0">
                <a:solidFill>
                  <a:srgbClr val="7F0055"/>
                </a:solidFill>
                <a:latin typeface="Consolas" panose="020B0609020204030204" pitchFamily="49" charset="0"/>
              </a:rPr>
              <a:t>void</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spiaRxFifoIsr</a:t>
            </a:r>
            <a:r>
              <a:rPr lang="en-US" sz="1400" dirty="0">
                <a:solidFill>
                  <a:srgbClr val="000000"/>
                </a:solidFill>
                <a:latin typeface="Consolas" panose="020B0609020204030204" pitchFamily="49" charset="0"/>
              </a:rPr>
              <a:t>(</a:t>
            </a:r>
            <a:r>
              <a:rPr lang="en-US" sz="1400" dirty="0">
                <a:solidFill>
                  <a:srgbClr val="7F0055"/>
                </a:solidFill>
                <a:latin typeface="Consolas" panose="020B0609020204030204" pitchFamily="49" charset="0"/>
              </a:rPr>
              <a:t>void</a:t>
            </a:r>
            <a:r>
              <a:rPr lang="en-US" sz="1400" dirty="0">
                <a:solidFill>
                  <a:srgbClr val="000000"/>
                </a:solidFill>
                <a:latin typeface="Consolas" panose="020B0609020204030204" pitchFamily="49" charset="0"/>
              </a:rPr>
              <a:t>)</a:t>
            </a:r>
          </a:p>
          <a:p>
            <a:pPr marL="114300" indent="0" algn="l">
              <a:buNone/>
            </a:pPr>
            <a:r>
              <a:rPr lang="en-US" sz="1400" dirty="0">
                <a:solidFill>
                  <a:srgbClr val="000000"/>
                </a:solidFill>
                <a:latin typeface="Consolas" panose="020B0609020204030204" pitchFamily="49" charset="0"/>
              </a:rPr>
              <a:t>{</a:t>
            </a:r>
          </a:p>
          <a:p>
            <a:pPr marL="114300" indent="0" algn="l">
              <a:buNone/>
            </a:pPr>
            <a:r>
              <a:rPr lang="en-US" sz="1400" dirty="0">
                <a:solidFill>
                  <a:srgbClr val="000000"/>
                </a:solidFill>
                <a:latin typeface="Consolas" panose="020B0609020204030204" pitchFamily="49" charset="0"/>
              </a:rPr>
              <a:t>    </a:t>
            </a:r>
            <a:r>
              <a:rPr lang="en-US" sz="1400" dirty="0">
                <a:solidFill>
                  <a:srgbClr val="3F7F5F"/>
                </a:solidFill>
                <a:latin typeface="Consolas" panose="020B0609020204030204" pitchFamily="49" charset="0"/>
              </a:rPr>
              <a:t>//received data right justified</a:t>
            </a:r>
          </a:p>
          <a:p>
            <a:pPr marL="114300" indent="0" algn="l">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spiaRxData</a:t>
            </a:r>
            <a:r>
              <a:rPr lang="en-US" sz="1400" dirty="0">
                <a:solidFill>
                  <a:srgbClr val="000000"/>
                </a:solidFill>
                <a:latin typeface="Consolas" panose="020B0609020204030204" pitchFamily="49" charset="0"/>
              </a:rPr>
              <a:t>[0] = </a:t>
            </a: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SPIRXBUF</a:t>
            </a:r>
            <a:r>
              <a:rPr lang="en-US" sz="1400" dirty="0">
                <a:solidFill>
                  <a:srgbClr val="000000"/>
                </a:solidFill>
                <a:latin typeface="Consolas" panose="020B0609020204030204" pitchFamily="49" charset="0"/>
              </a:rPr>
              <a:t> &amp; 0xFF;</a:t>
            </a:r>
          </a:p>
          <a:p>
            <a:pPr marL="114300" indent="0" algn="l">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spiaRxData</a:t>
            </a:r>
            <a:r>
              <a:rPr lang="en-US" sz="1400" dirty="0">
                <a:solidFill>
                  <a:srgbClr val="000000"/>
                </a:solidFill>
                <a:latin typeface="Consolas" panose="020B0609020204030204" pitchFamily="49" charset="0"/>
              </a:rPr>
              <a:t>[1] = </a:t>
            </a: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SPIRXBUF</a:t>
            </a:r>
            <a:r>
              <a:rPr lang="en-US" sz="1400" dirty="0">
                <a:solidFill>
                  <a:srgbClr val="000000"/>
                </a:solidFill>
                <a:latin typeface="Consolas" panose="020B0609020204030204" pitchFamily="49" charset="0"/>
              </a:rPr>
              <a:t> &amp; 0xFF;</a:t>
            </a:r>
          </a:p>
          <a:p>
            <a:pPr marL="114300" indent="0" algn="l">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spiaRxData</a:t>
            </a:r>
            <a:r>
              <a:rPr lang="en-US" sz="1400" dirty="0">
                <a:solidFill>
                  <a:srgbClr val="000000"/>
                </a:solidFill>
                <a:latin typeface="Consolas" panose="020B0609020204030204" pitchFamily="49" charset="0"/>
              </a:rPr>
              <a:t>[2] = </a:t>
            </a: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SPIRXBUF</a:t>
            </a:r>
            <a:r>
              <a:rPr lang="en-US" sz="1400" dirty="0">
                <a:solidFill>
                  <a:srgbClr val="000000"/>
                </a:solidFill>
                <a:latin typeface="Consolas" panose="020B0609020204030204" pitchFamily="49" charset="0"/>
              </a:rPr>
              <a:t> &amp; 0xFF;</a:t>
            </a:r>
          </a:p>
          <a:p>
            <a:pPr marL="114300" indent="0" algn="l">
              <a:buNone/>
            </a:pPr>
            <a:endParaRPr lang="en-US" sz="1400" dirty="0">
              <a:latin typeface="Consolas" panose="020B0609020204030204" pitchFamily="49" charset="0"/>
            </a:endParaRPr>
          </a:p>
          <a:p>
            <a:pPr marL="114300" indent="0" algn="l">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theta.d</a:t>
            </a:r>
            <a:r>
              <a:rPr lang="en-US" sz="1400" dirty="0">
                <a:solidFill>
                  <a:srgbClr val="000000"/>
                </a:solidFill>
                <a:latin typeface="Consolas" panose="020B0609020204030204" pitchFamily="49" charset="0"/>
              </a:rPr>
              <a:t> = (((</a:t>
            </a:r>
            <a:r>
              <a:rPr lang="en-US" sz="1400" dirty="0">
                <a:solidFill>
                  <a:srgbClr val="7F0055"/>
                </a:solidFill>
                <a:latin typeface="Consolas" panose="020B0609020204030204" pitchFamily="49" charset="0"/>
              </a:rPr>
              <a:t>unsigned</a:t>
            </a:r>
            <a:r>
              <a:rPr lang="en-US" sz="1400" dirty="0">
                <a:solidFill>
                  <a:srgbClr val="000000"/>
                </a:solidFill>
                <a:latin typeface="Consolas" panose="020B0609020204030204" pitchFamily="49" charset="0"/>
              </a:rPr>
              <a:t> </a:t>
            </a:r>
            <a:r>
              <a:rPr lang="en-US" sz="1400" dirty="0">
                <a:solidFill>
                  <a:srgbClr val="7F0055"/>
                </a:solidFill>
                <a:latin typeface="Consolas" panose="020B0609020204030204" pitchFamily="49" charset="0"/>
              </a:rPr>
              <a:t>int</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spiaRxData</a:t>
            </a:r>
            <a:r>
              <a:rPr lang="en-US" sz="1400" dirty="0">
                <a:solidFill>
                  <a:srgbClr val="000000"/>
                </a:solidFill>
                <a:latin typeface="Consolas" panose="020B0609020204030204" pitchFamily="49" charset="0"/>
              </a:rPr>
              <a:t>[0] &amp; 0x7F)) &lt;&lt; 5) + (((</a:t>
            </a:r>
            <a:r>
              <a:rPr lang="en-US" sz="1400" dirty="0">
                <a:solidFill>
                  <a:srgbClr val="7F0055"/>
                </a:solidFill>
                <a:latin typeface="Consolas" panose="020B0609020204030204" pitchFamily="49" charset="0"/>
              </a:rPr>
              <a:t>unsigned</a:t>
            </a:r>
            <a:r>
              <a:rPr lang="en-US" sz="1400" dirty="0">
                <a:solidFill>
                  <a:srgbClr val="000000"/>
                </a:solidFill>
                <a:latin typeface="Consolas" panose="020B0609020204030204" pitchFamily="49" charset="0"/>
              </a:rPr>
              <a:t> </a:t>
            </a:r>
            <a:r>
              <a:rPr lang="en-US" sz="1400" dirty="0">
                <a:solidFill>
                  <a:srgbClr val="7F0055"/>
                </a:solidFill>
                <a:latin typeface="Consolas" panose="020B0609020204030204" pitchFamily="49" charset="0"/>
              </a:rPr>
              <a:t>int</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spiaRxData</a:t>
            </a:r>
            <a:r>
              <a:rPr lang="en-US" sz="1400" dirty="0">
                <a:solidFill>
                  <a:srgbClr val="000000"/>
                </a:solidFill>
                <a:latin typeface="Consolas" panose="020B0609020204030204" pitchFamily="49" charset="0"/>
              </a:rPr>
              <a:t>[1] &amp; 0xF8)) &gt;&gt; 3);</a:t>
            </a:r>
          </a:p>
          <a:p>
            <a:pPr marL="114300" indent="0" algn="l">
              <a:buNone/>
            </a:pPr>
            <a:r>
              <a:rPr lang="en-US" sz="1400" dirty="0">
                <a:solidFill>
                  <a:srgbClr val="000000"/>
                </a:solidFill>
                <a:latin typeface="Consolas" panose="020B0609020204030204" pitchFamily="49" charset="0"/>
              </a:rPr>
              <a:t>    </a:t>
            </a:r>
            <a:r>
              <a:rPr lang="en-US" sz="1400" dirty="0">
                <a:solidFill>
                  <a:srgbClr val="3F7F5F"/>
                </a:solidFill>
                <a:latin typeface="Consolas" panose="020B0609020204030204" pitchFamily="49" charset="0"/>
              </a:rPr>
              <a:t>// ... other math, ignore ...</a:t>
            </a:r>
          </a:p>
          <a:p>
            <a:pPr marL="114300" indent="0" algn="l">
              <a:buNone/>
            </a:pPr>
            <a:endParaRPr lang="en-US" sz="1400" dirty="0">
              <a:latin typeface="Consolas" panose="020B0609020204030204" pitchFamily="49" charset="0"/>
            </a:endParaRPr>
          </a:p>
          <a:p>
            <a:pPr marL="114300" indent="0" algn="l">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SPIFFRX</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bit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RXFFOVFCLR</a:t>
            </a:r>
            <a:r>
              <a:rPr lang="en-US" sz="1400" dirty="0">
                <a:solidFill>
                  <a:srgbClr val="0000C0"/>
                </a:solidFill>
                <a:latin typeface="Consolas" panose="020B0609020204030204" pitchFamily="49" charset="0"/>
              </a:rPr>
              <a:t> </a:t>
            </a:r>
            <a:r>
              <a:rPr lang="en-US" sz="1400" dirty="0">
                <a:solidFill>
                  <a:srgbClr val="000000"/>
                </a:solidFill>
                <a:latin typeface="Consolas" panose="020B0609020204030204" pitchFamily="49" charset="0"/>
              </a:rPr>
              <a:t>= 1;  </a:t>
            </a:r>
            <a:r>
              <a:rPr lang="en-US" sz="1400" dirty="0">
                <a:solidFill>
                  <a:srgbClr val="3F7F5F"/>
                </a:solidFill>
                <a:latin typeface="Consolas" panose="020B0609020204030204" pitchFamily="49" charset="0"/>
              </a:rPr>
              <a:t>// Clear Overflow flag</a:t>
            </a:r>
          </a:p>
          <a:p>
            <a:pPr marL="114300" indent="0" algn="l">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SPIFFRX</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bit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RXFFINTCLR</a:t>
            </a:r>
            <a:r>
              <a:rPr lang="en-US" sz="1400" dirty="0">
                <a:solidFill>
                  <a:srgbClr val="0000C0"/>
                </a:solidFill>
                <a:latin typeface="Consolas" panose="020B0609020204030204" pitchFamily="49" charset="0"/>
              </a:rPr>
              <a:t> </a:t>
            </a:r>
            <a:r>
              <a:rPr lang="en-US" sz="1400" dirty="0">
                <a:solidFill>
                  <a:srgbClr val="000000"/>
                </a:solidFill>
                <a:latin typeface="Consolas" panose="020B0609020204030204" pitchFamily="49" charset="0"/>
              </a:rPr>
              <a:t>= 1;  </a:t>
            </a:r>
            <a:r>
              <a:rPr lang="en-US" sz="1400" dirty="0">
                <a:solidFill>
                  <a:srgbClr val="3F7F5F"/>
                </a:solidFill>
                <a:latin typeface="Consolas" panose="020B0609020204030204" pitchFamily="49" charset="0"/>
              </a:rPr>
              <a:t>// Clear Interrupt flag</a:t>
            </a:r>
          </a:p>
          <a:p>
            <a:pPr marL="114300" indent="0" algn="l">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PieCtrlRegs.</a:t>
            </a:r>
            <a:r>
              <a:rPr lang="en-US" sz="1400" dirty="0" err="1">
                <a:solidFill>
                  <a:srgbClr val="0000C0"/>
                </a:solidFill>
                <a:latin typeface="Consolas" panose="020B0609020204030204" pitchFamily="49" charset="0"/>
              </a:rPr>
              <a:t>PIEACK</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all</a:t>
            </a:r>
            <a:r>
              <a:rPr lang="en-US" sz="1400" dirty="0">
                <a:solidFill>
                  <a:srgbClr val="0000C0"/>
                </a:solidFill>
                <a:latin typeface="Consolas" panose="020B0609020204030204" pitchFamily="49" charset="0"/>
              </a:rPr>
              <a:t> </a:t>
            </a:r>
            <a:r>
              <a:rPr lang="en-US" sz="1400" dirty="0">
                <a:solidFill>
                  <a:srgbClr val="000000"/>
                </a:solidFill>
                <a:latin typeface="Consolas" panose="020B0609020204030204" pitchFamily="49" charset="0"/>
              </a:rPr>
              <a:t>|= 0x20;       </a:t>
            </a:r>
            <a:r>
              <a:rPr lang="en-US" sz="1400" dirty="0">
                <a:solidFill>
                  <a:srgbClr val="3F7F5F"/>
                </a:solidFill>
                <a:latin typeface="Consolas" panose="020B0609020204030204" pitchFamily="49" charset="0"/>
              </a:rPr>
              <a:t>// Issue PIE ack</a:t>
            </a:r>
          </a:p>
          <a:p>
            <a:pPr marL="114300" indent="0" algn="l">
              <a:buNone/>
            </a:pPr>
            <a:r>
              <a:rPr lang="en-US" sz="1400" dirty="0">
                <a:solidFill>
                  <a:srgbClr val="000000"/>
                </a:solidFill>
                <a:latin typeface="Consolas" panose="020B0609020204030204" pitchFamily="49" charset="0"/>
              </a:rPr>
              <a:t>}</a:t>
            </a:r>
            <a:endParaRPr lang="en-US" sz="1400" dirty="0">
              <a:solidFill>
                <a:schemeClr val="tx1"/>
              </a:solidFill>
              <a:latin typeface="+mj-lt"/>
            </a:endParaRPr>
          </a:p>
        </p:txBody>
      </p:sp>
      <p:sp>
        <p:nvSpPr>
          <p:cNvPr id="119" name="Google Shape;119;p29">
            <a:extLst>
              <a:ext uri="{FF2B5EF4-FFF2-40B4-BE49-F238E27FC236}">
                <a16:creationId xmlns:a16="http://schemas.microsoft.com/office/drawing/2014/main" id="{F27D508D-C1D7-3009-4929-1953742AF59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4F9A578-C107-D38D-DDC9-3A5D485EB47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SSI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DF32668-4E8C-2016-1F1B-A4CFEBD42E3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E0FEBCF-3ED2-E638-4083-F03FCDEE537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71CDE98-2442-B86C-7FE6-3E5257516A6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D84DCBB-F7C5-723B-DB39-2FDE4AAFD45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33E62B5-A20C-CC2C-8F5D-3AC30541FD1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5749ED0-A5B1-B066-EE59-6AD7775A051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68896675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DB7F53B0-3C7A-510D-D8FA-9524DB619CE9}"/>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416ADD84-DBD0-989D-BC22-268ED79D4DDC}"/>
              </a:ext>
            </a:extLst>
          </p:cNvPr>
          <p:cNvSpPr txBox="1"/>
          <p:nvPr/>
        </p:nvSpPr>
        <p:spPr>
          <a:xfrm>
            <a:off x="1295400" y="3225488"/>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FIFO</a:t>
            </a:r>
            <a:endParaRPr dirty="0"/>
          </a:p>
        </p:txBody>
      </p:sp>
      <p:grpSp>
        <p:nvGrpSpPr>
          <p:cNvPr id="105" name="Google Shape;105;p28">
            <a:extLst>
              <a:ext uri="{FF2B5EF4-FFF2-40B4-BE49-F238E27FC236}">
                <a16:creationId xmlns:a16="http://schemas.microsoft.com/office/drawing/2014/main" id="{A96AF3EA-0C54-2E7C-2EE5-E9F7F5043BF5}"/>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9F0E227C-2048-92F4-6163-DA49F6E8655A}"/>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C1E10683-3CF2-6529-175C-1D1FC27482B6}"/>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C6177DAE-0378-AB8F-1604-74B7973CD581}"/>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013AE7E4-5DC8-2151-93B4-24CFA318E8F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A2B42912-DD07-A48B-5723-1C0E52BB57C0}"/>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981DB2DC-9F4D-07D0-2F48-8F022ADD3A00}"/>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825AC089-6123-0302-9833-CEFFCE7C59A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1DECF00F-1DF3-5784-833E-1E3E930F0D4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65671921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C43DB2D-1297-BF6C-59EF-7B1BEEDFC1B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84FEC0A-BF23-4AE6-8100-B330F7DA6BB1}"/>
              </a:ext>
            </a:extLst>
          </p:cNvPr>
          <p:cNvSpPr txBox="1">
            <a:spLocks noGrp="1"/>
          </p:cNvSpPr>
          <p:nvPr>
            <p:ph type="body" idx="1"/>
          </p:nvPr>
        </p:nvSpPr>
        <p:spPr>
          <a:xfrm>
            <a:off x="376809" y="1334279"/>
            <a:ext cx="11177401" cy="5022666"/>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Previously with the SPI we see that we did 2 weird things:</a:t>
            </a:r>
          </a:p>
          <a:p>
            <a:pPr marL="114300" indent="0">
              <a:buNone/>
            </a:pPr>
            <a:endParaRPr lang="en-US" sz="1800" dirty="0">
              <a:latin typeface="+mj-lt"/>
            </a:endParaRPr>
          </a:p>
          <a:p>
            <a:pPr marL="114300" indent="0">
              <a:buNone/>
            </a:pPr>
            <a:r>
              <a:rPr lang="nn-NO" sz="1800" dirty="0">
                <a:solidFill>
                  <a:srgbClr val="7F0055"/>
                </a:solidFill>
                <a:latin typeface="Consolas" panose="020B0609020204030204" pitchFamily="49" charset="0"/>
              </a:rPr>
              <a:t>for</a:t>
            </a:r>
            <a:r>
              <a:rPr lang="nn-NO" sz="1800" dirty="0">
                <a:solidFill>
                  <a:srgbClr val="000000"/>
                </a:solidFill>
                <a:latin typeface="Consolas" panose="020B0609020204030204" pitchFamily="49" charset="0"/>
              </a:rPr>
              <a:t>(i = 0; i &lt; 3; i++) {</a:t>
            </a:r>
          </a:p>
          <a:p>
            <a:pPr marL="114300" indent="0">
              <a:buNone/>
            </a:pP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SPITXBUF</a:t>
            </a:r>
            <a:r>
              <a:rPr lang="en-US" sz="1800" dirty="0">
                <a:solidFill>
                  <a:srgbClr val="000000"/>
                </a:solidFill>
                <a:latin typeface="Consolas" panose="020B0609020204030204" pitchFamily="49" charset="0"/>
              </a:rPr>
              <a:t> = 0xAAu;</a:t>
            </a:r>
          </a:p>
          <a:p>
            <a:pPr marL="114300" indent="0">
              <a:buNone/>
            </a:pPr>
            <a:r>
              <a:rPr lang="en-US" sz="1800" dirty="0">
                <a:solidFill>
                  <a:srgbClr val="000000"/>
                </a:solidFill>
                <a:latin typeface="Consolas" panose="020B0609020204030204" pitchFamily="49" charset="0"/>
              </a:rPr>
              <a:t>}</a:t>
            </a:r>
          </a:p>
          <a:p>
            <a:pPr marL="114300" indent="0">
              <a:buNone/>
            </a:pPr>
            <a:r>
              <a:rPr lang="en-US" sz="1800" dirty="0">
                <a:solidFill>
                  <a:srgbClr val="000000"/>
                </a:solidFill>
                <a:latin typeface="+mj-lt"/>
              </a:rPr>
              <a:t>And,</a:t>
            </a:r>
          </a:p>
          <a:p>
            <a:pPr marL="114300" indent="0">
              <a:buNone/>
            </a:pPr>
            <a:r>
              <a:rPr lang="en-US" sz="1800" dirty="0" err="1">
                <a:solidFill>
                  <a:srgbClr val="000000"/>
                </a:solidFill>
                <a:latin typeface="Consolas" panose="020B0609020204030204" pitchFamily="49" charset="0"/>
              </a:rPr>
              <a:t>spiaRxData</a:t>
            </a:r>
            <a:r>
              <a:rPr lang="en-US" sz="1800" dirty="0">
                <a:solidFill>
                  <a:srgbClr val="000000"/>
                </a:solidFill>
                <a:latin typeface="Consolas" panose="020B0609020204030204" pitchFamily="49" charset="0"/>
              </a:rPr>
              <a:t>[0] =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SPIRXBUF</a:t>
            </a:r>
            <a:r>
              <a:rPr lang="en-US" sz="1800" dirty="0">
                <a:solidFill>
                  <a:srgbClr val="000000"/>
                </a:solidFill>
                <a:latin typeface="Consolas" panose="020B0609020204030204" pitchFamily="49" charset="0"/>
              </a:rPr>
              <a:t> &amp; 0xFF;</a:t>
            </a:r>
          </a:p>
          <a:p>
            <a:pPr marL="114300" indent="0">
              <a:buNone/>
            </a:pPr>
            <a:r>
              <a:rPr lang="en-US" sz="1800" dirty="0" err="1">
                <a:solidFill>
                  <a:srgbClr val="000000"/>
                </a:solidFill>
                <a:latin typeface="Consolas" panose="020B0609020204030204" pitchFamily="49" charset="0"/>
              </a:rPr>
              <a:t>spiaRxData</a:t>
            </a:r>
            <a:r>
              <a:rPr lang="en-US" sz="1800" dirty="0">
                <a:solidFill>
                  <a:srgbClr val="000000"/>
                </a:solidFill>
                <a:latin typeface="Consolas" panose="020B0609020204030204" pitchFamily="49" charset="0"/>
              </a:rPr>
              <a:t>[1] =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SPIRXBUF</a:t>
            </a:r>
            <a:r>
              <a:rPr lang="en-US" sz="1800" dirty="0">
                <a:solidFill>
                  <a:srgbClr val="000000"/>
                </a:solidFill>
                <a:latin typeface="Consolas" panose="020B0609020204030204" pitchFamily="49" charset="0"/>
              </a:rPr>
              <a:t> &amp; 0xFF;</a:t>
            </a:r>
          </a:p>
          <a:p>
            <a:pPr marL="114300" indent="0">
              <a:buNone/>
            </a:pPr>
            <a:r>
              <a:rPr lang="en-US" sz="1800" dirty="0" err="1">
                <a:solidFill>
                  <a:srgbClr val="000000"/>
                </a:solidFill>
                <a:latin typeface="Consolas" panose="020B0609020204030204" pitchFamily="49" charset="0"/>
              </a:rPr>
              <a:t>spiaRxData</a:t>
            </a:r>
            <a:r>
              <a:rPr lang="en-US" sz="1800" dirty="0">
                <a:solidFill>
                  <a:srgbClr val="000000"/>
                </a:solidFill>
                <a:latin typeface="Consolas" panose="020B0609020204030204" pitchFamily="49" charset="0"/>
              </a:rPr>
              <a:t>[2] =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SPIRXBUF</a:t>
            </a:r>
            <a:r>
              <a:rPr lang="en-US" sz="1800" dirty="0">
                <a:solidFill>
                  <a:srgbClr val="000000"/>
                </a:solidFill>
                <a:latin typeface="Consolas" panose="020B0609020204030204" pitchFamily="49" charset="0"/>
              </a:rPr>
              <a:t> &amp; 0xFF;</a:t>
            </a:r>
          </a:p>
          <a:p>
            <a:pPr marL="114300" indent="0">
              <a:buNone/>
            </a:pPr>
            <a:endParaRPr lang="en-US" sz="1800" dirty="0">
              <a:solidFill>
                <a:srgbClr val="000000"/>
              </a:solidFill>
              <a:latin typeface="Consolas" panose="020B0609020204030204" pitchFamily="49" charset="0"/>
            </a:endParaRPr>
          </a:p>
          <a:p>
            <a:pPr marL="114300" indent="0">
              <a:buNone/>
            </a:pPr>
            <a:r>
              <a:rPr lang="en-US" sz="1800" dirty="0">
                <a:solidFill>
                  <a:srgbClr val="000000"/>
                </a:solidFill>
                <a:latin typeface="+mj-lt"/>
              </a:rPr>
              <a:t>What is weird here? </a:t>
            </a:r>
          </a:p>
          <a:p>
            <a:pPr marL="114300" indent="0">
              <a:buNone/>
            </a:pPr>
            <a:r>
              <a:rPr lang="en-US" sz="1800" b="1" dirty="0">
                <a:solidFill>
                  <a:srgbClr val="000000"/>
                </a:solidFill>
                <a:latin typeface="+mj-lt"/>
              </a:rPr>
              <a:t>We are writing / reading from the same place!</a:t>
            </a:r>
            <a:r>
              <a:rPr lang="en-US" sz="1800" dirty="0">
                <a:solidFill>
                  <a:srgbClr val="000000"/>
                </a:solidFill>
                <a:latin typeface="+mj-lt"/>
              </a:rPr>
              <a:t> Why would the output be different?!</a:t>
            </a:r>
            <a:endParaRPr lang="en-US" sz="1800" dirty="0">
              <a:latin typeface="+mj-lt"/>
            </a:endParaRPr>
          </a:p>
        </p:txBody>
      </p:sp>
      <p:sp>
        <p:nvSpPr>
          <p:cNvPr id="119" name="Google Shape;119;p29">
            <a:extLst>
              <a:ext uri="{FF2B5EF4-FFF2-40B4-BE49-F238E27FC236}">
                <a16:creationId xmlns:a16="http://schemas.microsoft.com/office/drawing/2014/main" id="{817256D6-2102-84DE-10F5-31D69B04B66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1DF6BF7-313D-36F2-FAE3-13C9A8654DC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FIFO</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D6D46B4-CC7F-EC98-9823-4434D2A7E62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4FBD6D7-AAE6-99C9-7BBE-5A6DA53C7A0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9BB56F0-466D-7268-908A-99E2EE724BF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39A0CF2-8E07-E0B1-764D-CD5F0A18FF4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74F9B22-4B3E-99A2-C252-5F33D369371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C864E64-106C-C95D-9F46-161D98CC4E4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7208187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7C07100-3E24-1395-9076-F85E60B6ED90}"/>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25098542-4910-D3C2-9A8D-1766746235C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C5C4324-1E16-D51B-86C8-8B00CA31C871}"/>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FIFO</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6135B07-DB70-2725-C0DD-A40D84DC9DB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F0EF261-5B82-E878-30E6-DD596F55F80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83B3018-6405-BD39-5F44-8728D1BBDCE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167566F-1E9B-5602-98B7-464A177EAAB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1393AB8-FDB8-C3FF-5B6F-3FF30F85BBC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179B706-B81D-ABC9-FD26-4AB57CE89F0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CA794137-8D78-4974-4EB6-CDBBC218B436}"/>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287172" y="1158915"/>
            <a:ext cx="5331073" cy="5074772"/>
          </a:xfrm>
          <a:prstGeom prst="rect">
            <a:avLst/>
          </a:prstGeom>
        </p:spPr>
      </p:pic>
      <p:sp>
        <p:nvSpPr>
          <p:cNvPr id="6" name="TextBox 5">
            <a:extLst>
              <a:ext uri="{FF2B5EF4-FFF2-40B4-BE49-F238E27FC236}">
                <a16:creationId xmlns:a16="http://schemas.microsoft.com/office/drawing/2014/main" id="{5E20CF51-701C-91FD-3332-5ED440B20AB9}"/>
              </a:ext>
            </a:extLst>
          </p:cNvPr>
          <p:cNvSpPr txBox="1"/>
          <p:nvPr/>
        </p:nvSpPr>
        <p:spPr>
          <a:xfrm>
            <a:off x="376807" y="1345096"/>
            <a:ext cx="5672810" cy="5016758"/>
          </a:xfrm>
          <a:prstGeom prst="rect">
            <a:avLst/>
          </a:prstGeom>
          <a:noFill/>
        </p:spPr>
        <p:txBody>
          <a:bodyPr wrap="square" rtlCol="0">
            <a:spAutoFit/>
          </a:bodyPr>
          <a:lstStyle/>
          <a:p>
            <a:r>
              <a:rPr lang="en-US" sz="2000" dirty="0"/>
              <a:t>Instead of waiting every interrupt cycle to write long pieces of text to the SPI connection, we can instead use FIFO (First-In-First-Out), which is a buffer queuing system.</a:t>
            </a:r>
          </a:p>
          <a:p>
            <a:endParaRPr lang="en-US" sz="2000" dirty="0"/>
          </a:p>
          <a:p>
            <a:r>
              <a:rPr lang="en-US" sz="2000" dirty="0"/>
              <a:t>When you fill in one of the buffers RX / TX, the value automatically goes to one of the 16 FIFO slots (instantaneously), to be used later! </a:t>
            </a:r>
          </a:p>
          <a:p>
            <a:endParaRPr lang="en-US" sz="2000" dirty="0"/>
          </a:p>
          <a:p>
            <a:r>
              <a:rPr lang="en-US" sz="2000" dirty="0"/>
              <a:t>This allows you to store in one function call 16 FIFO buffer values both for transmit and receive!</a:t>
            </a:r>
          </a:p>
          <a:p>
            <a:endParaRPr lang="en-US" sz="2000" dirty="0"/>
          </a:p>
          <a:p>
            <a:r>
              <a:rPr lang="en-US" sz="2000" dirty="0"/>
              <a:t>Uses only “16 CPU cycles” instead of 16 interrupt calls!</a:t>
            </a:r>
          </a:p>
          <a:p>
            <a:endParaRPr lang="en-US" sz="2000" dirty="0"/>
          </a:p>
          <a:p>
            <a:r>
              <a:rPr lang="en-US" sz="2000" dirty="0"/>
              <a:t>Allows for large read </a:t>
            </a:r>
            <a:r>
              <a:rPr lang="en-US" sz="2000"/>
              <a:t>/ writes.</a:t>
            </a:r>
            <a:endParaRPr lang="en-US" sz="2000" dirty="0"/>
          </a:p>
        </p:txBody>
      </p:sp>
      <p:cxnSp>
        <p:nvCxnSpPr>
          <p:cNvPr id="8" name="Straight Arrow Connector 7">
            <a:extLst>
              <a:ext uri="{FF2B5EF4-FFF2-40B4-BE49-F238E27FC236}">
                <a16:creationId xmlns:a16="http://schemas.microsoft.com/office/drawing/2014/main" id="{3B252B46-052E-444B-D5C0-DE00F5016BF9}"/>
              </a:ext>
            </a:extLst>
          </p:cNvPr>
          <p:cNvCxnSpPr/>
          <p:nvPr/>
        </p:nvCxnSpPr>
        <p:spPr>
          <a:xfrm flipV="1">
            <a:off x="5830957" y="2431774"/>
            <a:ext cx="556591" cy="755374"/>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9258789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A76D38B-ACC7-B086-83DA-95B8C46AE7F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A0A8393-CEFB-4E0D-F90B-2A9DAA822C5F}"/>
              </a:ext>
            </a:extLst>
          </p:cNvPr>
          <p:cNvSpPr txBox="1">
            <a:spLocks noGrp="1"/>
          </p:cNvSpPr>
          <p:nvPr>
            <p:ph type="body" idx="1"/>
          </p:nvPr>
        </p:nvSpPr>
        <p:spPr>
          <a:xfrm>
            <a:off x="383905" y="1055164"/>
            <a:ext cx="5520410" cy="5285232"/>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Looking back:</a:t>
            </a:r>
          </a:p>
          <a:p>
            <a:pPr marL="114300" indent="0">
              <a:buNone/>
            </a:pPr>
            <a:endParaRPr lang="en-US" sz="1800" dirty="0">
              <a:latin typeface="+mj-lt"/>
            </a:endParaRPr>
          </a:p>
          <a:p>
            <a:pPr marL="114300" indent="0">
              <a:buNone/>
            </a:pPr>
            <a:r>
              <a:rPr lang="nn-NO" sz="1800" dirty="0">
                <a:solidFill>
                  <a:srgbClr val="7F0055"/>
                </a:solidFill>
                <a:latin typeface="Consolas" panose="020B0609020204030204" pitchFamily="49" charset="0"/>
              </a:rPr>
              <a:t>for</a:t>
            </a:r>
            <a:r>
              <a:rPr lang="nn-NO" sz="1800" dirty="0">
                <a:solidFill>
                  <a:srgbClr val="000000"/>
                </a:solidFill>
                <a:latin typeface="Consolas" panose="020B0609020204030204" pitchFamily="49" charset="0"/>
              </a:rPr>
              <a:t>(i = 0; i &lt; 3; i++) {</a:t>
            </a:r>
          </a:p>
          <a:p>
            <a:pPr marL="114300" indent="0">
              <a:buNone/>
            </a:pP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SPITXBUF</a:t>
            </a:r>
            <a:r>
              <a:rPr lang="en-US" sz="1800" dirty="0">
                <a:solidFill>
                  <a:srgbClr val="000000"/>
                </a:solidFill>
                <a:latin typeface="Consolas" panose="020B0609020204030204" pitchFamily="49" charset="0"/>
              </a:rPr>
              <a:t> = 0xAAu;</a:t>
            </a:r>
          </a:p>
          <a:p>
            <a:pPr marL="114300" indent="0">
              <a:buNone/>
            </a:pPr>
            <a:r>
              <a:rPr lang="en-US" sz="1800" dirty="0">
                <a:solidFill>
                  <a:srgbClr val="000000"/>
                </a:solidFill>
                <a:latin typeface="Consolas" panose="020B0609020204030204" pitchFamily="49" charset="0"/>
              </a:rPr>
              <a:t>}</a:t>
            </a:r>
          </a:p>
          <a:p>
            <a:pPr marL="114300" indent="0">
              <a:buNone/>
            </a:pPr>
            <a:endParaRPr lang="en-US" sz="1800" dirty="0">
              <a:solidFill>
                <a:srgbClr val="000000"/>
              </a:solidFill>
              <a:latin typeface="Consolas" panose="020B0609020204030204" pitchFamily="49" charset="0"/>
            </a:endParaRPr>
          </a:p>
          <a:p>
            <a:pPr marL="114300" indent="0">
              <a:buNone/>
            </a:pPr>
            <a:endParaRPr lang="en-US" sz="1800" dirty="0">
              <a:solidFill>
                <a:srgbClr val="000000"/>
              </a:solidFill>
              <a:latin typeface="Consolas" panose="020B0609020204030204" pitchFamily="49" charset="0"/>
            </a:endParaRPr>
          </a:p>
          <a:p>
            <a:pPr marL="114300" indent="0">
              <a:buNone/>
            </a:pPr>
            <a:endParaRPr lang="en-US" sz="1800" dirty="0">
              <a:solidFill>
                <a:srgbClr val="000000"/>
              </a:solidFill>
              <a:latin typeface="Consolas" panose="020B0609020204030204" pitchFamily="49" charset="0"/>
            </a:endParaRPr>
          </a:p>
          <a:p>
            <a:pPr marL="114300" indent="0">
              <a:buNone/>
            </a:pPr>
            <a:endParaRPr lang="en-US" sz="1800" dirty="0">
              <a:solidFill>
                <a:srgbClr val="000000"/>
              </a:solidFill>
              <a:latin typeface="Consolas" panose="020B0609020204030204" pitchFamily="49" charset="0"/>
            </a:endParaRPr>
          </a:p>
          <a:p>
            <a:pPr marL="114300" indent="0">
              <a:buNone/>
            </a:pPr>
            <a:r>
              <a:rPr lang="en-US" sz="1800" dirty="0" err="1">
                <a:solidFill>
                  <a:srgbClr val="000000"/>
                </a:solidFill>
                <a:latin typeface="Consolas" panose="020B0609020204030204" pitchFamily="49" charset="0"/>
              </a:rPr>
              <a:t>spiaRxData</a:t>
            </a:r>
            <a:r>
              <a:rPr lang="en-US" sz="1800" dirty="0">
                <a:solidFill>
                  <a:srgbClr val="000000"/>
                </a:solidFill>
                <a:latin typeface="Consolas" panose="020B0609020204030204" pitchFamily="49" charset="0"/>
              </a:rPr>
              <a:t>[0] =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SPIRXBUF</a:t>
            </a:r>
            <a:r>
              <a:rPr lang="en-US" sz="1800" dirty="0">
                <a:solidFill>
                  <a:srgbClr val="000000"/>
                </a:solidFill>
                <a:latin typeface="Consolas" panose="020B0609020204030204" pitchFamily="49" charset="0"/>
              </a:rPr>
              <a:t> &amp; 0xFF;</a:t>
            </a:r>
          </a:p>
          <a:p>
            <a:pPr marL="114300" indent="0">
              <a:buNone/>
            </a:pPr>
            <a:r>
              <a:rPr lang="en-US" sz="1800" dirty="0" err="1">
                <a:solidFill>
                  <a:srgbClr val="000000"/>
                </a:solidFill>
                <a:latin typeface="Consolas" panose="020B0609020204030204" pitchFamily="49" charset="0"/>
              </a:rPr>
              <a:t>spiaRxData</a:t>
            </a:r>
            <a:r>
              <a:rPr lang="en-US" sz="1800" dirty="0">
                <a:solidFill>
                  <a:srgbClr val="000000"/>
                </a:solidFill>
                <a:latin typeface="Consolas" panose="020B0609020204030204" pitchFamily="49" charset="0"/>
              </a:rPr>
              <a:t>[1] =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SPIRXBUF</a:t>
            </a:r>
            <a:r>
              <a:rPr lang="en-US" sz="1800" dirty="0">
                <a:solidFill>
                  <a:srgbClr val="000000"/>
                </a:solidFill>
                <a:latin typeface="Consolas" panose="020B0609020204030204" pitchFamily="49" charset="0"/>
              </a:rPr>
              <a:t> &amp; 0xFF;</a:t>
            </a:r>
          </a:p>
          <a:p>
            <a:pPr marL="114300" indent="0">
              <a:buNone/>
            </a:pPr>
            <a:r>
              <a:rPr lang="en-US" sz="1800" dirty="0" err="1">
                <a:solidFill>
                  <a:srgbClr val="000000"/>
                </a:solidFill>
                <a:latin typeface="Consolas" panose="020B0609020204030204" pitchFamily="49" charset="0"/>
              </a:rPr>
              <a:t>spiaRxData</a:t>
            </a:r>
            <a:r>
              <a:rPr lang="en-US" sz="1800" dirty="0">
                <a:solidFill>
                  <a:srgbClr val="000000"/>
                </a:solidFill>
                <a:latin typeface="Consolas" panose="020B0609020204030204" pitchFamily="49" charset="0"/>
              </a:rPr>
              <a:t>[2] =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SPIRXBUF</a:t>
            </a:r>
            <a:r>
              <a:rPr lang="en-US" sz="1800" dirty="0">
                <a:solidFill>
                  <a:srgbClr val="000000"/>
                </a:solidFill>
                <a:latin typeface="Consolas" panose="020B0609020204030204" pitchFamily="49" charset="0"/>
              </a:rPr>
              <a:t> &amp; 0xFF;</a:t>
            </a:r>
          </a:p>
        </p:txBody>
      </p:sp>
      <p:sp>
        <p:nvSpPr>
          <p:cNvPr id="119" name="Google Shape;119;p29">
            <a:extLst>
              <a:ext uri="{FF2B5EF4-FFF2-40B4-BE49-F238E27FC236}">
                <a16:creationId xmlns:a16="http://schemas.microsoft.com/office/drawing/2014/main" id="{072A83F2-F144-5161-A806-82CE02614BD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5F07707-AA34-0779-7AC2-F80EDAE8C6B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FIFO</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93102B9-FA13-13CD-5D36-B7F27F6027D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CF126C8-1924-80AB-63AB-5ACA31C7D91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836B7DB-4567-64C0-E49C-B4EEE1E4C9B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1907B70-8140-2F83-B116-B92ED1B9E99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E13564C-6C39-93B3-674F-EFAB4924DF2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AFD56BD-F581-3F90-123C-27281C0A643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2" name="Google Shape;118;p29">
            <a:extLst>
              <a:ext uri="{FF2B5EF4-FFF2-40B4-BE49-F238E27FC236}">
                <a16:creationId xmlns:a16="http://schemas.microsoft.com/office/drawing/2014/main" id="{09564873-1951-C30B-880E-6A5CDE4941E5}"/>
              </a:ext>
            </a:extLst>
          </p:cNvPr>
          <p:cNvSpPr txBox="1">
            <a:spLocks/>
          </p:cNvSpPr>
          <p:nvPr/>
        </p:nvSpPr>
        <p:spPr>
          <a:xfrm>
            <a:off x="6288220" y="1054691"/>
            <a:ext cx="5519875" cy="5286178"/>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pPr marL="114300" indent="0">
              <a:buFont typeface="Arial"/>
              <a:buNone/>
            </a:pPr>
            <a:r>
              <a:rPr lang="en-US" sz="1800" dirty="0">
                <a:latin typeface="+mj-lt"/>
              </a:rPr>
              <a:t>For the TX, </a:t>
            </a:r>
            <a:r>
              <a:rPr lang="en-US" sz="1800" dirty="0">
                <a:solidFill>
                  <a:srgbClr val="000000"/>
                </a:solidFill>
                <a:latin typeface="+mj-lt"/>
              </a:rPr>
              <a:t>TX FIFO_{0,..,15} start empty.</a:t>
            </a:r>
          </a:p>
          <a:p>
            <a:pPr marL="114300" indent="0">
              <a:buFont typeface="Arial"/>
              <a:buNone/>
            </a:pPr>
            <a:r>
              <a:rPr lang="en-US" sz="1800" dirty="0" err="1">
                <a:solidFill>
                  <a:srgbClr val="000000"/>
                </a:solidFill>
                <a:latin typeface="Consolas" panose="020B0609020204030204" pitchFamily="49" charset="0"/>
              </a:rPr>
              <a:t>i</a:t>
            </a:r>
            <a:r>
              <a:rPr lang="en-US" sz="1800" dirty="0">
                <a:solidFill>
                  <a:srgbClr val="000000"/>
                </a:solidFill>
                <a:latin typeface="Consolas" panose="020B0609020204030204" pitchFamily="49" charset="0"/>
              </a:rPr>
              <a:t> = 0, TX FIFO_0 = 0xAAu;</a:t>
            </a:r>
          </a:p>
          <a:p>
            <a:pPr marL="114300" indent="0">
              <a:buNone/>
            </a:pPr>
            <a:r>
              <a:rPr lang="en-US" sz="1800" dirty="0" err="1">
                <a:solidFill>
                  <a:srgbClr val="000000"/>
                </a:solidFill>
                <a:latin typeface="Consolas" panose="020B0609020204030204" pitchFamily="49" charset="0"/>
              </a:rPr>
              <a:t>i</a:t>
            </a:r>
            <a:r>
              <a:rPr lang="en-US" sz="1800" dirty="0">
                <a:solidFill>
                  <a:srgbClr val="000000"/>
                </a:solidFill>
                <a:latin typeface="Consolas" panose="020B0609020204030204" pitchFamily="49" charset="0"/>
              </a:rPr>
              <a:t> = 1, TX FIFO_{0,1} = 0xAAu;</a:t>
            </a:r>
          </a:p>
          <a:p>
            <a:pPr marL="114300" indent="0">
              <a:buNone/>
            </a:pPr>
            <a:r>
              <a:rPr lang="en-US" sz="1800" dirty="0" err="1">
                <a:solidFill>
                  <a:srgbClr val="000000"/>
                </a:solidFill>
                <a:latin typeface="Consolas" panose="020B0609020204030204" pitchFamily="49" charset="0"/>
              </a:rPr>
              <a:t>i</a:t>
            </a:r>
            <a:r>
              <a:rPr lang="en-US" sz="1800" dirty="0">
                <a:solidFill>
                  <a:srgbClr val="000000"/>
                </a:solidFill>
                <a:latin typeface="Consolas" panose="020B0609020204030204" pitchFamily="49" charset="0"/>
              </a:rPr>
              <a:t> = 2, TX FIFO_{0,1,2} = 0xAAu;</a:t>
            </a:r>
          </a:p>
          <a:p>
            <a:pPr marL="114300" indent="0">
              <a:buFont typeface="Arial"/>
              <a:buNone/>
            </a:pPr>
            <a:endParaRPr lang="en-US" sz="1800" dirty="0">
              <a:solidFill>
                <a:srgbClr val="000000"/>
              </a:solidFill>
              <a:latin typeface="Consolas" panose="020B0609020204030204" pitchFamily="49" charset="0"/>
            </a:endParaRPr>
          </a:p>
          <a:p>
            <a:pPr marL="114300" indent="0">
              <a:buNone/>
            </a:pPr>
            <a:r>
              <a:rPr lang="en-US" sz="1800" dirty="0">
                <a:solidFill>
                  <a:srgbClr val="000000"/>
                </a:solidFill>
                <a:latin typeface="+mj-lt"/>
              </a:rPr>
              <a:t>(technically this is a queue it resets the indices, but keeping it as 0,1,2 makes it clearer)</a:t>
            </a:r>
          </a:p>
          <a:p>
            <a:pPr marL="114300" indent="0">
              <a:buFont typeface="Arial"/>
              <a:buNone/>
            </a:pPr>
            <a:r>
              <a:rPr lang="en-US" sz="1800" dirty="0">
                <a:solidFill>
                  <a:srgbClr val="000000"/>
                </a:solidFill>
                <a:latin typeface="+mj-lt"/>
              </a:rPr>
              <a:t>For the RX</a:t>
            </a:r>
            <a:r>
              <a:rPr lang="en-US" sz="1800" dirty="0">
                <a:solidFill>
                  <a:srgbClr val="000000"/>
                </a:solidFill>
                <a:latin typeface="Consolas" panose="020B0609020204030204" pitchFamily="49" charset="0"/>
              </a:rPr>
              <a:t>, RX FIFO_{0,1,2}</a:t>
            </a:r>
            <a:r>
              <a:rPr lang="en-US" sz="1800" dirty="0">
                <a:solidFill>
                  <a:srgbClr val="000000"/>
                </a:solidFill>
                <a:latin typeface="+mj-lt"/>
              </a:rPr>
              <a:t> has data</a:t>
            </a:r>
          </a:p>
          <a:p>
            <a:pPr marL="114300" indent="0">
              <a:buNone/>
            </a:pPr>
            <a:endParaRPr lang="en-US" sz="1800" dirty="0">
              <a:solidFill>
                <a:srgbClr val="000000"/>
              </a:solidFill>
              <a:latin typeface="Consolas" panose="020B0609020204030204" pitchFamily="49" charset="0"/>
            </a:endParaRPr>
          </a:p>
          <a:p>
            <a:pPr marL="114300" indent="0">
              <a:buNone/>
            </a:pPr>
            <a:r>
              <a:rPr lang="en-US" sz="1800" dirty="0">
                <a:solidFill>
                  <a:srgbClr val="000000"/>
                </a:solidFill>
                <a:latin typeface="Consolas" panose="020B0609020204030204" pitchFamily="49" charset="0"/>
              </a:rPr>
              <a:t>Takes from RX FIFO_0 FIFO_{1,2} has data</a:t>
            </a:r>
          </a:p>
          <a:p>
            <a:pPr marL="114300" indent="0">
              <a:buNone/>
            </a:pPr>
            <a:r>
              <a:rPr lang="en-US" sz="1800" dirty="0">
                <a:solidFill>
                  <a:srgbClr val="000000"/>
                </a:solidFill>
                <a:latin typeface="Consolas" panose="020B0609020204030204" pitchFamily="49" charset="0"/>
              </a:rPr>
              <a:t>Takes from RX FIFO_1 FIFO_{2} has data</a:t>
            </a:r>
          </a:p>
          <a:p>
            <a:pPr marL="114300" indent="0">
              <a:buNone/>
            </a:pPr>
            <a:r>
              <a:rPr lang="en-US" sz="1800" dirty="0">
                <a:solidFill>
                  <a:srgbClr val="000000"/>
                </a:solidFill>
                <a:latin typeface="Consolas" panose="020B0609020204030204" pitchFamily="49" charset="0"/>
              </a:rPr>
              <a:t>Takes from RX FIFO_2 FIFO has no more data</a:t>
            </a:r>
          </a:p>
        </p:txBody>
      </p:sp>
    </p:spTree>
    <p:extLst>
      <p:ext uri="{BB962C8B-B14F-4D97-AF65-F5344CB8AC3E}">
        <p14:creationId xmlns:p14="http://schemas.microsoft.com/office/powerpoint/2010/main" val="97813651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14851194-CA4D-B199-C22D-DF08F0C6A9CB}"/>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5B43D03A-5A09-6A3C-E2A3-93EFF050480F}"/>
              </a:ext>
            </a:extLst>
          </p:cNvPr>
          <p:cNvSpPr txBox="1"/>
          <p:nvPr/>
        </p:nvSpPr>
        <p:spPr>
          <a:xfrm>
            <a:off x="1295400" y="3225488"/>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PWM</a:t>
            </a:r>
            <a:endParaRPr dirty="0"/>
          </a:p>
        </p:txBody>
      </p:sp>
      <p:grpSp>
        <p:nvGrpSpPr>
          <p:cNvPr id="105" name="Google Shape;105;p28">
            <a:extLst>
              <a:ext uri="{FF2B5EF4-FFF2-40B4-BE49-F238E27FC236}">
                <a16:creationId xmlns:a16="http://schemas.microsoft.com/office/drawing/2014/main" id="{D7783F3D-3718-A564-CD2C-908213666147}"/>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FF061C4A-396E-2A9B-D6EE-38D54162382A}"/>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06D3E809-B03D-5E91-4515-B2D509AD68EA}"/>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0C2E6B15-5B45-0D3B-619A-D956E07B1488}"/>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48913EA5-AA01-4D51-998C-93D2F854D65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60AEBB95-5D98-E2D4-C4D4-267DE60D0958}"/>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001536A5-3545-D654-D4BC-54DAB0F2234C}"/>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667B650F-A8F3-5218-35B5-9FE5DCEBC57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66C4BAB1-9BB1-752E-4195-251E66BE288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52885484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E7543ED3-0842-1475-E578-28926EBE08C7}"/>
            </a:ext>
          </a:extLst>
        </p:cNvPr>
        <p:cNvGrpSpPr/>
        <p:nvPr/>
      </p:nvGrpSpPr>
      <p:grpSpPr>
        <a:xfrm>
          <a:off x="0" y="0"/>
          <a:ext cx="0" cy="0"/>
          <a:chOff x="0" y="0"/>
          <a:chExt cx="0" cy="0"/>
        </a:xfrm>
      </p:grpSpPr>
      <p:sp>
        <p:nvSpPr>
          <p:cNvPr id="89" name="Google Shape;89;p27">
            <a:extLst>
              <a:ext uri="{FF2B5EF4-FFF2-40B4-BE49-F238E27FC236}">
                <a16:creationId xmlns:a16="http://schemas.microsoft.com/office/drawing/2014/main" id="{934DFFC5-7AD1-27EB-A8EC-B6DCFE2D1338}"/>
              </a:ext>
            </a:extLst>
          </p:cNvPr>
          <p:cNvSpPr txBox="1"/>
          <p:nvPr/>
        </p:nvSpPr>
        <p:spPr>
          <a:xfrm>
            <a:off x="2206906" y="2459524"/>
            <a:ext cx="7778187" cy="193895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rial"/>
                <a:ea typeface="Arial"/>
                <a:cs typeface="Arial"/>
                <a:sym typeface="Arial"/>
              </a:rPr>
              <a:t>How do LEDs become dimmer?</a:t>
            </a:r>
            <a:endParaRPr sz="1400" b="0" i="0" u="none" strike="noStrike" cap="none" dirty="0">
              <a:solidFill>
                <a:srgbClr val="000000"/>
              </a:solidFill>
              <a:latin typeface="Arial"/>
              <a:ea typeface="Arial"/>
              <a:cs typeface="Arial"/>
              <a:sym typeface="Arial"/>
            </a:endParaRPr>
          </a:p>
        </p:txBody>
      </p:sp>
      <p:grpSp>
        <p:nvGrpSpPr>
          <p:cNvPr id="91" name="Google Shape;91;p27">
            <a:extLst>
              <a:ext uri="{FF2B5EF4-FFF2-40B4-BE49-F238E27FC236}">
                <a16:creationId xmlns:a16="http://schemas.microsoft.com/office/drawing/2014/main" id="{0C805948-A285-275C-C7D2-265BD5AFB669}"/>
              </a:ext>
            </a:extLst>
          </p:cNvPr>
          <p:cNvGrpSpPr/>
          <p:nvPr/>
        </p:nvGrpSpPr>
        <p:grpSpPr>
          <a:xfrm>
            <a:off x="4165129" y="2021113"/>
            <a:ext cx="3861740" cy="322845"/>
            <a:chOff x="3943790" y="2676939"/>
            <a:chExt cx="3861740" cy="322845"/>
          </a:xfrm>
        </p:grpSpPr>
        <p:cxnSp>
          <p:nvCxnSpPr>
            <p:cNvPr id="92" name="Google Shape;92;p27">
              <a:extLst>
                <a:ext uri="{FF2B5EF4-FFF2-40B4-BE49-F238E27FC236}">
                  <a16:creationId xmlns:a16="http://schemas.microsoft.com/office/drawing/2014/main" id="{0864CF58-B90F-9CDB-473C-D98A29236042}"/>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952222B6-D309-45F6-752E-8A350CBF4442}"/>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B15B5BCD-345B-8A0D-2FCF-45E469213DB4}"/>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CE2D1334-FD8B-EA75-25B7-58954EB30BA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33F99AD4-0636-DB38-6786-19463CAE091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76873063-7DCC-E747-D814-755925C0A6C4}"/>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982ADDC5-B20D-7A21-D847-9BBDD5CF7F68}"/>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AE04CF39-6DD9-20A7-D331-725CEEEBA942}"/>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79279371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8628E2F-E725-A49A-F389-2054C48B15F5}"/>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810309FC-CFA9-ABBD-7EEB-FC9A52661B1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Stands for Pulse Width Modulation</a:t>
                </a:r>
              </a:p>
              <a:p>
                <a:pPr marL="0" lvl="0" indent="0" algn="l" rtl="0">
                  <a:lnSpc>
                    <a:spcPct val="100000"/>
                  </a:lnSpc>
                  <a:spcBef>
                    <a:spcPts val="0"/>
                  </a:spcBef>
                  <a:spcAft>
                    <a:spcPts val="0"/>
                  </a:spcAft>
                  <a:buSzPts val="3000"/>
                  <a:buNone/>
                </a:pPr>
                <a:endParaRPr lang="en-US" sz="2000" dirty="0">
                  <a:solidFill>
                    <a:schemeClr val="dk1"/>
                  </a:solidFill>
                  <a:latin typeface="+mj-lt"/>
                  <a:ea typeface="Arial"/>
                  <a:cs typeface="Arial"/>
                  <a:sym typeface="Arial"/>
                </a:endParaRPr>
              </a:p>
              <a:p>
                <a:pPr marL="342900">
                  <a:lnSpc>
                    <a:spcPct val="100000"/>
                  </a:lnSpc>
                  <a:spcBef>
                    <a:spcPts val="0"/>
                  </a:spcBef>
                  <a:buSzPts val="3000"/>
                </a:pPr>
                <a:r>
                  <a:rPr lang="en-US" sz="2000" dirty="0">
                    <a:latin typeface="+mj-lt"/>
                    <a:ea typeface="Arial"/>
                    <a:cs typeface="Arial"/>
                    <a:sym typeface="Arial"/>
                  </a:rPr>
                  <a:t>Rapidly turns the output signal on and off to adjust the </a:t>
                </a:r>
                <a:r>
                  <a:rPr lang="en-US" sz="2000" i="1" dirty="0">
                    <a:latin typeface="+mj-lt"/>
                    <a:ea typeface="Arial"/>
                    <a:cs typeface="Arial"/>
                    <a:sym typeface="Arial"/>
                  </a:rPr>
                  <a:t>average power delivered</a:t>
                </a:r>
              </a:p>
              <a:p>
                <a:pPr marL="0" indent="0">
                  <a:lnSpc>
                    <a:spcPct val="100000"/>
                  </a:lnSpc>
                  <a:spcBef>
                    <a:spcPts val="0"/>
                  </a:spcBef>
                  <a:buSzPts val="3000"/>
                  <a:buNone/>
                </a:pPr>
                <a:endParaRPr lang="en-US" sz="2000" b="1" i="1" dirty="0">
                  <a:solidFill>
                    <a:schemeClr val="dk1"/>
                  </a:solidFill>
                  <a:latin typeface="+mj-lt"/>
                  <a:ea typeface="Arial"/>
                  <a:cs typeface="Arial"/>
                  <a:sym typeface="Arial"/>
                </a:endParaRPr>
              </a:p>
              <a:p>
                <a:pPr marL="0" indent="0">
                  <a:lnSpc>
                    <a:spcPct val="100000"/>
                  </a:lnSpc>
                  <a:spcBef>
                    <a:spcPts val="0"/>
                  </a:spcBef>
                  <a:buSzPts val="3000"/>
                  <a:buNone/>
                </a:pPr>
                <a:r>
                  <a:rPr lang="en-US" sz="2000" dirty="0">
                    <a:solidFill>
                      <a:schemeClr val="dk1"/>
                    </a:solidFill>
                    <a:latin typeface="+mj-lt"/>
                    <a:ea typeface="Arial"/>
                    <a:cs typeface="Arial"/>
                    <a:sym typeface="Arial"/>
                  </a:rPr>
                  <a:t>2 main parameters:</a:t>
                </a:r>
                <a:endParaRPr lang="en-US" sz="2000" dirty="0">
                  <a:latin typeface="+mj-lt"/>
                  <a:ea typeface="Arial"/>
                  <a:cs typeface="Arial"/>
                  <a:sym typeface="Arial"/>
                </a:endParaRPr>
              </a:p>
              <a:p>
                <a:pPr marL="342900">
                  <a:lnSpc>
                    <a:spcPct val="100000"/>
                  </a:lnSpc>
                  <a:spcBef>
                    <a:spcPts val="0"/>
                  </a:spcBef>
                  <a:buSzPts val="3000"/>
                </a:pPr>
                <a:r>
                  <a:rPr lang="en-US" sz="2000" b="1" dirty="0">
                    <a:latin typeface="+mj-lt"/>
                    <a:ea typeface="Arial"/>
                    <a:cs typeface="Arial"/>
                    <a:sym typeface="Arial"/>
                  </a:rPr>
                  <a:t>Period / frequency</a:t>
                </a:r>
                <a:r>
                  <a:rPr lang="en-US" sz="2000" dirty="0">
                    <a:latin typeface="+mj-lt"/>
                    <a:ea typeface="Arial"/>
                    <a:cs typeface="Arial"/>
                    <a:sym typeface="Arial"/>
                  </a:rPr>
                  <a:t> (</a:t>
                </a:r>
                <a14:m>
                  <m:oMath xmlns:m="http://schemas.openxmlformats.org/officeDocument/2006/math">
                    <m:sSub>
                      <m:sSubPr>
                        <m:ctrlPr>
                          <a:rPr lang="en-US" sz="2000" b="0" i="1" smtClean="0">
                            <a:latin typeface="Cambria Math" panose="02040503050406030204" pitchFamily="18" charset="0"/>
                            <a:cs typeface="Arial"/>
                            <a:sym typeface="Arial"/>
                          </a:rPr>
                        </m:ctrlPr>
                      </m:sSubPr>
                      <m:e>
                        <m:r>
                          <a:rPr lang="en-US" sz="2000" b="0" i="1" smtClean="0">
                            <a:latin typeface="Cambria Math" panose="02040503050406030204" pitchFamily="18" charset="0"/>
                            <a:cs typeface="Arial"/>
                            <a:sym typeface="Arial"/>
                          </a:rPr>
                          <m:t>𝑇</m:t>
                        </m:r>
                      </m:e>
                      <m:sub>
                        <m:r>
                          <a:rPr lang="en-US" sz="2000" b="0" i="1" smtClean="0">
                            <a:latin typeface="Cambria Math" panose="02040503050406030204" pitchFamily="18" charset="0"/>
                            <a:cs typeface="Arial"/>
                            <a:sym typeface="Arial"/>
                          </a:rPr>
                          <m:t>𝑝𝑤𝑚</m:t>
                        </m:r>
                      </m:sub>
                    </m:sSub>
                  </m:oMath>
                </a14:m>
                <a:r>
                  <a:rPr lang="en-US" sz="2000" dirty="0">
                    <a:latin typeface="+mj-lt"/>
                    <a:ea typeface="Arial"/>
                    <a:cs typeface="Arial"/>
                    <a:sym typeface="Arial"/>
                  </a:rPr>
                  <a:t>): The total time of one cycle</a:t>
                </a:r>
              </a:p>
              <a:p>
                <a:pPr marL="342900">
                  <a:lnSpc>
                    <a:spcPct val="100000"/>
                  </a:lnSpc>
                  <a:spcBef>
                    <a:spcPts val="0"/>
                  </a:spcBef>
                  <a:buSzPts val="3000"/>
                </a:pPr>
                <a:r>
                  <a:rPr lang="en-US" sz="2000" b="1" dirty="0">
                    <a:latin typeface="+mj-lt"/>
                    <a:ea typeface="Arial"/>
                    <a:cs typeface="Arial"/>
                    <a:sym typeface="Arial"/>
                  </a:rPr>
                  <a:t>Duty cycle </a:t>
                </a:r>
                <a:r>
                  <a:rPr lang="en-US" sz="2000" dirty="0">
                    <a:latin typeface="+mj-lt"/>
                    <a:ea typeface="Arial"/>
                    <a:cs typeface="Arial"/>
                    <a:sym typeface="Arial"/>
                  </a:rPr>
                  <a:t>(</a:t>
                </a:r>
                <a14:m>
                  <m:oMath xmlns:m="http://schemas.openxmlformats.org/officeDocument/2006/math">
                    <m:r>
                      <a:rPr lang="en-US" sz="2000" i="1">
                        <a:latin typeface="Cambria Math" panose="02040503050406030204" pitchFamily="18" charset="0"/>
                        <a:ea typeface="Arial"/>
                        <a:cs typeface="Arial"/>
                        <a:sym typeface="Arial"/>
                      </a:rPr>
                      <m:t>𝐷</m:t>
                    </m:r>
                    <m:r>
                      <a:rPr lang="en-US" sz="2000" b="0" i="1" smtClean="0">
                        <a:latin typeface="Cambria Math" panose="02040503050406030204" pitchFamily="18" charset="0"/>
                        <a:ea typeface="Arial"/>
                        <a:cs typeface="Arial"/>
                        <a:sym typeface="Arial"/>
                      </a:rPr>
                      <m:t>)</m:t>
                    </m:r>
                  </m:oMath>
                </a14:m>
                <a:r>
                  <a:rPr lang="en-US" sz="2000" b="1" dirty="0">
                    <a:latin typeface="+mj-lt"/>
                    <a:ea typeface="Arial"/>
                    <a:cs typeface="Arial"/>
                    <a:sym typeface="Arial"/>
                  </a:rPr>
                  <a:t>: </a:t>
                </a:r>
                <a:r>
                  <a:rPr lang="en-US" sz="2000" dirty="0">
                    <a:latin typeface="+mj-lt"/>
                    <a:ea typeface="Arial"/>
                    <a:cs typeface="Arial"/>
                    <a:sym typeface="Arial"/>
                  </a:rPr>
                  <a:t>The fraction of time the signal is high </a:t>
                </a:r>
                <a14:m>
                  <m:oMath xmlns:m="http://schemas.openxmlformats.org/officeDocument/2006/math">
                    <m:r>
                      <a:rPr lang="en-US" sz="2000" b="0" i="1" smtClean="0">
                        <a:latin typeface="Cambria Math" panose="02040503050406030204" pitchFamily="18" charset="0"/>
                        <a:ea typeface="Arial"/>
                        <a:cs typeface="Arial"/>
                        <a:sym typeface="Arial"/>
                      </a:rPr>
                      <m:t>𝐷</m:t>
                    </m:r>
                    <m:r>
                      <a:rPr lang="en-US" sz="2000" b="0" i="1" smtClean="0">
                        <a:latin typeface="Cambria Math" panose="02040503050406030204" pitchFamily="18" charset="0"/>
                        <a:ea typeface="Arial"/>
                        <a:cs typeface="Arial"/>
                        <a:sym typeface="Arial"/>
                      </a:rPr>
                      <m:t>=</m:t>
                    </m:r>
                    <m:f>
                      <m:fPr>
                        <m:ctrlPr>
                          <a:rPr lang="en-US" sz="2000" b="0" i="1" smtClean="0">
                            <a:latin typeface="Cambria Math" panose="02040503050406030204" pitchFamily="18" charset="0"/>
                            <a:cs typeface="Arial"/>
                            <a:sym typeface="Arial"/>
                          </a:rPr>
                        </m:ctrlPr>
                      </m:fPr>
                      <m:num>
                        <m:sSub>
                          <m:sSubPr>
                            <m:ctrlPr>
                              <a:rPr lang="en-US" sz="2000" b="0" i="1" smtClean="0">
                                <a:latin typeface="Cambria Math" panose="02040503050406030204" pitchFamily="18" charset="0"/>
                                <a:cs typeface="Arial"/>
                                <a:sym typeface="Arial"/>
                              </a:rPr>
                            </m:ctrlPr>
                          </m:sSubPr>
                          <m:e>
                            <m:r>
                              <a:rPr lang="en-US" sz="2000" b="0" i="1" smtClean="0">
                                <a:latin typeface="Cambria Math" panose="02040503050406030204" pitchFamily="18" charset="0"/>
                                <a:cs typeface="Arial"/>
                                <a:sym typeface="Arial"/>
                              </a:rPr>
                              <m:t>𝑇</m:t>
                            </m:r>
                          </m:e>
                          <m:sub>
                            <m:r>
                              <a:rPr lang="en-US" sz="2000" b="0" i="1" smtClean="0">
                                <a:latin typeface="Cambria Math" panose="02040503050406030204" pitchFamily="18" charset="0"/>
                                <a:cs typeface="Arial"/>
                                <a:sym typeface="Arial"/>
                              </a:rPr>
                              <m:t>𝑜𝑛</m:t>
                            </m:r>
                          </m:sub>
                        </m:sSub>
                      </m:num>
                      <m:den>
                        <m:sSub>
                          <m:sSubPr>
                            <m:ctrlPr>
                              <a:rPr lang="en-US" sz="2000" b="0" i="1" smtClean="0">
                                <a:latin typeface="Cambria Math" panose="02040503050406030204" pitchFamily="18" charset="0"/>
                                <a:cs typeface="Arial"/>
                                <a:sym typeface="Arial"/>
                              </a:rPr>
                            </m:ctrlPr>
                          </m:sSubPr>
                          <m:e>
                            <m:r>
                              <a:rPr lang="en-US" sz="2000" b="0" i="1" smtClean="0">
                                <a:latin typeface="Cambria Math" panose="02040503050406030204" pitchFamily="18" charset="0"/>
                                <a:cs typeface="Arial"/>
                                <a:sym typeface="Arial"/>
                              </a:rPr>
                              <m:t>𝑇</m:t>
                            </m:r>
                          </m:e>
                          <m:sub>
                            <m:r>
                              <a:rPr lang="en-US" sz="2000" b="0" i="1" smtClean="0">
                                <a:latin typeface="Cambria Math" panose="02040503050406030204" pitchFamily="18" charset="0"/>
                                <a:cs typeface="Arial"/>
                                <a:sym typeface="Arial"/>
                              </a:rPr>
                              <m:t>𝑝𝑤𝑚</m:t>
                            </m:r>
                          </m:sub>
                        </m:sSub>
                      </m:den>
                    </m:f>
                  </m:oMath>
                </a14:m>
                <a:endParaRPr lang="en-US" sz="2000" b="1" dirty="0">
                  <a:latin typeface="+mj-lt"/>
                  <a:ea typeface="Arial"/>
                  <a:cs typeface="Arial"/>
                  <a:sym typeface="Arial"/>
                </a:endParaRPr>
              </a:p>
            </p:txBody>
          </p:sp>
        </mc:Choice>
        <mc:Fallback xmlns="">
          <p:sp>
            <p:nvSpPr>
              <p:cNvPr id="118" name="Google Shape;118;p29">
                <a:extLst>
                  <a:ext uri="{FF2B5EF4-FFF2-40B4-BE49-F238E27FC236}">
                    <a16:creationId xmlns:a16="http://schemas.microsoft.com/office/drawing/2014/main" id="{810309FC-CFA9-ABBD-7EEB-FC9A52661B11}"/>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273FCCD-B02A-2F8B-334B-7DD78F6E5D5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0EB3884-16BE-897D-9C7D-ED2CDC2DB01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 - Introduction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30547A4-7DB4-9342-FF9D-C95565AA682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0371868-7ABD-3A34-A34A-4A91B3AB527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59B78BB-981C-AE84-F2C2-619448F7E25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7DDBBC4-13CA-3846-CBBA-3A2044E2A2B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4105927-92EF-74F4-5D60-90B065886A0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26E9A2D-C2E0-0C8A-5B5A-418D0BDBE02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08732291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AAC9B90-6599-C2D2-D47F-49D4E38D6C68}"/>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7317EFFF-5325-EA94-B773-E9E317A3EF8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8F28BB1-D1BF-FCC2-3E17-F3E7B56BC34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 - Introduction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43CFDE3-4AD1-ADA3-F847-881403E60AC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60DE33E-637E-09EA-0FB6-9DA57E1D561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9F9A686-CCCD-2484-555F-7A7DC855D78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5AD113E-1E37-D99D-7007-4542A7EDCCE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4EBA4F4-5814-E2FF-D92E-4DE626E16BC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EDCEFF7-DA9C-C192-4A01-2F07B58E48C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4" name="Online Media 3" title="PWM Animation">
            <a:hlinkClick r:id="" action="ppaction://media"/>
            <a:extLst>
              <a:ext uri="{FF2B5EF4-FFF2-40B4-BE49-F238E27FC236}">
                <a16:creationId xmlns:a16="http://schemas.microsoft.com/office/drawing/2014/main" id="{EBB2413A-A29F-6235-039B-3D3E8A4E830A}"/>
              </a:ext>
            </a:extLst>
          </p:cNvPr>
          <p:cNvPicPr>
            <a:picLocks noRot="1" noChangeAspect="1"/>
          </p:cNvPicPr>
          <p:nvPr>
            <a:videoFile r:link="rId1"/>
          </p:nvPr>
        </p:nvPicPr>
        <p:blipFill>
          <a:blip r:embed="rId5"/>
          <a:stretch>
            <a:fillRect/>
          </a:stretch>
        </p:blipFill>
        <p:spPr>
          <a:xfrm>
            <a:off x="1110109" y="1128318"/>
            <a:ext cx="9445179" cy="5336538"/>
          </a:xfrm>
          <a:prstGeom prst="rect">
            <a:avLst/>
          </a:prstGeom>
        </p:spPr>
      </p:pic>
    </p:spTree>
    <p:extLst>
      <p:ext uri="{BB962C8B-B14F-4D97-AF65-F5344CB8AC3E}">
        <p14:creationId xmlns:p14="http://schemas.microsoft.com/office/powerpoint/2010/main" val="26297706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78C8E18-796A-EAB1-4511-EEAF5B086EFB}"/>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B0FC26F5-2324-776A-3D7E-4DE12C1A4A2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Stands for Pulse Width Modulation</a:t>
                </a:r>
              </a:p>
              <a:p>
                <a:pPr marL="0" lvl="0" indent="0" algn="l" rtl="0">
                  <a:lnSpc>
                    <a:spcPct val="100000"/>
                  </a:lnSpc>
                  <a:spcBef>
                    <a:spcPts val="0"/>
                  </a:spcBef>
                  <a:spcAft>
                    <a:spcPts val="0"/>
                  </a:spcAft>
                  <a:buSzPts val="3000"/>
                  <a:buNone/>
                </a:pPr>
                <a:endParaRPr lang="en-US" sz="2000" dirty="0">
                  <a:solidFill>
                    <a:schemeClr val="dk1"/>
                  </a:solidFill>
                  <a:latin typeface="+mj-lt"/>
                  <a:ea typeface="Arial"/>
                  <a:cs typeface="Arial"/>
                  <a:sym typeface="Arial"/>
                </a:endParaRPr>
              </a:p>
              <a:p>
                <a:pPr marL="342900">
                  <a:lnSpc>
                    <a:spcPct val="100000"/>
                  </a:lnSpc>
                  <a:spcBef>
                    <a:spcPts val="0"/>
                  </a:spcBef>
                  <a:buSzPts val="3000"/>
                </a:pPr>
                <a:r>
                  <a:rPr lang="en-US" sz="2000" dirty="0">
                    <a:latin typeface="+mj-lt"/>
                    <a:ea typeface="Arial"/>
                    <a:cs typeface="Arial"/>
                    <a:sym typeface="Arial"/>
                  </a:rPr>
                  <a:t>Rapidly turns the output signal on and off to adjust the </a:t>
                </a:r>
                <a:r>
                  <a:rPr lang="en-US" sz="2000" i="1" dirty="0">
                    <a:latin typeface="+mj-lt"/>
                    <a:ea typeface="Arial"/>
                    <a:cs typeface="Arial"/>
                    <a:sym typeface="Arial"/>
                  </a:rPr>
                  <a:t>average power delivered</a:t>
                </a:r>
              </a:p>
              <a:p>
                <a:pPr marL="0" indent="0">
                  <a:lnSpc>
                    <a:spcPct val="100000"/>
                  </a:lnSpc>
                  <a:spcBef>
                    <a:spcPts val="0"/>
                  </a:spcBef>
                  <a:buSzPts val="3000"/>
                  <a:buNone/>
                </a:pPr>
                <a:endParaRPr lang="en-US" sz="2000" b="1" i="1" dirty="0">
                  <a:solidFill>
                    <a:schemeClr val="dk1"/>
                  </a:solidFill>
                  <a:latin typeface="+mj-lt"/>
                  <a:ea typeface="Arial"/>
                  <a:cs typeface="Arial"/>
                  <a:sym typeface="Arial"/>
                </a:endParaRPr>
              </a:p>
              <a:p>
                <a:pPr marL="0" indent="0">
                  <a:lnSpc>
                    <a:spcPct val="100000"/>
                  </a:lnSpc>
                  <a:spcBef>
                    <a:spcPts val="0"/>
                  </a:spcBef>
                  <a:buSzPts val="3000"/>
                  <a:buNone/>
                </a:pPr>
                <a:r>
                  <a:rPr lang="en-US" sz="2000" dirty="0">
                    <a:solidFill>
                      <a:schemeClr val="dk1"/>
                    </a:solidFill>
                    <a:latin typeface="+mj-lt"/>
                    <a:ea typeface="Arial"/>
                    <a:cs typeface="Arial"/>
                    <a:sym typeface="Arial"/>
                  </a:rPr>
                  <a:t>2 main parameters:</a:t>
                </a:r>
                <a:endParaRPr lang="en-US" sz="2000" dirty="0">
                  <a:latin typeface="+mj-lt"/>
                  <a:ea typeface="Arial"/>
                  <a:cs typeface="Arial"/>
                  <a:sym typeface="Arial"/>
                </a:endParaRPr>
              </a:p>
              <a:p>
                <a:pPr marL="342900">
                  <a:lnSpc>
                    <a:spcPct val="100000"/>
                  </a:lnSpc>
                  <a:spcBef>
                    <a:spcPts val="0"/>
                  </a:spcBef>
                  <a:buSzPts val="3000"/>
                </a:pPr>
                <a:r>
                  <a:rPr lang="en-US" sz="2000" b="1" dirty="0">
                    <a:latin typeface="+mj-lt"/>
                    <a:ea typeface="Arial"/>
                    <a:cs typeface="Arial"/>
                    <a:sym typeface="Arial"/>
                  </a:rPr>
                  <a:t>Period / frequency</a:t>
                </a:r>
                <a:r>
                  <a:rPr lang="en-US" sz="2000" dirty="0">
                    <a:latin typeface="+mj-lt"/>
                    <a:ea typeface="Arial"/>
                    <a:cs typeface="Arial"/>
                    <a:sym typeface="Arial"/>
                  </a:rPr>
                  <a:t> (</a:t>
                </a:r>
                <a14:m>
                  <m:oMath xmlns:m="http://schemas.openxmlformats.org/officeDocument/2006/math">
                    <m:sSub>
                      <m:sSubPr>
                        <m:ctrlPr>
                          <a:rPr lang="en-US" sz="2000" b="0" i="1" smtClean="0">
                            <a:latin typeface="Cambria Math" panose="02040503050406030204" pitchFamily="18" charset="0"/>
                            <a:cs typeface="Arial"/>
                            <a:sym typeface="Arial"/>
                          </a:rPr>
                        </m:ctrlPr>
                      </m:sSubPr>
                      <m:e>
                        <m:r>
                          <a:rPr lang="en-US" sz="2000" b="0" i="1" smtClean="0">
                            <a:latin typeface="Cambria Math" panose="02040503050406030204" pitchFamily="18" charset="0"/>
                            <a:cs typeface="Arial"/>
                            <a:sym typeface="Arial"/>
                          </a:rPr>
                          <m:t>𝑇</m:t>
                        </m:r>
                      </m:e>
                      <m:sub>
                        <m:r>
                          <a:rPr lang="en-US" sz="2000" b="0" i="1" smtClean="0">
                            <a:latin typeface="Cambria Math" panose="02040503050406030204" pitchFamily="18" charset="0"/>
                            <a:cs typeface="Arial"/>
                            <a:sym typeface="Arial"/>
                          </a:rPr>
                          <m:t>𝑝𝑤𝑚</m:t>
                        </m:r>
                      </m:sub>
                    </m:sSub>
                  </m:oMath>
                </a14:m>
                <a:r>
                  <a:rPr lang="en-US" sz="2000" dirty="0">
                    <a:latin typeface="+mj-lt"/>
                    <a:ea typeface="Arial"/>
                    <a:cs typeface="Arial"/>
                    <a:sym typeface="Arial"/>
                  </a:rPr>
                  <a:t>): The total time of one cycle</a:t>
                </a:r>
              </a:p>
              <a:p>
                <a:pPr marL="342900">
                  <a:lnSpc>
                    <a:spcPct val="100000"/>
                  </a:lnSpc>
                  <a:spcBef>
                    <a:spcPts val="0"/>
                  </a:spcBef>
                  <a:buSzPts val="3000"/>
                </a:pPr>
                <a:r>
                  <a:rPr lang="en-US" sz="2000" b="1" dirty="0">
                    <a:latin typeface="+mj-lt"/>
                    <a:ea typeface="Arial"/>
                    <a:cs typeface="Arial"/>
                    <a:sym typeface="Arial"/>
                  </a:rPr>
                  <a:t>Duty cycle </a:t>
                </a:r>
                <a:r>
                  <a:rPr lang="en-US" sz="2000" dirty="0">
                    <a:latin typeface="+mj-lt"/>
                    <a:ea typeface="Arial"/>
                    <a:cs typeface="Arial"/>
                    <a:sym typeface="Arial"/>
                  </a:rPr>
                  <a:t>(</a:t>
                </a:r>
                <a14:m>
                  <m:oMath xmlns:m="http://schemas.openxmlformats.org/officeDocument/2006/math">
                    <m:r>
                      <a:rPr lang="en-US" sz="2000" i="1">
                        <a:latin typeface="Cambria Math" panose="02040503050406030204" pitchFamily="18" charset="0"/>
                        <a:ea typeface="Arial"/>
                        <a:cs typeface="Arial"/>
                        <a:sym typeface="Arial"/>
                      </a:rPr>
                      <m:t>𝐷</m:t>
                    </m:r>
                    <m:r>
                      <a:rPr lang="en-US" sz="2000" b="0" i="1" smtClean="0">
                        <a:latin typeface="Cambria Math" panose="02040503050406030204" pitchFamily="18" charset="0"/>
                        <a:ea typeface="Arial"/>
                        <a:cs typeface="Arial"/>
                        <a:sym typeface="Arial"/>
                      </a:rPr>
                      <m:t>)</m:t>
                    </m:r>
                  </m:oMath>
                </a14:m>
                <a:r>
                  <a:rPr lang="en-US" sz="2000" b="1" dirty="0">
                    <a:latin typeface="+mj-lt"/>
                    <a:ea typeface="Arial"/>
                    <a:cs typeface="Arial"/>
                    <a:sym typeface="Arial"/>
                  </a:rPr>
                  <a:t>: </a:t>
                </a:r>
                <a:r>
                  <a:rPr lang="en-US" sz="2000" dirty="0">
                    <a:latin typeface="+mj-lt"/>
                    <a:ea typeface="Arial"/>
                    <a:cs typeface="Arial"/>
                    <a:sym typeface="Arial"/>
                  </a:rPr>
                  <a:t>The fraction of time the signal is high </a:t>
                </a:r>
                <a14:m>
                  <m:oMath xmlns:m="http://schemas.openxmlformats.org/officeDocument/2006/math">
                    <m:r>
                      <a:rPr lang="en-US" sz="2000" b="0" i="1" smtClean="0">
                        <a:latin typeface="Cambria Math" panose="02040503050406030204" pitchFamily="18" charset="0"/>
                        <a:ea typeface="Arial"/>
                        <a:cs typeface="Arial"/>
                        <a:sym typeface="Arial"/>
                      </a:rPr>
                      <m:t>𝐷</m:t>
                    </m:r>
                    <m:r>
                      <a:rPr lang="en-US" sz="2000" b="0" i="1" smtClean="0">
                        <a:latin typeface="Cambria Math" panose="02040503050406030204" pitchFamily="18" charset="0"/>
                        <a:ea typeface="Arial"/>
                        <a:cs typeface="Arial"/>
                        <a:sym typeface="Arial"/>
                      </a:rPr>
                      <m:t>=</m:t>
                    </m:r>
                    <m:f>
                      <m:fPr>
                        <m:ctrlPr>
                          <a:rPr lang="en-US" sz="2000" b="0" i="1" smtClean="0">
                            <a:latin typeface="Cambria Math" panose="02040503050406030204" pitchFamily="18" charset="0"/>
                            <a:cs typeface="Arial"/>
                            <a:sym typeface="Arial"/>
                          </a:rPr>
                        </m:ctrlPr>
                      </m:fPr>
                      <m:num>
                        <m:sSub>
                          <m:sSubPr>
                            <m:ctrlPr>
                              <a:rPr lang="en-US" sz="2000" b="0" i="1" smtClean="0">
                                <a:latin typeface="Cambria Math" panose="02040503050406030204" pitchFamily="18" charset="0"/>
                                <a:cs typeface="Arial"/>
                                <a:sym typeface="Arial"/>
                              </a:rPr>
                            </m:ctrlPr>
                          </m:sSubPr>
                          <m:e>
                            <m:r>
                              <a:rPr lang="en-US" sz="2000" b="0" i="1" smtClean="0">
                                <a:latin typeface="Cambria Math" panose="02040503050406030204" pitchFamily="18" charset="0"/>
                                <a:cs typeface="Arial"/>
                                <a:sym typeface="Arial"/>
                              </a:rPr>
                              <m:t>𝑇</m:t>
                            </m:r>
                          </m:e>
                          <m:sub>
                            <m:r>
                              <a:rPr lang="en-US" sz="2000" b="0" i="1" smtClean="0">
                                <a:latin typeface="Cambria Math" panose="02040503050406030204" pitchFamily="18" charset="0"/>
                                <a:cs typeface="Arial"/>
                                <a:sym typeface="Arial"/>
                              </a:rPr>
                              <m:t>𝑜𝑛</m:t>
                            </m:r>
                          </m:sub>
                        </m:sSub>
                      </m:num>
                      <m:den>
                        <m:sSub>
                          <m:sSubPr>
                            <m:ctrlPr>
                              <a:rPr lang="en-US" sz="2000" b="0" i="1" smtClean="0">
                                <a:latin typeface="Cambria Math" panose="02040503050406030204" pitchFamily="18" charset="0"/>
                                <a:cs typeface="Arial"/>
                                <a:sym typeface="Arial"/>
                              </a:rPr>
                            </m:ctrlPr>
                          </m:sSubPr>
                          <m:e>
                            <m:r>
                              <a:rPr lang="en-US" sz="2000" b="0" i="1" smtClean="0">
                                <a:latin typeface="Cambria Math" panose="02040503050406030204" pitchFamily="18" charset="0"/>
                                <a:cs typeface="Arial"/>
                                <a:sym typeface="Arial"/>
                              </a:rPr>
                              <m:t>𝑇</m:t>
                            </m:r>
                          </m:e>
                          <m:sub>
                            <m:r>
                              <a:rPr lang="en-US" sz="2000" b="0" i="1" smtClean="0">
                                <a:latin typeface="Cambria Math" panose="02040503050406030204" pitchFamily="18" charset="0"/>
                                <a:cs typeface="Arial"/>
                                <a:sym typeface="Arial"/>
                              </a:rPr>
                              <m:t>𝑝𝑤𝑚</m:t>
                            </m:r>
                          </m:sub>
                        </m:sSub>
                      </m:den>
                    </m:f>
                  </m:oMath>
                </a14:m>
                <a:endParaRPr lang="en-US" sz="2000" b="1" dirty="0">
                  <a:latin typeface="+mj-lt"/>
                  <a:ea typeface="Arial"/>
                  <a:cs typeface="Arial"/>
                  <a:sym typeface="Arial"/>
                </a:endParaRPr>
              </a:p>
            </p:txBody>
          </p:sp>
        </mc:Choice>
        <mc:Fallback xmlns="">
          <p:sp>
            <p:nvSpPr>
              <p:cNvPr id="118" name="Google Shape;118;p29">
                <a:extLst>
                  <a:ext uri="{FF2B5EF4-FFF2-40B4-BE49-F238E27FC236}">
                    <a16:creationId xmlns:a16="http://schemas.microsoft.com/office/drawing/2014/main" id="{B0FC26F5-2324-776A-3D7E-4DE12C1A4A20}"/>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02AE202F-FC87-C2C4-6621-BE4EBF4688F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8F04BC0-E8C5-B227-3D05-C0763450C24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9E163057-C04E-7706-10EC-7A176DDB9444}"/>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359E8E0-76E9-88E2-1E75-5DC1689D612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F603DCD-7C70-A6E0-27F9-EB21F3B3C97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8679518-B190-3DD9-522D-D9E49AD9BB3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6D968A9-2252-3D63-829D-DB56DD67CA4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E3CC77E-6ADE-AF49-A7E7-80E7093C6B4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018900813"/>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469E6E2-D9FD-3948-6F70-4FBFBEE4787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B964AABB-DDFC-656C-E0BE-979B048B105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E55BCF1-E68E-5E3B-3EA1-DEA2F6E80B3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2F26C17-3F3F-D0A3-BE0F-425F353CC4E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BF8B9E9-D7A2-135D-46B4-14BB2D4246D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4E52CA5-08F4-D48B-A34B-FAD83C37210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AF41409-BF51-C826-620B-AC5557E6300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D7460A5-4613-A09C-A88F-7AD8FC87348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095E86F-6134-C065-6210-5A91FA933A3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88B76D67-908B-5D79-38B0-E6C9A3F6993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638191" y="1047229"/>
            <a:ext cx="8387264" cy="5220988"/>
          </a:xfrm>
          <a:prstGeom prst="rect">
            <a:avLst/>
          </a:prstGeom>
        </p:spPr>
      </p:pic>
    </p:spTree>
    <p:extLst>
      <p:ext uri="{BB962C8B-B14F-4D97-AF65-F5344CB8AC3E}">
        <p14:creationId xmlns:p14="http://schemas.microsoft.com/office/powerpoint/2010/main" val="2049721417"/>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117"/>
        <p:cNvGrpSpPr/>
        <p:nvPr/>
      </p:nvGrpSpPr>
      <p:grpSpPr>
        <a:xfrm>
          <a:off x="0" y="0"/>
          <a:ext cx="0" cy="0"/>
          <a:chOff x="0" y="0"/>
          <a:chExt cx="0" cy="0"/>
        </a:xfrm>
      </p:grpSpPr>
      <p:sp>
        <p:nvSpPr>
          <p:cNvPr id="118" name="Google Shape;118;p29"/>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600" b="1">
                <a:solidFill>
                  <a:srgbClr val="E84B36"/>
                </a:solidFill>
                <a:latin typeface="Arial"/>
                <a:ea typeface="Arial"/>
                <a:cs typeface="Arial"/>
                <a:sym typeface="Arial"/>
              </a:rPr>
              <a:t>Lorem Ipsum Dolor Sit Amet Consectetur Adipiscing</a:t>
            </a:r>
            <a:endParaRPr sz="2600" b="1">
              <a:solidFill>
                <a:srgbClr val="E84B36"/>
              </a:solidFill>
              <a:latin typeface="Arial"/>
              <a:ea typeface="Arial"/>
              <a:cs typeface="Arial"/>
              <a:sym typeface="Arial"/>
            </a:endParaRPr>
          </a:p>
          <a:p>
            <a:pPr marL="0" lvl="0" indent="0" algn="l" rtl="0">
              <a:lnSpc>
                <a:spcPct val="100000"/>
              </a:lnSpc>
              <a:spcBef>
                <a:spcPts val="0"/>
              </a:spcBef>
              <a:spcAft>
                <a:spcPts val="0"/>
              </a:spcAft>
              <a:buSzPts val="2000"/>
              <a:buNone/>
            </a:pPr>
            <a:endParaRPr sz="1800">
              <a:solidFill>
                <a:schemeClr val="dk1"/>
              </a:solidFill>
              <a:latin typeface="Arial"/>
              <a:ea typeface="Arial"/>
              <a:cs typeface="Arial"/>
              <a:sym typeface="Arial"/>
            </a:endParaRPr>
          </a:p>
          <a:p>
            <a:pPr marL="0" lvl="0" indent="0" algn="l" rtl="0">
              <a:lnSpc>
                <a:spcPct val="100000"/>
              </a:lnSpc>
              <a:spcBef>
                <a:spcPts val="0"/>
              </a:spcBef>
              <a:spcAft>
                <a:spcPts val="0"/>
              </a:spcAft>
              <a:buSzPts val="2000"/>
              <a:buNone/>
            </a:pPr>
            <a:r>
              <a:rPr lang="en-US" sz="1800">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 Excepteur sint occaecat cupidatat non proident, sunt in culpa qui officia deserunt mollit anim id est laborum.</a:t>
            </a:r>
            <a:endParaRPr/>
          </a:p>
          <a:p>
            <a:pPr marL="0" lvl="0" indent="0" algn="l" rtl="0">
              <a:lnSpc>
                <a:spcPct val="100000"/>
              </a:lnSpc>
              <a:spcBef>
                <a:spcPts val="0"/>
              </a:spcBef>
              <a:spcAft>
                <a:spcPts val="0"/>
              </a:spcAft>
              <a:buSzPts val="2000"/>
              <a:buNone/>
            </a:pPr>
            <a:endParaRPr sz="1800">
              <a:solidFill>
                <a:schemeClr val="dk1"/>
              </a:solidFill>
              <a:latin typeface="Arial"/>
              <a:ea typeface="Arial"/>
              <a:cs typeface="Arial"/>
              <a:sym typeface="Arial"/>
            </a:endParaRPr>
          </a:p>
          <a:p>
            <a:pPr marL="0" lvl="0" indent="0" algn="l" rtl="0">
              <a:lnSpc>
                <a:spcPct val="100000"/>
              </a:lnSpc>
              <a:spcBef>
                <a:spcPts val="0"/>
              </a:spcBef>
              <a:spcAft>
                <a:spcPts val="0"/>
              </a:spcAft>
              <a:buSzPts val="3000"/>
              <a:buNone/>
            </a:pPr>
            <a:r>
              <a:rPr lang="en-US" sz="2000" b="1">
                <a:solidFill>
                  <a:srgbClr val="15264B"/>
                </a:solidFill>
                <a:latin typeface="Arial"/>
                <a:ea typeface="Arial"/>
                <a:cs typeface="Arial"/>
                <a:sym typeface="Arial"/>
              </a:rPr>
              <a:t>Lorem Ipsum Dolor Sit Amet Consectetur Adipiscing</a:t>
            </a:r>
            <a:endParaRPr sz="2000" b="1">
              <a:solidFill>
                <a:srgbClr val="15264B"/>
              </a:solidFill>
              <a:latin typeface="Arial"/>
              <a:ea typeface="Arial"/>
              <a:cs typeface="Arial"/>
              <a:sym typeface="Arial"/>
            </a:endParaRPr>
          </a:p>
          <a:p>
            <a:pPr marL="0" lvl="0" indent="0" algn="l" rtl="0">
              <a:lnSpc>
                <a:spcPct val="100000"/>
              </a:lnSpc>
              <a:spcBef>
                <a:spcPts val="0"/>
              </a:spcBef>
              <a:spcAft>
                <a:spcPts val="0"/>
              </a:spcAft>
              <a:buSzPts val="3000"/>
              <a:buNone/>
            </a:pPr>
            <a:endParaRPr sz="1800" b="1">
              <a:solidFill>
                <a:schemeClr val="dk1"/>
              </a:solidFill>
              <a:latin typeface="Arial"/>
              <a:ea typeface="Arial"/>
              <a:cs typeface="Arial"/>
              <a:sym typeface="Arial"/>
            </a:endParaRPr>
          </a:p>
          <a:p>
            <a:pPr marL="0" lvl="0" indent="0" algn="l" rtl="0">
              <a:lnSpc>
                <a:spcPct val="100000"/>
              </a:lnSpc>
              <a:spcBef>
                <a:spcPts val="0"/>
              </a:spcBef>
              <a:spcAft>
                <a:spcPts val="0"/>
              </a:spcAft>
              <a:buSzPts val="3000"/>
              <a:buNone/>
            </a:pPr>
            <a:r>
              <a:rPr lang="en-US" sz="1800">
                <a:latin typeface="Arial"/>
                <a:ea typeface="Arial"/>
                <a:cs typeface="Arial"/>
                <a:sym typeface="Arial"/>
              </a:rPr>
              <a:t>Lorem ipsum dolor sit amet, consectetur adipiscing elit, sed do eiusmod tempor incididunt ut labore et dolore magna aliqua.</a:t>
            </a:r>
            <a:endParaRPr sz="1800" b="1">
              <a:solidFill>
                <a:schemeClr val="dk1"/>
              </a:solidFill>
              <a:latin typeface="Arial"/>
              <a:ea typeface="Arial"/>
              <a:cs typeface="Arial"/>
              <a:sym typeface="Arial"/>
            </a:endParaRPr>
          </a:p>
        </p:txBody>
      </p:sp>
      <p:sp>
        <p:nvSpPr>
          <p:cNvPr id="119" name="Google Shape;119;p29"/>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lt1"/>
                </a:solidFill>
                <a:latin typeface="Arial"/>
                <a:ea typeface="Arial"/>
                <a:cs typeface="Arial"/>
                <a:sym typeface="Arial"/>
              </a:rPr>
              <a:t>Slide Title</a:t>
            </a:r>
            <a:endParaRPr sz="2400" b="0" i="0" u="none" strike="noStrike" cap="none">
              <a:solidFill>
                <a:schemeClr val="lt1"/>
              </a:solidFill>
              <a:latin typeface="Arial"/>
              <a:ea typeface="Arial"/>
              <a:cs typeface="Arial"/>
              <a:sym typeface="Arial"/>
            </a:endParaRPr>
          </a:p>
        </p:txBody>
      </p:sp>
      <p:pic>
        <p:nvPicPr>
          <p:cNvPr id="121" name="Google Shape;121;p29"/>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p:cNvGrpSpPr/>
          <p:nvPr/>
        </p:nvGrpSpPr>
        <p:grpSpPr>
          <a:xfrm>
            <a:off x="4066674" y="6601537"/>
            <a:ext cx="5233412" cy="70446"/>
            <a:chOff x="4033424" y="6601537"/>
            <a:chExt cx="5233412" cy="70446"/>
          </a:xfrm>
        </p:grpSpPr>
        <p:cxnSp>
          <p:nvCxnSpPr>
            <p:cNvPr id="125" name="Google Shape;125;p29"/>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30"/>
        <p:cNvGrpSpPr/>
        <p:nvPr/>
      </p:nvGrpSpPr>
      <p:grpSpPr>
        <a:xfrm>
          <a:off x="0" y="0"/>
          <a:ext cx="0" cy="0"/>
          <a:chOff x="0" y="0"/>
          <a:chExt cx="0" cy="0"/>
        </a:xfrm>
      </p:grpSpPr>
      <p:sp>
        <p:nvSpPr>
          <p:cNvPr id="131" name="Google Shape;131;p30"/>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32" name="Google Shape;132;p30"/>
          <p:cNvSpPr txBox="1"/>
          <p:nvPr/>
        </p:nvSpPr>
        <p:spPr>
          <a:xfrm>
            <a:off x="376810" y="1334279"/>
            <a:ext cx="5442100" cy="482110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US" sz="2600" b="1" i="0" u="none" strike="noStrike" cap="none">
                <a:solidFill>
                  <a:srgbClr val="E84B36"/>
                </a:solidFill>
                <a:latin typeface="Arial"/>
                <a:ea typeface="Arial"/>
                <a:cs typeface="Arial"/>
                <a:sym typeface="Arial"/>
              </a:rPr>
              <a:t>Lorem Ipsum Dolor Sit Amet Consectetur Adipiscing</a:t>
            </a:r>
            <a:endParaRPr sz="2600" b="1" i="0" u="none" strike="noStrike" cap="none">
              <a:solidFill>
                <a:srgbClr val="E84B36"/>
              </a:solidFill>
              <a:latin typeface="Arial"/>
              <a:ea typeface="Arial"/>
              <a:cs typeface="Arial"/>
              <a:sym typeface="Arial"/>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 Excepteur sint occaecat cupidatat non proident, sunt in culpa qui officia deserunt mollit anim id est laborum.</a:t>
            </a:r>
            <a:endParaRPr sz="1800" b="1" i="0" u="none" strike="noStrike" cap="none">
              <a:solidFill>
                <a:schemeClr val="dk1"/>
              </a:solidFill>
              <a:latin typeface="Arial"/>
              <a:ea typeface="Arial"/>
              <a:cs typeface="Arial"/>
              <a:sym typeface="Arial"/>
            </a:endParaRPr>
          </a:p>
        </p:txBody>
      </p:sp>
      <p:sp>
        <p:nvSpPr>
          <p:cNvPr id="133" name="Google Shape;133;p30"/>
          <p:cNvSpPr txBox="1"/>
          <p:nvPr/>
        </p:nvSpPr>
        <p:spPr>
          <a:xfrm>
            <a:off x="6158774" y="1334279"/>
            <a:ext cx="5442100" cy="482110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US" sz="2000" b="1" i="0" u="none" strike="noStrike" cap="none">
                <a:solidFill>
                  <a:srgbClr val="15264B"/>
                </a:solidFill>
                <a:latin typeface="Arial"/>
                <a:ea typeface="Arial"/>
                <a:cs typeface="Arial"/>
                <a:sym typeface="Arial"/>
              </a:rPr>
              <a:t>Lorem Ipsum Dolor Sit Amet Consectetur Adipiscing</a:t>
            </a:r>
            <a:endParaRPr sz="2000" b="1" i="0" u="none" strike="noStrike" cap="none">
              <a:solidFill>
                <a:srgbClr val="15264B"/>
              </a:solidFill>
              <a:latin typeface="Arial"/>
              <a:ea typeface="Arial"/>
              <a:cs typeface="Arial"/>
              <a:sym typeface="Arial"/>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 Excepteur sint occaecat cupidatat non proident, sunt in culpa qui officia deserunt mollit anim id est laborum.</a:t>
            </a:r>
            <a:endParaRPr sz="1800" b="1" i="0" u="none" strike="noStrike" cap="none">
              <a:solidFill>
                <a:schemeClr val="dk1"/>
              </a:solidFill>
              <a:latin typeface="Arial"/>
              <a:ea typeface="Arial"/>
              <a:cs typeface="Arial"/>
              <a:sym typeface="Arial"/>
            </a:endParaRPr>
          </a:p>
        </p:txBody>
      </p:sp>
      <p:sp>
        <p:nvSpPr>
          <p:cNvPr id="134" name="Google Shape;134;p30"/>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lt1"/>
                </a:solidFill>
                <a:latin typeface="Arial"/>
                <a:ea typeface="Arial"/>
                <a:cs typeface="Arial"/>
                <a:sym typeface="Arial"/>
              </a:rPr>
              <a:t>Slide Title</a:t>
            </a:r>
            <a:endParaRPr sz="2400" b="0" i="0" u="none" strike="noStrike" cap="none">
              <a:solidFill>
                <a:schemeClr val="lt1"/>
              </a:solidFill>
              <a:latin typeface="Arial"/>
              <a:ea typeface="Arial"/>
              <a:cs typeface="Arial"/>
              <a:sym typeface="Arial"/>
            </a:endParaRPr>
          </a:p>
        </p:txBody>
      </p:sp>
      <p:pic>
        <p:nvPicPr>
          <p:cNvPr id="135" name="Google Shape;135;p30"/>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36" name="Google Shape;136;p30"/>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37" name="Google Shape;137;p30"/>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38" name="Google Shape;138;p30"/>
          <p:cNvGrpSpPr/>
          <p:nvPr/>
        </p:nvGrpSpPr>
        <p:grpSpPr>
          <a:xfrm>
            <a:off x="4066674" y="6601537"/>
            <a:ext cx="5233412" cy="70446"/>
            <a:chOff x="4033424" y="6601537"/>
            <a:chExt cx="5233412" cy="70446"/>
          </a:xfrm>
        </p:grpSpPr>
        <p:cxnSp>
          <p:nvCxnSpPr>
            <p:cNvPr id="139" name="Google Shape;139;p30"/>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40" name="Google Shape;140;p30"/>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44"/>
        <p:cNvGrpSpPr/>
        <p:nvPr/>
      </p:nvGrpSpPr>
      <p:grpSpPr>
        <a:xfrm>
          <a:off x="0" y="0"/>
          <a:ext cx="0" cy="0"/>
          <a:chOff x="0" y="0"/>
          <a:chExt cx="0" cy="0"/>
        </a:xfrm>
      </p:grpSpPr>
      <p:sp>
        <p:nvSpPr>
          <p:cNvPr id="145" name="Google Shape;145;p31"/>
          <p:cNvSpPr/>
          <p:nvPr/>
        </p:nvSpPr>
        <p:spPr>
          <a:xfrm>
            <a:off x="475566" y="1263717"/>
            <a:ext cx="4356660" cy="2315647"/>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46" name="Google Shape;146;p31"/>
          <p:cNvSpPr txBox="1"/>
          <p:nvPr/>
        </p:nvSpPr>
        <p:spPr>
          <a:xfrm>
            <a:off x="1494115" y="2239572"/>
            <a:ext cx="2280491"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 / GRAPHIC</a:t>
            </a:r>
            <a:endParaRPr sz="1400" b="0" i="0" u="none" strike="noStrike" cap="none">
              <a:solidFill>
                <a:srgbClr val="000000"/>
              </a:solidFill>
              <a:latin typeface="Arial"/>
              <a:ea typeface="Arial"/>
              <a:cs typeface="Arial"/>
              <a:sym typeface="Arial"/>
            </a:endParaRPr>
          </a:p>
        </p:txBody>
      </p:sp>
      <p:sp>
        <p:nvSpPr>
          <p:cNvPr id="147" name="Google Shape;147;p31"/>
          <p:cNvSpPr/>
          <p:nvPr/>
        </p:nvSpPr>
        <p:spPr>
          <a:xfrm>
            <a:off x="475566" y="3774068"/>
            <a:ext cx="4356660" cy="2315647"/>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48" name="Google Shape;148;p31"/>
          <p:cNvSpPr txBox="1"/>
          <p:nvPr/>
        </p:nvSpPr>
        <p:spPr>
          <a:xfrm>
            <a:off x="1494115" y="4747225"/>
            <a:ext cx="2280491"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 / GRAPHIC</a:t>
            </a:r>
            <a:endParaRPr sz="1400" b="0" i="0" u="none" strike="noStrike" cap="none">
              <a:solidFill>
                <a:srgbClr val="000000"/>
              </a:solidFill>
              <a:latin typeface="Arial"/>
              <a:ea typeface="Arial"/>
              <a:cs typeface="Arial"/>
              <a:sym typeface="Arial"/>
            </a:endParaRPr>
          </a:p>
        </p:txBody>
      </p:sp>
      <p:sp>
        <p:nvSpPr>
          <p:cNvPr id="149" name="Google Shape;149;p31"/>
          <p:cNvSpPr txBox="1"/>
          <p:nvPr/>
        </p:nvSpPr>
        <p:spPr>
          <a:xfrm>
            <a:off x="5122548" y="1334279"/>
            <a:ext cx="6686464" cy="482110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US" sz="2600" b="1" i="0" u="none" strike="noStrike" cap="none">
                <a:solidFill>
                  <a:srgbClr val="E84B36"/>
                </a:solidFill>
                <a:latin typeface="Arial"/>
                <a:ea typeface="Arial"/>
                <a:cs typeface="Arial"/>
                <a:sym typeface="Arial"/>
              </a:rPr>
              <a:t>Lorem Ipsum Dolor Sit Amet Consectetur Adipiscing</a:t>
            </a:r>
            <a:endParaRPr sz="2600" b="1" i="0" u="none" strike="noStrike" cap="none">
              <a:solidFill>
                <a:srgbClr val="E84B36"/>
              </a:solidFill>
              <a:latin typeface="Arial"/>
              <a:ea typeface="Arial"/>
              <a:cs typeface="Arial"/>
              <a:sym typeface="Arial"/>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a:t>
            </a:r>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2000" b="1" i="0" u="none" strike="noStrike" cap="none">
                <a:solidFill>
                  <a:srgbClr val="15264B"/>
                </a:solidFill>
                <a:latin typeface="Arial"/>
                <a:ea typeface="Arial"/>
                <a:cs typeface="Arial"/>
                <a:sym typeface="Arial"/>
              </a:rPr>
              <a:t>Lorem Ipsum Dolor Sit Amet Consectetur Adipiscing</a:t>
            </a:r>
            <a:endParaRPr sz="2000" b="1" i="0" u="none" strike="noStrike" cap="none">
              <a:solidFill>
                <a:srgbClr val="15264B"/>
              </a:solidFill>
              <a:latin typeface="Arial"/>
              <a:ea typeface="Arial"/>
              <a:cs typeface="Arial"/>
              <a:sym typeface="Arial"/>
            </a:endParaRPr>
          </a:p>
          <a:p>
            <a:pPr marL="0" marR="0" lvl="0" indent="0" algn="l" rtl="0">
              <a:lnSpc>
                <a:spcPct val="100000"/>
              </a:lnSpc>
              <a:spcBef>
                <a:spcPts val="0"/>
              </a:spcBef>
              <a:spcAft>
                <a:spcPts val="0"/>
              </a:spcAft>
              <a:buNone/>
            </a:pPr>
            <a:endParaRPr sz="1800" b="1"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a:t>
            </a:r>
            <a:endParaRPr sz="1800" b="1" i="0" u="none" strike="noStrike" cap="none">
              <a:solidFill>
                <a:schemeClr val="dk1"/>
              </a:solidFill>
              <a:latin typeface="Arial"/>
              <a:ea typeface="Arial"/>
              <a:cs typeface="Arial"/>
              <a:sym typeface="Arial"/>
            </a:endParaRPr>
          </a:p>
        </p:txBody>
      </p:sp>
      <p:sp>
        <p:nvSpPr>
          <p:cNvPr id="150" name="Google Shape;150;p31"/>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51" name="Google Shape;151;p31"/>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lt1"/>
                </a:solidFill>
                <a:latin typeface="Arial"/>
                <a:ea typeface="Arial"/>
                <a:cs typeface="Arial"/>
                <a:sym typeface="Arial"/>
              </a:rPr>
              <a:t>Slide Title</a:t>
            </a:r>
            <a:endParaRPr sz="2400" b="0" i="0" u="none" strike="noStrike" cap="none">
              <a:solidFill>
                <a:schemeClr val="lt1"/>
              </a:solidFill>
              <a:latin typeface="Arial"/>
              <a:ea typeface="Arial"/>
              <a:cs typeface="Arial"/>
              <a:sym typeface="Arial"/>
            </a:endParaRPr>
          </a:p>
        </p:txBody>
      </p:sp>
      <p:pic>
        <p:nvPicPr>
          <p:cNvPr id="152" name="Google Shape;152;p31"/>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53" name="Google Shape;153;p31"/>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54" name="Google Shape;154;p31"/>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55" name="Google Shape;155;p31"/>
          <p:cNvGrpSpPr/>
          <p:nvPr/>
        </p:nvGrpSpPr>
        <p:grpSpPr>
          <a:xfrm>
            <a:off x="4066674" y="6601537"/>
            <a:ext cx="5233412" cy="70446"/>
            <a:chOff x="4033424" y="6601537"/>
            <a:chExt cx="5233412" cy="70446"/>
          </a:xfrm>
        </p:grpSpPr>
        <p:cxnSp>
          <p:nvCxnSpPr>
            <p:cNvPr id="156" name="Google Shape;156;p31"/>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57" name="Google Shape;157;p31"/>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161"/>
        <p:cNvGrpSpPr/>
        <p:nvPr/>
      </p:nvGrpSpPr>
      <p:grpSpPr>
        <a:xfrm>
          <a:off x="0" y="0"/>
          <a:ext cx="0" cy="0"/>
          <a:chOff x="0" y="0"/>
          <a:chExt cx="0" cy="0"/>
        </a:xfrm>
      </p:grpSpPr>
      <p:sp>
        <p:nvSpPr>
          <p:cNvPr id="162" name="Google Shape;162;p7"/>
          <p:cNvSpPr/>
          <p:nvPr/>
        </p:nvSpPr>
        <p:spPr>
          <a:xfrm>
            <a:off x="7475456" y="1263717"/>
            <a:ext cx="4356660" cy="2315647"/>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63" name="Google Shape;163;p7"/>
          <p:cNvSpPr txBox="1"/>
          <p:nvPr/>
        </p:nvSpPr>
        <p:spPr>
          <a:xfrm>
            <a:off x="8494005" y="2239572"/>
            <a:ext cx="2280491"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 / GRAPHIC</a:t>
            </a:r>
            <a:endParaRPr sz="1400" b="0" i="0" u="none" strike="noStrike" cap="none">
              <a:solidFill>
                <a:srgbClr val="000000"/>
              </a:solidFill>
              <a:latin typeface="Arial"/>
              <a:ea typeface="Arial"/>
              <a:cs typeface="Arial"/>
              <a:sym typeface="Arial"/>
            </a:endParaRPr>
          </a:p>
        </p:txBody>
      </p:sp>
      <p:sp>
        <p:nvSpPr>
          <p:cNvPr id="164" name="Google Shape;164;p7"/>
          <p:cNvSpPr/>
          <p:nvPr/>
        </p:nvSpPr>
        <p:spPr>
          <a:xfrm>
            <a:off x="7475456" y="3774068"/>
            <a:ext cx="4356660" cy="2315647"/>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65" name="Google Shape;165;p7"/>
          <p:cNvSpPr txBox="1"/>
          <p:nvPr/>
        </p:nvSpPr>
        <p:spPr>
          <a:xfrm>
            <a:off x="8494005" y="4747225"/>
            <a:ext cx="2280491"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 / GRAPHIC</a:t>
            </a:r>
            <a:endParaRPr sz="1400" b="0" i="0" u="none" strike="noStrike" cap="none">
              <a:solidFill>
                <a:srgbClr val="000000"/>
              </a:solidFill>
              <a:latin typeface="Arial"/>
              <a:ea typeface="Arial"/>
              <a:cs typeface="Arial"/>
              <a:sym typeface="Arial"/>
            </a:endParaRPr>
          </a:p>
        </p:txBody>
      </p:sp>
      <p:sp>
        <p:nvSpPr>
          <p:cNvPr id="166" name="Google Shape;166;p7"/>
          <p:cNvSpPr txBox="1">
            <a:spLocks noGrp="1"/>
          </p:cNvSpPr>
          <p:nvPr>
            <p:ph type="body" idx="1"/>
          </p:nvPr>
        </p:nvSpPr>
        <p:spPr>
          <a:xfrm>
            <a:off x="376810" y="1334279"/>
            <a:ext cx="6686464"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600" b="1">
                <a:solidFill>
                  <a:srgbClr val="E84B36"/>
                </a:solidFill>
                <a:latin typeface="Arial"/>
                <a:ea typeface="Arial"/>
                <a:cs typeface="Arial"/>
                <a:sym typeface="Arial"/>
              </a:rPr>
              <a:t>Lorem Ipsum Dolor Sit Amet Consectetur Adipiscing</a:t>
            </a:r>
            <a:endParaRPr sz="2600" b="1">
              <a:solidFill>
                <a:srgbClr val="E84B36"/>
              </a:solidFill>
              <a:latin typeface="Arial"/>
              <a:ea typeface="Arial"/>
              <a:cs typeface="Arial"/>
              <a:sym typeface="Arial"/>
            </a:endParaRPr>
          </a:p>
          <a:p>
            <a:pPr marL="0" lvl="0" indent="0" algn="l" rtl="0">
              <a:lnSpc>
                <a:spcPct val="100000"/>
              </a:lnSpc>
              <a:spcBef>
                <a:spcPts val="0"/>
              </a:spcBef>
              <a:spcAft>
                <a:spcPts val="0"/>
              </a:spcAft>
              <a:buSzPts val="2000"/>
              <a:buNone/>
            </a:pPr>
            <a:endParaRPr sz="1800">
              <a:solidFill>
                <a:schemeClr val="dk1"/>
              </a:solidFill>
              <a:latin typeface="Arial"/>
              <a:ea typeface="Arial"/>
              <a:cs typeface="Arial"/>
              <a:sym typeface="Arial"/>
            </a:endParaRPr>
          </a:p>
          <a:p>
            <a:pPr marL="0" lvl="0" indent="0" algn="l" rtl="0">
              <a:lnSpc>
                <a:spcPct val="100000"/>
              </a:lnSpc>
              <a:spcBef>
                <a:spcPts val="0"/>
              </a:spcBef>
              <a:spcAft>
                <a:spcPts val="0"/>
              </a:spcAft>
              <a:buSzPts val="2000"/>
              <a:buNone/>
            </a:pPr>
            <a:r>
              <a:rPr lang="en-US" sz="1800">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a:t>
            </a:r>
            <a:endParaRPr/>
          </a:p>
          <a:p>
            <a:pPr marL="0" lvl="0" indent="0" algn="l" rtl="0">
              <a:lnSpc>
                <a:spcPct val="100000"/>
              </a:lnSpc>
              <a:spcBef>
                <a:spcPts val="0"/>
              </a:spcBef>
              <a:spcAft>
                <a:spcPts val="0"/>
              </a:spcAft>
              <a:buSzPts val="2000"/>
              <a:buNone/>
            </a:pPr>
            <a:endParaRPr sz="1800">
              <a:solidFill>
                <a:schemeClr val="dk1"/>
              </a:solidFill>
              <a:latin typeface="Arial"/>
              <a:ea typeface="Arial"/>
              <a:cs typeface="Arial"/>
              <a:sym typeface="Arial"/>
            </a:endParaRPr>
          </a:p>
          <a:p>
            <a:pPr marL="0" lvl="0" indent="0" algn="l" rtl="0">
              <a:lnSpc>
                <a:spcPct val="100000"/>
              </a:lnSpc>
              <a:spcBef>
                <a:spcPts val="0"/>
              </a:spcBef>
              <a:spcAft>
                <a:spcPts val="0"/>
              </a:spcAft>
              <a:buSzPts val="3000"/>
              <a:buNone/>
            </a:pPr>
            <a:r>
              <a:rPr lang="en-US" sz="2000" b="1">
                <a:solidFill>
                  <a:srgbClr val="15264B"/>
                </a:solidFill>
                <a:latin typeface="Arial"/>
                <a:ea typeface="Arial"/>
                <a:cs typeface="Arial"/>
                <a:sym typeface="Arial"/>
              </a:rPr>
              <a:t>Lorem Ipsum Dolor Sit Amet Consectetur Adipiscing</a:t>
            </a:r>
            <a:endParaRPr sz="2000" b="1">
              <a:solidFill>
                <a:srgbClr val="15264B"/>
              </a:solidFill>
            </a:endParaRPr>
          </a:p>
          <a:p>
            <a:pPr marL="0" lvl="0" indent="0" algn="l" rtl="0">
              <a:lnSpc>
                <a:spcPct val="100000"/>
              </a:lnSpc>
              <a:spcBef>
                <a:spcPts val="0"/>
              </a:spcBef>
              <a:spcAft>
                <a:spcPts val="0"/>
              </a:spcAft>
              <a:buSzPts val="3000"/>
              <a:buNone/>
            </a:pPr>
            <a:endParaRPr sz="1800" b="1">
              <a:solidFill>
                <a:schemeClr val="dk1"/>
              </a:solidFill>
              <a:latin typeface="Arial"/>
              <a:ea typeface="Arial"/>
              <a:cs typeface="Arial"/>
              <a:sym typeface="Arial"/>
            </a:endParaRPr>
          </a:p>
          <a:p>
            <a:pPr marL="0" lvl="0" indent="0" algn="l" rtl="0">
              <a:lnSpc>
                <a:spcPct val="100000"/>
              </a:lnSpc>
              <a:spcBef>
                <a:spcPts val="0"/>
              </a:spcBef>
              <a:spcAft>
                <a:spcPts val="0"/>
              </a:spcAft>
              <a:buSzPts val="3000"/>
              <a:buNone/>
            </a:pPr>
            <a:r>
              <a:rPr lang="en-US" sz="1800">
                <a:latin typeface="Arial"/>
                <a:ea typeface="Arial"/>
                <a:cs typeface="Arial"/>
                <a:sym typeface="Arial"/>
              </a:rPr>
              <a:t>Lorem ipsum dolor sit amet, consectetur adipiscing elit, sed do eiusmod tempor incididunt ut labore et dolore magna aliqua.</a:t>
            </a:r>
            <a:endParaRPr sz="1800" b="1">
              <a:solidFill>
                <a:schemeClr val="dk1"/>
              </a:solidFill>
              <a:latin typeface="Arial"/>
              <a:ea typeface="Arial"/>
              <a:cs typeface="Arial"/>
              <a:sym typeface="Arial"/>
            </a:endParaRPr>
          </a:p>
        </p:txBody>
      </p:sp>
      <p:sp>
        <p:nvSpPr>
          <p:cNvPr id="167" name="Google Shape;167;p7"/>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68" name="Google Shape;168;p7"/>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lt1"/>
                </a:solidFill>
                <a:latin typeface="Arial"/>
                <a:ea typeface="Arial"/>
                <a:cs typeface="Arial"/>
                <a:sym typeface="Arial"/>
              </a:rPr>
              <a:t>Slide Title</a:t>
            </a:r>
            <a:endParaRPr sz="2400" b="0" i="0" u="none" strike="noStrike" cap="none">
              <a:solidFill>
                <a:schemeClr val="lt1"/>
              </a:solidFill>
              <a:latin typeface="Arial"/>
              <a:ea typeface="Arial"/>
              <a:cs typeface="Arial"/>
              <a:sym typeface="Arial"/>
            </a:endParaRPr>
          </a:p>
        </p:txBody>
      </p:sp>
      <p:pic>
        <p:nvPicPr>
          <p:cNvPr id="169" name="Google Shape;169;p7"/>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70" name="Google Shape;170;p7"/>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71" name="Google Shape;171;p7"/>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72" name="Google Shape;172;p7"/>
          <p:cNvGrpSpPr/>
          <p:nvPr/>
        </p:nvGrpSpPr>
        <p:grpSpPr>
          <a:xfrm>
            <a:off x="4066674" y="6601537"/>
            <a:ext cx="5233412" cy="70446"/>
            <a:chOff x="4033424" y="6601537"/>
            <a:chExt cx="5233412" cy="70446"/>
          </a:xfrm>
        </p:grpSpPr>
        <p:cxnSp>
          <p:nvCxnSpPr>
            <p:cNvPr id="173" name="Google Shape;173;p7"/>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74" name="Google Shape;174;p7"/>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178"/>
        <p:cNvGrpSpPr/>
        <p:nvPr/>
      </p:nvGrpSpPr>
      <p:grpSpPr>
        <a:xfrm>
          <a:off x="0" y="0"/>
          <a:ext cx="0" cy="0"/>
          <a:chOff x="0" y="0"/>
          <a:chExt cx="0" cy="0"/>
        </a:xfrm>
      </p:grpSpPr>
      <p:sp>
        <p:nvSpPr>
          <p:cNvPr id="179" name="Google Shape;179;p32"/>
          <p:cNvSpPr/>
          <p:nvPr/>
        </p:nvSpPr>
        <p:spPr>
          <a:xfrm>
            <a:off x="431192" y="1263718"/>
            <a:ext cx="4356660" cy="4825998"/>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80" name="Google Shape;180;p32"/>
          <p:cNvSpPr txBox="1"/>
          <p:nvPr/>
        </p:nvSpPr>
        <p:spPr>
          <a:xfrm>
            <a:off x="1469276" y="3493224"/>
            <a:ext cx="2280491"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 / GRAPHIC</a:t>
            </a:r>
            <a:endParaRPr sz="1400" b="0" i="0" u="none" strike="noStrike" cap="none">
              <a:solidFill>
                <a:srgbClr val="000000"/>
              </a:solidFill>
              <a:latin typeface="Arial"/>
              <a:ea typeface="Arial"/>
              <a:cs typeface="Arial"/>
              <a:sym typeface="Arial"/>
            </a:endParaRPr>
          </a:p>
        </p:txBody>
      </p:sp>
      <p:sp>
        <p:nvSpPr>
          <p:cNvPr id="181" name="Google Shape;181;p32"/>
          <p:cNvSpPr txBox="1"/>
          <p:nvPr/>
        </p:nvSpPr>
        <p:spPr>
          <a:xfrm>
            <a:off x="5131837" y="1334279"/>
            <a:ext cx="6422373" cy="482110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US" sz="2600" b="1" i="0" u="none" strike="noStrike" cap="none">
                <a:solidFill>
                  <a:srgbClr val="E84B36"/>
                </a:solidFill>
                <a:latin typeface="Arial"/>
                <a:ea typeface="Arial"/>
                <a:cs typeface="Arial"/>
                <a:sym typeface="Arial"/>
              </a:rPr>
              <a:t>Lorem Ipsum Dolor Sit Amet Consectetur Adipiscing</a:t>
            </a:r>
            <a:endParaRPr sz="2600" b="1" i="0" u="none" strike="noStrike" cap="none">
              <a:solidFill>
                <a:srgbClr val="E84B36"/>
              </a:solidFill>
              <a:latin typeface="Arial"/>
              <a:ea typeface="Arial"/>
              <a:cs typeface="Arial"/>
              <a:sym typeface="Arial"/>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a:t>
            </a:r>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2000" b="1" i="0" u="none" strike="noStrike" cap="none">
                <a:solidFill>
                  <a:srgbClr val="15264B"/>
                </a:solidFill>
                <a:latin typeface="Arial"/>
                <a:ea typeface="Arial"/>
                <a:cs typeface="Arial"/>
                <a:sym typeface="Arial"/>
              </a:rPr>
              <a:t>Lorem Ipsum Dolor Sit Amet Consectetur Adipiscing</a:t>
            </a:r>
            <a:endParaRPr sz="2000" b="1" i="0" u="none" strike="noStrike" cap="none">
              <a:solidFill>
                <a:srgbClr val="15264B"/>
              </a:solidFill>
              <a:latin typeface="Arial"/>
              <a:ea typeface="Arial"/>
              <a:cs typeface="Arial"/>
              <a:sym typeface="Arial"/>
            </a:endParaRPr>
          </a:p>
          <a:p>
            <a:pPr marL="0" marR="0" lvl="0" indent="0" algn="l" rtl="0">
              <a:lnSpc>
                <a:spcPct val="100000"/>
              </a:lnSpc>
              <a:spcBef>
                <a:spcPts val="0"/>
              </a:spcBef>
              <a:spcAft>
                <a:spcPts val="0"/>
              </a:spcAft>
              <a:buNone/>
            </a:pPr>
            <a:endParaRPr sz="1800" b="1"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a:t>
            </a:r>
            <a:endParaRPr sz="1800" b="1" i="0" u="none" strike="noStrike" cap="none">
              <a:solidFill>
                <a:schemeClr val="dk1"/>
              </a:solidFill>
              <a:latin typeface="Arial"/>
              <a:ea typeface="Arial"/>
              <a:cs typeface="Arial"/>
              <a:sym typeface="Arial"/>
            </a:endParaRPr>
          </a:p>
        </p:txBody>
      </p:sp>
      <p:sp>
        <p:nvSpPr>
          <p:cNvPr id="182" name="Google Shape;182;p32"/>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83" name="Google Shape;183;p32"/>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lt1"/>
                </a:solidFill>
                <a:latin typeface="Arial"/>
                <a:ea typeface="Arial"/>
                <a:cs typeface="Arial"/>
                <a:sym typeface="Arial"/>
              </a:rPr>
              <a:t>Slide Title</a:t>
            </a:r>
            <a:endParaRPr sz="2400" b="0" i="0" u="none" strike="noStrike" cap="none">
              <a:solidFill>
                <a:schemeClr val="lt1"/>
              </a:solidFill>
              <a:latin typeface="Arial"/>
              <a:ea typeface="Arial"/>
              <a:cs typeface="Arial"/>
              <a:sym typeface="Arial"/>
            </a:endParaRPr>
          </a:p>
        </p:txBody>
      </p:sp>
      <p:pic>
        <p:nvPicPr>
          <p:cNvPr id="184" name="Google Shape;184;p32"/>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85" name="Google Shape;185;p32"/>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86" name="Google Shape;186;p32"/>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87" name="Google Shape;187;p32"/>
          <p:cNvGrpSpPr/>
          <p:nvPr/>
        </p:nvGrpSpPr>
        <p:grpSpPr>
          <a:xfrm>
            <a:off x="4066674" y="6601537"/>
            <a:ext cx="5233412" cy="70446"/>
            <a:chOff x="4033424" y="6601537"/>
            <a:chExt cx="5233412" cy="70446"/>
          </a:xfrm>
        </p:grpSpPr>
        <p:cxnSp>
          <p:nvCxnSpPr>
            <p:cNvPr id="188" name="Google Shape;188;p32"/>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89" name="Google Shape;189;p32"/>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193"/>
        <p:cNvGrpSpPr/>
        <p:nvPr/>
      </p:nvGrpSpPr>
      <p:grpSpPr>
        <a:xfrm>
          <a:off x="0" y="0"/>
          <a:ext cx="0" cy="0"/>
          <a:chOff x="0" y="0"/>
          <a:chExt cx="0" cy="0"/>
        </a:xfrm>
      </p:grpSpPr>
      <p:sp>
        <p:nvSpPr>
          <p:cNvPr id="194" name="Google Shape;194;p33"/>
          <p:cNvSpPr/>
          <p:nvPr/>
        </p:nvSpPr>
        <p:spPr>
          <a:xfrm>
            <a:off x="7452352" y="1263718"/>
            <a:ext cx="4356660" cy="4825998"/>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95" name="Google Shape;195;p33"/>
          <p:cNvSpPr txBox="1"/>
          <p:nvPr/>
        </p:nvSpPr>
        <p:spPr>
          <a:xfrm>
            <a:off x="8490436" y="3493224"/>
            <a:ext cx="2280491"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 / GRAPHIC</a:t>
            </a:r>
            <a:endParaRPr sz="1400" b="0" i="0" u="none" strike="noStrike" cap="none">
              <a:solidFill>
                <a:srgbClr val="000000"/>
              </a:solidFill>
              <a:latin typeface="Arial"/>
              <a:ea typeface="Arial"/>
              <a:cs typeface="Arial"/>
              <a:sym typeface="Arial"/>
            </a:endParaRPr>
          </a:p>
        </p:txBody>
      </p:sp>
      <p:sp>
        <p:nvSpPr>
          <p:cNvPr id="196" name="Google Shape;196;p33"/>
          <p:cNvSpPr txBox="1"/>
          <p:nvPr/>
        </p:nvSpPr>
        <p:spPr>
          <a:xfrm>
            <a:off x="376808" y="1334279"/>
            <a:ext cx="6422373" cy="482110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US" sz="2600" b="1" i="0" u="none" strike="noStrike" cap="none">
                <a:solidFill>
                  <a:srgbClr val="E84B36"/>
                </a:solidFill>
                <a:latin typeface="Arial"/>
                <a:ea typeface="Arial"/>
                <a:cs typeface="Arial"/>
                <a:sym typeface="Arial"/>
              </a:rPr>
              <a:t>Lorem Ipsum Dolor Sit Amet Consectetur Adipiscing</a:t>
            </a:r>
            <a:endParaRPr sz="2600" b="1" i="0" u="none" strike="noStrike" cap="none">
              <a:solidFill>
                <a:srgbClr val="E84B36"/>
              </a:solidFill>
              <a:latin typeface="Arial"/>
              <a:ea typeface="Arial"/>
              <a:cs typeface="Arial"/>
              <a:sym typeface="Arial"/>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a:t>
            </a:r>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2000" b="1" i="0" u="none" strike="noStrike" cap="none">
                <a:solidFill>
                  <a:srgbClr val="15264B"/>
                </a:solidFill>
                <a:latin typeface="Arial"/>
                <a:ea typeface="Arial"/>
                <a:cs typeface="Arial"/>
                <a:sym typeface="Arial"/>
              </a:rPr>
              <a:t>Lorem Ipsum Dolor Sit Amet Consectetur Adipiscing</a:t>
            </a:r>
            <a:endParaRPr sz="2000" b="1" i="0" u="none" strike="noStrike" cap="none">
              <a:solidFill>
                <a:srgbClr val="15264B"/>
              </a:solidFill>
              <a:latin typeface="Arial"/>
              <a:ea typeface="Arial"/>
              <a:cs typeface="Arial"/>
              <a:sym typeface="Arial"/>
            </a:endParaRPr>
          </a:p>
          <a:p>
            <a:pPr marL="0" marR="0" lvl="0" indent="0" algn="l" rtl="0">
              <a:lnSpc>
                <a:spcPct val="100000"/>
              </a:lnSpc>
              <a:spcBef>
                <a:spcPts val="0"/>
              </a:spcBef>
              <a:spcAft>
                <a:spcPts val="0"/>
              </a:spcAft>
              <a:buNone/>
            </a:pPr>
            <a:endParaRPr sz="1800" b="1"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a:t>
            </a:r>
            <a:endParaRPr sz="1800" b="1" i="0" u="none" strike="noStrike" cap="none">
              <a:solidFill>
                <a:schemeClr val="dk1"/>
              </a:solidFill>
              <a:latin typeface="Arial"/>
              <a:ea typeface="Arial"/>
              <a:cs typeface="Arial"/>
              <a:sym typeface="Arial"/>
            </a:endParaRPr>
          </a:p>
        </p:txBody>
      </p:sp>
      <p:sp>
        <p:nvSpPr>
          <p:cNvPr id="197" name="Google Shape;197;p33"/>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98" name="Google Shape;198;p33"/>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lt1"/>
                </a:solidFill>
                <a:latin typeface="Arial"/>
                <a:ea typeface="Arial"/>
                <a:cs typeface="Arial"/>
                <a:sym typeface="Arial"/>
              </a:rPr>
              <a:t>Slide Title</a:t>
            </a:r>
            <a:endParaRPr sz="2400" b="0" i="0" u="none" strike="noStrike" cap="none">
              <a:solidFill>
                <a:schemeClr val="lt1"/>
              </a:solidFill>
              <a:latin typeface="Arial"/>
              <a:ea typeface="Arial"/>
              <a:cs typeface="Arial"/>
              <a:sym typeface="Arial"/>
            </a:endParaRPr>
          </a:p>
        </p:txBody>
      </p:sp>
      <p:pic>
        <p:nvPicPr>
          <p:cNvPr id="199" name="Google Shape;199;p33"/>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200" name="Google Shape;200;p33"/>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201" name="Google Shape;201;p33"/>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202" name="Google Shape;202;p33"/>
          <p:cNvGrpSpPr/>
          <p:nvPr/>
        </p:nvGrpSpPr>
        <p:grpSpPr>
          <a:xfrm>
            <a:off x="4066674" y="6601537"/>
            <a:ext cx="5233412" cy="70446"/>
            <a:chOff x="4033424" y="6601537"/>
            <a:chExt cx="5233412" cy="70446"/>
          </a:xfrm>
        </p:grpSpPr>
        <p:cxnSp>
          <p:nvCxnSpPr>
            <p:cNvPr id="203" name="Google Shape;203;p33"/>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204" name="Google Shape;204;p33"/>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208"/>
        <p:cNvGrpSpPr/>
        <p:nvPr/>
      </p:nvGrpSpPr>
      <p:grpSpPr>
        <a:xfrm>
          <a:off x="0" y="0"/>
          <a:ext cx="0" cy="0"/>
          <a:chOff x="0" y="0"/>
          <a:chExt cx="0" cy="0"/>
        </a:xfrm>
      </p:grpSpPr>
      <p:sp>
        <p:nvSpPr>
          <p:cNvPr id="209" name="Google Shape;209;p8"/>
          <p:cNvSpPr/>
          <p:nvPr/>
        </p:nvSpPr>
        <p:spPr>
          <a:xfrm>
            <a:off x="2266934" y="1458134"/>
            <a:ext cx="7658130" cy="3688423"/>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210" name="Google Shape;210;p8"/>
          <p:cNvSpPr txBox="1"/>
          <p:nvPr/>
        </p:nvSpPr>
        <p:spPr>
          <a:xfrm>
            <a:off x="4548417" y="3123892"/>
            <a:ext cx="3095164"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CHART / GRAPH</a:t>
            </a:r>
            <a:endParaRPr sz="1400" b="0" i="0" u="none" strike="noStrike" cap="none">
              <a:solidFill>
                <a:srgbClr val="000000"/>
              </a:solidFill>
              <a:latin typeface="Arial"/>
              <a:ea typeface="Arial"/>
              <a:cs typeface="Arial"/>
              <a:sym typeface="Arial"/>
            </a:endParaRPr>
          </a:p>
        </p:txBody>
      </p:sp>
      <p:sp>
        <p:nvSpPr>
          <p:cNvPr id="211" name="Google Shape;211;p8"/>
          <p:cNvSpPr txBox="1"/>
          <p:nvPr/>
        </p:nvSpPr>
        <p:spPr>
          <a:xfrm>
            <a:off x="583914" y="5464730"/>
            <a:ext cx="11024170" cy="654113"/>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chemeClr val="dk1"/>
              </a:buClr>
              <a:buSzPts val="2000"/>
              <a:buFont typeface="Helvetica Neue Light"/>
              <a:buNone/>
            </a:pPr>
            <a:r>
              <a:rPr lang="en-US" sz="1600" b="0" i="0" u="none" strike="noStrike" cap="none">
                <a:solidFill>
                  <a:schemeClr val="dk1"/>
                </a:solidFill>
                <a:latin typeface="Arial"/>
                <a:ea typeface="Arial"/>
                <a:cs typeface="Arial"/>
                <a:sym typeface="Arial"/>
              </a:rPr>
              <a:t>(Short commentary or relevant information about the contents of the chart/graph.)</a:t>
            </a:r>
            <a:endParaRPr sz="1600" b="0" i="0" u="none" strike="noStrike" cap="none">
              <a:solidFill>
                <a:srgbClr val="000000"/>
              </a:solidFill>
              <a:latin typeface="Arial"/>
              <a:ea typeface="Arial"/>
              <a:cs typeface="Arial"/>
              <a:sym typeface="Arial"/>
            </a:endParaRPr>
          </a:p>
        </p:txBody>
      </p:sp>
      <p:sp>
        <p:nvSpPr>
          <p:cNvPr id="212" name="Google Shape;212;p8"/>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213" name="Google Shape;213;p8"/>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lt1"/>
                </a:solidFill>
                <a:latin typeface="Arial"/>
                <a:ea typeface="Arial"/>
                <a:cs typeface="Arial"/>
                <a:sym typeface="Arial"/>
              </a:rPr>
              <a:t>Slide Title</a:t>
            </a:r>
            <a:endParaRPr sz="2400" b="0" i="0" u="none" strike="noStrike" cap="none">
              <a:solidFill>
                <a:schemeClr val="lt1"/>
              </a:solidFill>
              <a:latin typeface="Arial"/>
              <a:ea typeface="Arial"/>
              <a:cs typeface="Arial"/>
              <a:sym typeface="Arial"/>
            </a:endParaRPr>
          </a:p>
        </p:txBody>
      </p:sp>
      <p:pic>
        <p:nvPicPr>
          <p:cNvPr id="214" name="Google Shape;214;p8"/>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215" name="Google Shape;215;p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216" name="Google Shape;216;p8"/>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217" name="Google Shape;217;p8"/>
          <p:cNvGrpSpPr/>
          <p:nvPr/>
        </p:nvGrpSpPr>
        <p:grpSpPr>
          <a:xfrm>
            <a:off x="4066674" y="6601537"/>
            <a:ext cx="5233412" cy="70446"/>
            <a:chOff x="4033424" y="6601537"/>
            <a:chExt cx="5233412" cy="70446"/>
          </a:xfrm>
        </p:grpSpPr>
        <p:cxnSp>
          <p:nvCxnSpPr>
            <p:cNvPr id="218" name="Google Shape;218;p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219" name="Google Shape;219;p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223"/>
        <p:cNvGrpSpPr/>
        <p:nvPr/>
      </p:nvGrpSpPr>
      <p:grpSpPr>
        <a:xfrm>
          <a:off x="0" y="0"/>
          <a:ext cx="0" cy="0"/>
          <a:chOff x="0" y="0"/>
          <a:chExt cx="0" cy="0"/>
        </a:xfrm>
      </p:grpSpPr>
      <p:sp>
        <p:nvSpPr>
          <p:cNvPr id="224" name="Google Shape;224;p34"/>
          <p:cNvSpPr/>
          <p:nvPr/>
        </p:nvSpPr>
        <p:spPr>
          <a:xfrm>
            <a:off x="1" y="0"/>
            <a:ext cx="12191998" cy="4617387"/>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225" name="Google Shape;225;p34"/>
          <p:cNvSpPr txBox="1"/>
          <p:nvPr/>
        </p:nvSpPr>
        <p:spPr>
          <a:xfrm>
            <a:off x="3513296" y="2308693"/>
            <a:ext cx="5140526"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 (Send to back so Block I is not covered.)</a:t>
            </a:r>
            <a:endParaRPr sz="1400" b="0" i="0" u="none" strike="noStrike" cap="none">
              <a:solidFill>
                <a:srgbClr val="000000"/>
              </a:solidFill>
              <a:latin typeface="Arial"/>
              <a:ea typeface="Arial"/>
              <a:cs typeface="Arial"/>
              <a:sym typeface="Arial"/>
            </a:endParaRPr>
          </a:p>
        </p:txBody>
      </p:sp>
      <p:sp>
        <p:nvSpPr>
          <p:cNvPr id="226" name="Google Shape;226;p34"/>
          <p:cNvSpPr txBox="1"/>
          <p:nvPr/>
        </p:nvSpPr>
        <p:spPr>
          <a:xfrm>
            <a:off x="376810" y="5050453"/>
            <a:ext cx="11177400" cy="953497"/>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chemeClr val="dk1"/>
              </a:buClr>
              <a:buSzPts val="2000"/>
              <a:buFont typeface="Helvetica Neue Light"/>
              <a:buNone/>
            </a:pPr>
            <a:r>
              <a:rPr lang="en-US" sz="2200" b="0" i="0" u="none" strike="noStrike" cap="none">
                <a:solidFill>
                  <a:schemeClr val="dk1"/>
                </a:solidFill>
                <a:latin typeface="Arial"/>
                <a:ea typeface="Arial"/>
                <a:cs typeface="Arial"/>
                <a:sym typeface="Arial"/>
              </a:rPr>
              <a:t>(Text here relevant to the photo for a larger call out on a given idea or message.) </a:t>
            </a:r>
            <a:endParaRPr/>
          </a:p>
          <a:p>
            <a:pPr marL="0" marR="0" lvl="0" indent="0" algn="ctr" rtl="0">
              <a:lnSpc>
                <a:spcPct val="100000"/>
              </a:lnSpc>
              <a:spcBef>
                <a:spcPts val="0"/>
              </a:spcBef>
              <a:spcAft>
                <a:spcPts val="0"/>
              </a:spcAft>
              <a:buClr>
                <a:schemeClr val="dk1"/>
              </a:buClr>
              <a:buSzPts val="2000"/>
              <a:buFont typeface="Helvetica Neue Light"/>
              <a:buNone/>
            </a:pPr>
            <a:r>
              <a:rPr lang="en-US" sz="2200" b="0" i="0" u="none" strike="noStrike" cap="none">
                <a:solidFill>
                  <a:schemeClr val="dk1"/>
                </a:solidFill>
                <a:latin typeface="Arial"/>
                <a:ea typeface="Arial"/>
                <a:cs typeface="Arial"/>
                <a:sym typeface="Arial"/>
              </a:rPr>
              <a:t>(Keep this text simple and short on one or two lines.)</a:t>
            </a:r>
            <a:endParaRPr sz="2200" b="0" i="0" u="none" strike="noStrike" cap="none">
              <a:solidFill>
                <a:srgbClr val="000000"/>
              </a:solidFill>
              <a:latin typeface="Arial"/>
              <a:ea typeface="Arial"/>
              <a:cs typeface="Arial"/>
              <a:sym typeface="Arial"/>
            </a:endParaRPr>
          </a:p>
        </p:txBody>
      </p:sp>
      <p:pic>
        <p:nvPicPr>
          <p:cNvPr id="227" name="Google Shape;227;p34"/>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228" name="Google Shape;228;p34"/>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229" name="Google Shape;229;p34"/>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230" name="Google Shape;230;p34"/>
          <p:cNvGrpSpPr/>
          <p:nvPr/>
        </p:nvGrpSpPr>
        <p:grpSpPr>
          <a:xfrm>
            <a:off x="4066674" y="6601537"/>
            <a:ext cx="5233412" cy="70446"/>
            <a:chOff x="4033424" y="6601537"/>
            <a:chExt cx="5233412" cy="70446"/>
          </a:xfrm>
        </p:grpSpPr>
        <p:cxnSp>
          <p:nvCxnSpPr>
            <p:cNvPr id="231" name="Google Shape;231;p34"/>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232" name="Google Shape;232;p34"/>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rgbClr val="13294B"/>
        </a:solidFill>
        <a:effectLst/>
      </p:bgPr>
    </p:bg>
    <p:spTree>
      <p:nvGrpSpPr>
        <p:cNvPr id="1" name="Shape 236"/>
        <p:cNvGrpSpPr/>
        <p:nvPr/>
      </p:nvGrpSpPr>
      <p:grpSpPr>
        <a:xfrm>
          <a:off x="0" y="0"/>
          <a:ext cx="0" cy="0"/>
          <a:chOff x="0" y="0"/>
          <a:chExt cx="0" cy="0"/>
        </a:xfrm>
      </p:grpSpPr>
      <p:sp>
        <p:nvSpPr>
          <p:cNvPr id="237" name="Google Shape;237;p35"/>
          <p:cNvSpPr txBox="1"/>
          <p:nvPr/>
        </p:nvSpPr>
        <p:spPr>
          <a:xfrm>
            <a:off x="5131837" y="1010620"/>
            <a:ext cx="6422373" cy="482110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US" sz="2600" b="1" i="0" u="none" strike="noStrike" cap="none">
                <a:solidFill>
                  <a:schemeClr val="lt1"/>
                </a:solidFill>
                <a:latin typeface="Arial"/>
                <a:ea typeface="Arial"/>
                <a:cs typeface="Arial"/>
                <a:sym typeface="Arial"/>
              </a:rPr>
              <a:t>Lorem ipsum dolor sit amet consectetur adipiscing elit</a:t>
            </a:r>
            <a:endParaRPr sz="2600" b="1"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endParaRPr sz="1800" b="0"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chemeClr val="lt1"/>
                </a:solidFill>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a:t>
            </a:r>
            <a:endParaRPr/>
          </a:p>
          <a:p>
            <a:pPr marL="0" marR="0" lvl="0" indent="0" algn="l" rtl="0">
              <a:lnSpc>
                <a:spcPct val="100000"/>
              </a:lnSpc>
              <a:spcBef>
                <a:spcPts val="0"/>
              </a:spcBef>
              <a:spcAft>
                <a:spcPts val="0"/>
              </a:spcAft>
              <a:buNone/>
            </a:pPr>
            <a:endParaRPr sz="1800" b="0"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r>
              <a:rPr lang="en-US" sz="2000" b="1" i="0" u="none" strike="noStrike" cap="none">
                <a:solidFill>
                  <a:schemeClr val="lt1"/>
                </a:solidFill>
                <a:latin typeface="Arial"/>
                <a:ea typeface="Arial"/>
                <a:cs typeface="Arial"/>
                <a:sym typeface="Arial"/>
              </a:rPr>
              <a:t>Lorem ipsum dolor sit amet consectetur adipiscing</a:t>
            </a:r>
            <a:endParaRPr sz="2000" b="1"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endParaRPr sz="1800" b="1"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chemeClr val="lt1"/>
                </a:solidFill>
                <a:latin typeface="Arial"/>
                <a:ea typeface="Arial"/>
                <a:cs typeface="Arial"/>
                <a:sym typeface="Arial"/>
              </a:rPr>
              <a:t>Lorem ipsum dolor sit amet, consectetur adipiscing elit, sed do eiusmod tempor incididunt ut labore et dolore magna aliqua.</a:t>
            </a:r>
            <a:endParaRPr sz="1800" b="1" i="0" u="none" strike="noStrike" cap="none">
              <a:solidFill>
                <a:schemeClr val="lt1"/>
              </a:solidFill>
              <a:latin typeface="Arial"/>
              <a:ea typeface="Arial"/>
              <a:cs typeface="Arial"/>
              <a:sym typeface="Arial"/>
            </a:endParaRPr>
          </a:p>
        </p:txBody>
      </p:sp>
      <p:sp>
        <p:nvSpPr>
          <p:cNvPr id="238" name="Google Shape;238;p35"/>
          <p:cNvSpPr/>
          <p:nvPr/>
        </p:nvSpPr>
        <p:spPr>
          <a:xfrm>
            <a:off x="420782" y="344953"/>
            <a:ext cx="4109890" cy="5954248"/>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239" name="Google Shape;239;p35"/>
          <p:cNvSpPr txBox="1"/>
          <p:nvPr/>
        </p:nvSpPr>
        <p:spPr>
          <a:xfrm>
            <a:off x="1335481" y="3236505"/>
            <a:ext cx="2280491"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a:t>
            </a:r>
            <a:endParaRPr sz="1400" b="0" i="0" u="none" strike="noStrike" cap="none">
              <a:solidFill>
                <a:srgbClr val="000000"/>
              </a:solidFill>
              <a:latin typeface="Arial"/>
              <a:ea typeface="Arial"/>
              <a:cs typeface="Arial"/>
              <a:sym typeface="Arial"/>
            </a:endParaRPr>
          </a:p>
        </p:txBody>
      </p:sp>
      <p:pic>
        <p:nvPicPr>
          <p:cNvPr id="240" name="Google Shape;240;p35"/>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241" name="Google Shape;241;p35"/>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242" name="Google Shape;242;p35"/>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43" name="Google Shape;243;p35"/>
          <p:cNvGrpSpPr/>
          <p:nvPr/>
        </p:nvGrpSpPr>
        <p:grpSpPr>
          <a:xfrm>
            <a:off x="4066674" y="6601537"/>
            <a:ext cx="5233412" cy="70446"/>
            <a:chOff x="4033424" y="6601537"/>
            <a:chExt cx="5233412" cy="70446"/>
          </a:xfrm>
        </p:grpSpPr>
        <p:cxnSp>
          <p:nvCxnSpPr>
            <p:cNvPr id="244" name="Google Shape;244;p35"/>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45" name="Google Shape;245;p35"/>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249"/>
        <p:cNvGrpSpPr/>
        <p:nvPr/>
      </p:nvGrpSpPr>
      <p:grpSpPr>
        <a:xfrm>
          <a:off x="0" y="0"/>
          <a:ext cx="0" cy="0"/>
          <a:chOff x="0" y="0"/>
          <a:chExt cx="0" cy="0"/>
        </a:xfrm>
      </p:grpSpPr>
      <p:pic>
        <p:nvPicPr>
          <p:cNvPr id="250" name="Google Shape;250;p36" descr="Text, letter, whiteboard&#10;&#10;Description automatically generated"/>
          <p:cNvPicPr preferRelativeResize="0"/>
          <p:nvPr/>
        </p:nvPicPr>
        <p:blipFill rotWithShape="1">
          <a:blip r:embed="rId3">
            <a:alphaModFix/>
          </a:blip>
          <a:srcRect/>
          <a:stretch/>
        </p:blipFill>
        <p:spPr>
          <a:xfrm>
            <a:off x="0" y="0"/>
            <a:ext cx="12192000" cy="6858000"/>
          </a:xfrm>
          <a:prstGeom prst="rect">
            <a:avLst/>
          </a:prstGeom>
          <a:noFill/>
          <a:ln>
            <a:noFill/>
          </a:ln>
        </p:spPr>
      </p:pic>
      <p:sp>
        <p:nvSpPr>
          <p:cNvPr id="251" name="Google Shape;251;p36"/>
          <p:cNvSpPr/>
          <p:nvPr/>
        </p:nvSpPr>
        <p:spPr>
          <a:xfrm>
            <a:off x="0" y="0"/>
            <a:ext cx="6096000" cy="685800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252" name="Google Shape;252;p36"/>
          <p:cNvSpPr txBox="1"/>
          <p:nvPr/>
        </p:nvSpPr>
        <p:spPr>
          <a:xfrm>
            <a:off x="591671" y="3581984"/>
            <a:ext cx="4867835" cy="193895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1" i="0" u="none" strike="noStrike" cap="none">
                <a:solidFill>
                  <a:schemeClr val="lt1"/>
                </a:solidFill>
                <a:latin typeface="Arial"/>
                <a:ea typeface="Arial"/>
                <a:cs typeface="Arial"/>
                <a:sym typeface="Arial"/>
              </a:rPr>
              <a:t>(Slide the blue box and the text left or right to fit over your background image. Use this text box for a call out or caption to the image.)</a:t>
            </a:r>
            <a:endParaRPr sz="2400" b="1" i="0" u="none" strike="noStrike" cap="none">
              <a:solidFill>
                <a:schemeClr val="lt1"/>
              </a:solidFill>
              <a:latin typeface="Arial"/>
              <a:ea typeface="Arial"/>
              <a:cs typeface="Arial"/>
              <a:sym typeface="Arial"/>
            </a:endParaRPr>
          </a:p>
        </p:txBody>
      </p:sp>
      <p:sp>
        <p:nvSpPr>
          <p:cNvPr id="253" name="Google Shape;253;p36"/>
          <p:cNvSpPr txBox="1"/>
          <p:nvPr/>
        </p:nvSpPr>
        <p:spPr>
          <a:xfrm>
            <a:off x="701965" y="1422585"/>
            <a:ext cx="4608944" cy="1754286"/>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chemeClr val="lt1"/>
                </a:solidFill>
                <a:latin typeface="Arial"/>
                <a:ea typeface="Arial"/>
                <a:cs typeface="Arial"/>
                <a:sym typeface="Arial"/>
              </a:rPr>
              <a:t>IMAGE</a:t>
            </a:r>
            <a:endParaRPr/>
          </a:p>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chemeClr val="lt1"/>
                </a:solidFill>
                <a:latin typeface="Arial"/>
                <a:ea typeface="Arial"/>
                <a:cs typeface="Arial"/>
                <a:sym typeface="Arial"/>
              </a:rPr>
              <a:t> </a:t>
            </a:r>
            <a:endParaRPr/>
          </a:p>
          <a:p>
            <a:pPr marL="0" marR="0" lvl="0" indent="0" algn="ctr" rtl="0">
              <a:lnSpc>
                <a:spcPct val="100000"/>
              </a:lnSpc>
              <a:spcBef>
                <a:spcPts val="0"/>
              </a:spcBef>
              <a:spcAft>
                <a:spcPts val="0"/>
              </a:spcAft>
              <a:buNone/>
            </a:pPr>
            <a:r>
              <a:rPr lang="en-US" sz="1800" b="0" i="0" u="none" strike="noStrike" cap="none">
                <a:solidFill>
                  <a:schemeClr val="lt1"/>
                </a:solidFill>
                <a:latin typeface="Arial"/>
                <a:ea typeface="Arial"/>
                <a:cs typeface="Arial"/>
                <a:sym typeface="Arial"/>
              </a:rPr>
              <a:t>(Use a photo for the entire slide like the example shown here. Send the photo to </a:t>
            </a:r>
            <a:endParaRPr/>
          </a:p>
          <a:p>
            <a:pPr marL="0" marR="0" lvl="0" indent="0" algn="ctr" rtl="0">
              <a:lnSpc>
                <a:spcPct val="100000"/>
              </a:lnSpc>
              <a:spcBef>
                <a:spcPts val="0"/>
              </a:spcBef>
              <a:spcAft>
                <a:spcPts val="0"/>
              </a:spcAft>
              <a:buNone/>
            </a:pPr>
            <a:r>
              <a:rPr lang="en-US" sz="1800" b="0" i="0" u="none" strike="noStrike" cap="none">
                <a:solidFill>
                  <a:schemeClr val="lt1"/>
                </a:solidFill>
                <a:latin typeface="Arial"/>
                <a:ea typeface="Arial"/>
                <a:cs typeface="Arial"/>
                <a:sym typeface="Arial"/>
              </a:rPr>
              <a:t>the back so the Block I and footer text </a:t>
            </a:r>
            <a:endParaRPr/>
          </a:p>
          <a:p>
            <a:pPr marL="0" marR="0" lvl="0" indent="0" algn="ctr" rtl="0">
              <a:lnSpc>
                <a:spcPct val="100000"/>
              </a:lnSpc>
              <a:spcBef>
                <a:spcPts val="0"/>
              </a:spcBef>
              <a:spcAft>
                <a:spcPts val="0"/>
              </a:spcAft>
              <a:buNone/>
            </a:pPr>
            <a:r>
              <a:rPr lang="en-US" sz="1800" b="0" i="0" u="none" strike="noStrike" cap="none">
                <a:solidFill>
                  <a:schemeClr val="lt1"/>
                </a:solidFill>
                <a:latin typeface="Arial"/>
                <a:ea typeface="Arial"/>
                <a:cs typeface="Arial"/>
                <a:sym typeface="Arial"/>
              </a:rPr>
              <a:t>is not covered.)</a:t>
            </a:r>
            <a:endParaRPr sz="1400" b="0" i="0" u="none" strike="noStrike" cap="none">
              <a:solidFill>
                <a:schemeClr val="lt1"/>
              </a:solidFill>
              <a:latin typeface="Arial"/>
              <a:ea typeface="Arial"/>
              <a:cs typeface="Arial"/>
              <a:sym typeface="Arial"/>
            </a:endParaRPr>
          </a:p>
        </p:txBody>
      </p:sp>
      <p:pic>
        <p:nvPicPr>
          <p:cNvPr id="254" name="Google Shape;254;p36"/>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55" name="Google Shape;255;p36"/>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256" name="Google Shape;256;p36"/>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57" name="Google Shape;257;p36"/>
          <p:cNvGrpSpPr/>
          <p:nvPr/>
        </p:nvGrpSpPr>
        <p:grpSpPr>
          <a:xfrm>
            <a:off x="4066674" y="6601537"/>
            <a:ext cx="5233412" cy="70446"/>
            <a:chOff x="4033424" y="6601537"/>
            <a:chExt cx="5233412" cy="70446"/>
          </a:xfrm>
        </p:grpSpPr>
        <p:cxnSp>
          <p:nvCxnSpPr>
            <p:cNvPr id="258" name="Google Shape;258;p36"/>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59" name="Google Shape;259;p36"/>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p:cNvGrpSpPr/>
        <p:nvPr/>
      </p:nvGrpSpPr>
      <p:grpSpPr>
        <a:xfrm>
          <a:off x="0" y="0"/>
          <a:ext cx="0" cy="0"/>
          <a:chOff x="0" y="0"/>
          <a:chExt cx="0" cy="0"/>
        </a:xfrm>
      </p:grpSpPr>
      <p:sp>
        <p:nvSpPr>
          <p:cNvPr id="264" name="Google Shape;264;p37"/>
          <p:cNvSpPr txBox="1"/>
          <p:nvPr/>
        </p:nvSpPr>
        <p:spPr>
          <a:xfrm>
            <a:off x="2275515" y="1778140"/>
            <a:ext cx="7640969" cy="4334209"/>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US" sz="1800" b="0" i="0" u="none" strike="noStrike" cap="none">
                <a:solidFill>
                  <a:schemeClr val="lt1"/>
                </a:solidFill>
                <a:latin typeface="Arial"/>
                <a:ea typeface="Arial"/>
                <a:cs typeface="Arial"/>
                <a:sym typeface="Arial"/>
              </a:rPr>
              <a:t>(Closing slide option. Suggestions for last slide)</a:t>
            </a:r>
            <a:endParaRPr sz="1800" b="0"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endParaRPr sz="2600" b="1"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r>
              <a:rPr lang="en-US" sz="2600" b="1" i="0" u="none" strike="noStrike" cap="none">
                <a:solidFill>
                  <a:schemeClr val="lt1"/>
                </a:solidFill>
                <a:latin typeface="Arial"/>
                <a:ea typeface="Arial"/>
                <a:cs typeface="Arial"/>
                <a:sym typeface="Arial"/>
              </a:rPr>
              <a:t>Summary</a:t>
            </a:r>
            <a:endParaRPr/>
          </a:p>
          <a:p>
            <a:pPr marL="0" marR="0" lvl="0" indent="0" algn="l" rtl="0">
              <a:lnSpc>
                <a:spcPct val="100000"/>
              </a:lnSpc>
              <a:spcBef>
                <a:spcPts val="0"/>
              </a:spcBef>
              <a:spcAft>
                <a:spcPts val="0"/>
              </a:spcAft>
              <a:buNone/>
            </a:pPr>
            <a:r>
              <a:rPr lang="en-US" sz="2600" b="1" i="0" u="none" strike="noStrike" cap="none">
                <a:solidFill>
                  <a:schemeClr val="lt1"/>
                </a:solidFill>
                <a:latin typeface="Arial"/>
                <a:ea typeface="Arial"/>
                <a:cs typeface="Arial"/>
                <a:sym typeface="Arial"/>
              </a:rPr>
              <a:t>Thank You</a:t>
            </a:r>
            <a:endParaRPr/>
          </a:p>
          <a:p>
            <a:pPr marL="0" marR="0" lvl="0" indent="0" algn="l" rtl="0">
              <a:lnSpc>
                <a:spcPct val="100000"/>
              </a:lnSpc>
              <a:spcBef>
                <a:spcPts val="0"/>
              </a:spcBef>
              <a:spcAft>
                <a:spcPts val="0"/>
              </a:spcAft>
              <a:buNone/>
            </a:pPr>
            <a:r>
              <a:rPr lang="en-US" sz="2600" b="1" i="0" u="none" strike="noStrike" cap="none">
                <a:solidFill>
                  <a:schemeClr val="lt1"/>
                </a:solidFill>
                <a:latin typeface="Arial"/>
                <a:ea typeface="Arial"/>
                <a:cs typeface="Arial"/>
                <a:sym typeface="Arial"/>
              </a:rPr>
              <a:t>Questions</a:t>
            </a:r>
            <a:endParaRPr/>
          </a:p>
          <a:p>
            <a:pPr marL="0" marR="0" lvl="0" indent="0" algn="l" rtl="0">
              <a:lnSpc>
                <a:spcPct val="100000"/>
              </a:lnSpc>
              <a:spcBef>
                <a:spcPts val="0"/>
              </a:spcBef>
              <a:spcAft>
                <a:spcPts val="0"/>
              </a:spcAft>
              <a:buNone/>
            </a:pPr>
            <a:r>
              <a:rPr lang="en-US" sz="2600" b="1" i="0" u="none" strike="noStrike" cap="none">
                <a:solidFill>
                  <a:schemeClr val="lt1"/>
                </a:solidFill>
                <a:latin typeface="Arial"/>
                <a:ea typeface="Arial"/>
                <a:cs typeface="Arial"/>
                <a:sym typeface="Arial"/>
              </a:rPr>
              <a:t>Contact Information</a:t>
            </a:r>
            <a:endParaRPr/>
          </a:p>
          <a:p>
            <a:pPr marL="0" marR="0" lvl="0" indent="0" algn="l" rtl="0">
              <a:lnSpc>
                <a:spcPct val="100000"/>
              </a:lnSpc>
              <a:spcBef>
                <a:spcPts val="0"/>
              </a:spcBef>
              <a:spcAft>
                <a:spcPts val="0"/>
              </a:spcAft>
              <a:buNone/>
            </a:pPr>
            <a:endParaRPr sz="1800" b="1"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endParaRPr sz="1800" b="1"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chemeClr val="lt1"/>
                </a:solidFill>
                <a:latin typeface="Arial"/>
                <a:ea typeface="Arial"/>
                <a:cs typeface="Arial"/>
                <a:sym typeface="Arial"/>
              </a:rPr>
              <a:t>Lorem ipsum dolor sit amet, consectetur adipiscing elit, sed do eiusmod tempor incididunt ut labore et dolore magna aliqua.</a:t>
            </a:r>
            <a:endParaRPr sz="1800" b="1" i="0" u="none" strike="noStrike" cap="none">
              <a:solidFill>
                <a:schemeClr val="lt1"/>
              </a:solidFill>
              <a:latin typeface="Arial"/>
              <a:ea typeface="Arial"/>
              <a:cs typeface="Arial"/>
              <a:sym typeface="Arial"/>
            </a:endParaRPr>
          </a:p>
        </p:txBody>
      </p:sp>
      <p:pic>
        <p:nvPicPr>
          <p:cNvPr id="265" name="Google Shape;265;p37"/>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267" name="Google Shape;267;p37"/>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p:cNvGrpSpPr/>
          <p:nvPr/>
        </p:nvGrpSpPr>
        <p:grpSpPr>
          <a:xfrm>
            <a:off x="4066674" y="6601537"/>
            <a:ext cx="5233412" cy="70446"/>
            <a:chOff x="4033424" y="6601537"/>
            <a:chExt cx="5233412" cy="70446"/>
          </a:xfrm>
        </p:grpSpPr>
        <p:cxnSp>
          <p:nvCxnSpPr>
            <p:cNvPr id="269" name="Google Shape;269;p37"/>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txBox="1"/>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r>
              <a:rPr lang="en-US" sz="6600" b="1" dirty="0">
                <a:solidFill>
                  <a:schemeClr val="lt1"/>
                </a:solidFill>
              </a:rPr>
              <a:t>Questions</a:t>
            </a:r>
            <a:r>
              <a:rPr lang="en-US" sz="5400" b="1" dirty="0">
                <a:solidFill>
                  <a:schemeClr val="lt1"/>
                </a:solidFill>
              </a:rPr>
              <a:t>?</a:t>
            </a:r>
          </a:p>
        </p:txBody>
      </p:sp>
      <p:pic>
        <p:nvPicPr>
          <p:cNvPr id="265" name="Google Shape;265;p37">
            <a:extLs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pic>
        <p:nvPicPr>
          <p:cNvPr id="275" name="Google Shape;275;p38"/>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882</TotalTime>
  <Words>4540</Words>
  <Application>Microsoft Office PowerPoint</Application>
  <PresentationFormat>Widescreen</PresentationFormat>
  <Paragraphs>575</Paragraphs>
  <Slides>69</Slides>
  <Notes>69</Notes>
  <HiddenSlides>0</HiddenSlides>
  <MMClips>2</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69</vt:i4>
      </vt:variant>
    </vt:vector>
  </HeadingPairs>
  <TitlesOfParts>
    <vt:vector size="75" baseType="lpstr">
      <vt:lpstr>Arial</vt:lpstr>
      <vt:lpstr>Calibri</vt:lpstr>
      <vt:lpstr>Cambria Math</vt:lpstr>
      <vt:lpstr>Consolas</vt:lpstr>
      <vt:lpstr>Helvetica Neue Light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Nielsen, Joshua</dc:creator>
  <cp:lastModifiedBy>Juston, Marius F</cp:lastModifiedBy>
  <cp:revision>267</cp:revision>
  <dcterms:created xsi:type="dcterms:W3CDTF">2019-01-14T22:06:33Z</dcterms:created>
  <dcterms:modified xsi:type="dcterms:W3CDTF">2026-02-07T07:29:28Z</dcterms:modified>
</cp:coreProperties>
</file>