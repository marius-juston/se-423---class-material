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42" r:id="rId24"/>
    <p:sldId id="336" r:id="rId25"/>
    <p:sldId id="337" r:id="rId26"/>
    <p:sldId id="339" r:id="rId27"/>
    <p:sldId id="344" r:id="rId28"/>
    <p:sldId id="347" r:id="rId29"/>
    <p:sldId id="348" r:id="rId30"/>
    <p:sldId id="345" r:id="rId31"/>
    <p:sldId id="349" r:id="rId32"/>
    <p:sldId id="350" r:id="rId33"/>
    <p:sldId id="346" r:id="rId34"/>
    <p:sldId id="330" r:id="rId35"/>
    <p:sldId id="331" r:id="rId36"/>
    <p:sldId id="332" r:id="rId37"/>
    <p:sldId id="333" r:id="rId38"/>
    <p:sldId id="334" r:id="rId39"/>
    <p:sldId id="335" r:id="rId40"/>
    <p:sldId id="259" r:id="rId41"/>
    <p:sldId id="260" r:id="rId42"/>
    <p:sldId id="261" r:id="rId43"/>
    <p:sldId id="262" r:id="rId44"/>
    <p:sldId id="263" r:id="rId45"/>
    <p:sldId id="264" r:id="rId46"/>
    <p:sldId id="265" r:id="rId47"/>
    <p:sldId id="266" r:id="rId48"/>
    <p:sldId id="267" r:id="rId49"/>
    <p:sldId id="268" r:id="rId50"/>
    <p:sldId id="269" r:id="rId51"/>
    <p:sldId id="271" r:id="rId52"/>
    <p:sldId id="270" r:id="rId5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00" d="100"/>
          <a:sy n="100" d="100"/>
        </p:scale>
        <p:origin x="95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37.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5" Type="http://schemas.openxmlformats.org/officeDocument/2006/relationships/image" Target="../media/image33.jpe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5.svg"/><Relationship Id="rId4" Type="http://schemas.openxmlformats.org/officeDocument/2006/relationships/image" Target="../media/image34.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6: Encoders &amp; PWM</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9</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3-week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rial"/>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rial"/>
                <a:ea typeface="Arial"/>
                <a:cs typeface="Arial"/>
                <a:sym typeface="Arial"/>
              </a:rPr>
              <a:t>)</a:t>
            </a:r>
            <a:endParaRPr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Optical Encoder</a:t>
            </a:r>
            <a:endParaRPr dirty="0"/>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How do we measure angular position or motion of a shaft into a digital value?</a:t>
            </a:r>
            <a:r>
              <a:rPr lang="en-US" sz="2400" dirty="0">
                <a:latin typeface="Arial"/>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The optical encoder is composed of a light emitting device (</a:t>
            </a:r>
            <a:r>
              <a:rPr lang="en-US" sz="2400" b="1" dirty="0">
                <a:solidFill>
                  <a:schemeClr val="dk1"/>
                </a:solidFill>
                <a:latin typeface="Arial"/>
                <a:ea typeface="Arial"/>
                <a:cs typeface="Arial"/>
                <a:sym typeface="Arial"/>
              </a:rPr>
              <a:t>LED</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photo sensors</a:t>
            </a:r>
            <a:r>
              <a:rPr lang="en-US" sz="2400" dirty="0">
                <a:solidFill>
                  <a:schemeClr val="dk1"/>
                </a:solidFill>
                <a:latin typeface="Arial"/>
                <a:ea typeface="Arial"/>
                <a:cs typeface="Arial"/>
                <a:sym typeface="Arial"/>
              </a:rPr>
              <a:t>, and a disc called a </a:t>
            </a:r>
            <a:r>
              <a:rPr lang="en-US" sz="2400" b="1" dirty="0">
                <a:solidFill>
                  <a:schemeClr val="dk1"/>
                </a:solidFill>
                <a:latin typeface="Arial"/>
                <a:ea typeface="Arial"/>
                <a:cs typeface="Arial"/>
                <a:sym typeface="Arial"/>
              </a:rPr>
              <a:t>code wheel </a:t>
            </a:r>
            <a:r>
              <a:rPr lang="en-US" sz="2400" dirty="0">
                <a:solidFill>
                  <a:schemeClr val="dk1"/>
                </a:solidFill>
                <a:latin typeface="Arial"/>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02696"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905250" y="5819967"/>
            <a:ext cx="5324390" cy="253916"/>
          </a:xfrm>
          <a:prstGeom prst="rect">
            <a:avLst/>
          </a:prstGeom>
          <a:noFill/>
        </p:spPr>
        <p:txBody>
          <a:bodyPr wrap="square" rtlCol="0">
            <a:spAutoFit/>
          </a:bodyPr>
          <a:lstStyle/>
          <a:p>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Resolution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are some problems?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rial"/>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rial"/>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The combined output of (A, B), forms a 2-bit </a:t>
                </a:r>
                <a:r>
                  <a:rPr lang="en-US" sz="2400" b="1" dirty="0">
                    <a:solidFill>
                      <a:schemeClr val="dk1"/>
                    </a:solidFill>
                    <a:latin typeface="Arial"/>
                    <a:ea typeface="Arial"/>
                    <a:cs typeface="Arial"/>
                    <a:sym typeface="Arial"/>
                  </a:rPr>
                  <a:t>Gray code sequence</a:t>
                </a:r>
                <a:r>
                  <a:rPr lang="en-US" sz="2400" dirty="0">
                    <a:solidFill>
                      <a:schemeClr val="dk1"/>
                    </a:solidFill>
                    <a:latin typeface="Arial"/>
                    <a:ea typeface="Arial"/>
                    <a:cs typeface="Arial"/>
                    <a:sym typeface="Arial"/>
                  </a:rPr>
                  <a:t> (only 1 bit changes each timestep).</a:t>
                </a:r>
              </a:p>
              <a:p>
                <a:pPr marL="285750" indent="-285750">
                  <a:lnSpc>
                    <a:spcPct val="100000"/>
                  </a:lnSpc>
                  <a:spcBef>
                    <a:spcPts val="0"/>
                  </a:spcBef>
                  <a:buSzPts val="3000"/>
                </a:pPr>
                <a:r>
                  <a:rPr lang="en-US" sz="2400" dirty="0">
                    <a:latin typeface="Arial"/>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clockwise </a:t>
                </a:r>
                <a:r>
                  <a:rPr lang="en-US" sz="2400" dirty="0">
                    <a:latin typeface="Arial"/>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counter-clockwise</a:t>
                </a:r>
                <a:r>
                  <a:rPr lang="en-US" sz="2400" dirty="0">
                    <a:latin typeface="Arial"/>
                    <a:ea typeface="Arial"/>
                    <a:cs typeface="Arial"/>
                    <a:sym typeface="Arial"/>
                  </a:rPr>
                  <a:t> (CCW): B leads C, the sequence is:</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if you turn the robot off?</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 and 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dirty="0">
                <a:solidFill>
                  <a:schemeClr val="dk1"/>
                </a:solidFill>
                <a:latin typeface="+mj-lt"/>
                <a:ea typeface="Arial"/>
                <a:cs typeface="Arial"/>
                <a:sym typeface="Arial"/>
              </a:rPr>
              <a:t>Binary coding 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3"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6" y="6358962"/>
            <a:ext cx="4446105" cy="261610"/>
          </a:xfrm>
          <a:prstGeom prst="rect">
            <a:avLst/>
          </a:prstGeom>
          <a:noFill/>
        </p:spPr>
        <p:txBody>
          <a:bodyPr wrap="square" rtlCol="0">
            <a:spAutoFit/>
          </a:bodyPr>
          <a:lstStyle/>
          <a:p>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97551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Online Media 2" title="Gray Code's Error Reduction with Encoders">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2" y="6176442"/>
            <a:ext cx="2009775" cy="246221"/>
          </a:xfrm>
          <a:prstGeom prst="rect">
            <a:avLst/>
          </a:prstGeom>
          <a:noFill/>
        </p:spPr>
        <p:txBody>
          <a:bodyPr wrap="square" rtlCol="0">
            <a:spAutoFit/>
          </a:bodyPr>
          <a:lstStyle/>
          <a:p>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rial"/>
                <a:ea typeface="Arial"/>
                <a:cs typeface="Arial"/>
                <a:sym typeface="Arial"/>
              </a:rPr>
              <a:t>eQEP</a:t>
            </a:r>
            <a:endParaRPr dirty="0"/>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Overview diagram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Tree>
    <p:extLst>
      <p:ext uri="{BB962C8B-B14F-4D97-AF65-F5344CB8AC3E}">
        <p14:creationId xmlns:p14="http://schemas.microsoft.com/office/powerpoint/2010/main" val="3493168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p:txBody>
      </p:sp>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D0846D-CD7F-769D-0701-4549CE6B1A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b="0" dirty="0">
                <a:solidFill>
                  <a:srgbClr val="008000"/>
                </a:solidFill>
                <a:effectLst/>
                <a:latin typeface="Consolas" panose="020B0609020204030204" pitchFamily="49" charset="0"/>
              </a:rPr>
              <a:t>// setup eQEP1 pins for input</a:t>
            </a:r>
            <a:endParaRPr lang="en-US" sz="1400" b="0" dirty="0">
              <a:solidFill>
                <a:srgbClr val="3B3B3B"/>
              </a:solidFill>
              <a:effectLst/>
              <a:latin typeface="Consolas" panose="020B0609020204030204" pitchFamily="49" charset="0"/>
            </a:endParaRPr>
          </a:p>
          <a:p>
            <a:pPr marL="114300" indent="0">
              <a:buNone/>
            </a:pPr>
            <a:r>
              <a:rPr lang="en-US" sz="1400" b="0" dirty="0">
                <a:solidFill>
                  <a:srgbClr val="0000FF"/>
                </a:solidFill>
                <a:effectLst/>
                <a:latin typeface="Consolas" panose="020B0609020204030204" pitchFamily="49" charset="0"/>
              </a:rPr>
              <a:t>EALLOW</a:t>
            </a:r>
            <a:r>
              <a:rPr lang="en-US" sz="1400" b="0" dirty="0">
                <a:solidFill>
                  <a:srgbClr val="3B3B3B"/>
                </a:solidFill>
                <a:effectLst/>
                <a:latin typeface="Consolas" panose="020B0609020204030204" pitchFamily="49" charset="0"/>
              </a:rPr>
              <a:t>;</a:t>
            </a:r>
          </a:p>
          <a:p>
            <a:pPr marL="114300" indent="0">
              <a:buNone/>
            </a:pPr>
            <a:r>
              <a:rPr lang="en-US" sz="1400" b="0" dirty="0">
                <a:solidFill>
                  <a:srgbClr val="008000"/>
                </a:solidFill>
                <a:effectLst/>
                <a:latin typeface="Consolas" panose="020B0609020204030204" pitchFamily="49" charset="0"/>
              </a:rPr>
              <a:t>//Disable internal pull-up for the selected output pins for reduced power consumption</a:t>
            </a:r>
            <a:endParaRPr lang="en-US" sz="1400" b="0" dirty="0">
              <a:solidFill>
                <a:srgbClr val="3B3B3B"/>
              </a:solidFill>
              <a:effectLst/>
              <a:latin typeface="Consolas" panose="020B0609020204030204" pitchFamily="49" charset="0"/>
            </a:endParaRPr>
          </a:p>
          <a:p>
            <a:pPr marL="114300" indent="0">
              <a:buNone/>
            </a:pPr>
            <a:r>
              <a:rPr lang="en-US" sz="1400" b="0" dirty="0">
                <a:solidFill>
                  <a:srgbClr val="001080"/>
                </a:solidFill>
                <a:effectLst/>
                <a:latin typeface="Consolas" panose="020B0609020204030204" pitchFamily="49" charset="0"/>
              </a:rPr>
              <a:t>GpioCtrlRegs</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GPAPUD</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bit</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GPIO20</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098658"/>
                </a:solidFill>
                <a:effectLst/>
                <a:latin typeface="Consolas" panose="020B0609020204030204" pitchFamily="49" charset="0"/>
              </a:rPr>
              <a:t>1</a:t>
            </a:r>
            <a:r>
              <a:rPr lang="en-US" sz="1400" b="0" dirty="0">
                <a:solidFill>
                  <a:srgbClr val="3B3B3B"/>
                </a:solidFill>
                <a:effectLst/>
                <a:latin typeface="Consolas" panose="020B0609020204030204" pitchFamily="49" charset="0"/>
              </a:rPr>
              <a:t>;</a:t>
            </a:r>
            <a:r>
              <a:rPr lang="en-US" sz="1400" b="0" dirty="0">
                <a:solidFill>
                  <a:srgbClr val="008000"/>
                </a:solidFill>
                <a:effectLst/>
                <a:latin typeface="Consolas" panose="020B0609020204030204" pitchFamily="49" charset="0"/>
              </a:rPr>
              <a:t>    // Disable pull-up on GPIO20 (EQEP1A)</a:t>
            </a:r>
            <a:endParaRPr lang="en-US" sz="1400" b="0" dirty="0">
              <a:solidFill>
                <a:srgbClr val="3B3B3B"/>
              </a:solidFill>
              <a:effectLst/>
              <a:latin typeface="Consolas" panose="020B0609020204030204" pitchFamily="49" charset="0"/>
            </a:endParaRPr>
          </a:p>
          <a:p>
            <a:pPr marL="114300" indent="0">
              <a:buNone/>
            </a:pPr>
            <a:r>
              <a:rPr lang="en-US" sz="1400" b="0" dirty="0">
                <a:solidFill>
                  <a:srgbClr val="001080"/>
                </a:solidFill>
                <a:effectLst/>
                <a:latin typeface="Consolas" panose="020B0609020204030204" pitchFamily="49" charset="0"/>
              </a:rPr>
              <a:t>GpioCtrlRegs</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GPAPUD</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bit</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GPIO21</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098658"/>
                </a:solidFill>
                <a:effectLst/>
                <a:latin typeface="Consolas" panose="020B0609020204030204" pitchFamily="49" charset="0"/>
              </a:rPr>
              <a:t>1</a:t>
            </a:r>
            <a:r>
              <a:rPr lang="en-US" sz="1400" b="0" dirty="0">
                <a:solidFill>
                  <a:srgbClr val="3B3B3B"/>
                </a:solidFill>
                <a:effectLst/>
                <a:latin typeface="Consolas" panose="020B0609020204030204" pitchFamily="49" charset="0"/>
              </a:rPr>
              <a:t>;</a:t>
            </a:r>
            <a:r>
              <a:rPr lang="en-US" sz="1400" b="0" dirty="0">
                <a:solidFill>
                  <a:srgbClr val="008000"/>
                </a:solidFill>
                <a:effectLst/>
                <a:latin typeface="Consolas" panose="020B0609020204030204" pitchFamily="49" charset="0"/>
              </a:rPr>
              <a:t>    // Disable pull-up on GPIO21 (EQEP1B)</a:t>
            </a:r>
            <a:endParaRPr lang="en-US" sz="1400" b="0" dirty="0">
              <a:solidFill>
                <a:srgbClr val="3B3B3B"/>
              </a:solidFill>
              <a:effectLst/>
              <a:latin typeface="Consolas" panose="020B0609020204030204" pitchFamily="49" charset="0"/>
            </a:endParaRPr>
          </a:p>
          <a:p>
            <a:pPr marL="114300" indent="0">
              <a:buNone/>
            </a:pPr>
            <a:r>
              <a:rPr lang="en-US" sz="1400" b="0" dirty="0">
                <a:solidFill>
                  <a:srgbClr val="001080"/>
                </a:solidFill>
                <a:effectLst/>
                <a:latin typeface="Consolas" panose="020B0609020204030204" pitchFamily="49" charset="0"/>
              </a:rPr>
              <a:t>GpioCtrlRegs</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GPAQSEL2</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bit</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GPIO20</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098658"/>
                </a:solidFill>
                <a:effectLst/>
                <a:latin typeface="Consolas" panose="020B0609020204030204" pitchFamily="49" charset="0"/>
              </a:rPr>
              <a:t>2</a:t>
            </a:r>
            <a:r>
              <a:rPr lang="en-US" sz="1400" b="0" dirty="0">
                <a:solidFill>
                  <a:srgbClr val="3B3B3B"/>
                </a:solidFill>
                <a:effectLst/>
                <a:latin typeface="Consolas" panose="020B0609020204030204" pitchFamily="49" charset="0"/>
              </a:rPr>
              <a:t>;</a:t>
            </a:r>
            <a:r>
              <a:rPr lang="en-US" sz="1400" b="0" dirty="0">
                <a:solidFill>
                  <a:srgbClr val="008000"/>
                </a:solidFill>
                <a:effectLst/>
                <a:latin typeface="Consolas" panose="020B0609020204030204" pitchFamily="49" charset="0"/>
              </a:rPr>
              <a:t>   // Qual every 6 samples</a:t>
            </a:r>
            <a:endParaRPr lang="en-US" sz="1400" b="0" dirty="0">
              <a:solidFill>
                <a:srgbClr val="3B3B3B"/>
              </a:solidFill>
              <a:effectLst/>
              <a:latin typeface="Consolas" panose="020B0609020204030204" pitchFamily="49" charset="0"/>
            </a:endParaRPr>
          </a:p>
          <a:p>
            <a:pPr marL="114300" indent="0">
              <a:buNone/>
            </a:pPr>
            <a:r>
              <a:rPr lang="en-US" sz="1400" b="0" dirty="0">
                <a:solidFill>
                  <a:srgbClr val="001080"/>
                </a:solidFill>
                <a:effectLst/>
                <a:latin typeface="Consolas" panose="020B0609020204030204" pitchFamily="49" charset="0"/>
              </a:rPr>
              <a:t>GpioCtrlRegs</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GPAQSEL2</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bit</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GPIO21</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098658"/>
                </a:solidFill>
                <a:effectLst/>
                <a:latin typeface="Consolas" panose="020B0609020204030204" pitchFamily="49" charset="0"/>
              </a:rPr>
              <a:t>2</a:t>
            </a:r>
            <a:r>
              <a:rPr lang="en-US" sz="1400" b="0" dirty="0">
                <a:solidFill>
                  <a:srgbClr val="3B3B3B"/>
                </a:solidFill>
                <a:effectLst/>
                <a:latin typeface="Consolas" panose="020B0609020204030204" pitchFamily="49" charset="0"/>
              </a:rPr>
              <a:t>;</a:t>
            </a:r>
            <a:r>
              <a:rPr lang="en-US" sz="1400" b="0" dirty="0">
                <a:solidFill>
                  <a:srgbClr val="008000"/>
                </a:solidFill>
                <a:effectLst/>
                <a:latin typeface="Consolas" panose="020B0609020204030204" pitchFamily="49" charset="0"/>
              </a:rPr>
              <a:t>   // Qual every 6 samples</a:t>
            </a:r>
            <a:endParaRPr lang="en-US" sz="1400" b="0" dirty="0">
              <a:solidFill>
                <a:srgbClr val="3B3B3B"/>
              </a:solidFill>
              <a:effectLst/>
              <a:latin typeface="Consolas" panose="020B0609020204030204" pitchFamily="49" charset="0"/>
            </a:endParaRPr>
          </a:p>
          <a:p>
            <a:pPr marL="114300" indent="0">
              <a:buNone/>
            </a:pPr>
            <a:r>
              <a:rPr lang="en-US" sz="1400" b="0" dirty="0">
                <a:solidFill>
                  <a:srgbClr val="0000FF"/>
                </a:solidFill>
                <a:effectLst/>
                <a:latin typeface="Consolas" panose="020B0609020204030204" pitchFamily="49" charset="0"/>
              </a:rPr>
              <a:t>EDIS</a:t>
            </a:r>
            <a:r>
              <a:rPr lang="en-US" sz="1400" b="0" dirty="0">
                <a:solidFill>
                  <a:srgbClr val="3B3B3B"/>
                </a:solidFill>
                <a:effectLst/>
                <a:latin typeface="Consolas" panose="020B0609020204030204" pitchFamily="49" charset="0"/>
              </a:rPr>
              <a:t>;</a:t>
            </a: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consistent within that sampling period 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600" b="0" dirty="0">
                <a:solidFill>
                  <a:srgbClr val="008000"/>
                </a:solidFill>
                <a:effectLst/>
                <a:latin typeface="Consolas" panose="020B0609020204030204" pitchFamily="49" charset="0"/>
              </a:rPr>
              <a:t>// setup eQEP1 pins for input</a:t>
            </a:r>
            <a:endParaRPr lang="en-US" sz="1600" b="0" dirty="0">
              <a:solidFill>
                <a:srgbClr val="3B3B3B"/>
              </a:solidFill>
              <a:effectLst/>
              <a:latin typeface="Consolas" panose="020B0609020204030204" pitchFamily="49" charset="0"/>
            </a:endParaRPr>
          </a:p>
          <a:p>
            <a:pPr marL="114300" indent="0">
              <a:buNone/>
            </a:pPr>
            <a:r>
              <a:rPr lang="en-US" sz="1600" b="0" dirty="0">
                <a:solidFill>
                  <a:srgbClr val="008000"/>
                </a:solidFill>
                <a:effectLst/>
                <a:latin typeface="Consolas" panose="020B0609020204030204" pitchFamily="49" charset="0"/>
              </a:rPr>
              <a:t>// This specifies which of the possible GPIO pins will be EQEP1 functional pins.</a:t>
            </a:r>
            <a:endParaRPr lang="en-US" sz="1600" b="0" dirty="0">
              <a:solidFill>
                <a:srgbClr val="3B3B3B"/>
              </a:solidFill>
              <a:effectLst/>
              <a:latin typeface="Consolas" panose="020B0609020204030204" pitchFamily="49" charset="0"/>
            </a:endParaRPr>
          </a:p>
          <a:p>
            <a:pPr marL="114300" indent="0">
              <a:buNone/>
            </a:pPr>
            <a:r>
              <a:rPr lang="en-US" sz="1600" b="0" dirty="0" err="1">
                <a:solidFill>
                  <a:srgbClr val="795E26"/>
                </a:solidFill>
                <a:effectLst/>
                <a:latin typeface="Consolas" panose="020B0609020204030204" pitchFamily="49" charset="0"/>
              </a:rPr>
              <a:t>GPIO_SetupPinMux</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20</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GPIO_MUX_CPU1</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1</a:t>
            </a:r>
            <a:r>
              <a:rPr lang="en-US" sz="1600" b="0" dirty="0">
                <a:solidFill>
                  <a:srgbClr val="3B3B3B"/>
                </a:solidFill>
                <a:effectLst/>
                <a:latin typeface="Consolas" panose="020B0609020204030204" pitchFamily="49" charset="0"/>
              </a:rPr>
              <a:t>); </a:t>
            </a:r>
            <a:r>
              <a:rPr lang="en-US" sz="1600" b="0" dirty="0">
                <a:solidFill>
                  <a:srgbClr val="008000"/>
                </a:solidFill>
                <a:effectLst/>
                <a:latin typeface="Consolas" panose="020B0609020204030204" pitchFamily="49" charset="0"/>
              </a:rPr>
              <a:t>// set pin mux EQEP2A</a:t>
            </a:r>
            <a:endParaRPr lang="en-US" sz="1600" b="0" dirty="0">
              <a:solidFill>
                <a:srgbClr val="3B3B3B"/>
              </a:solidFill>
              <a:effectLst/>
              <a:latin typeface="Consolas" panose="020B0609020204030204" pitchFamily="49" charset="0"/>
            </a:endParaRPr>
          </a:p>
          <a:p>
            <a:pPr marL="114300" indent="0">
              <a:buNone/>
            </a:pPr>
            <a:r>
              <a:rPr lang="en-US" sz="1600" b="0" dirty="0" err="1">
                <a:solidFill>
                  <a:srgbClr val="795E26"/>
                </a:solidFill>
                <a:effectLst/>
                <a:latin typeface="Consolas" panose="020B0609020204030204" pitchFamily="49" charset="0"/>
              </a:rPr>
              <a:t>GPIO_SetupPinMux</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21</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GPIO_MUX_CPU1</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1</a:t>
            </a:r>
            <a:r>
              <a:rPr lang="en-US" sz="1600" b="0" dirty="0">
                <a:solidFill>
                  <a:srgbClr val="3B3B3B"/>
                </a:solidFill>
                <a:effectLst/>
                <a:latin typeface="Consolas" panose="020B0609020204030204" pitchFamily="49" charset="0"/>
              </a:rPr>
              <a:t>); </a:t>
            </a:r>
            <a:r>
              <a:rPr lang="en-US" sz="1600" b="0" dirty="0">
                <a:solidFill>
                  <a:srgbClr val="008000"/>
                </a:solidFill>
                <a:effectLst/>
                <a:latin typeface="Consolas" panose="020B0609020204030204" pitchFamily="49" charset="0"/>
              </a:rPr>
              <a:t>// set pin mux EQEP2B</a:t>
            </a:r>
            <a:endParaRPr lang="en-US" sz="1600" b="0" dirty="0">
              <a:solidFill>
                <a:srgbClr val="3B3B3B"/>
              </a:solidFill>
              <a:effectLst/>
              <a:latin typeface="Consolas" panose="020B0609020204030204" pitchFamily="49" charset="0"/>
            </a:endParaRPr>
          </a:p>
          <a:p>
            <a:pPr marL="114300" indent="0">
              <a:buNone/>
            </a:pPr>
            <a:r>
              <a:rPr lang="en-US" sz="1600" b="0" dirty="0">
                <a:solidFill>
                  <a:srgbClr val="001080"/>
                </a:solidFill>
                <a:effectLst/>
                <a:latin typeface="Consolas" panose="020B0609020204030204" pitchFamily="49" charset="0"/>
              </a:rPr>
              <a:t>EQep1Regs</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QEPCTL</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bit</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QPEN</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r>
              <a:rPr lang="en-US" sz="1600" b="0" dirty="0">
                <a:solidFill>
                  <a:srgbClr val="008000"/>
                </a:solidFill>
                <a:effectLst/>
                <a:latin typeface="Consolas" panose="020B0609020204030204" pitchFamily="49" charset="0"/>
              </a:rPr>
              <a:t>          // make sure </a:t>
            </a:r>
            <a:r>
              <a:rPr lang="en-US" sz="1600" b="0" dirty="0" err="1">
                <a:solidFill>
                  <a:srgbClr val="008000"/>
                </a:solidFill>
                <a:effectLst/>
                <a:latin typeface="Consolas" panose="020B0609020204030204" pitchFamily="49" charset="0"/>
              </a:rPr>
              <a:t>eQEP</a:t>
            </a:r>
            <a:r>
              <a:rPr lang="en-US" sz="1600" b="0" dirty="0">
                <a:solidFill>
                  <a:srgbClr val="008000"/>
                </a:solidFill>
                <a:effectLst/>
                <a:latin typeface="Consolas" panose="020B0609020204030204" pitchFamily="49" charset="0"/>
              </a:rPr>
              <a:t> in reset</a:t>
            </a:r>
            <a:endParaRPr lang="en-US" sz="1600" b="0" dirty="0">
              <a:solidFill>
                <a:srgbClr val="3B3B3B"/>
              </a:solidFill>
              <a:effectLst/>
              <a:latin typeface="Consolas" panose="020B0609020204030204" pitchFamily="49" charset="0"/>
            </a:endParaRPr>
          </a:p>
          <a:p>
            <a:pPr marL="114300" indent="0">
              <a:buNone/>
            </a:pPr>
            <a:r>
              <a:rPr lang="en-US" sz="1600" b="0" dirty="0">
                <a:solidFill>
                  <a:srgbClr val="001080"/>
                </a:solidFill>
                <a:effectLst/>
                <a:latin typeface="Consolas" panose="020B0609020204030204" pitchFamily="49" charset="0"/>
              </a:rPr>
              <a:t>EQep1Regs</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QDECCTL</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bit</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QSRC</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r>
              <a:rPr lang="en-US" sz="1600" b="0" dirty="0">
                <a:solidFill>
                  <a:srgbClr val="008000"/>
                </a:solidFill>
                <a:effectLst/>
                <a:latin typeface="Consolas" panose="020B0609020204030204" pitchFamily="49" charset="0"/>
              </a:rPr>
              <a:t>         // Quadrature count mode</a:t>
            </a:r>
            <a:endParaRPr lang="en-US" sz="1600" b="0" dirty="0">
              <a:solidFill>
                <a:srgbClr val="3B3B3B"/>
              </a:solidFill>
              <a:effectLst/>
              <a:latin typeface="Consolas" panose="020B0609020204030204" pitchFamily="49" charset="0"/>
            </a:endParaRPr>
          </a:p>
          <a:p>
            <a:pPr marL="114300" indent="0">
              <a:buNone/>
            </a:pPr>
            <a:r>
              <a:rPr lang="en-US" sz="1600" b="0" dirty="0">
                <a:solidFill>
                  <a:srgbClr val="001080"/>
                </a:solidFill>
                <a:effectLst/>
                <a:latin typeface="Consolas" panose="020B0609020204030204" pitchFamily="49" charset="0"/>
              </a:rPr>
              <a:t>EQep1Regs</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QPOSCTL</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all</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0x0</a:t>
            </a:r>
            <a:r>
              <a:rPr lang="en-US" sz="1600" b="0" dirty="0">
                <a:solidFill>
                  <a:srgbClr val="3B3B3B"/>
                </a:solidFill>
                <a:effectLst/>
                <a:latin typeface="Consolas" panose="020B0609020204030204" pitchFamily="49" charset="0"/>
              </a:rPr>
              <a:t>;</a:t>
            </a:r>
            <a:r>
              <a:rPr lang="en-US" sz="1600" b="0" dirty="0">
                <a:solidFill>
                  <a:srgbClr val="008000"/>
                </a:solidFill>
                <a:effectLst/>
                <a:latin typeface="Consolas" panose="020B0609020204030204" pitchFamily="49" charset="0"/>
              </a:rPr>
              <a:t>            // Disable </a:t>
            </a:r>
            <a:r>
              <a:rPr lang="en-US" sz="1600" b="0" dirty="0" err="1">
                <a:solidFill>
                  <a:srgbClr val="008000"/>
                </a:solidFill>
                <a:effectLst/>
                <a:latin typeface="Consolas" panose="020B0609020204030204" pitchFamily="49" charset="0"/>
              </a:rPr>
              <a:t>eQEP</a:t>
            </a:r>
            <a:r>
              <a:rPr lang="en-US" sz="1600" b="0" dirty="0">
                <a:solidFill>
                  <a:srgbClr val="008000"/>
                </a:solidFill>
                <a:effectLst/>
                <a:latin typeface="Consolas" panose="020B0609020204030204" pitchFamily="49" charset="0"/>
              </a:rPr>
              <a:t> Position Compare</a:t>
            </a:r>
            <a:endParaRPr lang="en-US" sz="1600" b="0" dirty="0">
              <a:solidFill>
                <a:srgbClr val="3B3B3B"/>
              </a:solidFill>
              <a:effectLst/>
              <a:latin typeface="Consolas" panose="020B0609020204030204" pitchFamily="49" charset="0"/>
            </a:endParaRPr>
          </a:p>
          <a:p>
            <a:pPr marL="114300" indent="0">
              <a:buNone/>
            </a:pPr>
            <a:r>
              <a:rPr lang="en-US" sz="1600" b="0" dirty="0">
                <a:solidFill>
                  <a:srgbClr val="001080"/>
                </a:solidFill>
                <a:effectLst/>
                <a:latin typeface="Consolas" panose="020B0609020204030204" pitchFamily="49" charset="0"/>
              </a:rPr>
              <a:t>EQep1Regs</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QCAPCTL</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all</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0x0</a:t>
            </a:r>
            <a:r>
              <a:rPr lang="en-US" sz="1600" b="0" dirty="0">
                <a:solidFill>
                  <a:srgbClr val="3B3B3B"/>
                </a:solidFill>
                <a:effectLst/>
                <a:latin typeface="Consolas" panose="020B0609020204030204" pitchFamily="49" charset="0"/>
              </a:rPr>
              <a:t>;</a:t>
            </a:r>
            <a:r>
              <a:rPr lang="en-US" sz="1600" b="0" dirty="0">
                <a:solidFill>
                  <a:srgbClr val="008000"/>
                </a:solidFill>
                <a:effectLst/>
                <a:latin typeface="Consolas" panose="020B0609020204030204" pitchFamily="49" charset="0"/>
              </a:rPr>
              <a:t>            // Disable </a:t>
            </a:r>
            <a:r>
              <a:rPr lang="en-US" sz="1600" b="0" dirty="0" err="1">
                <a:solidFill>
                  <a:srgbClr val="008000"/>
                </a:solidFill>
                <a:effectLst/>
                <a:latin typeface="Consolas" panose="020B0609020204030204" pitchFamily="49" charset="0"/>
              </a:rPr>
              <a:t>eQEP</a:t>
            </a:r>
            <a:r>
              <a:rPr lang="en-US" sz="1600" b="0" dirty="0">
                <a:solidFill>
                  <a:srgbClr val="008000"/>
                </a:solidFill>
                <a:effectLst/>
                <a:latin typeface="Consolas" panose="020B0609020204030204" pitchFamily="49" charset="0"/>
              </a:rPr>
              <a:t> Capture</a:t>
            </a:r>
            <a:endParaRPr lang="en-US" sz="1600" b="0" dirty="0">
              <a:solidFill>
                <a:srgbClr val="3B3B3B"/>
              </a:solidFill>
              <a:effectLst/>
              <a:latin typeface="Consolas" panose="020B0609020204030204" pitchFamily="49" charset="0"/>
            </a:endParaRPr>
          </a:p>
          <a:p>
            <a:pPr marL="114300" indent="0">
              <a:buNone/>
            </a:pPr>
            <a:r>
              <a:rPr lang="en-US" sz="1600" b="0" dirty="0">
                <a:solidFill>
                  <a:srgbClr val="001080"/>
                </a:solidFill>
                <a:effectLst/>
                <a:latin typeface="Consolas" panose="020B0609020204030204" pitchFamily="49" charset="0"/>
              </a:rPr>
              <a:t>EQep1Regs</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QEINT</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all</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0x0</a:t>
            </a:r>
            <a:r>
              <a:rPr lang="en-US" sz="1600" b="0" dirty="0">
                <a:solidFill>
                  <a:srgbClr val="3B3B3B"/>
                </a:solidFill>
                <a:effectLst/>
                <a:latin typeface="Consolas" panose="020B0609020204030204" pitchFamily="49" charset="0"/>
              </a:rPr>
              <a:t>;</a:t>
            </a:r>
            <a:r>
              <a:rPr lang="en-US" sz="1600" b="0" dirty="0">
                <a:solidFill>
                  <a:srgbClr val="008000"/>
                </a:solidFill>
                <a:effectLst/>
                <a:latin typeface="Consolas" panose="020B0609020204030204" pitchFamily="49" charset="0"/>
              </a:rPr>
              <a:t>              // Disable all </a:t>
            </a:r>
            <a:r>
              <a:rPr lang="en-US" sz="1600" b="0" dirty="0" err="1">
                <a:solidFill>
                  <a:srgbClr val="008000"/>
                </a:solidFill>
                <a:effectLst/>
                <a:latin typeface="Consolas" panose="020B0609020204030204" pitchFamily="49" charset="0"/>
              </a:rPr>
              <a:t>eQEP</a:t>
            </a:r>
            <a:r>
              <a:rPr lang="en-US" sz="1600" b="0" dirty="0">
                <a:solidFill>
                  <a:srgbClr val="008000"/>
                </a:solidFill>
                <a:effectLst/>
                <a:latin typeface="Consolas" panose="020B0609020204030204" pitchFamily="49" charset="0"/>
              </a:rPr>
              <a:t> interrupts</a:t>
            </a:r>
            <a:endParaRPr lang="en-US" sz="1600" b="0" dirty="0">
              <a:solidFill>
                <a:srgbClr val="3B3B3B"/>
              </a:solidFill>
              <a:effectLst/>
              <a:latin typeface="Consolas" panose="020B0609020204030204" pitchFamily="49" charset="0"/>
            </a:endParaRPr>
          </a:p>
          <a:p>
            <a:pPr marL="114300" indent="0">
              <a:buNone/>
            </a:pPr>
            <a:r>
              <a:rPr lang="en-US" sz="1600" b="0" dirty="0">
                <a:solidFill>
                  <a:srgbClr val="001080"/>
                </a:solidFill>
                <a:effectLst/>
                <a:latin typeface="Consolas" panose="020B0609020204030204" pitchFamily="49" charset="0"/>
              </a:rPr>
              <a:t>EQep1Regs</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QPOSMAX</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0xFFFFFFFF</a:t>
            </a:r>
            <a:r>
              <a:rPr lang="en-US" sz="1600" b="0" dirty="0">
                <a:solidFill>
                  <a:srgbClr val="3B3B3B"/>
                </a:solidFill>
                <a:effectLst/>
                <a:latin typeface="Consolas" panose="020B0609020204030204" pitchFamily="49" charset="0"/>
              </a:rPr>
              <a:t>;</a:t>
            </a:r>
            <a:r>
              <a:rPr lang="en-US" sz="1600" b="0" dirty="0">
                <a:solidFill>
                  <a:srgbClr val="008000"/>
                </a:solidFill>
                <a:effectLst/>
                <a:latin typeface="Consolas" panose="020B0609020204030204" pitchFamily="49" charset="0"/>
              </a:rPr>
              <a:t>         // use full range of the 32-bit count</a:t>
            </a:r>
            <a:endParaRPr lang="en-US" sz="1600" b="0" dirty="0">
              <a:solidFill>
                <a:srgbClr val="3B3B3B"/>
              </a:solidFill>
              <a:effectLst/>
              <a:latin typeface="Consolas" panose="020B0609020204030204" pitchFamily="49" charset="0"/>
            </a:endParaRPr>
          </a:p>
          <a:p>
            <a:pPr marL="114300" indent="0">
              <a:buNone/>
            </a:pPr>
            <a:r>
              <a:rPr lang="en-US" sz="1600" b="0" dirty="0">
                <a:solidFill>
                  <a:srgbClr val="001080"/>
                </a:solidFill>
                <a:effectLst/>
                <a:latin typeface="Consolas" panose="020B0609020204030204" pitchFamily="49" charset="0"/>
              </a:rPr>
              <a:t>EQep1Regs</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QEPCTL</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bit</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FREE_SOFT</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2</a:t>
            </a:r>
            <a:r>
              <a:rPr lang="en-US" sz="1600" b="0" dirty="0">
                <a:solidFill>
                  <a:srgbClr val="3B3B3B"/>
                </a:solidFill>
                <a:effectLst/>
                <a:latin typeface="Consolas" panose="020B0609020204030204" pitchFamily="49" charset="0"/>
              </a:rPr>
              <a:t>;</a:t>
            </a:r>
            <a:r>
              <a:rPr lang="en-US" sz="1600" b="0" dirty="0">
                <a:solidFill>
                  <a:srgbClr val="008000"/>
                </a:solidFill>
                <a:effectLst/>
                <a:latin typeface="Consolas" panose="020B0609020204030204" pitchFamily="49" charset="0"/>
              </a:rPr>
              <a:t>     // </a:t>
            </a:r>
            <a:r>
              <a:rPr lang="en-US" sz="1600" b="0" dirty="0" err="1">
                <a:solidFill>
                  <a:srgbClr val="008000"/>
                </a:solidFill>
                <a:effectLst/>
                <a:latin typeface="Consolas" panose="020B0609020204030204" pitchFamily="49" charset="0"/>
              </a:rPr>
              <a:t>eQEP</a:t>
            </a:r>
            <a:r>
              <a:rPr lang="en-US" sz="1600" b="0" dirty="0">
                <a:solidFill>
                  <a:srgbClr val="008000"/>
                </a:solidFill>
                <a:effectLst/>
                <a:latin typeface="Consolas" panose="020B0609020204030204" pitchFamily="49" charset="0"/>
              </a:rPr>
              <a:t> unaffected by emulation suspend in Code Composer</a:t>
            </a:r>
            <a:endParaRPr lang="en-US" sz="1600" b="0" dirty="0">
              <a:solidFill>
                <a:srgbClr val="3B3B3B"/>
              </a:solidFill>
              <a:effectLst/>
              <a:latin typeface="Consolas" panose="020B0609020204030204" pitchFamily="49" charset="0"/>
            </a:endParaRPr>
          </a:p>
          <a:p>
            <a:pPr marL="114300" indent="0">
              <a:buNone/>
            </a:pPr>
            <a:r>
              <a:rPr lang="en-US" sz="1600" b="0" dirty="0">
                <a:solidFill>
                  <a:srgbClr val="001080"/>
                </a:solidFill>
                <a:effectLst/>
                <a:latin typeface="Consolas" panose="020B0609020204030204" pitchFamily="49" charset="0"/>
              </a:rPr>
              <a:t>EQep1Regs</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QPOSCNT</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 		        </a:t>
            </a:r>
            <a:r>
              <a:rPr lang="en-US" sz="1600" b="0" dirty="0">
                <a:solidFill>
                  <a:srgbClr val="008000"/>
                </a:solidFill>
                <a:effectLst/>
                <a:latin typeface="Consolas" panose="020B0609020204030204" pitchFamily="49" charset="0"/>
              </a:rPr>
              <a:t>// Set the initial position of the encoder</a:t>
            </a:r>
            <a:endParaRPr lang="en-US" sz="1600" b="0" dirty="0">
              <a:solidFill>
                <a:srgbClr val="3B3B3B"/>
              </a:solidFill>
              <a:effectLst/>
              <a:latin typeface="Consolas" panose="020B0609020204030204" pitchFamily="49" charset="0"/>
            </a:endParaRPr>
          </a:p>
          <a:p>
            <a:pPr marL="114300" indent="0">
              <a:buNone/>
            </a:pPr>
            <a:r>
              <a:rPr lang="en-US" sz="1600" b="0" dirty="0">
                <a:solidFill>
                  <a:srgbClr val="001080"/>
                </a:solidFill>
                <a:effectLst/>
                <a:latin typeface="Consolas" panose="020B0609020204030204" pitchFamily="49" charset="0"/>
              </a:rPr>
              <a:t>EQep1Regs</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QEPCTL</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bit</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QPEN</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1</a:t>
            </a:r>
            <a:r>
              <a:rPr lang="en-US" sz="1600" b="0" dirty="0">
                <a:solidFill>
                  <a:srgbClr val="3B3B3B"/>
                </a:solidFill>
                <a:effectLst/>
                <a:latin typeface="Consolas" panose="020B0609020204030204" pitchFamily="49" charset="0"/>
              </a:rPr>
              <a:t>;</a:t>
            </a:r>
            <a:r>
              <a:rPr lang="en-US" sz="1600" b="0" dirty="0">
                <a:solidFill>
                  <a:srgbClr val="008000"/>
                </a:solidFill>
                <a:effectLst/>
                <a:latin typeface="Consolas" panose="020B0609020204030204" pitchFamily="49" charset="0"/>
              </a:rPr>
              <a:t>          // Enable </a:t>
            </a:r>
            <a:r>
              <a:rPr lang="en-US" sz="1600" b="0" dirty="0" err="1">
                <a:solidFill>
                  <a:srgbClr val="008000"/>
                </a:solidFill>
                <a:effectLst/>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5" name="Graphic 14">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600" b="0" dirty="0">
                <a:solidFill>
                  <a:srgbClr val="0000FF"/>
                </a:solidFill>
                <a:effectLst/>
                <a:latin typeface="Consolas" panose="020B0609020204030204" pitchFamily="49" charset="0"/>
              </a:rPr>
              <a:t>float</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readEncWheel</a:t>
            </a:r>
            <a:r>
              <a:rPr lang="en-US" sz="1600" b="0" dirty="0">
                <a:solidFill>
                  <a:srgbClr val="3B3B3B"/>
                </a:solidFill>
                <a:effectLst/>
                <a:latin typeface="Consolas" panose="020B0609020204030204" pitchFamily="49" charset="0"/>
              </a:rPr>
              <a:t>(</a:t>
            </a:r>
            <a:r>
              <a:rPr lang="en-US" sz="1600" b="0" dirty="0">
                <a:solidFill>
                  <a:srgbClr val="0000FF"/>
                </a:solidFill>
                <a:effectLst/>
                <a:latin typeface="Consolas" panose="020B0609020204030204" pitchFamily="49" charset="0"/>
              </a:rPr>
              <a:t>void</a:t>
            </a:r>
            <a:r>
              <a:rPr lang="en-US" sz="1600" b="0" dirty="0">
                <a:solidFill>
                  <a:srgbClr val="3B3B3B"/>
                </a:solidFill>
                <a:effectLst/>
                <a:latin typeface="Consolas" panose="020B0609020204030204" pitchFamily="49" charset="0"/>
              </a:rPr>
              <a:t>) {</a:t>
            </a:r>
          </a:p>
          <a:p>
            <a:pPr marL="114300" indent="0">
              <a:buNone/>
            </a:pPr>
            <a:r>
              <a:rPr lang="en-US" sz="1600" b="0" dirty="0">
                <a:solidFill>
                  <a:srgbClr val="3B3B3B"/>
                </a:solidFill>
                <a:effectLst/>
                <a:latin typeface="Consolas" panose="020B0609020204030204" pitchFamily="49" charset="0"/>
              </a:rPr>
              <a:t>    </a:t>
            </a:r>
            <a:r>
              <a:rPr lang="en-US" sz="1600" b="0" dirty="0">
                <a:solidFill>
                  <a:srgbClr val="267F99"/>
                </a:solidFill>
                <a:effectLst/>
                <a:latin typeface="Consolas" panose="020B0609020204030204" pitchFamily="49" charset="0"/>
              </a:rPr>
              <a:t>int32_t</a:t>
            </a: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raw</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p>
          <a:p>
            <a:pPr marL="114300" indent="0">
              <a:buNone/>
            </a:pPr>
            <a:r>
              <a:rPr lang="en-US" sz="1600" b="0" dirty="0">
                <a:solidFill>
                  <a:srgbClr val="3B3B3B"/>
                </a:solidFill>
                <a:effectLst/>
                <a:latin typeface="Consolas" panose="020B0609020204030204" pitchFamily="49" charset="0"/>
              </a:rPr>
              <a:t>    </a:t>
            </a:r>
            <a:r>
              <a:rPr lang="en-US" sz="1600" b="0" dirty="0">
                <a:solidFill>
                  <a:srgbClr val="267F99"/>
                </a:solidFill>
                <a:effectLst/>
                <a:latin typeface="Consolas" panose="020B0609020204030204" pitchFamily="49" charset="0"/>
              </a:rPr>
              <a:t>uint32_t</a:t>
            </a:r>
            <a:r>
              <a:rPr lang="en-US" sz="1600" b="0" dirty="0">
                <a:solidFill>
                  <a:srgbClr val="3B3B3B"/>
                </a:solidFill>
                <a:effectLst/>
                <a:latin typeface="Consolas" panose="020B0609020204030204" pitchFamily="49" charset="0"/>
              </a:rPr>
              <a:t> </a:t>
            </a:r>
            <a:r>
              <a:rPr lang="en-US" sz="1600" b="0" dirty="0" err="1">
                <a:solidFill>
                  <a:srgbClr val="001080"/>
                </a:solidFill>
                <a:effectLst/>
                <a:latin typeface="Consolas" panose="020B0609020204030204" pitchFamily="49" charset="0"/>
              </a:rPr>
              <a:t>QEP_maxvalue</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98658"/>
                </a:solidFill>
                <a:effectLst/>
                <a:latin typeface="Consolas" panose="020B0609020204030204" pitchFamily="49" charset="0"/>
              </a:rPr>
              <a:t>0xFFFFFFFFU</a:t>
            </a:r>
            <a:r>
              <a:rPr lang="en-US" sz="1600" b="0" dirty="0">
                <a:solidFill>
                  <a:srgbClr val="3B3B3B"/>
                </a:solidFill>
                <a:effectLst/>
                <a:latin typeface="Consolas" panose="020B0609020204030204" pitchFamily="49" charset="0"/>
              </a:rPr>
              <a:t>;</a:t>
            </a:r>
            <a:r>
              <a:rPr lang="en-US" sz="1600" b="0" dirty="0">
                <a:solidFill>
                  <a:srgbClr val="008000"/>
                </a:solidFill>
                <a:effectLst/>
                <a:latin typeface="Consolas" panose="020B0609020204030204" pitchFamily="49" charset="0"/>
              </a:rPr>
              <a:t>  //4294967295U</a:t>
            </a:r>
            <a:endParaRPr lang="en-US" sz="1600" b="0" dirty="0">
              <a:solidFill>
                <a:srgbClr val="3B3B3B"/>
              </a:solidFill>
              <a:effectLst/>
              <a:latin typeface="Consolas" panose="020B0609020204030204" pitchFamily="49" charset="0"/>
            </a:endParaRPr>
          </a:p>
          <a:p>
            <a:pPr marL="114300" indent="0">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raw</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EQep1Regs</a:t>
            </a:r>
            <a:r>
              <a:rPr lang="en-US" sz="1600" b="0" dirty="0">
                <a:solidFill>
                  <a:srgbClr val="3B3B3B"/>
                </a:solidFill>
                <a:effectLst/>
                <a:latin typeface="Consolas" panose="020B0609020204030204" pitchFamily="49" charset="0"/>
              </a:rPr>
              <a:t>.</a:t>
            </a:r>
            <a:r>
              <a:rPr lang="en-US" sz="1600" b="0" dirty="0">
                <a:solidFill>
                  <a:srgbClr val="001080"/>
                </a:solidFill>
                <a:effectLst/>
                <a:latin typeface="Consolas" panose="020B0609020204030204" pitchFamily="49" charset="0"/>
              </a:rPr>
              <a:t>QPOSCNT</a:t>
            </a:r>
            <a:r>
              <a:rPr lang="en-US" sz="1600" b="0" dirty="0">
                <a:solidFill>
                  <a:srgbClr val="3B3B3B"/>
                </a:solidFill>
                <a:effectLst/>
                <a:latin typeface="Consolas" panose="020B0609020204030204" pitchFamily="49" charset="0"/>
              </a:rPr>
              <a:t>;</a:t>
            </a:r>
          </a:p>
          <a:p>
            <a:pPr marL="114300" indent="0">
              <a:buNone/>
            </a:pPr>
            <a:endParaRPr lang="en-US" sz="1600" dirty="0">
              <a:solidFill>
                <a:srgbClr val="3B3B3B"/>
              </a:solidFill>
              <a:latin typeface="Consolas" panose="020B0609020204030204" pitchFamily="49" charset="0"/>
            </a:endParaRPr>
          </a:p>
          <a:p>
            <a:pPr marL="114300" indent="0">
              <a:buNone/>
            </a:pPr>
            <a:r>
              <a:rPr lang="en-US" sz="1600" dirty="0">
                <a:solidFill>
                  <a:srgbClr val="3B3B3B"/>
                </a:solidFill>
                <a:latin typeface="Consolas" panose="020B0609020204030204" pitchFamily="49" charset="0"/>
              </a:rPr>
              <a:t>    </a:t>
            </a:r>
            <a:r>
              <a:rPr lang="en-US" sz="1600" b="0" dirty="0">
                <a:solidFill>
                  <a:srgbClr val="AF00DB"/>
                </a:solidFill>
                <a:effectLst/>
                <a:latin typeface="Consolas" panose="020B0609020204030204" pitchFamily="49" charset="0"/>
              </a:rPr>
              <a:t>return</a:t>
            </a: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raw</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2</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PI</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2000.0</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20.0</a:t>
            </a:r>
            <a:r>
              <a:rPr lang="en-US" sz="1600" b="0" dirty="0">
                <a:solidFill>
                  <a:srgbClr val="3B3B3B"/>
                </a:solidFill>
                <a:effectLst/>
                <a:latin typeface="Consolas" panose="020B0609020204030204" pitchFamily="49" charset="0"/>
              </a:rPr>
              <a:t>)));</a:t>
            </a:r>
          </a:p>
          <a:p>
            <a:pPr marL="114300" indent="0">
              <a:buNone/>
            </a:pPr>
            <a:r>
              <a:rPr lang="en-US" sz="1600" b="0" dirty="0">
                <a:solidFill>
                  <a:srgbClr val="3B3B3B"/>
                </a:solidFill>
                <a:effectLst/>
                <a:latin typeface="Consolas" panose="020B0609020204030204" pitchFamily="49" charset="0"/>
              </a:rPr>
              <a:t>}</a:t>
            </a: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PWM</a:t>
            </a:r>
            <a:endParaRPr dirty="0"/>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How do LEDs become dimmer?</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PWM Animati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110109" y="1128318"/>
            <a:ext cx="9445179" cy="5336538"/>
          </a:xfrm>
          <a:prstGeom prst="rect">
            <a:avLst/>
          </a:prstGeom>
        </p:spPr>
      </p:pic>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0FC26F5-2324-776A-3D7E-4DE12C1A4A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B0FC26F5-2324-776A-3D7E-4DE12C1A4A2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E163057-C04E-7706-10EC-7A176DDB944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1890081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latin typeface="Arial"/>
              <a:ea typeface="Arial"/>
              <a:cs typeface="Arial"/>
              <a:sym typeface="Aria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CHART / GRAPH</a:t>
            </a:r>
            <a:endParaRPr sz="1400" b="0" i="0" u="none" strike="noStrike" cap="none">
              <a:solidFill>
                <a:srgbClr val="000000"/>
              </a:solidFill>
              <a:latin typeface="Arial"/>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rial"/>
                <a:ea typeface="Arial"/>
                <a:cs typeface="Arial"/>
                <a:sym typeface="Arial"/>
              </a:rPr>
              <a:t>(Short commentary or relevant information about the contents of the chart/graph.)</a:t>
            </a:r>
            <a:endParaRPr sz="1600" b="0" i="0" u="none" strike="noStrike" cap="none">
              <a:solidFill>
                <a:srgbClr val="000000"/>
              </a:solidFill>
              <a:latin typeface="Arial"/>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(Send to back so Block I is not covered.)</a:t>
            </a:r>
            <a:endParaRPr sz="1400" b="0" i="0" u="none" strike="noStrike" cap="none">
              <a:solidFill>
                <a:srgbClr val="000000"/>
              </a:solidFill>
              <a:latin typeface="Arial"/>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(Keep this text simple and short on one or two lines.)</a:t>
            </a:r>
            <a:endParaRPr sz="2200" b="0" i="0" u="none" strike="noStrike" cap="none">
              <a:solidFill>
                <a:srgbClr val="000000"/>
              </a:solidFill>
              <a:latin typeface="Arial"/>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Lorem ipsum dolor sit amet consectetur adipiscing elit</a:t>
            </a: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rial"/>
                <a:ea typeface="Arial"/>
                <a:cs typeface="Arial"/>
                <a:sym typeface="Arial"/>
              </a:rPr>
              <a:t>Lorem ipsum dolor sit amet consectetur adipiscing</a:t>
            </a:r>
            <a:endParaRPr sz="20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a:t>
            </a:r>
            <a:endParaRPr sz="1400" b="0" i="0" u="none" strike="noStrike" cap="none">
              <a:solidFill>
                <a:srgbClr val="000000"/>
              </a:solidFill>
              <a:latin typeface="Arial"/>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rial"/>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rial"/>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is not covered.)</a:t>
            </a:r>
            <a:endParaRPr sz="1400" b="0" i="0" u="none" strike="noStrike" cap="none">
              <a:solidFill>
                <a:schemeClr val="lt1"/>
              </a:solidFill>
              <a:latin typeface="Arial"/>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(Closing slide option. Suggestions for last slide)</a:t>
            </a: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578</TotalTime>
  <Words>2759</Words>
  <Application>Microsoft Office PowerPoint</Application>
  <PresentationFormat>Widescreen</PresentationFormat>
  <Paragraphs>369</Paragraphs>
  <Slides>52</Slides>
  <Notes>52</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52</vt:i4>
      </vt:variant>
    </vt:vector>
  </HeadingPairs>
  <TitlesOfParts>
    <vt:vector size="58" baseType="lpstr">
      <vt:lpstr>Arial</vt:lpstr>
      <vt:lpstr>Calibri</vt:lpstr>
      <vt:lpstr>Cambria Math</vt:lpstr>
      <vt:lpstr>Consolas</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134</cp:revision>
  <dcterms:created xsi:type="dcterms:W3CDTF">2019-01-14T22:06:33Z</dcterms:created>
  <dcterms:modified xsi:type="dcterms:W3CDTF">2026-02-06T23:34:25Z</dcterms:modified>
</cp:coreProperties>
</file>