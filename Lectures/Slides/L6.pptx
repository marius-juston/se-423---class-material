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3"/>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42" r:id="rId24"/>
    <p:sldId id="336" r:id="rId25"/>
    <p:sldId id="337" r:id="rId26"/>
    <p:sldId id="339" r:id="rId27"/>
    <p:sldId id="344" r:id="rId28"/>
    <p:sldId id="347" r:id="rId29"/>
    <p:sldId id="348" r:id="rId30"/>
    <p:sldId id="345" r:id="rId31"/>
    <p:sldId id="349" r:id="rId32"/>
    <p:sldId id="346" r:id="rId33"/>
    <p:sldId id="330" r:id="rId34"/>
    <p:sldId id="331" r:id="rId35"/>
    <p:sldId id="332" r:id="rId36"/>
    <p:sldId id="333" r:id="rId37"/>
    <p:sldId id="334" r:id="rId38"/>
    <p:sldId id="335" r:id="rId39"/>
    <p:sldId id="259" r:id="rId40"/>
    <p:sldId id="260" r:id="rId41"/>
    <p:sldId id="261" r:id="rId42"/>
    <p:sldId id="262" r:id="rId43"/>
    <p:sldId id="263" r:id="rId44"/>
    <p:sldId id="264" r:id="rId45"/>
    <p:sldId id="265" r:id="rId46"/>
    <p:sldId id="266" r:id="rId47"/>
    <p:sldId id="267" r:id="rId48"/>
    <p:sldId id="268" r:id="rId49"/>
    <p:sldId id="269" r:id="rId50"/>
    <p:sldId id="271" r:id="rId51"/>
    <p:sldId id="270" r:id="rId5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0388" autoAdjust="0"/>
  </p:normalViewPr>
  <p:slideViewPr>
    <p:cSldViewPr snapToGrid="0">
      <p:cViewPr>
        <p:scale>
          <a:sx n="100" d="100"/>
          <a:sy n="100" d="100"/>
        </p:scale>
        <p:origin x="39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 and 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dirty="0">
                <a:solidFill>
                  <a:schemeClr val="dk1"/>
                </a:solidFill>
                <a:latin typeface="+mj-lt"/>
                <a:ea typeface="Arial"/>
                <a:cs typeface="Arial"/>
                <a:sym typeface="Arial"/>
              </a:rPr>
              <a:t>Binary coding 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2" y="6176442"/>
            <a:ext cx="2009775" cy="246221"/>
          </a:xfrm>
          <a:prstGeom prst="rect">
            <a:avLst/>
          </a:prstGeom>
          <a:noFill/>
        </p:spPr>
        <p:txBody>
          <a:bodyPr wrap="square" rtlCol="0">
            <a:spAutoFit/>
          </a:bodyPr>
          <a:lstStyle/>
          <a:p>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Tree>
    <p:extLst>
      <p:ext uri="{BB962C8B-B14F-4D97-AF65-F5344CB8AC3E}">
        <p14:creationId xmlns:p14="http://schemas.microsoft.com/office/powerpoint/2010/main" val="349316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p:txBody>
      </p:sp>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b="0" dirty="0">
                <a:solidFill>
                  <a:srgbClr val="008000"/>
                </a:solidFill>
                <a:effectLst/>
                <a:latin typeface="Consolas" panose="020B0609020204030204" pitchFamily="49" charset="0"/>
              </a:rPr>
              <a:t>// setup eQEP1 pins for input</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00FF"/>
                </a:solidFill>
                <a:effectLst/>
                <a:latin typeface="Consolas" panose="020B0609020204030204" pitchFamily="49" charset="0"/>
              </a:rPr>
              <a:t>EALLOW</a:t>
            </a:r>
            <a:r>
              <a:rPr lang="en-US" sz="1400" b="0" dirty="0">
                <a:solidFill>
                  <a:srgbClr val="3B3B3B"/>
                </a:solidFill>
                <a:effectLst/>
                <a:latin typeface="Consolas" panose="020B0609020204030204" pitchFamily="49" charset="0"/>
              </a:rPr>
              <a:t>;</a:t>
            </a:r>
          </a:p>
          <a:p>
            <a:pPr marL="114300" indent="0">
              <a:buNone/>
            </a:pPr>
            <a:r>
              <a:rPr lang="en-US" sz="1400" b="0" dirty="0">
                <a:solidFill>
                  <a:srgbClr val="008000"/>
                </a:solidFill>
                <a:effectLst/>
                <a:latin typeface="Consolas" panose="020B0609020204030204" pitchFamily="49" charset="0"/>
              </a:rPr>
              <a:t>//Disable internal pull-up for the selected output pins for reduced power consumption</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1080"/>
                </a:solidFill>
                <a:effectLst/>
                <a:latin typeface="Consolas" panose="020B0609020204030204" pitchFamily="49" charset="0"/>
              </a:rPr>
              <a:t>GpioCtrlRegs</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GPAPUD</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bit</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GPIO20</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r>
              <a:rPr lang="en-US" sz="1400" b="0" dirty="0">
                <a:solidFill>
                  <a:srgbClr val="008000"/>
                </a:solidFill>
                <a:effectLst/>
                <a:latin typeface="Consolas" panose="020B0609020204030204" pitchFamily="49" charset="0"/>
              </a:rPr>
              <a:t>    // Disable pull-up on GPIO20 (EQEP1A)</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1080"/>
                </a:solidFill>
                <a:effectLst/>
                <a:latin typeface="Consolas" panose="020B0609020204030204" pitchFamily="49" charset="0"/>
              </a:rPr>
              <a:t>GpioCtrlRegs</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GPAPUD</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bit</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GPIO21</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r>
              <a:rPr lang="en-US" sz="1400" b="0" dirty="0">
                <a:solidFill>
                  <a:srgbClr val="008000"/>
                </a:solidFill>
                <a:effectLst/>
                <a:latin typeface="Consolas" panose="020B0609020204030204" pitchFamily="49" charset="0"/>
              </a:rPr>
              <a:t>    // Disable pull-up on GPIO21 (EQEP1B)</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1080"/>
                </a:solidFill>
                <a:effectLst/>
                <a:latin typeface="Consolas" panose="020B0609020204030204" pitchFamily="49" charset="0"/>
              </a:rPr>
              <a:t>GpioCtrlRegs</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GPAQSEL2</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bit</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GPIO20</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98658"/>
                </a:solidFill>
                <a:effectLst/>
                <a:latin typeface="Consolas" panose="020B0609020204030204" pitchFamily="49" charset="0"/>
              </a:rPr>
              <a:t>2</a:t>
            </a:r>
            <a:r>
              <a:rPr lang="en-US" sz="1400" b="0" dirty="0">
                <a:solidFill>
                  <a:srgbClr val="3B3B3B"/>
                </a:solidFill>
                <a:effectLst/>
                <a:latin typeface="Consolas" panose="020B0609020204030204" pitchFamily="49" charset="0"/>
              </a:rPr>
              <a:t>;</a:t>
            </a:r>
            <a:r>
              <a:rPr lang="en-US" sz="1400" b="0" dirty="0">
                <a:solidFill>
                  <a:srgbClr val="008000"/>
                </a:solidFill>
                <a:effectLst/>
                <a:latin typeface="Consolas" panose="020B0609020204030204" pitchFamily="49" charset="0"/>
              </a:rPr>
              <a:t>   // Qual every 6 samples</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1080"/>
                </a:solidFill>
                <a:effectLst/>
                <a:latin typeface="Consolas" panose="020B0609020204030204" pitchFamily="49" charset="0"/>
              </a:rPr>
              <a:t>GpioCtrlRegs</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GPAQSEL2</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bit</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GPIO21</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98658"/>
                </a:solidFill>
                <a:effectLst/>
                <a:latin typeface="Consolas" panose="020B0609020204030204" pitchFamily="49" charset="0"/>
              </a:rPr>
              <a:t>2</a:t>
            </a:r>
            <a:r>
              <a:rPr lang="en-US" sz="1400" b="0" dirty="0">
                <a:solidFill>
                  <a:srgbClr val="3B3B3B"/>
                </a:solidFill>
                <a:effectLst/>
                <a:latin typeface="Consolas" panose="020B0609020204030204" pitchFamily="49" charset="0"/>
              </a:rPr>
              <a:t>;</a:t>
            </a:r>
            <a:r>
              <a:rPr lang="en-US" sz="1400" b="0" dirty="0">
                <a:solidFill>
                  <a:srgbClr val="008000"/>
                </a:solidFill>
                <a:effectLst/>
                <a:latin typeface="Consolas" panose="020B0609020204030204" pitchFamily="49" charset="0"/>
              </a:rPr>
              <a:t>   // Qual every 6 samples</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00FF"/>
                </a:solidFill>
                <a:effectLst/>
                <a:latin typeface="Consolas" panose="020B0609020204030204" pitchFamily="49" charset="0"/>
              </a:rPr>
              <a:t>EDIS</a:t>
            </a:r>
            <a:r>
              <a:rPr lang="en-US" sz="1400" b="0" dirty="0">
                <a:solidFill>
                  <a:srgbClr val="3B3B3B"/>
                </a:solidFill>
                <a:effectLst/>
                <a:latin typeface="Consolas" panose="020B0609020204030204" pitchFamily="49" charset="0"/>
              </a:rPr>
              <a:t>;</a:t>
            </a: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consistent within that sampling period 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b="0" dirty="0">
                <a:solidFill>
                  <a:srgbClr val="008000"/>
                </a:solidFill>
                <a:effectLst/>
                <a:latin typeface="Consolas" panose="020B0609020204030204" pitchFamily="49" charset="0"/>
              </a:rPr>
              <a:t>// setup eQEP1 pins for input</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8000"/>
                </a:solidFill>
                <a:effectLst/>
                <a:latin typeface="Consolas" panose="020B0609020204030204" pitchFamily="49" charset="0"/>
              </a:rPr>
              <a:t>// This specifies which of the possible GPIO pins will be EQEP1 functional pins.</a:t>
            </a:r>
            <a:endParaRPr lang="en-US" sz="1600" b="0" dirty="0">
              <a:solidFill>
                <a:srgbClr val="3B3B3B"/>
              </a:solidFill>
              <a:effectLst/>
              <a:latin typeface="Consolas" panose="020B0609020204030204" pitchFamily="49" charset="0"/>
            </a:endParaRPr>
          </a:p>
          <a:p>
            <a:pPr marL="114300" indent="0">
              <a:buNone/>
            </a:pPr>
            <a:r>
              <a:rPr lang="en-US" sz="1600" b="0" dirty="0" err="1">
                <a:solidFill>
                  <a:srgbClr val="795E26"/>
                </a:solidFill>
                <a:effectLst/>
                <a:latin typeface="Consolas" panose="020B0609020204030204" pitchFamily="49" charset="0"/>
              </a:rPr>
              <a:t>GPIO_SetupPinMux</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20</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GPIO_MUX_CPU1</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1</a:t>
            </a: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set pin mux EQEP2A</a:t>
            </a:r>
            <a:endParaRPr lang="en-US" sz="1600" b="0" dirty="0">
              <a:solidFill>
                <a:srgbClr val="3B3B3B"/>
              </a:solidFill>
              <a:effectLst/>
              <a:latin typeface="Consolas" panose="020B0609020204030204" pitchFamily="49" charset="0"/>
            </a:endParaRPr>
          </a:p>
          <a:p>
            <a:pPr marL="114300" indent="0">
              <a:buNone/>
            </a:pPr>
            <a:r>
              <a:rPr lang="en-US" sz="1600" b="0" dirty="0" err="1">
                <a:solidFill>
                  <a:srgbClr val="795E26"/>
                </a:solidFill>
                <a:effectLst/>
                <a:latin typeface="Consolas" panose="020B0609020204030204" pitchFamily="49" charset="0"/>
              </a:rPr>
              <a:t>GPIO_SetupPinMux</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21</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GPIO_MUX_CPU1</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1</a:t>
            </a: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set pin mux EQEP2B</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QEPCTL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bit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QPEN</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make sure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in reset</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QDECCTL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bit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QSRC</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Quadrature count mode</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QPOSCTL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all</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Disable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Position Compare</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QCAPCTL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all</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Disable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Capture</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QEINT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all</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Disable all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interrupts</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QPOSMAX</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0xFFFFFFFF</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use full range of the 32-bit count</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QEPCTL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bit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FREE_SOFT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2</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unaffected by emulation suspend in Code Composer</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QPOSCNT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Set the initial position of the encoder</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QEPCTL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bit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QPEN</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1</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Enable </a:t>
            </a:r>
            <a:r>
              <a:rPr lang="en-US" sz="1600" b="0" dirty="0" err="1">
                <a:solidFill>
                  <a:srgbClr val="008000"/>
                </a:solidFill>
                <a:effectLst/>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b="0" dirty="0">
                <a:solidFill>
                  <a:srgbClr val="0000FF"/>
                </a:solidFill>
                <a:effectLst/>
                <a:latin typeface="Consolas" panose="020B0609020204030204" pitchFamily="49" charset="0"/>
              </a:rPr>
              <a:t>float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readEncWheel</a:t>
            </a:r>
            <a:r>
              <a:rPr lang="en-US" sz="1600" b="0" dirty="0">
                <a:solidFill>
                  <a:srgbClr val="3B3B3B"/>
                </a:solidFill>
                <a:effectLst/>
                <a:latin typeface="Consolas" panose="020B0609020204030204" pitchFamily="49" charset="0"/>
              </a:rPr>
              <a:t>(</a:t>
            </a:r>
            <a:r>
              <a:rPr lang="en-US" sz="1600" b="0" dirty="0">
                <a:solidFill>
                  <a:srgbClr val="0000FF"/>
                </a:solidFill>
                <a:effectLst/>
                <a:latin typeface="Consolas" panose="020B0609020204030204" pitchFamily="49" charset="0"/>
              </a:rPr>
              <a:t>void</a:t>
            </a:r>
            <a:r>
              <a:rPr lang="en-US" sz="1600" b="0" dirty="0">
                <a:solidFill>
                  <a:srgbClr val="3B3B3B"/>
                </a:solidFill>
                <a:effectLst/>
                <a:latin typeface="Consolas" panose="020B0609020204030204" pitchFamily="49" charset="0"/>
              </a:rPr>
              <a:t>) {</a:t>
            </a:r>
          </a:p>
          <a:p>
            <a:pPr marL="114300" indent="0">
              <a:buNone/>
            </a:pP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int32_t</a:t>
            </a: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raw</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marL="114300" indent="0">
              <a:buNone/>
            </a:pP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uint32_t</a:t>
            </a:r>
            <a:r>
              <a:rPr lang="en-US" sz="1600" b="0" dirty="0">
                <a:solidFill>
                  <a:srgbClr val="3B3B3B"/>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QEP_maxvalue</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0xFFFFFFFFU</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//4294967295U</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raw</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QPOSCNT</a:t>
            </a:r>
            <a:r>
              <a:rPr lang="en-US" sz="1600" b="0" dirty="0">
                <a:solidFill>
                  <a:srgbClr val="3B3B3B"/>
                </a:solidFill>
                <a:effectLst/>
                <a:latin typeface="Consolas" panose="020B0609020204030204" pitchFamily="49" charset="0"/>
              </a:rPr>
              <a:t>;</a:t>
            </a:r>
          </a:p>
          <a:p>
            <a:pPr marL="114300" indent="0">
              <a:buNone/>
            </a:pPr>
            <a:endParaRPr lang="en-US" sz="1600" dirty="0">
              <a:solidFill>
                <a:srgbClr val="3B3B3B"/>
              </a:solidFill>
              <a:latin typeface="Consolas" panose="020B0609020204030204" pitchFamily="49" charset="0"/>
            </a:endParaRPr>
          </a:p>
          <a:p>
            <a:pPr marL="114300" indent="0">
              <a:buNone/>
            </a:pPr>
            <a:r>
              <a:rPr lang="en-US" sz="1600" dirty="0">
                <a:solidFill>
                  <a:srgbClr val="3B3B3B"/>
                </a:solidFill>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raw</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PI</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2000.0</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20.0</a:t>
            </a:r>
            <a:r>
              <a:rPr lang="en-US" sz="1600" b="0" dirty="0">
                <a:solidFill>
                  <a:srgbClr val="3B3B3B"/>
                </a:solidFill>
                <a:effectLst/>
                <a:latin typeface="Consolas" panose="020B0609020204030204" pitchFamily="49" charset="0"/>
              </a:rPr>
              <a:t>)));</a:t>
            </a:r>
          </a:p>
          <a:p>
            <a:pPr marL="114300" indent="0">
              <a:buNone/>
            </a:pPr>
            <a:r>
              <a:rPr lang="en-US" sz="1600" b="0" dirty="0">
                <a:solidFill>
                  <a:srgbClr val="3B3B3B"/>
                </a:solidFill>
                <a:effectLst/>
                <a:latin typeface="Consolas" panose="020B0609020204030204" pitchFamily="49" charset="0"/>
              </a:rPr>
              <a:t>}</a:t>
            </a: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110109" y="1128318"/>
            <a:ext cx="9445179" cy="5336538"/>
          </a:xfrm>
          <a:prstGeom prst="rect">
            <a:avLst/>
          </a:prstGeom>
        </p:spPr>
      </p:pic>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0FC26F5-2324-776A-3D7E-4DE12C1A4A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p:sp>
            <p:nvSpPr>
              <p:cNvPr id="118" name="Google Shape;118;p29">
                <a:extLst>
                  <a:ext uri="{FF2B5EF4-FFF2-40B4-BE49-F238E27FC236}">
                    <a16:creationId xmlns:a16="http://schemas.microsoft.com/office/drawing/2014/main" id="{B0FC26F5-2324-776A-3D7E-4DE12C1A4A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89008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572</TotalTime>
  <Words>2750</Words>
  <Application>Microsoft Office PowerPoint</Application>
  <PresentationFormat>Widescreen</PresentationFormat>
  <Paragraphs>366</Paragraphs>
  <Slides>51</Slides>
  <Notes>51</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Arial</vt:lpstr>
      <vt:lpstr>Calibri</vt:lpstr>
      <vt:lpstr>Cambria Math</vt:lpstr>
      <vt:lpstr>Consolas</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132</cp:revision>
  <dcterms:created xsi:type="dcterms:W3CDTF">2019-01-14T22:06:33Z</dcterms:created>
  <dcterms:modified xsi:type="dcterms:W3CDTF">2026-02-06T23:27:45Z</dcterms:modified>
</cp:coreProperties>
</file>