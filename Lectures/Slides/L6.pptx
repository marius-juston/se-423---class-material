
<file path=[Content_Types].xml><?xml version="1.0" encoding="utf-8"?>
<Types xmlns="http://schemas.openxmlformats.org/package/2006/content-types">
  <Default Extension="gif" ContentType="image/gi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35"/>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8" r:id="rId21"/>
    <p:sldId id="259" r:id="rId22"/>
    <p:sldId id="260" r:id="rId23"/>
    <p:sldId id="261" r:id="rId24"/>
    <p:sldId id="262" r:id="rId25"/>
    <p:sldId id="263" r:id="rId26"/>
    <p:sldId id="264" r:id="rId27"/>
    <p:sldId id="265" r:id="rId28"/>
    <p:sldId id="266" r:id="rId29"/>
    <p:sldId id="267" r:id="rId30"/>
    <p:sldId id="268" r:id="rId31"/>
    <p:sldId id="269" r:id="rId32"/>
    <p:sldId id="271" r:id="rId33"/>
    <p:sldId id="270" r:id="rId34"/>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36"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44" d="100"/>
          <a:sy n="144" d="100"/>
        </p:scale>
        <p:origin x="894" y="11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3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9" name="Google Shape;129;p3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3" name="Google Shape;143;p3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7: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60" name="Google Shape;160;p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5"/>
        <p:cNvGrpSpPr/>
        <p:nvPr/>
      </p:nvGrpSpPr>
      <p:grpSpPr>
        <a:xfrm>
          <a:off x="0" y="0"/>
          <a:ext cx="0" cy="0"/>
          <a:chOff x="0" y="0"/>
          <a:chExt cx="0" cy="0"/>
        </a:xfrm>
      </p:grpSpPr>
      <p:sp>
        <p:nvSpPr>
          <p:cNvPr id="176" name="Google Shape;176;p3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77" name="Google Shape;177;p3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0"/>
        <p:cNvGrpSpPr/>
        <p:nvPr/>
      </p:nvGrpSpPr>
      <p:grpSpPr>
        <a:xfrm>
          <a:off x="0" y="0"/>
          <a:ext cx="0" cy="0"/>
          <a:chOff x="0" y="0"/>
          <a:chExt cx="0" cy="0"/>
        </a:xfrm>
      </p:grpSpPr>
      <p:sp>
        <p:nvSpPr>
          <p:cNvPr id="191" name="Google Shape;19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92" name="Google Shape;192;p3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8: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207" name="Google Shape;207;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22" name="Google Shape;222;p3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3"/>
        <p:cNvGrpSpPr/>
        <p:nvPr/>
      </p:nvGrpSpPr>
      <p:grpSpPr>
        <a:xfrm>
          <a:off x="0" y="0"/>
          <a:ext cx="0" cy="0"/>
          <a:chOff x="0" y="0"/>
          <a:chExt cx="0" cy="0"/>
        </a:xfrm>
      </p:grpSpPr>
      <p:sp>
        <p:nvSpPr>
          <p:cNvPr id="234" name="Google Shape;234;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5" name="Google Shape;235;p3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3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8" name="Google Shape;248;p3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p:cNvGrpSpPr/>
        <p:nvPr/>
      </p:nvGrpSpPr>
      <p:grpSpPr>
        <a:xfrm>
          <a:off x="0" y="0"/>
          <a:ext cx="0" cy="0"/>
          <a:chOff x="0" y="0"/>
          <a:chExt cx="0" cy="0"/>
        </a:xfrm>
      </p:grpSpPr>
      <p:sp>
        <p:nvSpPr>
          <p:cNvPr id="261" name="Google Shape;261;p3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18.svg"/><Relationship Id="rId4" Type="http://schemas.openxmlformats.org/officeDocument/2006/relationships/image" Target="../media/image17.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20.gif"/><Relationship Id="rId4" Type="http://schemas.openxmlformats.org/officeDocument/2006/relationships/hyperlink" Target="https://www.akm.com/global/en/products/rotation-angle-sensor/tutorial/type-mechanism-2/" TargetMode="Externa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notesSlide" Target="../notesSlides/notesSlide3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1.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3.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2.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3-week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How do we measure angular position or motion of a shaft into a digital value?</a:t>
            </a:r>
            <a:r>
              <a:rPr lang="en-US" sz="18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The optical encoder is composed of a light emitting device (</a:t>
            </a:r>
            <a:r>
              <a:rPr lang="en-US" sz="1800" b="1" dirty="0">
                <a:solidFill>
                  <a:schemeClr val="dk1"/>
                </a:solidFill>
                <a:latin typeface="Arial"/>
                <a:ea typeface="Arial"/>
                <a:cs typeface="Arial"/>
                <a:sym typeface="Arial"/>
              </a:rPr>
              <a:t>LED</a:t>
            </a:r>
            <a:r>
              <a:rPr lang="en-US" sz="1800" dirty="0">
                <a:solidFill>
                  <a:schemeClr val="dk1"/>
                </a:solidFill>
                <a:latin typeface="Arial"/>
                <a:ea typeface="Arial"/>
                <a:cs typeface="Arial"/>
                <a:sym typeface="Arial"/>
              </a:rPr>
              <a:t>), </a:t>
            </a:r>
            <a:r>
              <a:rPr lang="en-US" sz="1800" b="1" dirty="0">
                <a:solidFill>
                  <a:schemeClr val="dk1"/>
                </a:solidFill>
                <a:latin typeface="Arial"/>
                <a:ea typeface="Arial"/>
                <a:cs typeface="Arial"/>
                <a:sym typeface="Arial"/>
              </a:rPr>
              <a:t>photo sensors</a:t>
            </a:r>
            <a:r>
              <a:rPr lang="en-US" sz="1800" dirty="0">
                <a:solidFill>
                  <a:schemeClr val="dk1"/>
                </a:solidFill>
                <a:latin typeface="Arial"/>
                <a:ea typeface="Arial"/>
                <a:cs typeface="Arial"/>
                <a:sym typeface="Arial"/>
              </a:rPr>
              <a:t>, and a disc called a </a:t>
            </a:r>
            <a:r>
              <a:rPr lang="en-US" sz="1800" b="1" dirty="0">
                <a:solidFill>
                  <a:schemeClr val="dk1"/>
                </a:solidFill>
                <a:latin typeface="Arial"/>
                <a:ea typeface="Arial"/>
                <a:cs typeface="Arial"/>
                <a:sym typeface="Arial"/>
              </a:rPr>
              <a:t>code wheel </a:t>
            </a:r>
            <a:r>
              <a:rPr lang="en-US" sz="18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Photo sensor detects the optical pulse, converts it into an electrical signal, and outputs it.</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solidFill>
                <a:schemeClr val="dk1"/>
              </a:solidFill>
              <a:latin typeface="Arial"/>
              <a:ea typeface="Arial"/>
              <a:cs typeface="Arial"/>
              <a:sym typeface="Arial"/>
            </a:endParaRP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902696"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905250" y="5819967"/>
            <a:ext cx="5324390" cy="253916"/>
          </a:xfrm>
          <a:prstGeom prst="rect">
            <a:avLst/>
          </a:prstGeom>
          <a:noFill/>
        </p:spPr>
        <p:txBody>
          <a:bodyPr wrap="square" rtlCol="0">
            <a:spAutoFit/>
          </a:bodyPr>
          <a:lstStyle/>
          <a:p>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18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An </a:t>
            </a:r>
            <a:r>
              <a:rPr lang="en-US" sz="1800" b="1" dirty="0">
                <a:solidFill>
                  <a:schemeClr val="dk1"/>
                </a:solidFill>
                <a:latin typeface="+mj-lt"/>
                <a:ea typeface="Arial"/>
                <a:cs typeface="Arial"/>
                <a:sym typeface="Arial"/>
              </a:rPr>
              <a:t>incremental</a:t>
            </a:r>
            <a:r>
              <a:rPr lang="en-US" sz="18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285750" indent="-285750">
              <a:lnSpc>
                <a:spcPct val="100000"/>
              </a:lnSpc>
              <a:spcBef>
                <a:spcPts val="0"/>
              </a:spcBef>
              <a:buSzPts val="3000"/>
            </a:pPr>
            <a:r>
              <a:rPr lang="en-US" sz="18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18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18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1800" dirty="0">
              <a:latin typeface="+mj-lt"/>
              <a:ea typeface="Arial"/>
              <a:cs typeface="Arial"/>
              <a:sym typeface="Arial"/>
            </a:endParaRPr>
          </a:p>
          <a:p>
            <a:pPr marL="0" indent="0">
              <a:lnSpc>
                <a:spcPct val="100000"/>
              </a:lnSpc>
              <a:spcBef>
                <a:spcPts val="0"/>
              </a:spcBef>
              <a:buSzPts val="3000"/>
              <a:buNone/>
            </a:pPr>
            <a:endParaRPr lang="en-US" sz="1800" dirty="0">
              <a:solidFill>
                <a:schemeClr val="dk1"/>
              </a:solidFill>
              <a:latin typeface="+mj-lt"/>
              <a:ea typeface="Arial"/>
              <a:cs typeface="Arial"/>
              <a:sym typeface="Arial"/>
            </a:endParaRPr>
          </a:p>
          <a:p>
            <a:pPr marL="0" indent="0">
              <a:lnSpc>
                <a:spcPct val="100000"/>
              </a:lnSpc>
              <a:spcBef>
                <a:spcPts val="0"/>
              </a:spcBef>
              <a:buSzPts val="3000"/>
              <a:buNone/>
            </a:pPr>
            <a:r>
              <a:rPr lang="en-US" sz="18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88623"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The combined output of (A, B), forms a 2-bit </a:t>
                </a:r>
                <a:r>
                  <a:rPr lang="en-US" sz="1800" b="1" dirty="0">
                    <a:solidFill>
                      <a:schemeClr val="dk1"/>
                    </a:solidFill>
                    <a:latin typeface="Arial"/>
                    <a:ea typeface="Arial"/>
                    <a:cs typeface="Arial"/>
                    <a:sym typeface="Arial"/>
                  </a:rPr>
                  <a:t>Gray code sequence</a:t>
                </a:r>
                <a:r>
                  <a:rPr lang="en-US" sz="18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18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1800" dirty="0">
                  <a:solidFill>
                    <a:schemeClr val="dk1"/>
                  </a:solidFill>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r>
                  <a:rPr lang="en-US" sz="1800" b="1" dirty="0">
                    <a:latin typeface="Arial"/>
                    <a:ea typeface="Arial"/>
                    <a:cs typeface="Arial"/>
                    <a:sym typeface="Arial"/>
                  </a:rPr>
                  <a:t>clockwise </a:t>
                </a:r>
                <a:r>
                  <a:rPr lang="en-US" sz="1800" dirty="0">
                    <a:latin typeface="Arial"/>
                    <a:ea typeface="Arial"/>
                    <a:cs typeface="Arial"/>
                    <a:sym typeface="Arial"/>
                  </a:rPr>
                  <a:t>(CW): A leads B, the sequence is:</a:t>
                </a:r>
              </a:p>
              <a:p>
                <a:pPr marL="0" indent="0">
                  <a:lnSpc>
                    <a:spcPct val="100000"/>
                  </a:lnSpc>
                  <a:spcBef>
                    <a:spcPts val="0"/>
                  </a:spcBef>
                  <a:buSzPts val="3000"/>
                  <a:buNone/>
                </a:pPr>
                <a:endParaRPr lang="en-US" sz="18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b="0" i="1" smtClean="0">
                          <a:solidFill>
                            <a:schemeClr val="dk1"/>
                          </a:solidFill>
                          <a:latin typeface="Cambria Math" panose="02040503050406030204" pitchFamily="18" charset="0"/>
                          <a:ea typeface="Arial"/>
                          <a:cs typeface="Arial"/>
                          <a:sym typeface="Arial"/>
                        </a:rPr>
                        <m:t>(0, 0)</m:t>
                      </m:r>
                      <m:r>
                        <a:rPr lang="en-US" sz="18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1800" i="1" dirty="0">
                          <a:latin typeface="Cambria Math" panose="02040503050406030204" pitchFamily="18" charset="0"/>
                          <a:ea typeface="Arial"/>
                          <a:cs typeface="Arial"/>
                          <a:sym typeface="Arial"/>
                        </a:rPr>
                        <m:t>(1,0)</m:t>
                      </m:r>
                      <m:r>
                        <a:rPr lang="en-US" sz="1800" i="1">
                          <a:latin typeface="Cambria Math" panose="02040503050406030204" pitchFamily="18" charset="0"/>
                          <a:ea typeface="Cambria Math" panose="02040503050406030204" pitchFamily="18" charset="0"/>
                          <a:cs typeface="Arial"/>
                          <a:sym typeface="Arial"/>
                        </a:rPr>
                        <m:t>→(1,1)→(0,1)→(0,0)</m:t>
                      </m:r>
                    </m:oMath>
                  </m:oMathPara>
                </a14:m>
                <a:endParaRPr lang="en-US" sz="18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r>
                  <a:rPr lang="en-US" sz="1800" b="1" dirty="0">
                    <a:latin typeface="Arial"/>
                    <a:ea typeface="Arial"/>
                    <a:cs typeface="Arial"/>
                    <a:sym typeface="Arial"/>
                  </a:rPr>
                  <a:t>counter-clockwise</a:t>
                </a:r>
                <a:r>
                  <a:rPr lang="en-US" sz="1800" dirty="0">
                    <a:latin typeface="Arial"/>
                    <a:ea typeface="Arial"/>
                    <a:cs typeface="Arial"/>
                    <a:sym typeface="Arial"/>
                  </a:rPr>
                  <a:t> (CCW): B leads C, the sequence is:</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800" i="1">
                          <a:latin typeface="Cambria Math" panose="02040503050406030204" pitchFamily="18" charset="0"/>
                          <a:ea typeface="Arial"/>
                          <a:cs typeface="Arial"/>
                          <a:sym typeface="Arial"/>
                        </a:rPr>
                        <m:t>(0, 0)</m:t>
                      </m:r>
                      <m:r>
                        <a:rPr lang="en-US" sz="1800" i="1">
                          <a:latin typeface="Cambria Math" panose="02040503050406030204" pitchFamily="18" charset="0"/>
                          <a:ea typeface="Cambria Math" panose="02040503050406030204" pitchFamily="18" charset="0"/>
                          <a:cs typeface="Arial"/>
                          <a:sym typeface="Arial"/>
                        </a:rPr>
                        <m:t>→</m:t>
                      </m:r>
                      <m:r>
                        <a:rPr lang="en-US" sz="1800" i="1" dirty="0">
                          <a:latin typeface="Cambria Math" panose="02040503050406030204" pitchFamily="18" charset="0"/>
                          <a:ea typeface="Arial"/>
                          <a:cs typeface="Arial"/>
                          <a:sym typeface="Arial"/>
                        </a:rPr>
                        <m:t>(</m:t>
                      </m:r>
                      <m:r>
                        <a:rPr lang="en-US" sz="1800" b="0" i="1" dirty="0" smtClean="0">
                          <a:latin typeface="Cambria Math" panose="02040503050406030204" pitchFamily="18" charset="0"/>
                          <a:ea typeface="Arial"/>
                          <a:cs typeface="Arial"/>
                          <a:sym typeface="Arial"/>
                        </a:rPr>
                        <m:t>0</m:t>
                      </m:r>
                      <m:r>
                        <a:rPr lang="en-US" sz="1800" i="1" dirty="0">
                          <a:latin typeface="Cambria Math" panose="02040503050406030204" pitchFamily="18" charset="0"/>
                          <a:ea typeface="Arial"/>
                          <a:cs typeface="Arial"/>
                          <a:sym typeface="Arial"/>
                        </a:rPr>
                        <m:t>,</m:t>
                      </m:r>
                      <m:r>
                        <a:rPr lang="en-US" sz="1800" b="0" i="1" dirty="0" smtClean="0">
                          <a:latin typeface="Cambria Math" panose="02040503050406030204" pitchFamily="18" charset="0"/>
                          <a:ea typeface="Arial"/>
                          <a:cs typeface="Arial"/>
                          <a:sym typeface="Arial"/>
                        </a:rPr>
                        <m:t>1</m:t>
                      </m:r>
                      <m:r>
                        <a:rPr lang="en-US" sz="1800" i="1" dirty="0">
                          <a:latin typeface="Cambria Math" panose="02040503050406030204" pitchFamily="18" charset="0"/>
                          <a:ea typeface="Arial"/>
                          <a:cs typeface="Arial"/>
                          <a:sym typeface="Arial"/>
                        </a:rPr>
                        <m:t>)</m:t>
                      </m:r>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1</m:t>
                      </m:r>
                      <m:r>
                        <a:rPr lang="en-US" sz="1800" i="1">
                          <a:latin typeface="Cambria Math" panose="02040503050406030204" pitchFamily="18" charset="0"/>
                          <a:ea typeface="Cambria Math" panose="02040503050406030204" pitchFamily="18" charset="0"/>
                          <a:cs typeface="Arial"/>
                          <a:sym typeface="Arial"/>
                        </a:rPr>
                        <m:t>,1)→(</m:t>
                      </m:r>
                      <m:r>
                        <a:rPr lang="en-US" sz="1800" b="0" i="1" smtClean="0">
                          <a:latin typeface="Cambria Math" panose="02040503050406030204" pitchFamily="18" charset="0"/>
                          <a:ea typeface="Cambria Math" panose="02040503050406030204" pitchFamily="18" charset="0"/>
                          <a:cs typeface="Arial"/>
                          <a:sym typeface="Arial"/>
                        </a:rPr>
                        <m:t>1</m:t>
                      </m:r>
                      <m:r>
                        <a:rPr lang="en-US" sz="1800" i="1">
                          <a:latin typeface="Cambria Math" panose="02040503050406030204" pitchFamily="18" charset="0"/>
                          <a:ea typeface="Cambria Math" panose="02040503050406030204" pitchFamily="18" charset="0"/>
                          <a:cs typeface="Arial"/>
                          <a:sym typeface="Arial"/>
                        </a:rPr>
                        <m:t>,</m:t>
                      </m:r>
                      <m:r>
                        <a:rPr lang="en-US" sz="1800" b="0" i="1" smtClean="0">
                          <a:latin typeface="Cambria Math" panose="02040503050406030204" pitchFamily="18" charset="0"/>
                          <a:ea typeface="Cambria Math" panose="02040503050406030204" pitchFamily="18" charset="0"/>
                          <a:cs typeface="Arial"/>
                          <a:sym typeface="Arial"/>
                        </a:rPr>
                        <m:t>0</m:t>
                      </m:r>
                      <m:r>
                        <a:rPr lang="en-US" sz="1800" i="1">
                          <a:latin typeface="Cambria Math" panose="02040503050406030204" pitchFamily="18" charset="0"/>
                          <a:ea typeface="Cambria Math" panose="02040503050406030204" pitchFamily="18" charset="0"/>
                          <a:cs typeface="Arial"/>
                          <a:sym typeface="Arial"/>
                        </a:rPr>
                        <m:t>)→(0,0)</m:t>
                      </m:r>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You can define the state vector: </a:t>
                </a:r>
                <a14:m>
                  <m:oMath xmlns:m="http://schemas.openxmlformats.org/officeDocument/2006/math">
                    <m:sSub>
                      <m:sSubPr>
                        <m:ctrlPr>
                          <a:rPr lang="en-US" sz="1800" i="1" dirty="0" smtClean="0">
                            <a:latin typeface="Cambria Math" panose="02040503050406030204" pitchFamily="18" charset="0"/>
                            <a:sym typeface="Arial"/>
                          </a:rPr>
                        </m:ctrlPr>
                      </m:sSubPr>
                      <m:e>
                        <m:r>
                          <a:rPr lang="en-US" sz="1800" i="1" dirty="0" smtClean="0">
                            <a:latin typeface="Cambria Math" panose="02040503050406030204" pitchFamily="18" charset="0"/>
                            <a:sym typeface="Arial"/>
                          </a:rPr>
                          <m:t>𝑆</m:t>
                        </m:r>
                      </m:e>
                      <m:sub>
                        <m:r>
                          <a:rPr lang="en-US" sz="1800" i="1" dirty="0" smtClean="0">
                            <a:latin typeface="Cambria Math" panose="02040503050406030204" pitchFamily="18" charset="0"/>
                            <a:sym typeface="Arial"/>
                          </a:rPr>
                          <m:t>𝑘</m:t>
                        </m:r>
                      </m:sub>
                    </m:sSub>
                    <m:r>
                      <a:rPr lang="en-US" sz="1800" i="0" dirty="0" smtClean="0">
                        <a:latin typeface="Cambria Math" panose="02040503050406030204" pitchFamily="18" charset="0"/>
                        <a:sym typeface="Arial"/>
                      </a:rPr>
                      <m:t>=</m:t>
                    </m:r>
                    <m:sSup>
                      <m:sSupPr>
                        <m:ctrlPr>
                          <a:rPr lang="en-US" sz="1800" i="1" dirty="0" smtClean="0">
                            <a:latin typeface="Cambria Math" panose="02040503050406030204" pitchFamily="18" charset="0"/>
                            <a:sym typeface="Arial"/>
                          </a:rPr>
                        </m:ctrlPr>
                      </m:sSupPr>
                      <m:e>
                        <m:d>
                          <m:dPr>
                            <m:begChr m:val="["/>
                            <m:endChr m:val="]"/>
                            <m:ctrlPr>
                              <a:rPr lang="en-US" sz="1800" i="1" dirty="0" smtClean="0">
                                <a:latin typeface="Cambria Math" panose="02040503050406030204" pitchFamily="18" charset="0"/>
                                <a:sym typeface="Arial"/>
                              </a:rPr>
                            </m:ctrlPr>
                          </m:dPr>
                          <m:e>
                            <m:sSub>
                              <m:sSubPr>
                                <m:ctrlPr>
                                  <a:rPr lang="en-US" sz="1800" i="1" dirty="0" smtClean="0">
                                    <a:latin typeface="Cambria Math" panose="02040503050406030204" pitchFamily="18" charset="0"/>
                                    <a:sym typeface="Arial"/>
                                  </a:rPr>
                                </m:ctrlPr>
                              </m:sSubPr>
                              <m:e>
                                <m:r>
                                  <a:rPr lang="en-US" sz="1800" i="1" dirty="0" smtClean="0">
                                    <a:latin typeface="Cambria Math" panose="02040503050406030204" pitchFamily="18" charset="0"/>
                                    <a:sym typeface="Arial"/>
                                  </a:rPr>
                                  <m:t>𝐴</m:t>
                                </m:r>
                              </m:e>
                              <m:sub>
                                <m:r>
                                  <a:rPr lang="en-US" sz="1800" i="1" dirty="0" smtClean="0">
                                    <a:latin typeface="Cambria Math" panose="02040503050406030204" pitchFamily="18" charset="0"/>
                                    <a:sym typeface="Arial"/>
                                  </a:rPr>
                                  <m:t>𝑘</m:t>
                                </m:r>
                              </m:sub>
                            </m:sSub>
                            <m:r>
                              <a:rPr lang="en-US" sz="1800" i="0" dirty="0" smtClean="0">
                                <a:latin typeface="Cambria Math" panose="02040503050406030204" pitchFamily="18" charset="0"/>
                                <a:sym typeface="Arial"/>
                              </a:rPr>
                              <m:t>,</m:t>
                            </m:r>
                            <m:sSub>
                              <m:sSubPr>
                                <m:ctrlPr>
                                  <a:rPr lang="en-US" sz="1800" i="1" dirty="0" smtClean="0">
                                    <a:latin typeface="Cambria Math" panose="02040503050406030204" pitchFamily="18" charset="0"/>
                                    <a:sym typeface="Arial"/>
                                  </a:rPr>
                                </m:ctrlPr>
                              </m:sSubPr>
                              <m:e>
                                <m:r>
                                  <a:rPr lang="en-US" sz="1800" i="1" dirty="0" smtClean="0">
                                    <a:latin typeface="Cambria Math" panose="02040503050406030204" pitchFamily="18" charset="0"/>
                                    <a:sym typeface="Arial"/>
                                  </a:rPr>
                                  <m:t>𝐵</m:t>
                                </m:r>
                              </m:e>
                              <m:sub>
                                <m:r>
                                  <a:rPr lang="en-US" sz="1800" i="1" dirty="0" smtClean="0">
                                    <a:latin typeface="Cambria Math" panose="02040503050406030204" pitchFamily="18" charset="0"/>
                                    <a:sym typeface="Arial"/>
                                  </a:rPr>
                                  <m:t>𝑘</m:t>
                                </m:r>
                              </m:sub>
                            </m:sSub>
                          </m:e>
                        </m:d>
                      </m:e>
                      <m:sup>
                        <m:r>
                          <a:rPr lang="en-US" sz="1800" i="1" dirty="0" smtClean="0">
                            <a:latin typeface="Cambria Math" panose="02040503050406030204" pitchFamily="18" charset="0"/>
                            <a:sym typeface="Arial"/>
                          </a:rPr>
                          <m:t>𝑇</m:t>
                        </m:r>
                      </m:sup>
                    </m:sSup>
                  </m:oMath>
                </a14:m>
                <a:r>
                  <a:rPr lang="en-US" sz="1800" dirty="0">
                    <a:latin typeface="Arial"/>
                    <a:ea typeface="Arial"/>
                    <a:cs typeface="Arial"/>
                    <a:sym typeface="Arial"/>
                  </a:rPr>
                  <a:t>. The direction </a:t>
                </a:r>
                <a14:m>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D</m:t>
                        </m:r>
                      </m:e>
                      <m:sub>
                        <m:r>
                          <m:rPr>
                            <m:sty m:val="p"/>
                          </m:rPr>
                          <a:rPr lang="en-US" sz="1800" b="0" i="1" smtClean="0">
                            <a:latin typeface="Cambria Math" panose="02040503050406030204" pitchFamily="18" charset="0"/>
                            <a:cs typeface="Arial"/>
                            <a:sym typeface="Arial"/>
                          </a:rPr>
                          <m:t>k</m:t>
                        </m:r>
                      </m:sub>
                    </m:sSub>
                  </m:oMath>
                </a14:m>
                <a:r>
                  <a:rPr lang="en-US" sz="1800" dirty="0">
                    <a:latin typeface="Arial"/>
                    <a:ea typeface="Arial"/>
                    <a:cs typeface="Arial"/>
                    <a:sym typeface="Arial"/>
                  </a:rPr>
                  <a:t> is given as the 2D cross-product of the current and the previous state:</a:t>
                </a: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𝐷</m:t>
                          </m:r>
                        </m:e>
                        <m:sub>
                          <m:r>
                            <m:rPr>
                              <m:sty m:val="p"/>
                            </m:rPr>
                            <a:rPr lang="en-US" sz="1800" b="0" i="1" smtClean="0">
                              <a:latin typeface="Cambria Math" panose="02040503050406030204" pitchFamily="18" charset="0"/>
                              <a:sym typeface="Arial"/>
                            </a:rPr>
                            <m:t>k</m:t>
                          </m:r>
                        </m:sub>
                      </m:sSub>
                      <m:r>
                        <a:rPr lang="en-US" sz="1800" i="1" smtClean="0">
                          <a:latin typeface="Cambria Math" panose="02040503050406030204" pitchFamily="18" charset="0"/>
                          <a:sym typeface="Arial"/>
                        </a:rPr>
                        <m:t>=</m:t>
                      </m:r>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𝐴</m:t>
                          </m:r>
                        </m:e>
                        <m:sub>
                          <m:r>
                            <a:rPr lang="en-US" sz="1800" i="1" smtClean="0">
                              <a:latin typeface="Cambria Math" panose="02040503050406030204" pitchFamily="18" charset="0"/>
                              <a:sym typeface="Arial"/>
                            </a:rPr>
                            <m:t>𝑘</m:t>
                          </m:r>
                          <m:r>
                            <a:rPr lang="en-US" sz="1800" i="1" smtClean="0">
                              <a:latin typeface="Cambria Math" panose="02040503050406030204" pitchFamily="18" charset="0"/>
                              <a:sym typeface="Arial"/>
                            </a:rPr>
                            <m:t>−1</m:t>
                          </m:r>
                        </m:sub>
                      </m:sSub>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𝐵</m:t>
                          </m:r>
                        </m:e>
                        <m:sub>
                          <m:r>
                            <a:rPr lang="en-US" sz="1800" i="1" smtClean="0">
                              <a:latin typeface="Cambria Math" panose="02040503050406030204" pitchFamily="18" charset="0"/>
                              <a:sym typeface="Arial"/>
                            </a:rPr>
                            <m:t>𝑘</m:t>
                          </m:r>
                        </m:sub>
                      </m:sSub>
                      <m:r>
                        <a:rPr lang="en-US" sz="1800" i="1" smtClean="0">
                          <a:latin typeface="Cambria Math" panose="02040503050406030204" pitchFamily="18" charset="0"/>
                          <a:sym typeface="Arial"/>
                        </a:rPr>
                        <m:t>−</m:t>
                      </m:r>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𝐴</m:t>
                          </m:r>
                        </m:e>
                        <m:sub>
                          <m:r>
                            <a:rPr lang="en-US" sz="1800" i="1" smtClean="0">
                              <a:latin typeface="Cambria Math" panose="02040503050406030204" pitchFamily="18" charset="0"/>
                              <a:sym typeface="Arial"/>
                            </a:rPr>
                            <m:t>𝑘</m:t>
                          </m:r>
                        </m:sub>
                      </m:sSub>
                      <m:sSub>
                        <m:sSubPr>
                          <m:ctrlPr>
                            <a:rPr lang="en-US" sz="1800" i="1" smtClean="0">
                              <a:latin typeface="Cambria Math" panose="02040503050406030204" pitchFamily="18" charset="0"/>
                              <a:sym typeface="Arial"/>
                            </a:rPr>
                          </m:ctrlPr>
                        </m:sSubPr>
                        <m:e>
                          <m:r>
                            <a:rPr lang="en-US" sz="1800" i="1" smtClean="0">
                              <a:latin typeface="Cambria Math" panose="02040503050406030204" pitchFamily="18" charset="0"/>
                              <a:sym typeface="Arial"/>
                            </a:rPr>
                            <m:t>𝐵</m:t>
                          </m:r>
                        </m:e>
                        <m:sub>
                          <m:r>
                            <a:rPr lang="en-US" sz="1800" i="1" smtClean="0">
                              <a:latin typeface="Cambria Math" panose="02040503050406030204" pitchFamily="18" charset="0"/>
                              <a:sym typeface="Arial"/>
                            </a:rPr>
                            <m:t>𝑘</m:t>
                          </m:r>
                          <m:r>
                            <a:rPr lang="en-US" sz="1800" i="1" smtClean="0">
                              <a:latin typeface="Cambria Math" panose="02040503050406030204" pitchFamily="18" charset="0"/>
                              <a:sym typeface="Arial"/>
                            </a:rPr>
                            <m:t>−1</m:t>
                          </m:r>
                        </m:sub>
                      </m:sSub>
                    </m:oMath>
                  </m:oMathPara>
                </a14:m>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If </a:t>
                </a:r>
                <a14:m>
                  <m:oMath xmlns:m="http://schemas.openxmlformats.org/officeDocument/2006/math">
                    <m:sSub>
                      <m:sSubPr>
                        <m:ctrlPr>
                          <a:rPr lang="en-US" sz="1800" i="1">
                            <a:latin typeface="Cambria Math" panose="02040503050406030204" pitchFamily="18" charset="0"/>
                            <a:sym typeface="Arial"/>
                          </a:rPr>
                        </m:ctrlPr>
                      </m:sSubPr>
                      <m:e>
                        <m:r>
                          <a:rPr lang="en-US" sz="1800" i="1">
                            <a:latin typeface="Cambria Math" panose="02040503050406030204" pitchFamily="18" charset="0"/>
                            <a:sym typeface="Arial"/>
                          </a:rPr>
                          <m:t>𝐷</m:t>
                        </m:r>
                      </m:e>
                      <m:sub>
                        <m:r>
                          <m:rPr>
                            <m:sty m:val="p"/>
                          </m:rPr>
                          <a:rPr lang="en-US" sz="1800" i="1">
                            <a:latin typeface="Cambria Math" panose="02040503050406030204" pitchFamily="18" charset="0"/>
                            <a:sym typeface="Arial"/>
                          </a:rPr>
                          <m:t>k</m:t>
                        </m:r>
                      </m:sub>
                    </m:sSub>
                    <m:r>
                      <a:rPr lang="en-US" sz="1800" b="0" i="1" smtClean="0">
                        <a:latin typeface="Cambria Math" panose="02040503050406030204" pitchFamily="18" charset="0"/>
                        <a:sym typeface="Arial"/>
                      </a:rPr>
                      <m:t>=1</m:t>
                    </m:r>
                  </m:oMath>
                </a14:m>
                <a:r>
                  <a:rPr lang="en-US" sz="1800" dirty="0">
                    <a:latin typeface="Arial"/>
                    <a:ea typeface="Arial"/>
                    <a:cs typeface="Arial"/>
                    <a:sym typeface="Arial"/>
                  </a:rPr>
                  <a:t>, CW, if </a:t>
                </a:r>
                <a14:m>
                  <m:oMath xmlns:m="http://schemas.openxmlformats.org/officeDocument/2006/math">
                    <m:sSub>
                      <m:sSubPr>
                        <m:ctrlPr>
                          <a:rPr lang="en-US" sz="1800" i="1">
                            <a:latin typeface="Cambria Math" panose="02040503050406030204" pitchFamily="18" charset="0"/>
                            <a:sym typeface="Arial"/>
                          </a:rPr>
                        </m:ctrlPr>
                      </m:sSubPr>
                      <m:e>
                        <m:r>
                          <a:rPr lang="en-US" sz="1800" i="1">
                            <a:latin typeface="Cambria Math" panose="02040503050406030204" pitchFamily="18" charset="0"/>
                            <a:sym typeface="Arial"/>
                          </a:rPr>
                          <m:t>𝐷</m:t>
                        </m:r>
                      </m:e>
                      <m:sub>
                        <m:r>
                          <m:rPr>
                            <m:sty m:val="p"/>
                          </m:rPr>
                          <a:rPr lang="en-US" sz="1800" i="1">
                            <a:latin typeface="Cambria Math" panose="02040503050406030204" pitchFamily="18" charset="0"/>
                            <a:sym typeface="Arial"/>
                          </a:rPr>
                          <m:t>k</m:t>
                        </m:r>
                      </m:sub>
                    </m:sSub>
                    <m:r>
                      <a:rPr lang="en-US" sz="1800" b="0" i="1" smtClean="0">
                        <a:latin typeface="Cambria Math" panose="02040503050406030204" pitchFamily="18" charset="0"/>
                        <a:sym typeface="Arial"/>
                      </a:rPr>
                      <m:t>=−1</m:t>
                    </m:r>
                  </m:oMath>
                </a14:m>
                <a:r>
                  <a:rPr lang="en-US" sz="1800" dirty="0">
                    <a:latin typeface="Arial"/>
                    <a:ea typeface="Arial"/>
                    <a:cs typeface="Arial"/>
                    <a:sym typeface="Arial"/>
                  </a:rPr>
                  <a:t>, CCW!</a:t>
                </a:r>
              </a:p>
            </p:txBody>
          </p:sp>
        </mc:Choice>
        <mc:Fallback>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4046" b="-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1" end="1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8">
                                            <p:txEl>
                                              <p:pRg st="13" end="13"/>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76469" y="925290"/>
            <a:ext cx="10510861" cy="50074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mj-lt"/>
                <a:ea typeface="Arial"/>
                <a:cs typeface="Arial"/>
                <a:sym typeface="Arial"/>
              </a:rPr>
              <a:t>An </a:t>
            </a:r>
            <a:r>
              <a:rPr lang="en-US" sz="1800" b="1" dirty="0">
                <a:solidFill>
                  <a:schemeClr val="dk1"/>
                </a:solidFill>
                <a:latin typeface="+mj-lt"/>
                <a:ea typeface="Arial"/>
                <a:cs typeface="Arial"/>
                <a:sym typeface="Arial"/>
              </a:rPr>
              <a:t>absolute </a:t>
            </a:r>
            <a:r>
              <a:rPr lang="en-US" sz="18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1800" dirty="0">
              <a:latin typeface="+mj-lt"/>
              <a:ea typeface="Arial"/>
              <a:cs typeface="Arial"/>
              <a:sym typeface="Arial"/>
            </a:endParaRPr>
          </a:p>
          <a:p>
            <a:pPr marL="285750" indent="-285750">
              <a:lnSpc>
                <a:spcPct val="100000"/>
              </a:lnSpc>
              <a:spcBef>
                <a:spcPts val="0"/>
              </a:spcBef>
              <a:buSzPts val="3000"/>
            </a:pPr>
            <a:r>
              <a:rPr lang="en-US" sz="1800" dirty="0">
                <a:solidFill>
                  <a:schemeClr val="dk1"/>
                </a:solidFill>
                <a:latin typeface="+mj-lt"/>
                <a:ea typeface="Arial"/>
                <a:cs typeface="Arial"/>
                <a:sym typeface="Arial"/>
              </a:rPr>
              <a:t>overcomes incremental disadvantages but is more expensive. An absolute optical encoder's disc is divided up into N sectors, and 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1800" dirty="0">
                <a:solidFill>
                  <a:schemeClr val="dk1"/>
                </a:solidFill>
                <a:latin typeface="+mj-lt"/>
                <a:ea typeface="Arial"/>
                <a:cs typeface="Arial"/>
                <a:sym typeface="Arial"/>
              </a:rPr>
              <a:t>The digital word formed radially by each sector increments in value from one sector to the next, usually employing Gray code. </a:t>
            </a:r>
          </a:p>
          <a:p>
            <a:pPr marL="285750" indent="-285750">
              <a:lnSpc>
                <a:spcPct val="100000"/>
              </a:lnSpc>
              <a:spcBef>
                <a:spcPts val="0"/>
              </a:spcBef>
              <a:buSzPts val="3000"/>
            </a:pPr>
            <a:r>
              <a:rPr lang="en-US" sz="1800" dirty="0">
                <a:solidFill>
                  <a:schemeClr val="dk1"/>
                </a:solidFill>
                <a:latin typeface="+mj-lt"/>
                <a:ea typeface="Arial"/>
                <a:cs typeface="Arial"/>
                <a:sym typeface="Arial"/>
              </a:rPr>
              <a:t>Binary coding could be used, but can produce large errors if a single bit is incorrectly interpreted by the sensors. </a:t>
            </a:r>
          </a:p>
          <a:p>
            <a:pPr marL="285750" indent="-285750">
              <a:lnSpc>
                <a:spcPct val="100000"/>
              </a:lnSpc>
              <a:spcBef>
                <a:spcPts val="0"/>
              </a:spcBef>
              <a:buSzPts val="3000"/>
            </a:pPr>
            <a:r>
              <a:rPr lang="en-US" sz="18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1800" dirty="0">
                <a:solidFill>
                  <a:schemeClr val="dk1"/>
                </a:solidFill>
                <a:latin typeface="+mj-lt"/>
                <a:ea typeface="Arial"/>
                <a:cs typeface="Arial"/>
                <a:sym typeface="Arial"/>
              </a:rPr>
              <a:t>A set of N light sensors responds to the </a:t>
            </a:r>
            <a:r>
              <a:rPr lang="en-US" sz="1800" b="1" dirty="0">
                <a:solidFill>
                  <a:schemeClr val="dk1"/>
                </a:solidFill>
                <a:latin typeface="+mj-lt"/>
                <a:ea typeface="Arial"/>
                <a:cs typeface="Arial"/>
                <a:sym typeface="Arial"/>
              </a:rPr>
              <a:t>N-bit digital word </a:t>
            </a:r>
            <a:r>
              <a:rPr lang="en-US" sz="1800" dirty="0">
                <a:solidFill>
                  <a:schemeClr val="dk1"/>
                </a:solidFill>
                <a:latin typeface="+mj-lt"/>
                <a:ea typeface="Arial"/>
                <a:cs typeface="Arial"/>
                <a:sym typeface="Arial"/>
              </a:rPr>
              <a:t>which corresponds to the </a:t>
            </a:r>
            <a:r>
              <a:rPr lang="en-US" sz="1800" b="1" dirty="0">
                <a:solidFill>
                  <a:schemeClr val="dk1"/>
                </a:solidFill>
                <a:latin typeface="+mj-lt"/>
                <a:ea typeface="Arial"/>
                <a:cs typeface="Arial"/>
                <a:sym typeface="Arial"/>
              </a:rPr>
              <a:t>disc's absolute angular position</a:t>
            </a:r>
            <a:r>
              <a:rPr lang="en-US" sz="18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3"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6" y="6358962"/>
            <a:ext cx="4446105" cy="261610"/>
          </a:xfrm>
          <a:prstGeom prst="rect">
            <a:avLst/>
          </a:prstGeom>
          <a:noFill/>
        </p:spPr>
        <p:txBody>
          <a:bodyPr wrap="square" rtlCol="0">
            <a:spAutoFit/>
          </a:bodyPr>
          <a:lstStyle/>
          <a:p>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latin typeface="Arial"/>
              <a:ea typeface="Arial"/>
              <a:cs typeface="Arial"/>
              <a:sym typeface="Aria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130"/>
        <p:cNvGrpSpPr/>
        <p:nvPr/>
      </p:nvGrpSpPr>
      <p:grpSpPr>
        <a:xfrm>
          <a:off x="0" y="0"/>
          <a:ext cx="0" cy="0"/>
          <a:chOff x="0" y="0"/>
          <a:chExt cx="0" cy="0"/>
        </a:xfrm>
      </p:grpSpPr>
      <p:sp>
        <p:nvSpPr>
          <p:cNvPr id="131" name="Google Shape;131;p30"/>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32" name="Google Shape;132;p30"/>
          <p:cNvSpPr txBox="1"/>
          <p:nvPr/>
        </p:nvSpPr>
        <p:spPr>
          <a:xfrm>
            <a:off x="376810"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3" name="Google Shape;133;p30"/>
          <p:cNvSpPr txBox="1"/>
          <p:nvPr/>
        </p:nvSpPr>
        <p:spPr>
          <a:xfrm>
            <a:off x="6158774" y="1334279"/>
            <a:ext cx="5442100"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Duis aute irure dolor in reprehenderit in voluptate velit esse cillum dolore eu fugiat nulla pariatur. Excepteur sint occaecat cupidatat non proident, sunt in culpa qui officia deserunt mollit anim id est laborum.</a:t>
            </a:r>
            <a:endParaRPr sz="1800" b="1" i="0" u="none" strike="noStrike" cap="none">
              <a:solidFill>
                <a:schemeClr val="dk1"/>
              </a:solidFill>
              <a:latin typeface="Arial"/>
              <a:ea typeface="Arial"/>
              <a:cs typeface="Arial"/>
              <a:sym typeface="Arial"/>
            </a:endParaRPr>
          </a:p>
        </p:txBody>
      </p:sp>
      <p:sp>
        <p:nvSpPr>
          <p:cNvPr id="134" name="Google Shape;134;p30"/>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35" name="Google Shape;135;p30"/>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36" name="Google Shape;136;p30"/>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37" name="Google Shape;137;p30"/>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38" name="Google Shape;138;p30"/>
          <p:cNvGrpSpPr/>
          <p:nvPr/>
        </p:nvGrpSpPr>
        <p:grpSpPr>
          <a:xfrm>
            <a:off x="4066674" y="6601537"/>
            <a:ext cx="5233412" cy="70446"/>
            <a:chOff x="4033424" y="6601537"/>
            <a:chExt cx="5233412" cy="70446"/>
          </a:xfrm>
        </p:grpSpPr>
        <p:cxnSp>
          <p:nvCxnSpPr>
            <p:cNvPr id="139" name="Google Shape;139;p30"/>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40" name="Google Shape;140;p30"/>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31"/>
          <p:cNvSpPr/>
          <p:nvPr/>
        </p:nvSpPr>
        <p:spPr>
          <a:xfrm>
            <a:off x="47556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6" name="Google Shape;146;p31"/>
          <p:cNvSpPr txBox="1"/>
          <p:nvPr/>
        </p:nvSpPr>
        <p:spPr>
          <a:xfrm>
            <a:off x="149411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7" name="Google Shape;147;p31"/>
          <p:cNvSpPr/>
          <p:nvPr/>
        </p:nvSpPr>
        <p:spPr>
          <a:xfrm>
            <a:off x="47556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48" name="Google Shape;148;p31"/>
          <p:cNvSpPr txBox="1"/>
          <p:nvPr/>
        </p:nvSpPr>
        <p:spPr>
          <a:xfrm>
            <a:off x="149411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49" name="Google Shape;149;p31"/>
          <p:cNvSpPr txBox="1"/>
          <p:nvPr/>
        </p:nvSpPr>
        <p:spPr>
          <a:xfrm>
            <a:off x="5122548" y="1334279"/>
            <a:ext cx="6686464"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50" name="Google Shape;150;p31"/>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51" name="Google Shape;151;p31"/>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52" name="Google Shape;152;p31"/>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53" name="Google Shape;153;p31"/>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54" name="Google Shape;154;p31"/>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55" name="Google Shape;155;p31"/>
          <p:cNvGrpSpPr/>
          <p:nvPr/>
        </p:nvGrpSpPr>
        <p:grpSpPr>
          <a:xfrm>
            <a:off x="4066674" y="6601537"/>
            <a:ext cx="5233412" cy="70446"/>
            <a:chOff x="4033424" y="6601537"/>
            <a:chExt cx="5233412" cy="70446"/>
          </a:xfrm>
        </p:grpSpPr>
        <p:cxnSp>
          <p:nvCxnSpPr>
            <p:cNvPr id="156" name="Google Shape;156;p31"/>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57" name="Google Shape;157;p31"/>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61"/>
        <p:cNvGrpSpPr/>
        <p:nvPr/>
      </p:nvGrpSpPr>
      <p:grpSpPr>
        <a:xfrm>
          <a:off x="0" y="0"/>
          <a:ext cx="0" cy="0"/>
          <a:chOff x="0" y="0"/>
          <a:chExt cx="0" cy="0"/>
        </a:xfrm>
      </p:grpSpPr>
      <p:sp>
        <p:nvSpPr>
          <p:cNvPr id="162" name="Google Shape;162;p7"/>
          <p:cNvSpPr/>
          <p:nvPr/>
        </p:nvSpPr>
        <p:spPr>
          <a:xfrm>
            <a:off x="7475456" y="1263717"/>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3" name="Google Shape;163;p7"/>
          <p:cNvSpPr txBox="1"/>
          <p:nvPr/>
        </p:nvSpPr>
        <p:spPr>
          <a:xfrm>
            <a:off x="8494005" y="2239572"/>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4" name="Google Shape;164;p7"/>
          <p:cNvSpPr/>
          <p:nvPr/>
        </p:nvSpPr>
        <p:spPr>
          <a:xfrm>
            <a:off x="7475456" y="3774068"/>
            <a:ext cx="4356660" cy="231564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65" name="Google Shape;165;p7"/>
          <p:cNvSpPr txBox="1"/>
          <p:nvPr/>
        </p:nvSpPr>
        <p:spPr>
          <a:xfrm>
            <a:off x="8494005" y="474722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66" name="Google Shape;166;p7"/>
          <p:cNvSpPr txBox="1">
            <a:spLocks noGrp="1"/>
          </p:cNvSpPr>
          <p:nvPr>
            <p:ph type="body" idx="1"/>
          </p:nvPr>
        </p:nvSpPr>
        <p:spPr>
          <a:xfrm>
            <a:off x="376810" y="1334279"/>
            <a:ext cx="6686464"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600" b="1">
                <a:solidFill>
                  <a:srgbClr val="E84B36"/>
                </a:solidFill>
                <a:latin typeface="Arial"/>
                <a:ea typeface="Arial"/>
                <a:cs typeface="Arial"/>
                <a:sym typeface="Arial"/>
              </a:rPr>
              <a:t>Lorem Ipsum Dolor Sit Amet Consectetur Adipiscing</a:t>
            </a:r>
            <a:endParaRPr sz="2600" b="1">
              <a:solidFill>
                <a:srgbClr val="E84B36"/>
              </a:solidFill>
              <a:latin typeface="Arial"/>
              <a:ea typeface="Arial"/>
              <a:cs typeface="Arial"/>
              <a:sym typeface="Arial"/>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2000"/>
              <a:buNone/>
            </a:pPr>
            <a:r>
              <a:rPr lang="en-US" sz="1800">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lvl="0" indent="0" algn="l" rtl="0">
              <a:lnSpc>
                <a:spcPct val="100000"/>
              </a:lnSpc>
              <a:spcBef>
                <a:spcPts val="0"/>
              </a:spcBef>
              <a:spcAft>
                <a:spcPts val="0"/>
              </a:spcAft>
              <a:buSzPts val="2000"/>
              <a:buNone/>
            </a:pPr>
            <a:endParaRPr sz="180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000" b="1">
                <a:solidFill>
                  <a:srgbClr val="15264B"/>
                </a:solidFill>
                <a:latin typeface="Arial"/>
                <a:ea typeface="Arial"/>
                <a:cs typeface="Arial"/>
                <a:sym typeface="Arial"/>
              </a:rPr>
              <a:t>Lorem Ipsum Dolor Sit Amet Consectetur Adipiscing</a:t>
            </a:r>
            <a:endParaRPr sz="2000" b="1">
              <a:solidFill>
                <a:srgbClr val="15264B"/>
              </a:solidFill>
            </a:endParaRPr>
          </a:p>
          <a:p>
            <a:pPr marL="0" lvl="0" indent="0" algn="l" rtl="0">
              <a:lnSpc>
                <a:spcPct val="100000"/>
              </a:lnSpc>
              <a:spcBef>
                <a:spcPts val="0"/>
              </a:spcBef>
              <a:spcAft>
                <a:spcPts val="0"/>
              </a:spcAft>
              <a:buSzPts val="3000"/>
              <a:buNone/>
            </a:pPr>
            <a:endParaRPr sz="1800" b="1">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1800">
                <a:latin typeface="Arial"/>
                <a:ea typeface="Arial"/>
                <a:cs typeface="Arial"/>
                <a:sym typeface="Arial"/>
              </a:rPr>
              <a:t>Lorem ipsum dolor sit amet, consectetur adipiscing elit, sed do eiusmod tempor incididunt ut labore et dolore magna aliqua.</a:t>
            </a:r>
            <a:endParaRPr sz="1800" b="1">
              <a:solidFill>
                <a:schemeClr val="dk1"/>
              </a:solidFill>
              <a:latin typeface="Arial"/>
              <a:ea typeface="Arial"/>
              <a:cs typeface="Arial"/>
              <a:sym typeface="Arial"/>
            </a:endParaRPr>
          </a:p>
        </p:txBody>
      </p:sp>
      <p:sp>
        <p:nvSpPr>
          <p:cNvPr id="167" name="Google Shape;167;p7"/>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68" name="Google Shape;168;p7"/>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69" name="Google Shape;169;p7"/>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70" name="Google Shape;170;p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71" name="Google Shape;171;p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72" name="Google Shape;172;p7"/>
          <p:cNvGrpSpPr/>
          <p:nvPr/>
        </p:nvGrpSpPr>
        <p:grpSpPr>
          <a:xfrm>
            <a:off x="4066674" y="6601537"/>
            <a:ext cx="5233412" cy="70446"/>
            <a:chOff x="4033424" y="6601537"/>
            <a:chExt cx="5233412" cy="70446"/>
          </a:xfrm>
        </p:grpSpPr>
        <p:cxnSp>
          <p:nvCxnSpPr>
            <p:cNvPr id="173" name="Google Shape;173;p7"/>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74" name="Google Shape;174;p7"/>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78"/>
        <p:cNvGrpSpPr/>
        <p:nvPr/>
      </p:nvGrpSpPr>
      <p:grpSpPr>
        <a:xfrm>
          <a:off x="0" y="0"/>
          <a:ext cx="0" cy="0"/>
          <a:chOff x="0" y="0"/>
          <a:chExt cx="0" cy="0"/>
        </a:xfrm>
      </p:grpSpPr>
      <p:sp>
        <p:nvSpPr>
          <p:cNvPr id="179" name="Google Shape;179;p32"/>
          <p:cNvSpPr/>
          <p:nvPr/>
        </p:nvSpPr>
        <p:spPr>
          <a:xfrm>
            <a:off x="43119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80" name="Google Shape;180;p32"/>
          <p:cNvSpPr txBox="1"/>
          <p:nvPr/>
        </p:nvSpPr>
        <p:spPr>
          <a:xfrm>
            <a:off x="146927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81" name="Google Shape;181;p32"/>
          <p:cNvSpPr txBox="1"/>
          <p:nvPr/>
        </p:nvSpPr>
        <p:spPr>
          <a:xfrm>
            <a:off x="5131837"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82" name="Google Shape;182;p32"/>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83" name="Google Shape;183;p32"/>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84" name="Google Shape;184;p32"/>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85" name="Google Shape;185;p32"/>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86" name="Google Shape;186;p32"/>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87" name="Google Shape;187;p32"/>
          <p:cNvGrpSpPr/>
          <p:nvPr/>
        </p:nvGrpSpPr>
        <p:grpSpPr>
          <a:xfrm>
            <a:off x="4066674" y="6601537"/>
            <a:ext cx="5233412" cy="70446"/>
            <a:chOff x="4033424" y="6601537"/>
            <a:chExt cx="5233412" cy="70446"/>
          </a:xfrm>
        </p:grpSpPr>
        <p:cxnSp>
          <p:nvCxnSpPr>
            <p:cNvPr id="188" name="Google Shape;188;p32"/>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89" name="Google Shape;189;p32"/>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93"/>
        <p:cNvGrpSpPr/>
        <p:nvPr/>
      </p:nvGrpSpPr>
      <p:grpSpPr>
        <a:xfrm>
          <a:off x="0" y="0"/>
          <a:ext cx="0" cy="0"/>
          <a:chOff x="0" y="0"/>
          <a:chExt cx="0" cy="0"/>
        </a:xfrm>
      </p:grpSpPr>
      <p:sp>
        <p:nvSpPr>
          <p:cNvPr id="194" name="Google Shape;194;p33"/>
          <p:cNvSpPr/>
          <p:nvPr/>
        </p:nvSpPr>
        <p:spPr>
          <a:xfrm>
            <a:off x="7452352" y="1263718"/>
            <a:ext cx="4356660" cy="482599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195" name="Google Shape;195;p33"/>
          <p:cNvSpPr txBox="1"/>
          <p:nvPr/>
        </p:nvSpPr>
        <p:spPr>
          <a:xfrm>
            <a:off x="8490436" y="3493224"/>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 GRAPHIC</a:t>
            </a:r>
            <a:endParaRPr sz="1400" b="0" i="0" u="none" strike="noStrike" cap="none">
              <a:solidFill>
                <a:srgbClr val="000000"/>
              </a:solidFill>
              <a:latin typeface="Arial"/>
              <a:ea typeface="Arial"/>
              <a:cs typeface="Arial"/>
              <a:sym typeface="Arial"/>
            </a:endParaRPr>
          </a:p>
        </p:txBody>
      </p:sp>
      <p:sp>
        <p:nvSpPr>
          <p:cNvPr id="196" name="Google Shape;196;p33"/>
          <p:cNvSpPr txBox="1"/>
          <p:nvPr/>
        </p:nvSpPr>
        <p:spPr>
          <a:xfrm>
            <a:off x="376808" y="1334279"/>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rgbClr val="E84B36"/>
                </a:solidFill>
                <a:latin typeface="Arial"/>
                <a:ea typeface="Arial"/>
                <a:cs typeface="Arial"/>
                <a:sym typeface="Arial"/>
              </a:rPr>
              <a:t>Lorem Ipsum Dolor Sit Amet Consectetur Adipiscing</a:t>
            </a:r>
            <a:endParaRPr sz="2600" b="1" i="0" u="none" strike="noStrike" cap="none">
              <a:solidFill>
                <a:srgbClr val="E84B36"/>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rgbClr val="15264B"/>
                </a:solidFill>
                <a:latin typeface="Arial"/>
                <a:ea typeface="Arial"/>
                <a:cs typeface="Arial"/>
                <a:sym typeface="Arial"/>
              </a:rPr>
              <a:t>Lorem Ipsum Dolor Sit Amet Consectetur Adipiscing</a:t>
            </a:r>
            <a:endParaRPr sz="2000" b="1" i="0" u="none" strike="noStrike" cap="none">
              <a:solidFill>
                <a:srgbClr val="15264B"/>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dk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rgbClr val="000000"/>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dk1"/>
              </a:solidFill>
              <a:latin typeface="Arial"/>
              <a:ea typeface="Arial"/>
              <a:cs typeface="Arial"/>
              <a:sym typeface="Arial"/>
            </a:endParaRPr>
          </a:p>
        </p:txBody>
      </p:sp>
      <p:sp>
        <p:nvSpPr>
          <p:cNvPr id="197" name="Google Shape;197;p33"/>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98" name="Google Shape;198;p33"/>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199" name="Google Shape;199;p33"/>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00" name="Google Shape;200;p33"/>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01" name="Google Shape;201;p33"/>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02" name="Google Shape;202;p33"/>
          <p:cNvGrpSpPr/>
          <p:nvPr/>
        </p:nvGrpSpPr>
        <p:grpSpPr>
          <a:xfrm>
            <a:off x="4066674" y="6601537"/>
            <a:ext cx="5233412" cy="70446"/>
            <a:chOff x="4033424" y="6601537"/>
            <a:chExt cx="5233412" cy="70446"/>
          </a:xfrm>
        </p:grpSpPr>
        <p:cxnSp>
          <p:nvCxnSpPr>
            <p:cNvPr id="203" name="Google Shape;203;p33"/>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04" name="Google Shape;204;p33"/>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208"/>
        <p:cNvGrpSpPr/>
        <p:nvPr/>
      </p:nvGrpSpPr>
      <p:grpSpPr>
        <a:xfrm>
          <a:off x="0" y="0"/>
          <a:ext cx="0" cy="0"/>
          <a:chOff x="0" y="0"/>
          <a:chExt cx="0" cy="0"/>
        </a:xfrm>
      </p:grpSpPr>
      <p:sp>
        <p:nvSpPr>
          <p:cNvPr id="209" name="Google Shape;209;p8"/>
          <p:cNvSpPr/>
          <p:nvPr/>
        </p:nvSpPr>
        <p:spPr>
          <a:xfrm>
            <a:off x="2266934" y="1458134"/>
            <a:ext cx="7658130" cy="3688423"/>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10" name="Google Shape;210;p8"/>
          <p:cNvSpPr txBox="1"/>
          <p:nvPr/>
        </p:nvSpPr>
        <p:spPr>
          <a:xfrm>
            <a:off x="4548417" y="3123892"/>
            <a:ext cx="3095164"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CHART / GRAPH</a:t>
            </a:r>
            <a:endParaRPr sz="1400" b="0" i="0" u="none" strike="noStrike" cap="none">
              <a:solidFill>
                <a:srgbClr val="000000"/>
              </a:solidFill>
              <a:latin typeface="Arial"/>
              <a:ea typeface="Arial"/>
              <a:cs typeface="Arial"/>
              <a:sym typeface="Arial"/>
            </a:endParaRPr>
          </a:p>
        </p:txBody>
      </p:sp>
      <p:sp>
        <p:nvSpPr>
          <p:cNvPr id="211" name="Google Shape;211;p8"/>
          <p:cNvSpPr txBox="1"/>
          <p:nvPr/>
        </p:nvSpPr>
        <p:spPr>
          <a:xfrm>
            <a:off x="583914" y="5464730"/>
            <a:ext cx="11024170" cy="654113"/>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1600" b="0" i="0" u="none" strike="noStrike" cap="none">
                <a:solidFill>
                  <a:schemeClr val="dk1"/>
                </a:solidFill>
                <a:latin typeface="Arial"/>
                <a:ea typeface="Arial"/>
                <a:cs typeface="Arial"/>
                <a:sym typeface="Arial"/>
              </a:rPr>
              <a:t>(Short commentary or relevant information about the contents of the chart/graph.)</a:t>
            </a:r>
            <a:endParaRPr sz="1600" b="0" i="0" u="none" strike="noStrike" cap="none">
              <a:solidFill>
                <a:srgbClr val="000000"/>
              </a:solidFill>
              <a:latin typeface="Arial"/>
              <a:ea typeface="Arial"/>
              <a:cs typeface="Arial"/>
              <a:sym typeface="Arial"/>
            </a:endParaRPr>
          </a:p>
        </p:txBody>
      </p:sp>
      <p:sp>
        <p:nvSpPr>
          <p:cNvPr id="212" name="Google Shape;212;p8"/>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213" name="Google Shape;213;p8"/>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a:solidFill>
                  <a:schemeClr val="lt1"/>
                </a:solidFill>
                <a:latin typeface="Arial"/>
                <a:ea typeface="Arial"/>
                <a:cs typeface="Arial"/>
                <a:sym typeface="Arial"/>
              </a:rPr>
              <a:t>Slide Title</a:t>
            </a:r>
            <a:endParaRPr sz="2400" b="0" i="0" u="none" strike="noStrike" cap="none">
              <a:solidFill>
                <a:schemeClr val="lt1"/>
              </a:solidFill>
              <a:latin typeface="Arial"/>
              <a:ea typeface="Arial"/>
              <a:cs typeface="Arial"/>
              <a:sym typeface="Arial"/>
            </a:endParaRPr>
          </a:p>
        </p:txBody>
      </p:sp>
      <p:pic>
        <p:nvPicPr>
          <p:cNvPr id="214" name="Google Shape;214;p8"/>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15" name="Google Shape;215;p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16" name="Google Shape;216;p8"/>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17" name="Google Shape;217;p8"/>
          <p:cNvGrpSpPr/>
          <p:nvPr/>
        </p:nvGrpSpPr>
        <p:grpSpPr>
          <a:xfrm>
            <a:off x="4066674" y="6601537"/>
            <a:ext cx="5233412" cy="70446"/>
            <a:chOff x="4033424" y="6601537"/>
            <a:chExt cx="5233412" cy="70446"/>
          </a:xfrm>
        </p:grpSpPr>
        <p:cxnSp>
          <p:nvCxnSpPr>
            <p:cNvPr id="218" name="Google Shape;218;p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19" name="Google Shape;219;p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34"/>
          <p:cNvSpPr/>
          <p:nvPr/>
        </p:nvSpPr>
        <p:spPr>
          <a:xfrm>
            <a:off x="1" y="0"/>
            <a:ext cx="12191998" cy="4617387"/>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25" name="Google Shape;225;p34"/>
          <p:cNvSpPr txBox="1"/>
          <p:nvPr/>
        </p:nvSpPr>
        <p:spPr>
          <a:xfrm>
            <a:off x="3513296" y="2308693"/>
            <a:ext cx="5140526"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 (Send to back so Block I is not covered.)</a:t>
            </a:r>
            <a:endParaRPr sz="1400" b="0" i="0" u="none" strike="noStrike" cap="none">
              <a:solidFill>
                <a:srgbClr val="000000"/>
              </a:solidFill>
              <a:latin typeface="Arial"/>
              <a:ea typeface="Arial"/>
              <a:cs typeface="Arial"/>
              <a:sym typeface="Arial"/>
            </a:endParaRPr>
          </a:p>
        </p:txBody>
      </p:sp>
      <p:sp>
        <p:nvSpPr>
          <p:cNvPr id="226" name="Google Shape;226;p34"/>
          <p:cNvSpPr txBox="1"/>
          <p:nvPr/>
        </p:nvSpPr>
        <p:spPr>
          <a:xfrm>
            <a:off x="376810" y="5050453"/>
            <a:ext cx="11177400" cy="953497"/>
          </a:xfrm>
          <a:prstGeom prst="rect">
            <a:avLst/>
          </a:prstGeom>
          <a:noFill/>
          <a:ln>
            <a:noFill/>
          </a:ln>
        </p:spPr>
        <p:txBody>
          <a:bodyPr spcFirstLastPara="1" wrap="square" lIns="91425" tIns="45700" rIns="91425" bIns="45700" anchor="t" anchorCtr="0">
            <a:noAutofit/>
          </a:bodyPr>
          <a:lstStyle/>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(Text here relevant to the photo for a larger call out on a given idea or message.) </a:t>
            </a:r>
            <a:endParaRPr/>
          </a:p>
          <a:p>
            <a:pPr marL="0" marR="0" lvl="0" indent="0" algn="ctr" rtl="0">
              <a:lnSpc>
                <a:spcPct val="100000"/>
              </a:lnSpc>
              <a:spcBef>
                <a:spcPts val="0"/>
              </a:spcBef>
              <a:spcAft>
                <a:spcPts val="0"/>
              </a:spcAft>
              <a:buClr>
                <a:schemeClr val="dk1"/>
              </a:buClr>
              <a:buSzPts val="2000"/>
              <a:buFont typeface="Helvetica Neue Light"/>
              <a:buNone/>
            </a:pPr>
            <a:r>
              <a:rPr lang="en-US" sz="2200" b="0" i="0" u="none" strike="noStrike" cap="none">
                <a:solidFill>
                  <a:schemeClr val="dk1"/>
                </a:solidFill>
                <a:latin typeface="Arial"/>
                <a:ea typeface="Arial"/>
                <a:cs typeface="Arial"/>
                <a:sym typeface="Arial"/>
              </a:rPr>
              <a:t>(Keep this text simple and short on one or two lines.)</a:t>
            </a:r>
            <a:endParaRPr sz="2200" b="0" i="0" u="none" strike="noStrike" cap="none">
              <a:solidFill>
                <a:srgbClr val="000000"/>
              </a:solidFill>
              <a:latin typeface="Arial"/>
              <a:ea typeface="Arial"/>
              <a:cs typeface="Arial"/>
              <a:sym typeface="Arial"/>
            </a:endParaRPr>
          </a:p>
        </p:txBody>
      </p:sp>
      <p:pic>
        <p:nvPicPr>
          <p:cNvPr id="227" name="Google Shape;227;p34"/>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28" name="Google Shape;228;p34"/>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229" name="Google Shape;229;p34"/>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230" name="Google Shape;230;p34"/>
          <p:cNvGrpSpPr/>
          <p:nvPr/>
        </p:nvGrpSpPr>
        <p:grpSpPr>
          <a:xfrm>
            <a:off x="4066674" y="6601537"/>
            <a:ext cx="5233412" cy="70446"/>
            <a:chOff x="4033424" y="6601537"/>
            <a:chExt cx="5233412" cy="70446"/>
          </a:xfrm>
        </p:grpSpPr>
        <p:cxnSp>
          <p:nvCxnSpPr>
            <p:cNvPr id="231" name="Google Shape;231;p34"/>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232" name="Google Shape;232;p34"/>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13294B"/>
        </a:solidFill>
        <a:effectLst/>
      </p:bgPr>
    </p:bg>
    <p:spTree>
      <p:nvGrpSpPr>
        <p:cNvPr id="1" name="Shape 236"/>
        <p:cNvGrpSpPr/>
        <p:nvPr/>
      </p:nvGrpSpPr>
      <p:grpSpPr>
        <a:xfrm>
          <a:off x="0" y="0"/>
          <a:ext cx="0" cy="0"/>
          <a:chOff x="0" y="0"/>
          <a:chExt cx="0" cy="0"/>
        </a:xfrm>
      </p:grpSpPr>
      <p:sp>
        <p:nvSpPr>
          <p:cNvPr id="237" name="Google Shape;237;p35"/>
          <p:cNvSpPr txBox="1"/>
          <p:nvPr/>
        </p:nvSpPr>
        <p:spPr>
          <a:xfrm>
            <a:off x="5131837" y="1010620"/>
            <a:ext cx="6422373" cy="4821102"/>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Lorem ipsum dolor sit amet consectetur adipiscing elit</a:t>
            </a: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 Ut enim ad minim veniam, quis nostrud exercitation ullamco laboris nisi ut aliquip ex ea commodo consequat. </a:t>
            </a:r>
            <a:endParaRPr/>
          </a:p>
          <a:p>
            <a:pPr marL="0" marR="0" lvl="0" indent="0" algn="l" rtl="0">
              <a:lnSpc>
                <a:spcPct val="100000"/>
              </a:lnSpc>
              <a:spcBef>
                <a:spcPts val="0"/>
              </a:spcBef>
              <a:spcAft>
                <a:spcPts val="0"/>
              </a:spcAft>
              <a:buNone/>
            </a:pP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000" b="1" i="0" u="none" strike="noStrike" cap="none">
                <a:solidFill>
                  <a:schemeClr val="lt1"/>
                </a:solidFill>
                <a:latin typeface="Arial"/>
                <a:ea typeface="Arial"/>
                <a:cs typeface="Arial"/>
                <a:sym typeface="Arial"/>
              </a:rPr>
              <a:t>Lorem ipsum dolor sit amet consectetur adipiscing</a:t>
            </a:r>
            <a:endParaRPr sz="20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sp>
        <p:nvSpPr>
          <p:cNvPr id="238" name="Google Shape;238;p35"/>
          <p:cNvSpPr/>
          <p:nvPr/>
        </p:nvSpPr>
        <p:spPr>
          <a:xfrm>
            <a:off x="420782" y="344953"/>
            <a:ext cx="4109890" cy="5954248"/>
          </a:xfrm>
          <a:prstGeom prst="rect">
            <a:avLst/>
          </a:prstGeom>
          <a:solidFill>
            <a:srgbClr val="D8D8D8"/>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39" name="Google Shape;239;p35"/>
          <p:cNvSpPr txBox="1"/>
          <p:nvPr/>
        </p:nvSpPr>
        <p:spPr>
          <a:xfrm>
            <a:off x="1335481" y="3236505"/>
            <a:ext cx="2280491" cy="36933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rgbClr val="A5A5A5"/>
                </a:solidFill>
                <a:latin typeface="Arial"/>
                <a:ea typeface="Arial"/>
                <a:cs typeface="Arial"/>
                <a:sym typeface="Arial"/>
              </a:rPr>
              <a:t>IMAGE</a:t>
            </a:r>
            <a:endParaRPr sz="1400" b="0" i="0" u="none" strike="noStrike" cap="none">
              <a:solidFill>
                <a:srgbClr val="000000"/>
              </a:solidFill>
              <a:latin typeface="Arial"/>
              <a:ea typeface="Arial"/>
              <a:cs typeface="Arial"/>
              <a:sym typeface="Arial"/>
            </a:endParaRPr>
          </a:p>
        </p:txBody>
      </p:sp>
      <p:pic>
        <p:nvPicPr>
          <p:cNvPr id="240" name="Google Shape;240;p35"/>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241" name="Google Shape;241;p35"/>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42" name="Google Shape;242;p35"/>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43" name="Google Shape;243;p35"/>
          <p:cNvGrpSpPr/>
          <p:nvPr/>
        </p:nvGrpSpPr>
        <p:grpSpPr>
          <a:xfrm>
            <a:off x="4066674" y="6601537"/>
            <a:ext cx="5233412" cy="70446"/>
            <a:chOff x="4033424" y="6601537"/>
            <a:chExt cx="5233412" cy="70446"/>
          </a:xfrm>
        </p:grpSpPr>
        <p:cxnSp>
          <p:nvCxnSpPr>
            <p:cNvPr id="244" name="Google Shape;244;p35"/>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45" name="Google Shape;245;p35"/>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pic>
        <p:nvPicPr>
          <p:cNvPr id="250" name="Google Shape;250;p36" descr="Text, letter, whiteboard&#10;&#10;Description automatically generated"/>
          <p:cNvPicPr preferRelativeResize="0"/>
          <p:nvPr/>
        </p:nvPicPr>
        <p:blipFill rotWithShape="1">
          <a:blip r:embed="rId3">
            <a:alphaModFix/>
          </a:blip>
          <a:srcRect/>
          <a:stretch/>
        </p:blipFill>
        <p:spPr>
          <a:xfrm>
            <a:off x="0" y="0"/>
            <a:ext cx="12192000" cy="6858000"/>
          </a:xfrm>
          <a:prstGeom prst="rect">
            <a:avLst/>
          </a:prstGeom>
          <a:noFill/>
          <a:ln>
            <a:noFill/>
          </a:ln>
        </p:spPr>
      </p:pic>
      <p:sp>
        <p:nvSpPr>
          <p:cNvPr id="251" name="Google Shape;251;p36"/>
          <p:cNvSpPr/>
          <p:nvPr/>
        </p:nvSpPr>
        <p:spPr>
          <a:xfrm>
            <a:off x="0" y="0"/>
            <a:ext cx="6096000" cy="685800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Calibri"/>
              <a:ea typeface="Calibri"/>
              <a:cs typeface="Calibri"/>
              <a:sym typeface="Calibri"/>
            </a:endParaRPr>
          </a:p>
        </p:txBody>
      </p:sp>
      <p:sp>
        <p:nvSpPr>
          <p:cNvPr id="252" name="Google Shape;252;p36"/>
          <p:cNvSpPr txBox="1"/>
          <p:nvPr/>
        </p:nvSpPr>
        <p:spPr>
          <a:xfrm>
            <a:off x="591671" y="3581984"/>
            <a:ext cx="4867835" cy="193895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1" i="0" u="none" strike="noStrike" cap="none">
                <a:solidFill>
                  <a:schemeClr val="lt1"/>
                </a:solidFill>
                <a:latin typeface="Arial"/>
                <a:ea typeface="Arial"/>
                <a:cs typeface="Arial"/>
                <a:sym typeface="Arial"/>
              </a:rPr>
              <a:t>(Slide the blue box and the text left or right to fit over your background image. Use this text box for a call out or caption to the image.)</a:t>
            </a:r>
            <a:endParaRPr sz="2400" b="1" i="0" u="none" strike="noStrike" cap="none">
              <a:solidFill>
                <a:schemeClr val="lt1"/>
              </a:solidFill>
              <a:latin typeface="Arial"/>
              <a:ea typeface="Arial"/>
              <a:cs typeface="Arial"/>
              <a:sym typeface="Arial"/>
            </a:endParaRPr>
          </a:p>
        </p:txBody>
      </p:sp>
      <p:sp>
        <p:nvSpPr>
          <p:cNvPr id="253" name="Google Shape;253;p36"/>
          <p:cNvSpPr txBox="1"/>
          <p:nvPr/>
        </p:nvSpPr>
        <p:spPr>
          <a:xfrm>
            <a:off x="701965" y="1422585"/>
            <a:ext cx="4608944" cy="1754286"/>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IMAGE</a:t>
            </a:r>
            <a:endParaRPr/>
          </a:p>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a:solidFill>
                  <a:schemeClr val="lt1"/>
                </a:solidFill>
                <a:latin typeface="Arial"/>
                <a:ea typeface="Arial"/>
                <a:cs typeface="Arial"/>
                <a:sym typeface="Arial"/>
              </a:rPr>
              <a: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(Use a photo for the entire slide like the example shown here. Send the photo to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the back so the Block I and footer text </a:t>
            </a:r>
            <a:endParaRPr/>
          </a:p>
          <a:p>
            <a:pPr marL="0" marR="0" lvl="0" indent="0" algn="ctr"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is not covered.)</a:t>
            </a:r>
            <a:endParaRPr sz="1400" b="0" i="0" u="none" strike="noStrike" cap="none">
              <a:solidFill>
                <a:schemeClr val="lt1"/>
              </a:solidFill>
              <a:latin typeface="Arial"/>
              <a:ea typeface="Arial"/>
              <a:cs typeface="Arial"/>
              <a:sym typeface="Arial"/>
            </a:endParaRPr>
          </a:p>
        </p:txBody>
      </p:sp>
      <p:pic>
        <p:nvPicPr>
          <p:cNvPr id="254" name="Google Shape;254;p36"/>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55" name="Google Shape;255;p36"/>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56" name="Google Shape;256;p36"/>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57" name="Google Shape;257;p36"/>
          <p:cNvGrpSpPr/>
          <p:nvPr/>
        </p:nvGrpSpPr>
        <p:grpSpPr>
          <a:xfrm>
            <a:off x="4066674" y="6601537"/>
            <a:ext cx="5233412" cy="70446"/>
            <a:chOff x="4033424" y="6601537"/>
            <a:chExt cx="5233412" cy="70446"/>
          </a:xfrm>
        </p:grpSpPr>
        <p:cxnSp>
          <p:nvCxnSpPr>
            <p:cNvPr id="258" name="Google Shape;258;p36"/>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59" name="Google Shape;259;p36"/>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p:cNvGrpSpPr/>
        <p:nvPr/>
      </p:nvGrpSpPr>
      <p:grpSpPr>
        <a:xfrm>
          <a:off x="0" y="0"/>
          <a:ext cx="0" cy="0"/>
          <a:chOff x="0" y="0"/>
          <a:chExt cx="0" cy="0"/>
        </a:xfrm>
      </p:grpSpPr>
      <p:sp>
        <p:nvSpPr>
          <p:cNvPr id="264" name="Google Shape;264;p37"/>
          <p:cNvSpPr txBox="1"/>
          <p:nvPr/>
        </p:nvSpPr>
        <p:spPr>
          <a:xfrm>
            <a:off x="2275515" y="1778140"/>
            <a:ext cx="7640969" cy="4334209"/>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(Closing slide option. Suggestions for last slide)</a:t>
            </a:r>
            <a:endParaRPr sz="1800" b="0"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26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Summary</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Thank You</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Questions</a:t>
            </a:r>
            <a:endParaRPr/>
          </a:p>
          <a:p>
            <a:pPr marL="0" marR="0" lvl="0" indent="0" algn="l" rtl="0">
              <a:lnSpc>
                <a:spcPct val="100000"/>
              </a:lnSpc>
              <a:spcBef>
                <a:spcPts val="0"/>
              </a:spcBef>
              <a:spcAft>
                <a:spcPts val="0"/>
              </a:spcAft>
              <a:buNone/>
            </a:pPr>
            <a:r>
              <a:rPr lang="en-US" sz="2600" b="1" i="0" u="none" strike="noStrike" cap="none">
                <a:solidFill>
                  <a:schemeClr val="lt1"/>
                </a:solidFill>
                <a:latin typeface="Arial"/>
                <a:ea typeface="Arial"/>
                <a:cs typeface="Arial"/>
                <a:sym typeface="Arial"/>
              </a:rPr>
              <a:t>Contact Information</a:t>
            </a:r>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endParaRPr sz="1800" b="1" i="0" u="none" strike="noStrike" cap="none">
              <a:solidFill>
                <a:schemeClr val="lt1"/>
              </a:solidFill>
              <a:latin typeface="Arial"/>
              <a:ea typeface="Arial"/>
              <a:cs typeface="Arial"/>
              <a:sym typeface="Arial"/>
            </a:endParaRPr>
          </a:p>
          <a:p>
            <a:pPr marL="0" marR="0" lvl="0" indent="0" algn="l" rtl="0">
              <a:lnSpc>
                <a:spcPct val="100000"/>
              </a:lnSpc>
              <a:spcBef>
                <a:spcPts val="0"/>
              </a:spcBef>
              <a:spcAft>
                <a:spcPts val="0"/>
              </a:spcAft>
              <a:buNone/>
            </a:pPr>
            <a:r>
              <a:rPr lang="en-US" sz="1800" b="0" i="0" u="none" strike="noStrike" cap="none">
                <a:solidFill>
                  <a:schemeClr val="lt1"/>
                </a:solidFill>
                <a:latin typeface="Arial"/>
                <a:ea typeface="Arial"/>
                <a:cs typeface="Arial"/>
                <a:sym typeface="Arial"/>
              </a:rPr>
              <a:t>Lorem ipsum dolor sit amet, consectetur adipiscing elit, sed do eiusmod tempor incididunt ut labore et dolore magna aliqua.</a:t>
            </a:r>
            <a:endParaRPr sz="1800" b="1" i="0" u="none" strike="noStrike" cap="none">
              <a:solidFill>
                <a:schemeClr val="lt1"/>
              </a:solidFill>
              <a:latin typeface="Arial"/>
              <a:ea typeface="Arial"/>
              <a:cs typeface="Arial"/>
              <a:sym typeface="Arial"/>
            </a:endParaRPr>
          </a:p>
        </p:txBody>
      </p:sp>
      <p:pic>
        <p:nvPicPr>
          <p:cNvPr id="265" name="Google Shape;265;p3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p:cNvGrpSpPr/>
          <p:nvPr/>
        </p:nvGrpSpPr>
        <p:grpSpPr>
          <a:xfrm>
            <a:off x="4066674" y="6601537"/>
            <a:ext cx="5233412" cy="70446"/>
            <a:chOff x="4033424" y="6601537"/>
            <a:chExt cx="5233412" cy="70446"/>
          </a:xfrm>
        </p:grpSpPr>
        <p:cxnSp>
          <p:nvCxnSpPr>
            <p:cNvPr id="269" name="Google Shape;269;p3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229</TotalTime>
  <Words>2002</Words>
  <Application>Microsoft Office PowerPoint</Application>
  <PresentationFormat>Widescreen</PresentationFormat>
  <Paragraphs>255</Paragraphs>
  <Slides>33</Slides>
  <Notes>33</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33</vt:i4>
      </vt:variant>
    </vt:vector>
  </HeadingPairs>
  <TitlesOfParts>
    <vt:vector size="38" baseType="lpstr">
      <vt:lpstr>Arial</vt:lpstr>
      <vt:lpstr>Calibri</vt:lpstr>
      <vt:lpstr>Cambria Math</vt:lpstr>
      <vt:lpstr>Helvetica Neue Light</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53</cp:revision>
  <dcterms:created xsi:type="dcterms:W3CDTF">2019-01-14T22:06:33Z</dcterms:created>
  <dcterms:modified xsi:type="dcterms:W3CDTF">2026-02-06T10:38:11Z</dcterms:modified>
</cp:coreProperties>
</file>