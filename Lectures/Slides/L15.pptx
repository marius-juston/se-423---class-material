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31" r:id="rId9"/>
    <p:sldId id="420" r:id="rId10"/>
    <p:sldId id="422" r:id="rId11"/>
    <p:sldId id="421" r:id="rId12"/>
    <p:sldId id="423" r:id="rId13"/>
    <p:sldId id="424" r:id="rId14"/>
    <p:sldId id="425" r:id="rId15"/>
    <p:sldId id="426" r:id="rId16"/>
    <p:sldId id="427" r:id="rId17"/>
    <p:sldId id="428" r:id="rId18"/>
    <p:sldId id="429" r:id="rId19"/>
    <p:sldId id="430" r:id="rId20"/>
    <p:sldId id="432" r:id="rId21"/>
    <p:sldId id="433" r:id="rId22"/>
    <p:sldId id="434" r:id="rId23"/>
    <p:sldId id="435" r:id="rId24"/>
    <p:sldId id="437" r:id="rId25"/>
    <p:sldId id="436" r:id="rId26"/>
    <p:sldId id="438" r:id="rId27"/>
    <p:sldId id="458" r:id="rId28"/>
    <p:sldId id="439" r:id="rId29"/>
    <p:sldId id="440" r:id="rId30"/>
    <p:sldId id="441" r:id="rId31"/>
    <p:sldId id="442" r:id="rId32"/>
    <p:sldId id="443" r:id="rId33"/>
    <p:sldId id="445" r:id="rId34"/>
    <p:sldId id="447" r:id="rId35"/>
    <p:sldId id="444" r:id="rId36"/>
    <p:sldId id="448" r:id="rId37"/>
    <p:sldId id="449" r:id="rId38"/>
    <p:sldId id="450" r:id="rId39"/>
    <p:sldId id="453" r:id="rId40"/>
    <p:sldId id="452" r:id="rId41"/>
    <p:sldId id="454" r:id="rId42"/>
    <p:sldId id="455" r:id="rId43"/>
    <p:sldId id="456" r:id="rId44"/>
    <p:sldId id="45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B53992-DBCC-1A47-D509-2283B20A38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6DA2EB-93A5-88B8-DC24-FDB0D7C203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478B48-83E8-4F87-AFC3-6B61F37266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06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2299D0-F2DF-2356-8F5D-682A0BE7C9F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BFF871-D58C-A13F-05E6-8187B1841C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A7B009-B8C1-1542-E4CE-DCB5DF2C63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2802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BDCF605-DB66-3DD8-A8A0-6D35958FA67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02E670-274B-DC92-6DB4-BFE4DE6C15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11C997B-FB9B-774B-A490-29210A94FA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665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B651D49-3479-47FA-7613-7F7702EE7D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4F75C1-2CF2-34C0-628E-6E9C6FAAEE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DA9332-2978-2177-38B5-199FC4B4F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860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F33BE4-7944-0CAC-5025-FDDEFA89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3DD3F6-0220-7B32-EFA0-6D346AE14DB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49740B-1434-96E0-9676-BA411739A3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8778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5A1C2D-BECA-E00E-F164-FF942FFBD53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31F6D0-06BD-901E-DF0D-C74E488C3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DDECD3-ECE8-3672-CFE4-E18B766A61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0730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021E94-44B8-042C-6B56-F12EBC032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B3D157-37C5-4682-E55E-3DA940A373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B970C-19F6-D507-BC57-D1ED575003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2468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CAC9A3-7125-FD97-0CA4-A355EEE39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19C0B7-7AE7-11C0-74B4-E0B94DFEA5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42D5B97-F6BA-0D23-7160-3CB1F27591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715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87C942-D3CF-1804-8160-A38896B35D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FE11EB-6697-2CB2-9EAF-C7E6F2392D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544C7C4-01B9-E1A6-5D43-A05FE36ED2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1340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004C50-F47E-3B80-F9D3-3739D7D6B5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4E0809-82D7-C156-383F-518AE8E408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71A57EE-2D5E-F334-A42F-B62547745A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36539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64C2C3-87F7-1595-A01A-6F364F1F8A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F55EC0-3655-24FE-F888-BD002EFC09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FBF68B-B41F-C902-C4E0-EB730111C2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19078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332CC8-A2C1-CE72-3B84-DEFCEA9495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CAC600-6939-5063-9D45-2AC087D7FF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BF6BC-389E-B6CA-CB50-D93BE7AE3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64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8BF7BF-60B9-DA48-4BBA-5AE075B789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52BEC4-864E-8F7F-A658-A7B016F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18C965-0CD5-C9CE-69E8-F3852ECC9E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6120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99F037-8C12-8E40-3C8A-7B9469DE6E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F04FE2-FC42-93C3-5D44-30170411F5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5C32F6B-4D61-6B49-5521-323F0FA5AA7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735204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8477EE1-B993-CD06-EEBA-78F4E3E996A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DDE1DD-0E78-2BFA-2A76-8DED2AF53B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D793B7F-E5AF-6B99-0CD5-C800BF336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5071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501867-95D6-B00D-B73A-61ADCE518A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56DAAE-3D4D-31C8-FB91-1907718A1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A39EDE-9C73-1A82-E878-714DAFCE79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61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0165D6-2B0F-CB6D-C842-2A2FF9492C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026F1C-4C24-07F8-27C2-86F7FD232D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DF6B970-ADAE-795C-7359-E1A3A3509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44517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BCA9D6-B738-6212-9801-A17EA0F7D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EC23B1-F7A4-CD59-51F9-9B142FEFE7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A8222C-089B-B207-19A5-D181061FD2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7960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FC25D6-F64E-F7E8-7EF1-3D44F16ED8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153428-DA95-9E30-E05C-D3596A229A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7BDBCA-A110-5052-2B7B-FC61B3E5AE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23333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FD0AD-19F7-20B6-BA4F-7E3AAC382C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AE6DE1-5D24-0B2E-7458-EDC1FF5CC4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0D2DC7-DEA1-7039-7FA0-68E49DB85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0951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F7D257-51B6-449D-D309-A44A8C94CF6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16CDF0-DC3E-FDA5-4F24-CFF7458913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D72445-7521-A8A2-A874-E396361A84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54430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9F0CDA-A079-B246-A1FA-2FE9C4AB86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C7B2F7-7970-86DC-2A29-9B0C4D6B9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5E2DEF-93EE-25D5-6E00-4057D3E88E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05827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4B48CB-5C0F-03DE-F40A-08B17A02EB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3EDC-AF68-787D-7D9D-3E906F44B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C147F73-9515-16E8-9473-45D5A2CF1E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47277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1A3041-965F-B8AF-4344-9285AC280A9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B1803F9-CCE5-8947-EB0A-D44E1D61DF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F6543B3-BB15-6911-9334-5DD954C236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8420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28518-8438-CF4E-817F-4B7ED567B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48EAA-70A3-52A4-ACAF-EB10715B71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2E4230-B6A7-901E-BA7D-5E85C8C5A1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18687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3CC5AD-2C8B-6CD3-3B0F-E22C5A50A82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BE3EB9-8751-82E7-7BCC-CBA885B139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E28E4B-E391-46A0-FCF6-EEE337283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76296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22E025-D59A-768B-8EF2-4E6891E70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087AD0-D746-1DB3-AFCB-C3B298F1B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831774-8FB6-D3C9-F4E1-8AEF2ECE0E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162596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6E2D6C-ADDD-7919-8B01-F2430F6C1A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3FE519-7DBE-3B61-21CD-B3B0C226BB7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E5B633-BC28-01CE-8413-F37070E050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54887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7ECC29-CFF4-8ABF-C915-3169F433EBB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2B0F87-E6CF-D7A1-40B9-495F109176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AB015F-7BBC-E4B3-1037-CA3DAE9E8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47721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44B803-FB2A-FE28-C110-D02F02F3A9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9D84A-304A-E55E-9324-85274DFA51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BB618D-94FA-58A9-4155-F121609E5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00424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D6B2225-C0B2-56EA-3045-806081BC79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CA1C512-4501-0D1D-A2AA-3AEE7779B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4BDA5A-BCA5-4965-0EEA-A9AB0F4BB3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7896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41BC26-EB58-4C22-AF95-3E749992E4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13548C-5DB0-865E-C740-34E11AC2AD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382200-C9EB-25C0-9161-F002EF390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6366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E8F99-4EF5-8C1C-B8FB-DC0D9E9D452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A67404-F6AF-3E18-349F-311E3E7B2C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5FD715-7DE0-1C44-D1A0-F523F61750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83490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E18440F-1056-DAFA-176A-D26254D360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D88BCB-8134-07CA-DB5D-25E76AF8BD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2EAE820-72DD-88C2-F9F9-F6BD94102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4064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58109F-86CB-C8B2-DBD1-6B4C043A93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1227C0-9987-B6FE-943E-0258944082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D54106-1EA5-D09F-5297-4E5F9FA4D4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01358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B4C103-FD70-DC24-3807-8A9F53C179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65B16-AED5-042F-9941-627D2421E5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C881E0-573D-D8BA-0B4E-6AAC9475B2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67631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82AC7-8202-F2C9-A3D9-B5D987B1AA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B8A00E-83B2-E80F-3506-85A7613BD9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B61B05-1962-E37D-BC7D-A134229005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081887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D9D9EA-5589-19AF-E262-E2F2F623AF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399A02-E788-A483-A486-8A6EB9147E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2689D-70E1-4B17-76A2-B86E57C8819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78369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1FFF0E-C97C-278C-3F77-3CC6B4049B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A5001F4-2420-5D75-35F6-B8AF968F11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098A410-8313-E2B4-8AEA-70E986C0E9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01001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rontiersin.org/journals/robotics-and-ai/articles/10.3389/frobt.2025.1671673/full" TargetMode="External"/><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en.wikipedia.org/wiki/Differential_wheeled_rob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8.png"/><Relationship Id="rId7"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april.eecs.umich.edu/software/apriltag"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hyperlink" Target="https://www.researchgate.net/publication/355183350_PSL-SLAM_a_monocular_SLAM_system_using_points_and_structure_lines_in_Manhattan_World" TargetMode="Externa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4.gif"/><Relationship Id="rId5" Type="http://schemas.openxmlformats.org/officeDocument/2006/relationships/hyperlink" Target="https://learnopencv.com/iterative-closest-point-icp-explained/" TargetMode="External"/><Relationship Id="rId4" Type="http://schemas.openxmlformats.org/officeDocument/2006/relationships/image" Target="../media/image43.gif"/></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15: Coordinate Transforms &amp; Dead-reckoning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March 11</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Stand up and with your partner and: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Agree on a starting position and a target position</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Discuss ways how one would go from point A to B as accurately as possible with their eyes closed.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One of you closes your eyes (the partner should keep the other safe during the activity) and performs the strategy to try to get from point A to B. The other partner should not provide information during that time (Dead-Reckoning).</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Now redo the task but now your partner can only tell you distance to the target as well (type IR sensor).</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Spring Break next week, no 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p>
          <a:p>
            <a:pPr marL="285750" indent="-285750">
              <a:lnSpc>
                <a:spcPct val="100000"/>
              </a:lnSpc>
              <a:spcBef>
                <a:spcPts val="0"/>
              </a:spcBef>
              <a:buSzPts val="3000"/>
            </a:pPr>
            <a:r>
              <a:rPr lang="en-US" sz="1800" dirty="0">
                <a:latin typeface="Atkinson Hyperlegible Next"/>
                <a:ea typeface="Arial"/>
                <a:cs typeface="Arial"/>
                <a:sym typeface="Arial"/>
              </a:rPr>
              <a:t>Don’t forget the Lab 6 LabVIEW assignment that needs to be done beforehand!</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Localization</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54E6D-ADE0-FF7B-8B3B-FBB787005E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34F85F-14ED-8196-483A-A9B0CBE868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now have sensors to figure out where obstacles are. We have sensors to figure out the internal state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also know how to make a robot drive straight or follow a wall using feedback control.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if we ask the robot to “go to coordinates (5, 5) on the map,” how does it know where it currently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the fundamental question of </a:t>
            </a:r>
            <a:r>
              <a:rPr lang="en-US" sz="2400" b="1" dirty="0">
                <a:latin typeface="Atkinson Hyperlegible Next"/>
                <a:ea typeface="Arial"/>
                <a:cs typeface="Arial"/>
                <a:sym typeface="Arial"/>
              </a:rPr>
              <a:t>Localization</a:t>
            </a:r>
            <a:r>
              <a:rPr lang="en-US" sz="24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13215573-5A7C-3A19-B5FC-59A2DAECE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2BE7C5-E357-C849-95D1-A8AFC2B878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909E4A-4D7E-B978-3B33-F09D062D44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4271AA3-DDA8-8911-F3E0-99DCC109A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8E6136-75ED-E9E8-7811-4C19C9302C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E3BB8A-CC27-EE8F-6806-F3A5029472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1700D1-F08F-06B9-193E-676EC039D7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C927B8-E359-2078-0EE4-ADC57931A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6B0AB0-4051-A09B-7311-A4F931BA9B5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A21696-5A9A-3401-67CD-214B116713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To solve localization, we need to understand that the world is not perfect and not a single sensor gives the exact solution.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first estimate movement using internal sensors (Dead-Reckoning).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a problem with just using internal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internal sensors drift and accumulate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Think of this as walking blind and relying on just counting your steps as you did at the beginning of the lecture.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Finally, we use external sensors (LiDAR, Cameras) to look at landmarks and correct these errors (SLAM)</a:t>
            </a:r>
          </a:p>
        </p:txBody>
      </p:sp>
      <p:sp>
        <p:nvSpPr>
          <p:cNvPr id="119" name="Google Shape;119;p29">
            <a:extLst>
              <a:ext uri="{FF2B5EF4-FFF2-40B4-BE49-F238E27FC236}">
                <a16:creationId xmlns:a16="http://schemas.microsoft.com/office/drawing/2014/main" id="{EB1C9771-CEDB-F231-50E7-056ABA96B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844BD46-26EE-7A92-2F40-585E66379FA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9C415F-6234-A563-9685-6C58F007F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01D358-E660-5A3A-79D7-E72117E7D0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D20787-DE13-FFAB-59C4-53CB0535AE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E81C41-95EC-5910-AE81-9E9E0016E9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CB493-F98D-DEB8-5A08-571961CCE9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2CB86-A719-5322-78B8-CD4308B7CD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8143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F4750B5-B14A-01C9-2B88-F206A73A34D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6D4F231-FAC7-950C-5B45-988055DD235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Coordinate Transformation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2E38B49-2E3A-FDD3-E87E-670AC8567A9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D84C68B-3657-9A09-BA27-13DFBD4178B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5955F79-2034-08CB-A687-A865D40FE7A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17795A85-70CE-C4BB-770A-9D34F3334B4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4D5F0B-0552-CD63-B00C-A9C2A0CD86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1B59352F-72AC-C977-FC71-D1436D4ABDC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0FE4BDD-F9D0-96A9-034F-99CDC779B4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C43F291-FBED-C820-8FD0-BF27F8527B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EA57A2F-DF5A-9E87-A66E-340D67185C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1936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D68A14-2D43-55A7-F8C0-E002E2C62A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3FD844-676E-2C29-2373-9E0220DF013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robot experiences the world from its own perspective, which we call the </a:t>
            </a:r>
            <a:r>
              <a:rPr lang="en-US" sz="2200" b="1" dirty="0">
                <a:latin typeface="Atkinson Hyperlegible Next"/>
                <a:ea typeface="Arial"/>
                <a:cs typeface="Arial"/>
                <a:sym typeface="Arial"/>
              </a:rPr>
              <a:t>Local Frame </a:t>
            </a:r>
            <a:r>
              <a:rPr lang="en-US" sz="2200" dirty="0">
                <a:latin typeface="Atkinson Hyperlegible Next"/>
                <a:ea typeface="Arial"/>
                <a:cs typeface="Arial"/>
                <a:sym typeface="Arial"/>
              </a:rPr>
              <a:t>(or Body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map or the room exists in a fixed, global reference frame, called the </a:t>
            </a:r>
            <a:r>
              <a:rPr lang="en-US" sz="2200" b="1" dirty="0">
                <a:latin typeface="Atkinson Hyperlegible Next"/>
                <a:ea typeface="Arial"/>
                <a:cs typeface="Arial"/>
                <a:sym typeface="Arial"/>
              </a:rPr>
              <a:t>Global / World Frame</a:t>
            </a:r>
            <a:r>
              <a:rPr lang="en-US" sz="2200" dirty="0">
                <a:latin typeface="Atkinson Hyperlegible Next"/>
                <a:ea typeface="Arial"/>
                <a:cs typeface="Arial"/>
                <a:sym typeface="Arial"/>
              </a:rPr>
              <a:t> (or Inertial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driving a car, your local reference frame is your point of view inside the car, only you have that viewpoint, and the global reference is the shared viewpoint, which is provided by the GPS map.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Each of the sensors view its information in its own Local Frame; however, to navigate a room, we must translate the local sensor data into the global map!</a:t>
            </a:r>
          </a:p>
        </p:txBody>
      </p:sp>
      <p:sp>
        <p:nvSpPr>
          <p:cNvPr id="119" name="Google Shape;119;p29">
            <a:extLst>
              <a:ext uri="{FF2B5EF4-FFF2-40B4-BE49-F238E27FC236}">
                <a16:creationId xmlns:a16="http://schemas.microsoft.com/office/drawing/2014/main" id="{311CB4E9-9255-9A87-DA02-4531EC6F08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87E6F-1A16-5B7F-0DBD-EBB05D4C03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44F908-2DC1-FD6A-B6DD-0AE2DF0578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58C51D-5F5B-C5C1-7E3B-4E7961D336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A28F24-8ED6-D3C4-9D30-E11CE6FE4A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31BB56-3D10-4E51-1059-7704B1202A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D18472-15CC-951B-22D9-2D16BE443B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7BAC9-1191-2046-BCDC-AE807074BC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56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5CD33-FBA4-E607-F00C-CE9B0B73E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BD59CC6-7569-F8D1-B339-8E469DAB4A90}"/>
                  </a:ext>
                </a:extLst>
              </p:cNvPr>
              <p:cNvSpPr txBox="1">
                <a:spLocks noGrp="1"/>
              </p:cNvSpPr>
              <p:nvPr>
                <p:ph type="body" idx="1"/>
              </p:nvPr>
            </p:nvSpPr>
            <p:spPr>
              <a:xfrm>
                <a:off x="376809" y="1334279"/>
                <a:ext cx="584989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local frames of each of the sensors can be of different positions and orientation than the robot’s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 is typically the frame where you define the </a:t>
                </a:r>
                <a14:m>
                  <m:oMath xmlns:m="http://schemas.openxmlformats.org/officeDocument/2006/math">
                    <m:r>
                      <a:rPr lang="en-US" sz="2200" b="0" i="0" smtClean="0">
                        <a:latin typeface="Cambria Math" panose="02040503050406030204" pitchFamily="18" charset="0"/>
                        <a:ea typeface="Cambria Math" panose="02040503050406030204" pitchFamily="18" charset="0"/>
                        <a:cs typeface="Arial"/>
                        <a:sym typeface="Arial"/>
                      </a:rPr>
                      <m:t>(</m:t>
                    </m:r>
                    <m:r>
                      <m:rPr>
                        <m:sty m:val="p"/>
                      </m:rPr>
                      <a:rPr lang="en-US" sz="2200" b="0" i="0" smtClean="0">
                        <a:latin typeface="Cambria Math" panose="02040503050406030204" pitchFamily="18" charset="0"/>
                        <a:ea typeface="Cambria Math" panose="02040503050406030204" pitchFamily="18" charset="0"/>
                        <a:cs typeface="Arial"/>
                        <a:sym typeface="Arial"/>
                      </a:rPr>
                      <m:t>x</m:t>
                    </m:r>
                    <m:r>
                      <a:rPr lang="en-US" sz="2200" b="0" i="1" smtClean="0">
                        <a:latin typeface="Cambria Math" panose="02040503050406030204" pitchFamily="18" charset="0"/>
                        <a:ea typeface="Cambria Math" panose="02040503050406030204" pitchFamily="18" charset="0"/>
                        <a:cs typeface="Arial"/>
                        <a:sym typeface="Arial"/>
                      </a:rPr>
                      <m:t>, </m:t>
                    </m:r>
                    <m:r>
                      <m:rPr>
                        <m:sty m:val="p"/>
                      </m:rPr>
                      <a:rPr lang="en-US" sz="2200" b="0" i="1" smtClean="0">
                        <a:latin typeface="Cambria Math" panose="02040503050406030204" pitchFamily="18" charset="0"/>
                        <a:ea typeface="Cambria Math" panose="02040503050406030204" pitchFamily="18" charset="0"/>
                        <a:cs typeface="Arial"/>
                        <a:sym typeface="Arial"/>
                      </a:rPr>
                      <m:t>y</m:t>
                    </m:r>
                    <m:r>
                      <a:rPr lang="en-US" sz="2200" b="0" i="1" smtClean="0">
                        <a:latin typeface="Cambria Math" panose="02040503050406030204" pitchFamily="18" charset="0"/>
                        <a:ea typeface="Cambria Math" panose="02040503050406030204" pitchFamily="18" charset="0"/>
                        <a:cs typeface="Arial"/>
                        <a:sym typeface="Arial"/>
                      </a:rPr>
                      <m:t>, </m:t>
                    </m:r>
                    <m:r>
                      <a:rPr lang="en-US" sz="2200" i="1" smtClean="0">
                        <a:latin typeface="Cambria Math" panose="02040503050406030204" pitchFamily="18" charset="0"/>
                        <a:ea typeface="Cambria Math" panose="02040503050406030204" pitchFamily="18" charset="0"/>
                        <a:cs typeface="Arial"/>
                        <a:sym typeface="Arial"/>
                      </a:rPr>
                      <m:t>𝜃</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of the robot.</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So, we need to translate the sensor frames to the body frame, and then the body frame to the global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to the right moves “forward 1 meter”, does its local x coordinate increase or it’s y? What about it’s world x, y coordinates?</a:t>
                </a:r>
              </a:p>
            </p:txBody>
          </p:sp>
        </mc:Choice>
        <mc:Fallback xmlns="">
          <p:sp>
            <p:nvSpPr>
              <p:cNvPr id="118" name="Google Shape;118;p29">
                <a:extLst>
                  <a:ext uri="{FF2B5EF4-FFF2-40B4-BE49-F238E27FC236}">
                    <a16:creationId xmlns:a16="http://schemas.microsoft.com/office/drawing/2014/main" id="{9BD59CC6-7569-F8D1-B339-8E469DAB4A90}"/>
                  </a:ext>
                </a:extLst>
              </p:cNvPr>
              <p:cNvSpPr txBox="1">
                <a:spLocks noGrp="1" noRot="1" noChangeAspect="1" noMove="1" noResize="1" noEditPoints="1" noAdjustHandles="1" noChangeArrowheads="1" noChangeShapeType="1" noTextEdit="1"/>
              </p:cNvSpPr>
              <p:nvPr>
                <p:ph type="body" idx="1"/>
              </p:nvPr>
            </p:nvSpPr>
            <p:spPr>
              <a:xfrm>
                <a:off x="376809" y="1334279"/>
                <a:ext cx="5849892" cy="4821102"/>
              </a:xfrm>
              <a:prstGeom prst="rect">
                <a:avLst/>
              </a:prstGeom>
              <a:blipFill>
                <a:blip r:embed="rId3"/>
                <a:stretch>
                  <a:fillRect l="-1356" t="-759" r="-2398"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87ECFB-4495-249A-40BA-0241CD197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20AD81-C680-622A-A674-17B52CFBC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6BBCA4-CFCB-DA91-9B41-79074E15B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8624EF-6C6D-92FE-D024-BBB996549B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7E90F5-76C0-896B-E43F-E5F1FCF11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D82D89-6AC9-3A75-EBED-5C3049E2B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169CED0-53AD-DEF9-1671-4E93DE5248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50A90D-323B-E878-049D-26D4F411BC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Picture 6" descr="Left, photo: a four-wheeled mobile robot with a tall sensor tower. From top: Bumblebee stereo camera at 126 cm, Wi-Fi router, tilted laser at about 60 cm, PC, and frontal and back lasers near 35 cm. Body-frame axes at its base show x (red) pointing forward toward the frontal laser, y (blue) to the side, and z (green) up. Right, frame tree: frames bumblebee, laservtcal, laserfront and laserback, each offset and rotated differently, all linked to base_link.">
            <a:extLst>
              <a:ext uri="{FF2B5EF4-FFF2-40B4-BE49-F238E27FC236}">
                <a16:creationId xmlns:a16="http://schemas.microsoft.com/office/drawing/2014/main" id="{B09C676A-C7CC-590E-E845-C95E05865DD4}"/>
              </a:ext>
            </a:extLst>
          </p:cNvPr>
          <p:cNvPicPr>
            <a:picLocks noChangeAspect="1"/>
          </p:cNvPicPr>
          <p:nvPr/>
        </p:nvPicPr>
        <p:blipFill>
          <a:blip r:embed="rId5"/>
          <a:stretch>
            <a:fillRect/>
          </a:stretch>
        </p:blipFill>
        <p:spPr>
          <a:xfrm>
            <a:off x="6226701" y="1651719"/>
            <a:ext cx="5965299" cy="3846662"/>
          </a:xfrm>
          <a:prstGeom prst="rect">
            <a:avLst/>
          </a:prstGeom>
        </p:spPr>
      </p:pic>
      <p:sp>
        <p:nvSpPr>
          <p:cNvPr id="9" name="TextBox 8">
            <a:extLst>
              <a:ext uri="{FF2B5EF4-FFF2-40B4-BE49-F238E27FC236}">
                <a16:creationId xmlns:a16="http://schemas.microsoft.com/office/drawing/2014/main" id="{EF53D97B-B5D7-BF27-4A42-A1F5ECA4416E}"/>
              </a:ext>
            </a:extLst>
          </p:cNvPr>
          <p:cNvSpPr txBox="1"/>
          <p:nvPr/>
        </p:nvSpPr>
        <p:spPr>
          <a:xfrm>
            <a:off x="6588338" y="5603472"/>
            <a:ext cx="5353050" cy="246221"/>
          </a:xfrm>
          <a:prstGeom prst="rect">
            <a:avLst/>
          </a:prstGeom>
          <a:noFill/>
        </p:spPr>
        <p:txBody>
          <a:bodyPr wrap="square">
            <a:spAutoFit/>
          </a:bodyPr>
          <a:lstStyle/>
          <a:p>
            <a:pPr algn="ctr"/>
            <a:r>
              <a:rPr lang="en-US" sz="1000" dirty="0">
                <a:hlinkClick r:id="rId6"/>
              </a:rPr>
              <a:t>https://www.frontiersin.org/journals/robotics-and-ai/articles/10.3389/frobt.2025.1671673/full</a:t>
            </a:r>
            <a:r>
              <a:rPr lang="en-US" sz="1000" dirty="0"/>
              <a:t> </a:t>
            </a:r>
          </a:p>
        </p:txBody>
      </p:sp>
    </p:spTree>
    <p:extLst>
      <p:ext uri="{BB962C8B-B14F-4D97-AF65-F5344CB8AC3E}">
        <p14:creationId xmlns:p14="http://schemas.microsoft.com/office/powerpoint/2010/main" val="2534883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8F7FA4-F548-74E2-0628-F61D456ACF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1564308-C01B-3265-8F48-407500B31E86}"/>
                  </a:ext>
                </a:extLst>
              </p:cNvPr>
              <p:cNvSpPr txBox="1">
                <a:spLocks noGrp="1"/>
              </p:cNvSpPr>
              <p:nvPr>
                <p:ph type="body" idx="1"/>
              </p:nvPr>
            </p:nvSpPr>
            <p:spPr>
              <a:xfrm>
                <a:off x="376809" y="1334279"/>
                <a:ext cx="597065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World Frame </a:t>
                </a:r>
                <a:r>
                  <a:rPr lang="en-US" sz="2200" dirty="0">
                    <a:latin typeface="Atkinson Hyperlegible Next"/>
                    <a:ea typeface="Arial"/>
                    <a:cs typeface="Arial"/>
                    <a:sym typeface="Arial"/>
                  </a:rPr>
                  <a:t>be defined by axes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X</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with origin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O</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Body Frame </a:t>
                </a:r>
                <a:r>
                  <a:rPr lang="en-US" sz="2200" dirty="0">
                    <a:latin typeface="Atkinson Hyperlegible Next"/>
                    <a:ea typeface="Arial"/>
                    <a:cs typeface="Arial"/>
                    <a:sym typeface="Arial"/>
                  </a:rPr>
                  <a:t>be defined by axes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𝑋</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forward) and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𝑌</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left) with origin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𝑂</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pose in the world is defined by its position and it’s heading angle.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𝑝</m:t>
                      </m:r>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𝜃</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1564308-C01B-3265-8F48-407500B31E86}"/>
                  </a:ext>
                </a:extLst>
              </p:cNvPr>
              <p:cNvSpPr txBox="1">
                <a:spLocks noGrp="1" noRot="1" noChangeAspect="1" noMove="1" noResize="1" noEditPoints="1" noAdjustHandles="1" noChangeArrowheads="1" noChangeShapeType="1" noTextEdit="1"/>
              </p:cNvSpPr>
              <p:nvPr>
                <p:ph type="body" idx="1"/>
              </p:nvPr>
            </p:nvSpPr>
            <p:spPr>
              <a:xfrm>
                <a:off x="376809" y="1334279"/>
                <a:ext cx="5970651" cy="4821102"/>
              </a:xfrm>
              <a:prstGeom prst="rect">
                <a:avLst/>
              </a:prstGeom>
              <a:blipFill>
                <a:blip r:embed="rId3"/>
                <a:stretch>
                  <a:fillRect l="-132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7B17B77-EFCB-B07C-6B3E-77C7461953A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D28FD7-4978-E5ED-7F8D-57889B5F84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5F77DB-0C03-D850-1132-AB3E9EF3E4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895157-E85B-3373-ABEC-3F96A0B3DF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2CEFC3-26C7-0E1C-3C98-2F715F469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1548D-DD99-A7E1-6B5F-6FB7164D92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B026BE-F922-29E2-8125-9DC50A8F3D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173063-51F2-6EE4-485D-76EC01E38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B01BA914-F748-37D2-7034-19DF3A5F11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7460" y="906290"/>
            <a:ext cx="5373498" cy="5373498"/>
          </a:xfrm>
          <a:prstGeom prst="rect">
            <a:avLst/>
          </a:prstGeom>
        </p:spPr>
      </p:pic>
      <p:sp>
        <p:nvSpPr>
          <p:cNvPr id="5" name="TextBox 4">
            <a:extLst>
              <a:ext uri="{FF2B5EF4-FFF2-40B4-BE49-F238E27FC236}">
                <a16:creationId xmlns:a16="http://schemas.microsoft.com/office/drawing/2014/main" id="{CA17C04D-6741-0831-1652-246378C3FBE8}"/>
              </a:ext>
            </a:extLst>
          </p:cNvPr>
          <p:cNvSpPr txBox="1"/>
          <p:nvPr/>
        </p:nvSpPr>
        <p:spPr>
          <a:xfrm>
            <a:off x="7384479" y="6277819"/>
            <a:ext cx="3299459" cy="246221"/>
          </a:xfrm>
          <a:prstGeom prst="rect">
            <a:avLst/>
          </a:prstGeom>
          <a:noFill/>
        </p:spPr>
        <p:txBody>
          <a:bodyPr wrap="square">
            <a:spAutoFit/>
          </a:bodyPr>
          <a:lstStyle/>
          <a:p>
            <a:pPr algn="ctr"/>
            <a:r>
              <a:rPr lang="en-US" sz="1000" dirty="0">
                <a:hlinkClick r:id="rId7"/>
              </a:rPr>
              <a:t>https://en.wikipedia.org/wiki/Differential_wheeled_robot</a:t>
            </a:r>
            <a:r>
              <a:rPr lang="en-US" sz="1000" dirty="0"/>
              <a:t> </a:t>
            </a:r>
          </a:p>
        </p:txBody>
      </p:sp>
    </p:spTree>
    <p:extLst>
      <p:ext uri="{BB962C8B-B14F-4D97-AF65-F5344CB8AC3E}">
        <p14:creationId xmlns:p14="http://schemas.microsoft.com/office/powerpoint/2010/main" val="403239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E8A154-AC74-35C1-3F62-BF4ECDA82F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E8C429-6DB1-3359-08A6-437C1380A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the robot’s heading </a:t>
                </a:r>
                <a14:m>
                  <m:oMath xmlns:m="http://schemas.openxmlformats.org/officeDocument/2006/math">
                    <m:r>
                      <a:rPr lang="en-US" sz="2200" i="1" dirty="0" smtClean="0">
                        <a:latin typeface="Cambria Math" panose="02040503050406030204" pitchFamily="18" charset="0"/>
                        <a:ea typeface="Arial"/>
                        <a:cs typeface="Arial"/>
                        <a:sym typeface="Arial"/>
                      </a:rPr>
                      <m:t>𝜃</m:t>
                    </m:r>
                    <m:r>
                      <a:rPr lang="en-US" sz="2200" i="1" dirty="0" smtClean="0">
                        <a:latin typeface="Cambria Math" panose="02040503050406030204" pitchFamily="18" charset="0"/>
                        <a:ea typeface="Arial"/>
                        <a:cs typeface="Arial"/>
                        <a:sym typeface="Arial"/>
                      </a:rPr>
                      <m:t>= 0</m:t>
                    </m:r>
                  </m:oMath>
                </a14:m>
                <a:r>
                  <a:rPr lang="en-US" sz="2200" dirty="0">
                    <a:latin typeface="Atkinson Hyperlegible Next"/>
                    <a:ea typeface="Arial"/>
                    <a:cs typeface="Arial"/>
                    <a:sym typeface="Arial"/>
                  </a:rPr>
                  <a:t>, its axes are perfectly aligned with the world axes.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moving from the robot frame to the world frame is simply a vector addition!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is at world coordinates </a:t>
                </a:r>
                <a14:m>
                  <m:oMath xmlns:m="http://schemas.openxmlformats.org/officeDocument/2006/math">
                    <m:r>
                      <m:rPr>
                        <m:sty m:val="p"/>
                      </m:rPr>
                      <a:rPr lang="en-US" sz="2200" b="0" i="0" dirty="0" smtClean="0">
                        <a:latin typeface="Cambria Math" panose="02040503050406030204" pitchFamily="18" charset="0"/>
                        <a:ea typeface="Arial"/>
                        <a:cs typeface="Arial"/>
                        <a:sym typeface="Arial"/>
                      </a:rPr>
                      <m:t>T</m:t>
                    </m:r>
                    <m:r>
                      <a:rPr lang="en-US" sz="2200" b="0" i="0" dirty="0" smtClean="0">
                        <a:latin typeface="Cambria Math" panose="02040503050406030204" pitchFamily="18" charset="0"/>
                        <a:ea typeface="Arial"/>
                        <a:cs typeface="Arial"/>
                        <a:sym typeface="Arial"/>
                      </a:rPr>
                      <m:t> = </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a14:m>
                <a:r>
                  <a:rPr lang="en-US" sz="2200" dirty="0">
                    <a:latin typeface="Atkinson Hyperlegible Next"/>
                    <a:ea typeface="Arial"/>
                    <a:cs typeface="Arial"/>
                    <a:sym typeface="Arial"/>
                  </a:rPr>
                  <a:t>, a point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e>
                    </m:d>
                  </m:oMath>
                </a14:m>
                <a:r>
                  <a:rPr lang="en-US" sz="2200" dirty="0">
                    <a:latin typeface="Atkinson Hyperlegible Next"/>
                    <a:ea typeface="Arial"/>
                    <a:cs typeface="Arial"/>
                    <a:sym typeface="Arial"/>
                  </a:rPr>
                  <a:t> in the robot frame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the world frame. In vector math, this is represented as: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Translation is linear and simple; however, robot also rotate.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FE8C429-6DB1-3359-08A6-437C1380A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C648B22-4C8A-850E-9587-A1590E4518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B33C5-0225-FBE9-0908-901ED49E9D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C15EB2-7579-6C29-F6F7-B64D04FEE3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90D5DF-B320-4FDB-D9FB-2FA72D34B2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B0321E-1AF6-31FA-3CB3-08866A7578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19A7F9-C906-D65A-6614-000B07D3D3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ABDE9-C9F2-0B62-868F-083C8BEB5A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F8F44F-83E4-8FA9-AB0A-E4FF934520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477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23D0E7-A089-75A4-9164-B7EC38D463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826FE40-7422-2C5B-E2F3-79825B7343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660EFA5-ABBD-8C82-F8B2-DFD888A442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CBFA23-E630-2125-C665-9F89AC6E15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47AD65-BCD5-502E-A5E1-AB8464363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894D45-370F-1CBC-D425-121EEC5B05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DCACAB-A035-59E2-CB7F-440B651FC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58007C-7062-4319-7E96-933E98DE90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FA883B-820E-A7D2-8378-770B243B64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8" name="Group 17">
            <a:extLst>
              <a:ext uri="{FF2B5EF4-FFF2-40B4-BE49-F238E27FC236}">
                <a16:creationId xmlns:a16="http://schemas.microsoft.com/office/drawing/2014/main" id="{5F751BDC-B070-4E06-803F-F7D670B67D61}"/>
              </a:ext>
            </a:extLst>
          </p:cNvPr>
          <p:cNvGrpSpPr/>
          <p:nvPr/>
        </p:nvGrpSpPr>
        <p:grpSpPr>
          <a:xfrm>
            <a:off x="3409251" y="1150542"/>
            <a:ext cx="5373498" cy="5373498"/>
            <a:chOff x="3145074" y="1150542"/>
            <a:chExt cx="5373498" cy="5373498"/>
          </a:xfrm>
        </p:grpSpPr>
        <p:pic>
          <p:nvPicPr>
            <p:cNvPr id="4" name="Graphic 3" descr="Diagram: A world frame with origin O, X axis to the right and Y axis up. A two-wheeled robot, a rectangular body with wheels above and below, sits at position x, y, marked by dashed projections onto the axes. A body frame with axes X sub B and Y sub B is attached at the robot's center, parallel to the world X and Y axes. This illustrates a pure translation of the body frame from the world origin, with no rotation.">
              <a:extLst>
                <a:ext uri="{FF2B5EF4-FFF2-40B4-BE49-F238E27FC236}">
                  <a16:creationId xmlns:a16="http://schemas.microsoft.com/office/drawing/2014/main" id="{D2324FFB-0CF5-F03C-B042-14E9646FD156}"/>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145074" y="1150542"/>
              <a:ext cx="5373498" cy="5373498"/>
            </a:xfrm>
            <a:prstGeom prst="rect">
              <a:avLst/>
            </a:prstGeom>
          </p:spPr>
        </p:pic>
        <p:cxnSp>
          <p:nvCxnSpPr>
            <p:cNvPr id="6" name="Straight Arrow Connector 5">
              <a:extLst>
                <a:ext uri="{FF2B5EF4-FFF2-40B4-BE49-F238E27FC236}">
                  <a16:creationId xmlns:a16="http://schemas.microsoft.com/office/drawing/2014/main" id="{551523CE-1BC1-05ED-CF5F-F26E9E2DB367}"/>
                </a:ext>
              </a:extLst>
            </p:cNvPr>
            <p:cNvCxnSpPr/>
            <p:nvPr/>
          </p:nvCxnSpPr>
          <p:spPr>
            <a:xfrm flipV="1">
              <a:off x="3543300" y="4183380"/>
              <a:ext cx="2552700" cy="189738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514D51C-6E7B-4880-6E2D-ECB9AA151E1A}"/>
                </a:ext>
              </a:extLst>
            </p:cNvPr>
            <p:cNvSpPr txBox="1"/>
            <p:nvPr/>
          </p:nvSpPr>
          <p:spPr>
            <a:xfrm>
              <a:off x="4583430" y="4639330"/>
              <a:ext cx="335280" cy="523220"/>
            </a:xfrm>
            <a:prstGeom prst="rect">
              <a:avLst/>
            </a:prstGeom>
            <a:noFill/>
          </p:spPr>
          <p:txBody>
            <a:bodyPr wrap="square" rtlCol="0">
              <a:spAutoFit/>
            </a:bodyPr>
            <a:lstStyle/>
            <a:p>
              <a:pPr algn="ctr"/>
              <a:r>
                <a:rPr lang="en-US" sz="2800" b="1" dirty="0">
                  <a:solidFill>
                    <a:srgbClr val="FF0000"/>
                  </a:solidFill>
                </a:rPr>
                <a:t>T</a:t>
              </a:r>
            </a:p>
          </p:txBody>
        </p:sp>
        <p:cxnSp>
          <p:nvCxnSpPr>
            <p:cNvPr id="8" name="Straight Arrow Connector 7">
              <a:extLst>
                <a:ext uri="{FF2B5EF4-FFF2-40B4-BE49-F238E27FC236}">
                  <a16:creationId xmlns:a16="http://schemas.microsoft.com/office/drawing/2014/main" id="{BB651C9E-B1E4-5597-C4F4-DFF98447751D}"/>
                </a:ext>
              </a:extLst>
            </p:cNvPr>
            <p:cNvCxnSpPr>
              <a:cxnSpLocks/>
            </p:cNvCxnSpPr>
            <p:nvPr/>
          </p:nvCxnSpPr>
          <p:spPr>
            <a:xfrm>
              <a:off x="6030936" y="4183039"/>
              <a:ext cx="954578"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83A95D-4753-CD5C-B982-8098E5269963}"/>
                </a:ext>
              </a:extLst>
            </p:cNvPr>
            <p:cNvSpPr txBox="1"/>
            <p:nvPr/>
          </p:nvSpPr>
          <p:spPr>
            <a:xfrm>
              <a:off x="6344473" y="3602036"/>
              <a:ext cx="609052" cy="523220"/>
            </a:xfrm>
            <a:prstGeom prst="rect">
              <a:avLst/>
            </a:prstGeom>
            <a:noFill/>
          </p:spPr>
          <p:txBody>
            <a:bodyPr wrap="square" rtlCol="0">
              <a:spAutoFit/>
            </a:bodyPr>
            <a:lstStyle/>
            <a:p>
              <a:pPr algn="ctr"/>
              <a:r>
                <a:rPr lang="en-US" sz="2800" b="1" dirty="0" err="1">
                  <a:solidFill>
                    <a:srgbClr val="FF0000"/>
                  </a:solidFill>
                </a:rPr>
                <a:t>P</a:t>
              </a:r>
              <a:r>
                <a:rPr lang="en-US" sz="2800" b="1" baseline="-25000" dirty="0" err="1">
                  <a:solidFill>
                    <a:srgbClr val="FF0000"/>
                  </a:solidFill>
                </a:rPr>
                <a:t>r</a:t>
              </a:r>
              <a:endParaRPr lang="en-US" sz="2800" b="1" dirty="0">
                <a:solidFill>
                  <a:srgbClr val="FF0000"/>
                </a:solidFill>
              </a:endParaRPr>
            </a:p>
          </p:txBody>
        </p:sp>
        <p:cxnSp>
          <p:nvCxnSpPr>
            <p:cNvPr id="12" name="Straight Arrow Connector 11">
              <a:extLst>
                <a:ext uri="{FF2B5EF4-FFF2-40B4-BE49-F238E27FC236}">
                  <a16:creationId xmlns:a16="http://schemas.microsoft.com/office/drawing/2014/main" id="{1F53EEDE-9C6A-1C4C-67A2-6599B0F78B9D}"/>
                </a:ext>
              </a:extLst>
            </p:cNvPr>
            <p:cNvCxnSpPr>
              <a:cxnSpLocks/>
            </p:cNvCxnSpPr>
            <p:nvPr/>
          </p:nvCxnSpPr>
          <p:spPr>
            <a:xfrm flipV="1">
              <a:off x="3543300" y="4244340"/>
              <a:ext cx="3410225" cy="183642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73FC0BC-1231-9DF3-339A-15D422721845}"/>
                </a:ext>
              </a:extLst>
            </p:cNvPr>
            <p:cNvSpPr txBox="1"/>
            <p:nvPr/>
          </p:nvSpPr>
          <p:spPr>
            <a:xfrm>
              <a:off x="5248412" y="5054279"/>
              <a:ext cx="609052" cy="523220"/>
            </a:xfrm>
            <a:prstGeom prst="rect">
              <a:avLst/>
            </a:prstGeom>
            <a:noFill/>
          </p:spPr>
          <p:txBody>
            <a:bodyPr wrap="square" rtlCol="0">
              <a:spAutoFit/>
            </a:bodyPr>
            <a:lstStyle/>
            <a:p>
              <a:pPr algn="ctr"/>
              <a:r>
                <a:rPr lang="en-US" sz="2800" b="1" dirty="0">
                  <a:solidFill>
                    <a:srgbClr val="FF0000"/>
                  </a:solidFill>
                </a:rPr>
                <a:t>P</a:t>
              </a:r>
              <a:r>
                <a:rPr lang="en-US" sz="2800" b="1" baseline="-25000" dirty="0">
                  <a:solidFill>
                    <a:srgbClr val="FF0000"/>
                  </a:solidFill>
                </a:rPr>
                <a:t>w</a:t>
              </a:r>
              <a:endParaRPr lang="en-US" sz="2800" b="1" dirty="0">
                <a:solidFill>
                  <a:srgbClr val="FF0000"/>
                </a:solidFill>
              </a:endParaRPr>
            </a:p>
          </p:txBody>
        </p:sp>
      </p:grpSp>
    </p:spTree>
    <p:extLst>
      <p:ext uri="{BB962C8B-B14F-4D97-AF65-F5344CB8AC3E}">
        <p14:creationId xmlns:p14="http://schemas.microsoft.com/office/powerpoint/2010/main" val="420781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5C7DE8-314F-0DB5-8E86-BDD53E860A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6A47D07-6F84-A133-8D6D-0C151E6B66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Suppose the robot frame is at the world origin but rotated by and angle </a:t>
                </a:r>
                <a14:m>
                  <m:oMath xmlns:m="http://schemas.openxmlformats.org/officeDocument/2006/math">
                    <m:r>
                      <a:rPr lang="en-US" sz="2200" b="0" i="1" dirty="0"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want to map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from the rotated frame to the fixed frame.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have polar coordinates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Cambria Math" panose="02040503050406030204" pitchFamily="18" charset="0"/>
                            <a:cs typeface="Arial"/>
                            <a:sym typeface="Arial"/>
                          </a:rPr>
                          <m:t>𝛼</m:t>
                        </m:r>
                      </m:e>
                    </m:d>
                  </m:oMath>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Therefore,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smtClean="0">
                              <a:latin typeface="Cambria Math" panose="02040503050406030204" pitchFamily="18" charset="0"/>
                              <a:ea typeface="Arial"/>
                              <a:cs typeface="Arial"/>
                              <a:sym typeface="Arial"/>
                            </a:rPr>
                          </m:ctrlPr>
                        </m:dPr>
                        <m:e>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𝑥</m:t>
                              </m:r>
                            </m:e>
                            <m:sub>
                              <m:r>
                                <a:rPr lang="en-US" sz="2200" i="1" smtClean="0">
                                  <a:latin typeface="Cambria Math" panose="02040503050406030204" pitchFamily="18" charset="0"/>
                                  <a:ea typeface="Arial"/>
                                  <a:cs typeface="Arial"/>
                                  <a:sym typeface="Arial"/>
                                </a:rPr>
                                <m:t>𝑟</m:t>
                              </m:r>
                            </m:sub>
                          </m:sSub>
                          <m:r>
                            <a:rPr lang="en-US" sz="2200" i="1" smtClean="0">
                              <a:latin typeface="Cambria Math" panose="02040503050406030204" pitchFamily="18" charset="0"/>
                              <a:ea typeface="Arial"/>
                              <a:cs typeface="Arial"/>
                              <a:sym typeface="Arial"/>
                            </a:rPr>
                            <m:t>,</m:t>
                          </m:r>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𝑦</m:t>
                              </m:r>
                            </m:e>
                            <m:sub>
                              <m:r>
                                <a:rPr lang="en-US" sz="2200" i="1" smtClean="0">
                                  <a:latin typeface="Cambria Math" panose="02040503050406030204" pitchFamily="18" charset="0"/>
                                  <a:ea typeface="Arial"/>
                                  <a:cs typeface="Arial"/>
                                  <a:sym typeface="Arial"/>
                                </a:rPr>
                                <m:t>𝑟</m:t>
                              </m:r>
                            </m:sub>
                          </m:sSub>
                        </m:e>
                      </m:d>
                      <m:r>
                        <a:rPr lang="en-US" sz="2200" i="1" smtClean="0">
                          <a:latin typeface="Cambria Math" panose="02040503050406030204" pitchFamily="18" charset="0"/>
                          <a:ea typeface="Arial"/>
                          <a:cs typeface="Arial"/>
                          <a:sym typeface="Arial"/>
                        </a:rPr>
                        <m:t>=</m:t>
                      </m:r>
                      <m:d>
                        <m:dPr>
                          <m:ctrlPr>
                            <a:rPr lang="en-US" sz="2200" i="1" smtClean="0">
                              <a:latin typeface="Cambria Math" panose="02040503050406030204" pitchFamily="18" charset="0"/>
                              <a:ea typeface="Arial"/>
                              <a:cs typeface="Arial"/>
                              <a:sym typeface="Arial"/>
                            </a:rPr>
                          </m:ctrlPr>
                        </m:dPr>
                        <m:e>
                          <m:r>
                            <a:rPr lang="en-US" sz="2200" i="1" smtClean="0">
                              <a:latin typeface="Cambria Math" panose="02040503050406030204" pitchFamily="18" charset="0"/>
                              <a:ea typeface="Arial"/>
                              <a:cs typeface="Arial"/>
                              <a:sym typeface="Arial"/>
                            </a:rPr>
                            <m:t>𝑟</m:t>
                          </m:r>
                          <m:func>
                            <m:funcPr>
                              <m:ctrlPr>
                                <a:rPr lang="en-US" sz="2200" i="1" smtClean="0">
                                  <a:latin typeface="Cambria Math" panose="02040503050406030204" pitchFamily="18" charset="0"/>
                                  <a:ea typeface="Arial"/>
                                  <a:cs typeface="Arial"/>
                                  <a:sym typeface="Arial"/>
                                </a:rPr>
                              </m:ctrlPr>
                            </m:funcPr>
                            <m:fName>
                              <m:r>
                                <m:rPr>
                                  <m:sty m:val="p"/>
                                </m:rPr>
                                <a:rPr lang="en-US" sz="2200" i="0" smtClean="0">
                                  <a:latin typeface="Cambria Math" panose="02040503050406030204" pitchFamily="18" charset="0"/>
                                  <a:ea typeface="Arial"/>
                                  <a:cs typeface="Arial"/>
                                  <a:sym typeface="Arial"/>
                                </a:rPr>
                                <m:t>cos</m:t>
                              </m:r>
                            </m:fName>
                            <m:e>
                              <m:d>
                                <m:dPr>
                                  <m:ctrlPr>
                                    <a:rPr lang="en-US" sz="220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smtClean="0">
                              <a:latin typeface="Cambria Math" panose="02040503050406030204" pitchFamily="18" charset="0"/>
                              <a:ea typeface="Arial"/>
                              <a:cs typeface="Arial"/>
                              <a:sym typeface="Arial"/>
                            </a:rPr>
                            <m:t>,</m:t>
                          </m:r>
                          <m:r>
                            <a:rPr lang="en-US" sz="2200" i="1" smtClean="0">
                              <a:latin typeface="Cambria Math" panose="02040503050406030204" pitchFamily="18" charset="0"/>
                              <a:ea typeface="Arial"/>
                              <a:cs typeface="Arial"/>
                              <a:sym typeface="Arial"/>
                            </a:rPr>
                            <m:t>𝑟</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b="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6A47D07-6F84-A133-8D6D-0C151E6B66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842C1AC-5D0C-3A76-450C-3E588E2667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FE1C3-C537-E5D9-D47C-056FAAD1A9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6FA607-B34C-992F-C6D1-B410F67BF6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3AD0D2C-5813-CB1A-5D4E-EC745974E2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3EE0C5-CE02-242B-83CB-68C3208D7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F1C51F-4B83-02A9-40A7-23DB12DD08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D4CEF0-0C0A-C03F-A2A9-DA24FD61CD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3121A2-9B41-35EC-9169-F7214FC028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388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892C1B-92BF-003C-3EF9-8A7ED9DF1D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5C8D38-99A7-8356-97D9-07F33A6E15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61346E-6CF8-8D98-A005-416B122769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EC33ED-7158-4F69-413E-0D1C07BC5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C85C74-FD2B-E893-CE8B-F988748FB9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879E27-5D19-8048-5032-039BC33934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F494A4-56B2-46CD-BBF8-65F2A2777E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5E8381-537D-B47E-7841-ACA562186C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BE326-D393-7BE0-9B3B-90A885BB11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28" name="Group 27">
            <a:extLst>
              <a:ext uri="{FF2B5EF4-FFF2-40B4-BE49-F238E27FC236}">
                <a16:creationId xmlns:a16="http://schemas.microsoft.com/office/drawing/2014/main" id="{316B47BB-D91F-47C6-B481-40ADD75831E6}"/>
              </a:ext>
            </a:extLst>
          </p:cNvPr>
          <p:cNvGrpSpPr/>
          <p:nvPr/>
        </p:nvGrpSpPr>
        <p:grpSpPr>
          <a:xfrm>
            <a:off x="3730942" y="1303743"/>
            <a:ext cx="4730115" cy="4785116"/>
            <a:chOff x="3322320" y="1223172"/>
            <a:chExt cx="4730115" cy="4785116"/>
          </a:xfrm>
        </p:grpSpPr>
        <p:pic>
          <p:nvPicPr>
            <p:cNvPr id="9" name="Graphic 8" descr="Top view of a two-wheeled robot showing a world frame and a body frame that share an origin at the robot's center. The world X axis points up and the world Y axis points right. The body axis X sub B points forward, perpendicular to the wheel axle, and Y sub B runs along the axle. The body frame is rotated counterclockwise by the angle phi, measured from the world Y axis to X sub B.">
              <a:extLst>
                <a:ext uri="{FF2B5EF4-FFF2-40B4-BE49-F238E27FC236}">
                  <a16:creationId xmlns:a16="http://schemas.microsoft.com/office/drawing/2014/main" id="{6CD07C2B-9CCD-5838-F433-5C2EBF3516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322320" y="1223172"/>
              <a:ext cx="4730115" cy="4785116"/>
            </a:xfrm>
            <a:prstGeom prst="rect">
              <a:avLst/>
            </a:prstGeom>
          </p:spPr>
        </p:pic>
        <p:cxnSp>
          <p:nvCxnSpPr>
            <p:cNvPr id="14" name="Straight Arrow Connector 13">
              <a:extLst>
                <a:ext uri="{FF2B5EF4-FFF2-40B4-BE49-F238E27FC236}">
                  <a16:creationId xmlns:a16="http://schemas.microsoft.com/office/drawing/2014/main" id="{7654EE0D-8A73-08A3-EC61-6FD9221B5F1D}"/>
                </a:ext>
              </a:extLst>
            </p:cNvPr>
            <p:cNvCxnSpPr>
              <a:cxnSpLocks/>
            </p:cNvCxnSpPr>
            <p:nvPr/>
          </p:nvCxnSpPr>
          <p:spPr>
            <a:xfrm flipV="1">
              <a:off x="4597400" y="3322113"/>
              <a:ext cx="787400" cy="105938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9B4AA9F-BC45-FBD2-24CC-A75631C95223}"/>
                </a:ext>
              </a:extLst>
            </p:cNvPr>
            <p:cNvSpPr txBox="1"/>
            <p:nvPr/>
          </p:nvSpPr>
          <p:spPr>
            <a:xfrm>
              <a:off x="4655820" y="3492303"/>
              <a:ext cx="335280" cy="523220"/>
            </a:xfrm>
            <a:prstGeom prst="rect">
              <a:avLst/>
            </a:prstGeom>
            <a:noFill/>
          </p:spPr>
          <p:txBody>
            <a:bodyPr wrap="square" rtlCol="0">
              <a:spAutoFit/>
            </a:bodyPr>
            <a:lstStyle/>
            <a:p>
              <a:pPr algn="ctr"/>
              <a:r>
                <a:rPr lang="en-US" sz="2800" b="1" dirty="0">
                  <a:solidFill>
                    <a:srgbClr val="FF0000"/>
                  </a:solidFill>
                </a:rPr>
                <a:t>r</a:t>
              </a:r>
            </a:p>
          </p:txBody>
        </p:sp>
        <p:sp>
          <p:nvSpPr>
            <p:cNvPr id="26" name="Arc 25">
              <a:extLst>
                <a:ext uri="{FF2B5EF4-FFF2-40B4-BE49-F238E27FC236}">
                  <a16:creationId xmlns:a16="http://schemas.microsoft.com/office/drawing/2014/main" id="{18E13975-9F2C-97A8-846B-023DE637B157}"/>
                </a:ext>
              </a:extLst>
            </p:cNvPr>
            <p:cNvSpPr/>
            <p:nvPr/>
          </p:nvSpPr>
          <p:spPr>
            <a:xfrm>
              <a:off x="4597400" y="3429000"/>
              <a:ext cx="1498600" cy="2086608"/>
            </a:xfrm>
            <a:prstGeom prst="arc">
              <a:avLst/>
            </a:prstGeom>
            <a:ln w="57150">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D1DF76-ED24-CD5D-5508-2808579CA9A5}"/>
                    </a:ext>
                  </a:extLst>
                </p:cNvPr>
                <p:cNvSpPr txBox="1"/>
                <p:nvPr/>
              </p:nvSpPr>
              <p:spPr>
                <a:xfrm>
                  <a:off x="5760720" y="3858280"/>
                  <a:ext cx="335280" cy="52322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1" i="1" dirty="0" smtClean="0">
                            <a:solidFill>
                              <a:srgbClr val="FF0000"/>
                            </a:solidFill>
                            <a:latin typeface="Cambria Math" panose="02040503050406030204" pitchFamily="18" charset="0"/>
                            <a:ea typeface="Cambria Math" panose="02040503050406030204" pitchFamily="18" charset="0"/>
                          </a:rPr>
                          <m:t>𝜶</m:t>
                        </m:r>
                      </m:oMath>
                    </m:oMathPara>
                  </a14:m>
                  <a:endParaRPr lang="en-US" sz="2800" b="1" dirty="0">
                    <a:solidFill>
                      <a:srgbClr val="FF0000"/>
                    </a:solidFill>
                  </a:endParaRPr>
                </a:p>
              </p:txBody>
            </p:sp>
          </mc:Choice>
          <mc:Fallback xmlns="">
            <p:sp>
              <p:nvSpPr>
                <p:cNvPr id="27" name="TextBox 26">
                  <a:extLst>
                    <a:ext uri="{FF2B5EF4-FFF2-40B4-BE49-F238E27FC236}">
                      <a16:creationId xmlns:a16="http://schemas.microsoft.com/office/drawing/2014/main" id="{6DD1DF76-ED24-CD5D-5508-2808579CA9A5}"/>
                    </a:ext>
                  </a:extLst>
                </p:cNvPr>
                <p:cNvSpPr txBox="1">
                  <a:spLocks noRot="1" noChangeAspect="1" noMove="1" noResize="1" noEditPoints="1" noAdjustHandles="1" noChangeArrowheads="1" noChangeShapeType="1" noTextEdit="1"/>
                </p:cNvSpPr>
                <p:nvPr/>
              </p:nvSpPr>
              <p:spPr>
                <a:xfrm>
                  <a:off x="5760720" y="3858280"/>
                  <a:ext cx="335280" cy="523220"/>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907976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81A3E-3D56-C164-A2FC-F2DA10375F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0EC19A9-AFBD-E6C2-C07C-A37D11F7758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the world frame, the angle of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is now at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world coordinates are thus,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expand the following using standard trigonometric sum identities: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0EC19A9-AFBD-E6C2-C07C-A37D11F7758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E58156-E687-C0DB-8460-334E2B228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F0D65F-5004-61BE-E75F-17A7F254D5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1FE1D8-A5B6-6740-5D0A-72186E8A61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8DC7A2-511D-22BD-BDE8-C065032C80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C2FE57-0C4A-BECE-CAFB-227B8903DD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A0869F-F0CC-AE4D-B16E-937B98B960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B7A72-39DE-A3D5-143A-6A5A2A599A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46B403-42C7-ED39-606B-884D2F1E1D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6213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A79B86-76EF-FA13-ECD9-5791898508F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EF1EF-52E6-7FB0-AFBC-6B376D9851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Substituting back in the location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𝑟</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𝑦</m:t>
                              </m:r>
                            </m:e>
                            <m:sub>
                              <m:r>
                                <a:rPr lang="en-US" sz="2200" i="1">
                                  <a:latin typeface="Cambria Math" panose="02040503050406030204" pitchFamily="18" charset="0"/>
                                  <a:ea typeface="Arial"/>
                                  <a:cs typeface="Arial"/>
                                  <a:sym typeface="Arial"/>
                                </a:rPr>
                                <m:t>𝑟</m:t>
                              </m:r>
                            </m:sub>
                          </m:sSub>
                        </m:e>
                      </m:d>
                      <m:r>
                        <a:rPr lang="en-US" sz="2200" i="1">
                          <a:latin typeface="Cambria Math" panose="02040503050406030204" pitchFamily="18" charset="0"/>
                          <a:ea typeface="Arial"/>
                          <a:cs typeface="Arial"/>
                          <a:sym typeface="Arial"/>
                        </a:rPr>
                        <m:t>=</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cos</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the global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thus get: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is elegantly expressed using matrix multiplications!</a:t>
                </a:r>
              </a:p>
            </p:txBody>
          </p:sp>
        </mc:Choice>
        <mc:Fallback xmlns="">
          <p:sp>
            <p:nvSpPr>
              <p:cNvPr id="118" name="Google Shape;118;p29">
                <a:extLst>
                  <a:ext uri="{FF2B5EF4-FFF2-40B4-BE49-F238E27FC236}">
                    <a16:creationId xmlns:a16="http://schemas.microsoft.com/office/drawing/2014/main" id="{87FEF1EF-52E6-7FB0-AFBC-6B376D9851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D97D2A1-F794-A63C-4C7B-83E5B6A35D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B5F628-9D9D-5E9D-58BF-65AB1EA9BB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4DAADA-42CC-6438-B643-F13AF6C395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31738-EE9E-66EA-16C7-3D482C040E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5A0E4D-22AD-1433-5819-4424B3A68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8B04-29C5-8E83-F037-77A70D9D11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34AC5D-DA2F-352E-E249-15D9A58F49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AA62FB-FF34-1297-EADD-715AE979A0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29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D19D13-E4B9-45BB-CB92-CB34C802DB5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3CEFAEE-C8AB-32F3-C659-25F3B0FA39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system of equations can be written as a 2x2 matrix </a:t>
                </a:r>
                <a14:m>
                  <m:oMath xmlns:m="http://schemas.openxmlformats.org/officeDocument/2006/math">
                    <m:sSub>
                      <m:sSubPr>
                        <m:ctrlPr>
                          <a:rPr lang="en-US" sz="220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w</m:t>
                        </m:r>
                      </m:sub>
                    </m:sSub>
                    <m:r>
                      <a:rPr lang="en-US" sz="2200" b="0" i="1" smtClean="0">
                        <a:latin typeface="Cambria Math" panose="02040503050406030204" pitchFamily="18" charset="0"/>
                        <a:cs typeface="Arial"/>
                        <a:sym typeface="Arial"/>
                      </a:rPr>
                      <m:t>=</m:t>
                    </m:r>
                    <m:r>
                      <a:rPr lang="en-US" sz="2200" b="0" i="1" smtClean="0">
                        <a:latin typeface="Cambria Math" panose="02040503050406030204" pitchFamily="18" charset="0"/>
                        <a:cs typeface="Arial"/>
                        <a:sym typeface="Arial"/>
                      </a:rPr>
                      <m:t>𝑅</m:t>
                    </m:r>
                    <m:d>
                      <m:dPr>
                        <m:ctrlPr>
                          <a:rPr lang="en-US" sz="2200" b="0" i="1" smtClean="0">
                            <a:latin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𝜑</m:t>
                        </m:r>
                      </m:e>
                    </m:d>
                    <m:sSub>
                      <m:sSubPr>
                        <m:ctrlPr>
                          <a:rPr lang="en-US" sz="2200" b="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r</m:t>
                        </m:r>
                      </m:sub>
                    </m:sSub>
                  </m:oMath>
                </a14:m>
                <a:endParaRPr lang="en-US" sz="2200" b="0" dirty="0">
                  <a:latin typeface="Atkinson Hyperlegible Next"/>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i="1" dirty="0" smtClean="0">
                                  <a:latin typeface="Cambria Math" panose="02040503050406030204" pitchFamily="18" charset="0"/>
                                  <a:ea typeface="Arial"/>
                                  <a:cs typeface="Arial"/>
                                  <a:sym typeface="Arial"/>
                                </a:rPr>
                              </m:ctrlPr>
                            </m:mP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e>
                            </m:mr>
                          </m:m>
                        </m:e>
                      </m:d>
                      <m:r>
                        <a:rPr lang="en-US" sz="2200" i="1" dirty="0" smtClean="0">
                          <a:latin typeface="Cambria Math" panose="02040503050406030204" pitchFamily="18" charset="0"/>
                          <a:ea typeface="Arial"/>
                          <a:cs typeface="Arial"/>
                          <a:sym typeface="Arial"/>
                        </a:rPr>
                        <m:t>=</m:t>
                      </m:r>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200" i="1" dirty="0" smtClean="0">
                                  <a:latin typeface="Cambria Math" panose="02040503050406030204" pitchFamily="18" charset="0"/>
                                  <a:ea typeface="Arial"/>
                                  <a:cs typeface="Arial"/>
                                  <a:sym typeface="Arial"/>
                                </a:rPr>
                              </m:ctrlPr>
                            </m:mP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
                        </m:e>
                      </m:d>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b="0" i="1" dirty="0" smtClean="0">
                                  <a:latin typeface="Cambria Math" panose="02040503050406030204" pitchFamily="18" charset="0"/>
                                  <a:ea typeface="Arial"/>
                                  <a:cs typeface="Arial"/>
                                  <a:sym typeface="Arial"/>
                                </a:rPr>
                              </m:ctrlPr>
                            </m:mPr>
                            <m:mr>
                              <m:e>
                                <m:sSub>
                                  <m:sSubPr>
                                    <m:ctrlPr>
                                      <a:rPr lang="en-US" sz="2200" b="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𝑅</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𝑅</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matrix </a:t>
                </a:r>
                <a14:m>
                  <m:oMath xmlns:m="http://schemas.openxmlformats.org/officeDocument/2006/math">
                    <m:r>
                      <m:rPr>
                        <m:sty m:val="p"/>
                      </m:rPr>
                      <a:rPr lang="en-US" sz="2200" i="1">
                        <a:latin typeface="Cambria Math" panose="02040503050406030204" pitchFamily="18" charset="0"/>
                        <a:cs typeface="Arial"/>
                        <a:sym typeface="Arial"/>
                      </a:rPr>
                      <m:t>R</m:t>
                    </m:r>
                    <m:r>
                      <a:rPr lang="en-US" sz="2200" i="1">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𝜑</m:t>
                    </m:r>
                    <m:r>
                      <a:rPr lang="en-US" sz="2200" i="1">
                        <a:latin typeface="Cambria Math" panose="02040503050406030204" pitchFamily="18" charset="0"/>
                        <a:cs typeface="Arial"/>
                        <a:sym typeface="Arial"/>
                      </a:rPr>
                      <m:t>)</m:t>
                    </m:r>
                  </m:oMath>
                </a14:m>
                <a:r>
                  <a:rPr lang="en-US" sz="2200" dirty="0">
                    <a:latin typeface="Atkinson Hyperlegible Next"/>
                    <a:ea typeface="Arial"/>
                    <a:cs typeface="Arial"/>
                    <a:sym typeface="Arial"/>
                  </a:rPr>
                  <a:t>, belongs to the Special Orthogonal Group SO(2).</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the determinant represents how much the space gets scaled after the transformation. What is the determinant of rotation matrices without doing any calculation?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should be 1, meaning it preserves the scale and area! The robot doesn’t stretch as it turns!</a:t>
                </a:r>
              </a:p>
            </p:txBody>
          </p:sp>
        </mc:Choice>
        <mc:Fallback xmlns="">
          <p:sp>
            <p:nvSpPr>
              <p:cNvPr id="118" name="Google Shape;118;p29">
                <a:extLst>
                  <a:ext uri="{FF2B5EF4-FFF2-40B4-BE49-F238E27FC236}">
                    <a16:creationId xmlns:a16="http://schemas.microsoft.com/office/drawing/2014/main" id="{D3CEFAEE-C8AB-32F3-C659-25F3B0FA39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49C0FBF-CFA2-3227-A6CC-5DA1DEE27C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D0D1AC-88E9-6B99-F6B6-FB61BA0F1A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E767F-94FA-5C74-B8F7-C9D0D45634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1106FB-3363-8585-0316-C803DCBD4E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1F083E-2DC3-AD55-FE03-2086743AE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90F9FE-87A0-76AA-08F4-8895DA2623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907236-35CD-6121-AFDA-0F4BA9D75F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709BA9-9D14-62AE-C74B-D3557CA29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114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D361C-ED36-ABE5-9819-CF32FC5357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0135AA-01F7-8991-C890-ACD802AED0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reality, a robot is both translated and rotated!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the complete transformation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𝑅</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however, make this into a single matrix operation, through Homogeneous Coordinates,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𝑊</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𝑊</m:t>
                                    </m:r>
                                  </m:sub>
                                </m:sSub>
                              </m:e>
                            </m:mr>
                            <m:mr>
                              <m:e>
                                <m:r>
                                  <a:rPr lang="en-US" sz="2200" i="1">
                                    <a:latin typeface="Cambria Math" panose="02040503050406030204" pitchFamily="18" charset="0"/>
                                    <a:cs typeface="Arial"/>
                                    <a:sym typeface="Arial"/>
                                  </a:rPr>
                                  <m:t>1</m:t>
                                </m:r>
                              </m:e>
                            </m:mr>
                          </m:m>
                        </m:e>
                      </m:d>
                      <m:r>
                        <a:rPr lang="en-US" sz="2200" i="1">
                          <a:latin typeface="Cambria Math" panose="02040503050406030204" pitchFamily="18" charset="0"/>
                          <a:cs typeface="Arial"/>
                          <a:sym typeface="Arial"/>
                        </a:rPr>
                        <m:t>=</m:t>
                      </m:r>
                      <m:d>
                        <m:dPr>
                          <m:begChr m:val="["/>
                          <m:endChr m:val="]"/>
                          <m:ctrlPr>
                            <a:rPr lang="en-US" sz="2200" i="1">
                              <a:latin typeface="Cambria Math" panose="02040503050406030204" pitchFamily="18" charset="0"/>
                              <a:cs typeface="Arial"/>
                              <a:sym typeface="Arial"/>
                            </a:rPr>
                          </m:ctrlPr>
                        </m:dPr>
                        <m:e>
                          <m:m>
                            <m:mPr>
                              <m:plcHide m:val="on"/>
                              <m:mcs>
                                <m:mc>
                                  <m:mcPr>
                                    <m:count m:val="3"/>
                                    <m:mcJc m:val="center"/>
                                  </m:mcPr>
                                </m:mc>
                              </m:mcs>
                              <m:ctrlPr>
                                <a:rPr lang="en-US" sz="2200" i="1">
                                  <a:latin typeface="Cambria Math" panose="02040503050406030204" pitchFamily="18" charset="0"/>
                                  <a:cs typeface="Arial"/>
                                  <a:sym typeface="Arial"/>
                                </a:rPr>
                              </m:ctrlPr>
                            </m:mP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r>
                                  <a:rPr lang="en-US" sz="2200" i="1">
                                    <a:latin typeface="Cambria Math" panose="02040503050406030204" pitchFamily="18" charset="0"/>
                                    <a:cs typeface="Arial"/>
                                    <a:sym typeface="Arial"/>
                                  </a:rPr>
                                  <m:t>−</m:t>
                                </m:r>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𝑥</m:t>
                                    </m:r>
                                  </m:sub>
                                </m:sSub>
                              </m:e>
                            </m:m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𝑦</m:t>
                                    </m:r>
                                  </m:sub>
                                </m:sSub>
                              </m:e>
                            </m:mr>
                            <m:mr>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1</m:t>
                                </m:r>
                              </m:e>
                            </m:mr>
                          </m:m>
                        </m:e>
                      </m:d>
                      <m:d>
                        <m:dPr>
                          <m:begChr m:val="["/>
                          <m:endChr m:val="]"/>
                          <m:ctrlPr>
                            <a:rPr lang="en-US" sz="2200" i="1">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𝑅</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𝑅</m:t>
                                    </m:r>
                                  </m:sub>
                                </m:sSub>
                              </m:e>
                            </m:mr>
                            <m:mr>
                              <m:e>
                                <m:r>
                                  <a:rPr lang="en-US" sz="2200" i="1">
                                    <a:latin typeface="Cambria Math" panose="02040503050406030204" pitchFamily="18" charset="0"/>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the standard representation used in all modern software!</a:t>
                </a:r>
              </a:p>
            </p:txBody>
          </p:sp>
        </mc:Choice>
        <mc:Fallback xmlns="">
          <p:sp>
            <p:nvSpPr>
              <p:cNvPr id="118" name="Google Shape;118;p29">
                <a:extLst>
                  <a:ext uri="{FF2B5EF4-FFF2-40B4-BE49-F238E27FC236}">
                    <a16:creationId xmlns:a16="http://schemas.microsoft.com/office/drawing/2014/main" id="{020135AA-01F7-8991-C890-ACD802AED0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66C57D-F8CC-2A5D-2826-17B2687097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5F582-E62E-1E2C-EBCA-6B81D8D329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a:t>
            </a:r>
            <a:r>
              <a:rPr i="0" b="0" lang="en-US" sz="2400" dirty="0">
                <a:solidFill>
                  <a:schemeClr val="lt1"/>
                </a:solidFill>
              </a:rPr>
              <a:t>Transformation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BF9703-75D4-5BEC-32F9-92E742B7358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ECD335-88E3-1F5C-4AF2-F154036938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5A1250-FC85-E05D-0323-3CC58487E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C8D9FF-1E65-AF12-4144-CE31AA8555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2CFDBE-369D-4997-B870-B2490CC019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64D805-6A3E-76A2-32A4-8AB02C0572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465411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03DBA8-F0EE-7A22-EECC-6CE22D8D7D9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33A86ED6-4DC7-D943-6E29-803F04E665D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Dead-Reckoning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54F4AD2-AB55-7796-9ABE-4F39D29A5DC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34A7D88-E360-EB16-FCA9-8E885645889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F88F421-414E-164E-B4ED-B4B462EEAA1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CF03D2F-4F72-8459-308D-0040D39D875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CE6466B-2EC0-A1C8-A879-2158D9950F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5552E20-7932-836C-C1D4-8AD0AECB2E4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42C4F67-CCF0-5AB2-F66B-FBE61AD2C32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92AB1F5-0781-1062-0241-F845D51464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CD61A3-7A16-91AA-5192-C6A9020C19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5500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8CA634-4831-01C6-8EA6-BBE5568D00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05EEDB-42F9-FAA2-1387-53D2600C92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Now that we can map local coordinates to the world, how do we track our movement?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Dead-Reckoning</a:t>
            </a:r>
            <a:r>
              <a:rPr lang="en-US" sz="2200" dirty="0">
                <a:latin typeface="Atkinson Hyperlegible Next"/>
                <a:ea typeface="Arial"/>
                <a:cs typeface="Arial"/>
                <a:sym typeface="Arial"/>
              </a:rPr>
              <a:t> (Odometry) is the process of calculating current position by integrating previously determined positions and estimated speeds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relies purely on internal sensors, primarily wheel encoders and IMUs.</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9C4E86-2059-2F53-44CE-2578DE5F22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E596FE-6AFE-8196-D13A-F814D1380D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FEB1D0A-0294-06D0-49F9-7559AF0030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8B7B6B-C90B-DF3C-AFC2-837D1CEA9C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04A08-FFA6-6526-4F2C-246633C4C4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209202-F3D0-595E-D216-48593FD280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680A86-620E-E794-69D6-1EDC21AE8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39B723-B1AE-0162-8BE8-E9D79EF600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954728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7596F2-2742-F064-E09C-B164BDD2A3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2688BC5-82AC-D694-7270-7824EEC16AA8}"/>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Our robot uses a differential drive system (2 independently driven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overall forward linear velocity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is the average of the two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latin typeface="Cambria Math" panose="02040503050406030204" pitchFamily="18" charset="0"/>
                          <a:ea typeface="Arial"/>
                          <a:cs typeface="Arial"/>
                          <a:sym typeface="Arial"/>
                        </a:rPr>
                        <m:t>V</m:t>
                      </m:r>
                      <m:r>
                        <a:rPr lang="en-US" sz="2200" b="0" i="1" smtClean="0">
                          <a:latin typeface="Cambria Math" panose="02040503050406030204" pitchFamily="18" charset="0"/>
                          <a:ea typeface="Arial"/>
                          <a:cs typeface="Arial"/>
                          <a:sym typeface="Arial"/>
                        </a:rPr>
                        <m:t> = </m:t>
                      </m:r>
                      <m:f>
                        <m:fPr>
                          <m:ctrlPr>
                            <a:rPr lang="en-US" sz="2200" b="0" i="1" smtClean="0">
                              <a:latin typeface="Cambria Math" panose="02040503050406030204" pitchFamily="18" charset="0"/>
                              <a:cs typeface="Arial"/>
                              <a:sym typeface="Arial"/>
                            </a:rPr>
                          </m:ctrlPr>
                        </m:fPr>
                        <m:num>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num>
                        <m:den>
                          <m:r>
                            <a:rPr lang="en-US" sz="2200" b="0" i="1" smtClean="0">
                              <a:latin typeface="Cambria Math" panose="02040503050406030204" pitchFamily="18" charset="0"/>
                              <a:cs typeface="Arial"/>
                              <a:sym typeface="Arial"/>
                            </a:rPr>
                            <m:t>2</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goes forward!</a:t>
                </a:r>
              </a:p>
            </p:txBody>
          </p:sp>
        </mc:Choice>
        <mc:Fallback xmlns="">
          <p:sp>
            <p:nvSpPr>
              <p:cNvPr id="118" name="Google Shape;118;p29">
                <a:extLst>
                  <a:ext uri="{FF2B5EF4-FFF2-40B4-BE49-F238E27FC236}">
                    <a16:creationId xmlns:a16="http://schemas.microsoft.com/office/drawing/2014/main" id="{32688BC5-82AC-D694-7270-7824EEC16AA8}"/>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70F1B9-8FBD-9378-3D6C-38D8EEF074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97B72B-0BBE-DB7C-DCAD-5AC1D4F755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B647A7-08C1-14CE-3B38-A837400BF9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4678A8-E78E-C419-E0D1-59C77137D1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48F5-308D-06B9-1B17-CC47F80F5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A83BCF-D259-CF0A-B373-B3116E973A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B970E-943C-C43E-E8FE-8CDF477D63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DFA668-60EF-A2D7-8705-3EAE377B5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F253A45E-17E9-77F6-0CF5-586594A729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2068561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A15486-6503-567B-E7AB-34A32A3439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A167ED-CA43-8D9C-F58E-9D8FF9531F0C}"/>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robot’s angular velocity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depends on the difference between the wheel speeds.</a:t>
                </a:r>
              </a:p>
              <a:p>
                <a:pPr marL="0" indent="0">
                  <a:lnSpc>
                    <a:spcPct val="100000"/>
                  </a:lnSpc>
                  <a:spcBef>
                    <a:spcPts val="0"/>
                  </a:spcBef>
                  <a:buSzPts val="3000"/>
                  <a:buNone/>
                </a:pPr>
                <a:endParaRPr lang="en-US" sz="220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b="0" i="1" smtClean="0">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rotates in place (a zero-radius turn).</a:t>
                </a:r>
              </a:p>
            </p:txBody>
          </p:sp>
        </mc:Choice>
        <mc:Fallback xmlns="">
          <p:sp>
            <p:nvSpPr>
              <p:cNvPr id="118" name="Google Shape;118;p29">
                <a:extLst>
                  <a:ext uri="{FF2B5EF4-FFF2-40B4-BE49-F238E27FC236}">
                    <a16:creationId xmlns:a16="http://schemas.microsoft.com/office/drawing/2014/main" id="{38A167ED-CA43-8D9C-F58E-9D8FF9531F0C}"/>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6F5731-9133-2A83-1490-A162C6CA0D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4AE384-93CC-E4DF-6B31-7BDE820DD8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CFD877-CDF0-D4BD-E60A-9067506D345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44CBA4-B734-E9CF-3559-B3AD8CAB1D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C54C6A-2C0C-84C8-770D-8E0420DB51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179F3D-CD65-66D3-B7C0-3349F801FD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17C78F-E1EA-2A01-A48C-3AF2294FC2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8EB5C8-A671-2A53-1ED6-73C6A8BF07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5981030D-0294-627F-8D3B-A114FD5891D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415644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AA458C-FDB8-0ACE-9813-541CF7D31E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76EF0D-39CE-39D6-1DD6-733B92389290}"/>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Assuming that the wheels are at contacting the ground, the wheels describe arcs in the plane in such a way that the robot always rotates around a point (the </a:t>
                </a:r>
                <a:r>
                  <a:rPr lang="en-US" sz="2200" b="1" dirty="0">
                    <a:latin typeface="Atkinson Hyperlegible Next"/>
                    <a:ea typeface="Arial"/>
                    <a:cs typeface="Arial"/>
                    <a:sym typeface="Arial"/>
                  </a:rPr>
                  <a:t>ICR </a:t>
                </a:r>
                <a:r>
                  <a:rPr lang="en-US" sz="2200" dirty="0">
                    <a:latin typeface="Atkinson Hyperlegible Next"/>
                    <a:ea typeface="Arial"/>
                    <a:cs typeface="Arial"/>
                    <a:sym typeface="Arial"/>
                  </a:rPr>
                  <a:t>refers to the instantaneous center of rotation).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rotation leads the robot to have the rotation of the vehicle to be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around the </a:t>
                </a:r>
                <a:r>
                  <a:rPr lang="en-US" sz="2200" b="1" dirty="0">
                    <a:latin typeface="Atkinson Hyperlegible Next"/>
                    <a:ea typeface="Arial"/>
                    <a:cs typeface="Arial"/>
                    <a:sym typeface="Arial"/>
                  </a:rPr>
                  <a:t>ICR</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Following the angular velocity equation </a:t>
                </a:r>
                <a14:m>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r>
                      <m:rPr>
                        <m:sty m:val="p"/>
                      </m:rPr>
                      <a:rPr lang="en-US" sz="2200" b="0" i="1" smtClean="0">
                        <a:latin typeface="Cambria Math" panose="02040503050406030204" pitchFamily="18" charset="0"/>
                        <a:ea typeface="Cambria Math" panose="02040503050406030204" pitchFamily="18" charset="0"/>
                        <a:cs typeface="Arial"/>
                        <a:sym typeface="Arial"/>
                      </a:rPr>
                      <m:t>r</m:t>
                    </m:r>
                    <m:r>
                      <a:rPr lang="en-US" sz="2200" b="0" i="1" smtClean="0">
                        <a:latin typeface="Cambria Math" panose="02040503050406030204" pitchFamily="18" charset="0"/>
                        <a:ea typeface="Cambria Math" panose="02040503050406030204" pitchFamily="18" charset="0"/>
                        <a:cs typeface="Arial"/>
                        <a:sym typeface="Arial"/>
                      </a:rPr>
                      <m:t>𝜈</m:t>
                    </m:r>
                    <m:r>
                      <a:rPr lang="en-US" sz="2200" b="0" i="1" smtClean="0">
                        <a:latin typeface="Cambria Math" panose="02040503050406030204" pitchFamily="18" charset="0"/>
                        <a:ea typeface="Cambria Math" panose="02040503050406030204" pitchFamily="18" charset="0"/>
                        <a:cs typeface="Arial"/>
                        <a:sym typeface="Arial"/>
                      </a:rPr>
                      <m:t> </m:t>
                    </m:r>
                  </m:oMath>
                </a14:m>
                <a:r>
                  <a:rPr lang="en-US" sz="2200" dirty="0">
                    <a:latin typeface="Atkinson Hyperlegible Next"/>
                    <a:ea typeface="Arial"/>
                    <a:cs typeface="Arial"/>
                    <a:sym typeface="Arial"/>
                  </a:rPr>
                  <a:t>, we have,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b="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e>
                      </m:d>
                      <m:sSub>
                        <m:sSubPr>
                          <m:ctrlPr>
                            <a:rPr lang="en-US" sz="2200" b="0" i="1" smtClean="0">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m:oMathPara>
                </a14:m>
                <a:endParaRPr lang="en-US" sz="22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d>
                        <m:dPr>
                          <m:ctrlPr>
                            <a:rPr lang="en-US" sz="2200" i="1">
                              <a:latin typeface="Cambria Math" panose="02040503050406030204" pitchFamily="18" charset="0"/>
                              <a:ea typeface="Cambria Math" panose="02040503050406030204" pitchFamily="18" charset="0"/>
                              <a:cs typeface="Arial"/>
                              <a:sym typeface="Arial"/>
                            </a:rPr>
                          </m:ctrlPr>
                        </m:dPr>
                        <m:e>
                          <m:r>
                            <a:rPr lang="en-US" sz="220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ea typeface="Cambria Math" panose="02040503050406030204" pitchFamily="18" charset="0"/>
                                  <a:cs typeface="Arial"/>
                                  <a:sym typeface="Arial"/>
                                </a:rPr>
                              </m:ctrlPr>
                            </m:fPr>
                            <m:num>
                              <m:r>
                                <m:rPr>
                                  <m:sty m:val="p"/>
                                </m:rPr>
                                <a:rPr lang="en-US" sz="2200" i="1">
                                  <a:latin typeface="Cambria Math" panose="02040503050406030204" pitchFamily="18" charset="0"/>
                                  <a:ea typeface="Cambria Math" panose="02040503050406030204" pitchFamily="18" charset="0"/>
                                  <a:cs typeface="Arial"/>
                                  <a:sym typeface="Arial"/>
                                </a:rPr>
                                <m:t>b</m:t>
                              </m:r>
                            </m:num>
                            <m:den>
                              <m:r>
                                <a:rPr lang="en-US" sz="2200" i="1">
                                  <a:latin typeface="Cambria Math" panose="02040503050406030204" pitchFamily="18" charset="0"/>
                                  <a:ea typeface="Cambria Math" panose="02040503050406030204" pitchFamily="18" charset="0"/>
                                  <a:cs typeface="Arial"/>
                                  <a:sym typeface="Arial"/>
                                </a:rPr>
                                <m:t>2</m:t>
                              </m:r>
                            </m:den>
                          </m:f>
                        </m:e>
                      </m:d>
                      <m:sSub>
                        <m:sSubPr>
                          <m:ctrlPr>
                            <a:rPr lang="en-US" sz="2200" i="1">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C76EF0D-39CE-39D6-1DD6-733B92389290}"/>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r="-193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047C59-56C9-ADF3-FB5D-C717D92C80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8FD53B-4723-ABD0-9FCF-CABC2AEF745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C9F23A-B72D-4ED6-16CE-1CFFC4DAFA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9FC659-2FBE-6D45-D427-4D988D2D67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1809E5-DC5A-8030-41B9-21D95E6BB0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BAE7C5-F4C5-22C4-50A7-80ACB3E5C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9E3CE9D-BA9A-F61E-A0A1-4D7E55B3D0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A05BA9-51EF-31FA-93C7-F068C56FE7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057E820A-FAFB-0518-9A2F-DF8DB1F979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12468457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13026-6ABA-1E9D-FD91-85F548236C0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C57B75-374F-1071-DAC6-B28E22E5DDB8}"/>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Solving for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and R, we get that,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i="1">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0" smtClean="0">
                          <a:latin typeface="Cambria Math" panose="02040503050406030204" pitchFamily="18" charset="0"/>
                          <a:ea typeface="Cambria Math" panose="02040503050406030204" pitchFamily="18" charset="0"/>
                          <a:cs typeface="Arial"/>
                          <a:sym typeface="Arial"/>
                        </a:rPr>
                        <m:t>R</m:t>
                      </m:r>
                      <m:r>
                        <a:rPr lang="en-US" sz="2200" i="1">
                          <a:latin typeface="Cambria Math" panose="02040503050406030204" pitchFamily="18" charset="0"/>
                          <a:ea typeface="Cambria Math" panose="02040503050406030204" pitchFamily="18" charset="0"/>
                          <a:cs typeface="Arial"/>
                          <a:sym typeface="Arial"/>
                        </a:rPr>
                        <m:t>=</m:t>
                      </m:r>
                      <m:f>
                        <m:fPr>
                          <m:ctrlPr>
                            <a:rPr lang="en-US" sz="220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m:t>
                          </m:r>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Very simple!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a:latin typeface="Cambria Math" panose="02040503050406030204" pitchFamily="18" charset="0"/>
                        <a:ea typeface="Cambria Math" panose="02040503050406030204" pitchFamily="18" charset="0"/>
                        <a:cs typeface="Arial"/>
                        <a:sym typeface="Arial"/>
                      </a:rPr>
                      <m:t>R</m:t>
                    </m:r>
                    <m:r>
                      <a:rPr lang="en-US" sz="2200" b="0" i="0" smtClean="0">
                        <a:latin typeface="Cambria Math" panose="02040503050406030204" pitchFamily="18" charset="0"/>
                        <a:ea typeface="Cambria Math" panose="02040503050406030204" pitchFamily="18" charset="0"/>
                        <a:cs typeface="Arial"/>
                        <a:sym typeface="Arial"/>
                      </a:rPr>
                      <m:t> = </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 0</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A1C57B75-374F-1071-DAC6-B28E22E5DDB8}"/>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687758-CA04-3163-CE38-B6AC64638D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F1CC9-EFE6-DAB7-FFA6-DD570FFFE5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A7089C-3F15-063A-06F6-26A95EC357B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61F874-C670-686C-7B21-1E745FD655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627F39-0053-02A9-6FC5-F35434AD01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02E0AB-6328-8DF2-7D09-67833D2F6D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23FD1-A272-CDDD-5538-194CF66621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59382F-689C-A388-0D11-423AC33E8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2E5442EB-5FDF-63B8-74EC-F0DEBD0C35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67429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2A523-5CFF-0ACA-94BC-DF8BADF9F3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A2C7AC-C42D-ACEC-6107-387F1EE0C0EE}"/>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Based on the calculated forward velocity from the encoders,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in lab we already calculate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ea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L</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Using forward Euler integration, we update our world </a:t>
                </a:r>
                <a14:m>
                  <m:oMath xmlns:m="http://schemas.openxmlformats.org/officeDocument/2006/math">
                    <m:r>
                      <m:rPr>
                        <m:sty m:val="p"/>
                      </m:rPr>
                      <a:rPr lang="en-US" sz="2200" b="0" i="1" smtClean="0">
                        <a:latin typeface="Cambria Math" panose="02040503050406030204" pitchFamily="18" charset="0"/>
                        <a:ea typeface="Arial"/>
                        <a:cs typeface="Arial"/>
                        <a:sym typeface="Arial"/>
                      </a:rPr>
                      <m:t>X</m:t>
                    </m:r>
                  </m:oMath>
                </a14:m>
                <a:r>
                  <a:rPr lang="en-US" sz="2200" dirty="0">
                    <a:latin typeface="Atkinson Hyperlegible Next"/>
                    <a:ea typeface="Arial"/>
                    <a:cs typeface="Arial"/>
                    <a:sym typeface="Arial"/>
                  </a:rPr>
                  <a:t> and </a:t>
                </a:r>
                <a14:m>
                  <m:oMath xmlns:m="http://schemas.openxmlformats.org/officeDocument/2006/math">
                    <m:r>
                      <m:rPr>
                        <m:sty m:val="p"/>
                      </m:rPr>
                      <a:rPr lang="en-US" sz="2200" b="0" i="1"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coordinates using our current heading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e>
                          </m:d>
                        </m:e>
                      </m:func>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smtClean="0">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i="1">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a:rPr lang="en-US" sz="2200" i="1">
                                      <a:latin typeface="Cambria Math" panose="02040503050406030204" pitchFamily="18" charset="0"/>
                                      <a:ea typeface="Arial"/>
                                      <a:cs typeface="Arial"/>
                                      <a:sym typeface="Arial"/>
                                    </a:rPr>
                                    <m:t>𝑡</m:t>
                                  </m:r>
                                </m:sub>
                              </m:sSub>
                            </m:e>
                          </m:d>
                        </m:e>
                      </m:func>
                      <m:r>
                        <a:rPr lang="en-US" sz="2200" i="1">
                          <a:latin typeface="Cambria Math" panose="02040503050406030204" pitchFamily="18" charset="0"/>
                          <a:ea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𝜔</m:t>
                          </m:r>
                        </m:e>
                        <m:sub>
                          <m:r>
                            <a:rPr lang="en-US" sz="2200" b="0" i="1" smtClean="0">
                              <a:latin typeface="Cambria Math" panose="02040503050406030204" pitchFamily="18" charset="0"/>
                              <a:ea typeface="Arial"/>
                              <a:cs typeface="Arial"/>
                              <a:sym typeface="Arial"/>
                            </a:rPr>
                            <m:t>𝑡</m:t>
                          </m:r>
                        </m:sub>
                      </m:sSub>
                      <m:r>
                        <m:rPr>
                          <m:sty m:val="p"/>
                        </m:rPr>
                        <a:rPr lang="en-US" sz="2200" b="0" i="0" smtClean="0">
                          <a:latin typeface="Cambria Math" panose="02040503050406030204" pitchFamily="18" charset="0"/>
                          <a:ea typeface="Arial"/>
                          <a:cs typeface="Arial"/>
                          <a:sym typeface="Arial"/>
                        </a:rPr>
                        <m:t>Δ</m:t>
                      </m:r>
                      <m:r>
                        <a:rPr lang="en-US" sz="2200" b="0" i="1" smtClean="0">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we go! </a:t>
                </a:r>
              </a:p>
              <a:p>
                <a:pPr marL="0" indent="0">
                  <a:lnSpc>
                    <a:spcPct val="100000"/>
                  </a:lnSpc>
                  <a:spcBef>
                    <a:spcPts val="0"/>
                  </a:spcBef>
                  <a:buSzPts val="3000"/>
                  <a:buNone/>
                </a:pPr>
                <a:r>
                  <a:rPr lang="en-US" sz="2200" dirty="0">
                    <a:latin typeface="Atkinson Hyperlegible Next"/>
                    <a:ea typeface="Arial"/>
                    <a:cs typeface="Arial"/>
                    <a:sym typeface="Arial"/>
                  </a:rPr>
                  <a:t>We now have 2 ways to get the robot’s position, integrating the </a:t>
                </a:r>
                <a:r>
                  <a:rPr lang="en-US" sz="2200" b="1" dirty="0">
                    <a:latin typeface="Atkinson Hyperlegible Next"/>
                    <a:ea typeface="Arial"/>
                    <a:cs typeface="Arial"/>
                    <a:sym typeface="Arial"/>
                  </a:rPr>
                  <a:t>IMU</a:t>
                </a:r>
                <a:r>
                  <a:rPr lang="en-US" sz="2200" dirty="0">
                    <a:latin typeface="Atkinson Hyperlegible Next"/>
                    <a:ea typeface="Arial"/>
                    <a:cs typeface="Arial"/>
                    <a:sym typeface="Arial"/>
                  </a:rPr>
                  <a:t> or integrating the </a:t>
                </a:r>
                <a:r>
                  <a:rPr lang="en-US" sz="2200" b="1" dirty="0">
                    <a:latin typeface="Atkinson Hyperlegible Next"/>
                    <a:ea typeface="Arial"/>
                    <a:cs typeface="Arial"/>
                    <a:sym typeface="Arial"/>
                  </a:rPr>
                  <a:t>wheel encoder</a:t>
                </a:r>
                <a:r>
                  <a:rPr lang="en-US" sz="2200" dirty="0">
                    <a:latin typeface="Atkinson Hyperlegible Next"/>
                    <a:ea typeface="Arial"/>
                    <a:cs typeface="Arial"/>
                    <a:sym typeface="Arial"/>
                  </a:rPr>
                  <a:t> information!</a:t>
                </a:r>
              </a:p>
            </p:txBody>
          </p:sp>
        </mc:Choice>
        <mc:Fallback xmlns="">
          <p:sp>
            <p:nvSpPr>
              <p:cNvPr id="118" name="Google Shape;118;p29">
                <a:extLst>
                  <a:ext uri="{FF2B5EF4-FFF2-40B4-BE49-F238E27FC236}">
                    <a16:creationId xmlns:a16="http://schemas.microsoft.com/office/drawing/2014/main" id="{CBA2C7AC-C42D-ACEC-6107-387F1EE0C0EE}"/>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BD52C4-FB11-1D29-BFDF-5B4E893443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9CAE51B-7AB3-0DB7-D54C-59C13FCCDF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32EABB-D6FA-75C0-53E7-C8751917955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734D7BA-0767-2C19-95E6-454294A6D0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982E7F-3E1F-964D-42F3-0AFE7A4109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2BD7EA-4E6F-479B-2A5D-E7CCD38B52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261583-041E-282D-A7E1-0D5DD1FA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C65B02-D03F-D72D-D15E-30F178A5C3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08DCB2E8-FF30-3015-8E18-F5DE0586C1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374676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E2CFA7-0E50-0DA3-9C6C-F5EAAC3F062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3E99BBD-50E2-2AE2-28AB-4FECBACF31EE}"/>
                  </a:ext>
                </a:extLst>
              </p:cNvPr>
              <p:cNvSpPr txBox="1">
                <a:spLocks noGrp="1"/>
              </p:cNvSpPr>
              <p:nvPr>
                <p:ph type="body" idx="1"/>
              </p:nvPr>
            </p:nvSpPr>
            <p:spPr>
              <a:xfrm>
                <a:off x="376809" y="1334279"/>
                <a:ext cx="11452008" cy="2413288"/>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multiple ways of integrating; however, we can get a slightly more accurate result depending on how we do it.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Specifically, instead of doing the Riemann sum (rectangle rule) we can do the Trapezoidal rule. In lab </a:t>
                </a:r>
                <a14:m>
                  <m:oMath xmlns:m="http://schemas.openxmlformats.org/officeDocument/2006/math">
                    <m:r>
                      <a:rPr lang="en-US" sz="2200" b="0" i="1" smtClean="0">
                        <a:latin typeface="Cambria Math" panose="02040503050406030204" pitchFamily="18" charset="0"/>
                        <a:ea typeface="Arial"/>
                        <a:cs typeface="Arial"/>
                        <a:sym typeface="Arial"/>
                      </a:rPr>
                      <m:t>𝑥</m:t>
                    </m:r>
                  </m:oMath>
                </a14:m>
                <a:r>
                  <a:rPr lang="en-US" sz="2200" dirty="0">
                    <a:latin typeface="Atkinson Hyperlegible Next"/>
                    <a:ea typeface="Arial"/>
                    <a:cs typeface="Arial"/>
                    <a:sym typeface="Arial"/>
                  </a:rPr>
                  <a:t>, represents the heading </a:t>
                </a:r>
                <a14:m>
                  <m:oMath xmlns:m="http://schemas.openxmlformats.org/officeDocument/2006/math">
                    <m:r>
                      <a:rPr lang="en-US" sz="2200" b="0" i="1"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 and </a:t>
                </a:r>
                <a14:m>
                  <m:oMath xmlns:m="http://schemas.openxmlformats.org/officeDocument/2006/math">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oMath>
                </a14:m>
                <a:r>
                  <a:rPr lang="en-US" sz="2200" dirty="0">
                    <a:latin typeface="Atkinson Hyperlegible Next"/>
                    <a:ea typeface="Arial"/>
                    <a:cs typeface="Arial"/>
                    <a:sym typeface="Arial"/>
                  </a:rPr>
                  <a:t>, represents the </a:t>
                </a:r>
                <a:r>
                  <a:rPr lang="en-US" sz="2200">
                    <a:latin typeface="Atkinson Hyperlegible Next"/>
                    <a:ea typeface="Arial"/>
                    <a:cs typeface="Arial"/>
                    <a:sym typeface="Arial"/>
                  </a:rPr>
                  <a:t>gyro reading.</a:t>
                </a: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f>
                        <m:fPr>
                          <m:ctrlPr>
                            <a:rPr lang="en-US" sz="2200" b="0" i="1" smtClean="0">
                              <a:latin typeface="Cambria Math" panose="02040503050406030204" pitchFamily="18" charset="0"/>
                              <a:cs typeface="Arial"/>
                              <a:sym typeface="Arial"/>
                            </a:rPr>
                          </m:ctrlPr>
                        </m:fPr>
                        <m:num>
                          <m:r>
                            <a:rPr lang="en-US" sz="2200" b="0" i="1" smtClean="0">
                              <a:latin typeface="Cambria Math" panose="02040503050406030204" pitchFamily="18" charset="0"/>
                              <a:cs typeface="Arial"/>
                              <a:sym typeface="Arial"/>
                            </a:rPr>
                            <m:t>1</m:t>
                          </m:r>
                        </m:num>
                        <m:den>
                          <m:r>
                            <a:rPr lang="en-US" sz="2200" b="0" i="1" smtClean="0">
                              <a:latin typeface="Cambria Math" panose="02040503050406030204" pitchFamily="18" charset="0"/>
                              <a:cs typeface="Arial"/>
                              <a:sym typeface="Arial"/>
                            </a:rPr>
                            <m:t>2</m:t>
                          </m:r>
                        </m:den>
                      </m:f>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e>
                      </m:d>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83E99BBD-50E2-2AE2-28AB-4FECBACF31EE}"/>
                  </a:ext>
                </a:extLst>
              </p:cNvPr>
              <p:cNvSpPr txBox="1">
                <a:spLocks noGrp="1" noRot="1" noChangeAspect="1" noMove="1" noResize="1" noEditPoints="1" noAdjustHandles="1" noChangeArrowheads="1" noChangeShapeType="1" noTextEdit="1"/>
              </p:cNvSpPr>
              <p:nvPr>
                <p:ph type="body" idx="1"/>
              </p:nvPr>
            </p:nvSpPr>
            <p:spPr>
              <a:xfrm>
                <a:off x="376809" y="1334279"/>
                <a:ext cx="11452008" cy="2413288"/>
              </a:xfrm>
              <a:prstGeom prst="rect">
                <a:avLst/>
              </a:prstGeom>
              <a:blipFill>
                <a:blip r:embed="rId3"/>
                <a:stretch>
                  <a:fillRect l="-692" t="-1515" r="-63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9BC3FA3-D8BE-3C94-AF83-2F21A2767F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29350-852B-449C-F745-436514C5447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A5C098-8DDD-CBAD-C639-8613CAFC940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05BDCA8-6771-AD90-78C7-BD08E596DC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D2B06E-29C9-31FD-12D1-C1D5047115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B62037-8D0F-1143-D983-4D433CBD24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F811A8-AB9D-001B-1B38-38732F17B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30FDC6-A020-894E-7845-E512CB765C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lot: trapezoidal-rule integration of a curve f that rises to a peak and falls. The area under it is split into shaded trapezoids of equal width p, whose tops are straight lines joining sample points on the curve. One trapezoid, S sub i, spans x sub i to x sub i plus 1, with parallel sides f of x sub i and f of x sub i plus 1. Its area is p times the quantity f of x sub i plus f of x sub i plus 1, over 2. The trapezoid tops follow the curve closely.">
            <a:extLst>
              <a:ext uri="{FF2B5EF4-FFF2-40B4-BE49-F238E27FC236}">
                <a16:creationId xmlns:a16="http://schemas.microsoft.com/office/drawing/2014/main" id="{89D0CA00-8753-DA08-F841-EF1FE694E95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95394" y="3676954"/>
            <a:ext cx="3397817" cy="2847086"/>
          </a:xfrm>
          <a:prstGeom prst="rect">
            <a:avLst/>
          </a:prstGeom>
        </p:spPr>
      </p:pic>
      <p:pic>
        <p:nvPicPr>
          <p:cNvPr id="6" name="Graphic 5" descr="Plot: the red curve y equals x cubed rises from 0 at x equals 0 to 8 at x equals 2. Blue left-Riemann rectangles of width 0.5 sit beneath it with heights 0, 0.125, 1, and 3.375, each taken from the curve's value at the left edge of its interval. The rectangles leave large gaps below the steepening curve, so the rectangle rule underestimates the integral. This error motivates using the trapezoidal rule instead.">
            <a:extLst>
              <a:ext uri="{FF2B5EF4-FFF2-40B4-BE49-F238E27FC236}">
                <a16:creationId xmlns:a16="http://schemas.microsoft.com/office/drawing/2014/main" id="{AE4E309E-FD80-C30D-E2B0-52B363B78C0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798789" y="3747908"/>
            <a:ext cx="3397816" cy="2718253"/>
          </a:xfrm>
          <a:prstGeom prst="rect">
            <a:avLst/>
          </a:prstGeom>
        </p:spPr>
      </p:pic>
    </p:spTree>
    <p:extLst>
      <p:ext uri="{BB962C8B-B14F-4D97-AF65-F5344CB8AC3E}">
        <p14:creationId xmlns:p14="http://schemas.microsoft.com/office/powerpoint/2010/main" val="13086453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51E58F-B0D3-64FE-8ECA-A61DCF5EC77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46A2FE-E7C1-B3B3-8DC0-D9BD94BBC89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Given the 2 methods of calculating the robot’s position, if we run this integration for 10 minutes, will the robot’s calculated position match its real physical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Will the IMU and the wheel encoder measurements match?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Absolutely not! Dead-reckoning is subject to unbounded accumulating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Any small measurement error is added to the previous state, meaning the error grows infinitely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known as drift. </a:t>
            </a:r>
            <a:r>
              <a:rPr lang="en-US" sz="2200" b="1" dirty="0">
                <a:latin typeface="Atkinson Hyperlegible Next"/>
                <a:ea typeface="Arial"/>
                <a:cs typeface="Arial"/>
                <a:sym typeface="Arial"/>
              </a:rPr>
              <a:t>Odometry Drift </a:t>
            </a:r>
            <a:r>
              <a:rPr lang="en-US" sz="2200" dirty="0">
                <a:latin typeface="Atkinson Hyperlegible Next"/>
                <a:ea typeface="Arial"/>
                <a:cs typeface="Arial"/>
                <a:sym typeface="Arial"/>
              </a:rPr>
              <a:t>for wheel encoders and </a:t>
            </a:r>
            <a:r>
              <a:rPr lang="en-US" sz="2200" b="1" dirty="0">
                <a:latin typeface="Atkinson Hyperlegible Next"/>
                <a:ea typeface="Arial"/>
                <a:cs typeface="Arial"/>
                <a:sym typeface="Arial"/>
              </a:rPr>
              <a:t>IMU Drift </a:t>
            </a:r>
            <a:r>
              <a:rPr lang="en-US" sz="2200" dirty="0">
                <a:latin typeface="Atkinson Hyperlegible Next"/>
                <a:ea typeface="Arial"/>
                <a:cs typeface="Arial"/>
                <a:sym typeface="Arial"/>
              </a:rPr>
              <a:t>for the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later lectures we will learn about the </a:t>
            </a:r>
            <a:r>
              <a:rPr lang="en-US" sz="2200" b="1" dirty="0">
                <a:latin typeface="Atkinson Hyperlegible Next"/>
                <a:ea typeface="Arial"/>
                <a:cs typeface="Arial"/>
                <a:sym typeface="Arial"/>
              </a:rPr>
              <a:t>Kalman Filter</a:t>
            </a:r>
            <a:r>
              <a:rPr lang="en-US" sz="2200" dirty="0">
                <a:latin typeface="Atkinson Hyperlegible Next"/>
                <a:ea typeface="Arial"/>
                <a:cs typeface="Arial"/>
                <a:sym typeface="Arial"/>
              </a:rPr>
              <a:t> to be able to </a:t>
            </a:r>
            <a:r>
              <a:rPr lang="en-US" sz="2200" b="1" dirty="0">
                <a:latin typeface="Atkinson Hyperlegible Next"/>
                <a:ea typeface="Arial"/>
                <a:cs typeface="Arial"/>
                <a:sym typeface="Arial"/>
              </a:rPr>
              <a:t>fuse</a:t>
            </a:r>
            <a:r>
              <a:rPr lang="en-US" sz="2200" dirty="0">
                <a:latin typeface="Atkinson Hyperlegible Next"/>
                <a:ea typeface="Arial"/>
                <a:cs typeface="Arial"/>
                <a:sym typeface="Arial"/>
              </a:rPr>
              <a:t> both sensors to get a more accurate measurement!</a:t>
            </a:r>
            <a:endParaRPr lang="en-US" sz="22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4C8F507-239D-C9EC-C9EB-02845847F1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215FE-B039-301D-3E61-8D4098F31C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CE2F3B-F0FE-C028-ACA2-31FAC3B19F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482B0C-A27E-3C2F-060D-38EFD34CB5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EDF2B-390A-8D89-CC48-B965C45253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4F9939-589D-2C2A-57F8-95382EE942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AF25A3-E8DC-0901-7582-6410FF6EA3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4A40C6-C9DF-00B3-4F34-3B7D2E65E3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9733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55DE9A2-4DDF-039E-DDAF-7A13C7FF489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E610F3D-B5AB-6389-3923-76F72CAA4B93}"/>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Errors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3FD5944D-11A0-0159-1787-EB384114A92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2A880CC-F404-6122-90C1-83EE02CE141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C519B51-4066-5507-542E-6DF70D43E4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BA564C6-8367-E96B-3958-0E14D3BC050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1EA9C19-F18B-EE1A-8D9D-3A88F9D567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2515B72-FE76-84E0-8C6A-55EE199121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1DE7DB-A0B0-75A1-CBED-7A9F8DC484F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40AF3A3-B001-E849-E7F3-3550D3B69F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4A8C815-0A54-93F7-5BB4-B00385F14D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43532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5BE669C-2B00-75F3-4971-C61FBC7A44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EB9E38-337B-DBD1-54F7-5D0A0A717ECB}"/>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Systematic Error:</a:t>
            </a:r>
          </a:p>
          <a:p>
            <a:pPr marL="342900">
              <a:lnSpc>
                <a:spcPct val="100000"/>
              </a:lnSpc>
              <a:spcBef>
                <a:spcPts val="0"/>
              </a:spcBef>
              <a:buSzPts val="3000"/>
            </a:pPr>
            <a:r>
              <a:rPr lang="en-US" sz="2200" dirty="0">
                <a:latin typeface="Atkinson Hyperlegible Next"/>
                <a:ea typeface="Arial"/>
                <a:cs typeface="Arial"/>
                <a:sym typeface="Arial"/>
              </a:rPr>
              <a:t>Built into the physical mechanism of the sensor</a:t>
            </a:r>
          </a:p>
          <a:p>
            <a:pPr marL="342900">
              <a:lnSpc>
                <a:spcPct val="100000"/>
              </a:lnSpc>
              <a:spcBef>
                <a:spcPts val="0"/>
              </a:spcBef>
              <a:buSzPts val="3000"/>
            </a:pPr>
            <a:r>
              <a:rPr lang="en-US" sz="2200" dirty="0">
                <a:latin typeface="Atkinson Hyperlegible Next"/>
                <a:ea typeface="Arial"/>
                <a:cs typeface="Arial"/>
                <a:sym typeface="Arial"/>
              </a:rPr>
              <a:t>Always occurs, with the same value, when we the instrument in the same way and in the same case</a:t>
            </a:r>
          </a:p>
          <a:p>
            <a:pPr marL="342900">
              <a:lnSpc>
                <a:spcPct val="100000"/>
              </a:lnSpc>
              <a:spcBef>
                <a:spcPts val="0"/>
              </a:spcBef>
              <a:buSzPts val="3000"/>
            </a:pPr>
            <a:r>
              <a:rPr lang="en-US" sz="2200" dirty="0">
                <a:latin typeface="Atkinson Hyperlegible Next"/>
                <a:ea typeface="Arial"/>
                <a:cs typeface="Arial"/>
                <a:sym typeface="Arial"/>
              </a:rPr>
              <a:t>Can often be accounted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Unequal wheel diameter</a:t>
            </a:r>
          </a:p>
          <a:p>
            <a:pPr marL="342900">
              <a:lnSpc>
                <a:spcPct val="100000"/>
              </a:lnSpc>
              <a:spcBef>
                <a:spcPts val="0"/>
              </a:spcBef>
              <a:buSzPts val="3000"/>
            </a:pPr>
            <a:r>
              <a:rPr lang="en-US" sz="2200" dirty="0">
                <a:latin typeface="Atkinson Hyperlegible Next"/>
                <a:ea typeface="Arial"/>
                <a:cs typeface="Arial"/>
                <a:sym typeface="Arial"/>
              </a:rPr>
              <a:t>Constant accelerometer bias</a:t>
            </a:r>
          </a:p>
        </p:txBody>
      </p:sp>
      <p:sp>
        <p:nvSpPr>
          <p:cNvPr id="119" name="Google Shape;119;p29">
            <a:extLst>
              <a:ext uri="{FF2B5EF4-FFF2-40B4-BE49-F238E27FC236}">
                <a16:creationId xmlns:a16="http://schemas.microsoft.com/office/drawing/2014/main" id="{3E6EB404-38A3-3078-53F7-2A622DF78E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3713E9-A7EA-D0F6-AD5F-805D75ABF2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087137-D673-EF1F-12EF-21120A0AC1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192D8A-BACB-65A7-1B09-C1A281B40C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0CFA20-AAF2-61D5-D03C-DA107E4AAD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91EE80-93F3-810D-3B2E-CF3B8D481E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F99E3C-1FAB-8B2F-6396-376C698966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4F2C0-3CD8-0E25-D566-2C4EC1B57C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bell-shaped probability density curve over measured value. A black dashed line marks the true value, and a red dashed line at the curve's peak (the mean measurement) sits to its right; the gap between them is labeled systematic error, a constant offset. A blue arrow from the peak out to the curve's side is labeled random error, representing the spread of measurements around their mean.">
            <a:extLst>
              <a:ext uri="{FF2B5EF4-FFF2-40B4-BE49-F238E27FC236}">
                <a16:creationId xmlns:a16="http://schemas.microsoft.com/office/drawing/2014/main" id="{D7E15BB6-082A-1B39-6E44-A4C768B729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61C32CC8-D63B-A3FD-3D08-E79B19EF3637}"/>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13992272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BEFAD-91CA-E8E7-1264-DC5CF82694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BC22F-0A0D-05F1-899A-1386CF6A242D}"/>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Random Error:</a:t>
            </a:r>
          </a:p>
          <a:p>
            <a:pPr marL="342900">
              <a:lnSpc>
                <a:spcPct val="100000"/>
              </a:lnSpc>
              <a:spcBef>
                <a:spcPts val="0"/>
              </a:spcBef>
              <a:buSzPts val="3000"/>
            </a:pPr>
            <a:r>
              <a:rPr lang="en-US" sz="2200" dirty="0">
                <a:latin typeface="Atkinson Hyperlegible Next"/>
                <a:ea typeface="Arial"/>
                <a:cs typeface="Arial"/>
                <a:sym typeface="Arial"/>
              </a:rPr>
              <a:t>Random and due to environment factors</a:t>
            </a:r>
          </a:p>
          <a:p>
            <a:pPr marL="342900">
              <a:lnSpc>
                <a:spcPct val="100000"/>
              </a:lnSpc>
              <a:spcBef>
                <a:spcPts val="0"/>
              </a:spcBef>
              <a:buSzPts val="3000"/>
            </a:pPr>
            <a:r>
              <a:rPr lang="en-US" sz="2200" dirty="0">
                <a:latin typeface="Atkinson Hyperlegible Next"/>
                <a:ea typeface="Arial"/>
                <a:cs typeface="Arial"/>
                <a:sym typeface="Arial"/>
              </a:rPr>
              <a:t>May vary from observation to another</a:t>
            </a:r>
          </a:p>
          <a:p>
            <a:pPr marL="342900">
              <a:lnSpc>
                <a:spcPct val="100000"/>
              </a:lnSpc>
              <a:spcBef>
                <a:spcPts val="0"/>
              </a:spcBef>
              <a:buSzPts val="3000"/>
            </a:pPr>
            <a:r>
              <a:rPr lang="en-US" sz="2200" dirty="0">
                <a:latin typeface="Atkinson Hyperlegible Next"/>
                <a:ea typeface="Arial"/>
                <a:cs typeface="Arial"/>
                <a:sym typeface="Arial"/>
              </a:rPr>
              <a:t>These fluctuations may be in part due to interference of the environment with the measurement process</a:t>
            </a:r>
          </a:p>
          <a:p>
            <a:pPr marL="342900">
              <a:lnSpc>
                <a:spcPct val="100000"/>
              </a:lnSpc>
              <a:spcBef>
                <a:spcPts val="0"/>
              </a:spcBef>
              <a:buSzPts val="3000"/>
            </a:pPr>
            <a:r>
              <a:rPr lang="en-US" sz="2200" dirty="0">
                <a:latin typeface="Atkinson Hyperlegible Next"/>
                <a:ea typeface="Arial"/>
                <a:cs typeface="Arial"/>
                <a:sym typeface="Arial"/>
              </a:rPr>
              <a:t>Much harder to model (often assumed to be Gaussian)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Wheel slip</a:t>
            </a:r>
          </a:p>
          <a:p>
            <a:pPr marL="342900">
              <a:lnSpc>
                <a:spcPct val="100000"/>
              </a:lnSpc>
              <a:spcBef>
                <a:spcPts val="0"/>
              </a:spcBef>
              <a:buSzPts val="3000"/>
            </a:pPr>
            <a:r>
              <a:rPr lang="en-US" sz="2200" dirty="0">
                <a:latin typeface="Atkinson Hyperlegible Next"/>
                <a:ea typeface="Arial"/>
                <a:cs typeface="Arial"/>
                <a:sym typeface="Arial"/>
              </a:rPr>
              <a:t>Loose components</a:t>
            </a:r>
          </a:p>
        </p:txBody>
      </p:sp>
      <p:sp>
        <p:nvSpPr>
          <p:cNvPr id="119" name="Google Shape;119;p29">
            <a:extLst>
              <a:ext uri="{FF2B5EF4-FFF2-40B4-BE49-F238E27FC236}">
                <a16:creationId xmlns:a16="http://schemas.microsoft.com/office/drawing/2014/main" id="{9B10AA86-5C04-976D-1D91-14FF3107E6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F0EBEC-6851-570C-6040-ACC21DBC09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BAFB68-3222-53BF-C007-A3E286A7E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F2D5A-DBC1-5D87-77EA-2A965CB793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C3C1EB-5B32-4D47-53E4-29E6C73943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F938CC-49DE-9D5E-D35D-64023195F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13090A-5BCC-44BA-784B-C0C3B69FF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A83F5-3BBE-B05C-F582-83391096D9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bell-shaped probability density curve over measured value. A black dashed line marks the true value, and a red dashed line at the curve's peak (the mean measurement) sits to its right; the gap between them is labeled systematic error, a constant offset. A blue arrow from the peak out to the curve's side is labeled random error, representing the spread of measurements around their mean.">
            <a:extLst>
              <a:ext uri="{FF2B5EF4-FFF2-40B4-BE49-F238E27FC236}">
                <a16:creationId xmlns:a16="http://schemas.microsoft.com/office/drawing/2014/main" id="{5AB07676-E75C-9490-A2CF-AB34E41E2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524B60A4-F0E0-4D1F-F8A9-30DA0CA75CA8}"/>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42312058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0298F2-87D7-F51C-1066-930A3A6DA04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4FABCC-163C-F0AE-8588-DCE2CD7C130D}"/>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robotics the best way to handle noise is just by adding more sensors / different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more different opinions / viewpoints you have the more likely that the majority will agree or will provide useful information to help compensate from the fault of others!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 does one calculate how much the error drift?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help combat heading drift from encoders, we use the Z-axis rate gyro from our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 </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m:rPr>
                          <m:sty m:val="p"/>
                        </m:rPr>
                        <a:rPr lang="en-US" sz="2200">
                          <a:latin typeface="Cambria Math" panose="02040503050406030204" pitchFamily="18" charset="0"/>
                          <a:ea typeface="Arial"/>
                          <a:cs typeface="Arial"/>
                          <a:sym typeface="Arial"/>
                        </a:rPr>
                        <m:t>Δ</m:t>
                      </m:r>
                      <m:r>
                        <a:rPr lang="en-US" sz="2200" i="1">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E4FABCC-163C-F0AE-8588-DCE2CD7C130D}"/>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3238-2384-43A6-8220-8542D0CD6B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BB4EEEC-EA22-B55B-1B23-3261523CE2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CE7D8C-AED4-C1D8-7372-9894F313FB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AA9872-DCFF-3BBB-26FB-D5233D0E51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A06728-7240-0F73-C869-ECE2E2CDFE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BCA7A4-2918-3BE4-EE20-C0DC59868B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6E17D-98E1-36E7-8B52-68C6D8E0A3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40F9E8-4330-6907-DA90-50CEC9488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64218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63740D-B40A-975C-D982-8E7FFD74015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D6B066-10FF-D37D-3D50-C7ECB17F38D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Gyroscope’s output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i="1">
                              <a:latin typeface="Cambria Math" panose="02040503050406030204" pitchFamily="18" charset="0"/>
                              <a:ea typeface="Arial"/>
                              <a:cs typeface="Arial"/>
                              <a:sym typeface="Arial"/>
                            </a:rPr>
                            <m:t>gyro</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true</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cs typeface="Arial"/>
                              <a:sym typeface="Arial"/>
                            </a:rPr>
                            <m:t>bias</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ea typeface="Cambria Math" panose="02040503050406030204" pitchFamily="18" charset="0"/>
                              <a:cs typeface="Arial"/>
                              <a:sym typeface="Arial"/>
                            </a:rPr>
                            <m:t>noise</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assume that the noise </a:t>
                </a:r>
                <a14:m>
                  <m:oMath xmlns:m="http://schemas.openxmlformats.org/officeDocument/2006/math">
                    <m:sSub>
                      <m:sSubPr>
                        <m:ctrlPr>
                          <a:rPr lang="en-US" sz="2200" i="1" smtClean="0">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ea typeface="Cambria Math" panose="02040503050406030204" pitchFamily="18" charset="0"/>
                            <a:cs typeface="Arial"/>
                            <a:sym typeface="Arial"/>
                          </a:rPr>
                          <m:t>noise</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𝒩</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0,</m:t>
                        </m:r>
                        <m:sSup>
                          <m:sSupPr>
                            <m:ctrlPr>
                              <a:rPr lang="en-US" sz="2200" b="0" i="1" smtClean="0">
                                <a:latin typeface="Cambria Math" panose="02040503050406030204" pitchFamily="18" charset="0"/>
                                <a:ea typeface="Cambria Math" panose="02040503050406030204" pitchFamily="18" charset="0"/>
                                <a:cs typeface="Arial"/>
                                <a:sym typeface="Arial"/>
                              </a:rPr>
                            </m:ctrlPr>
                          </m:sSupPr>
                          <m:e>
                            <m:r>
                              <a:rPr lang="en-US" sz="2200" b="0" i="1" smtClean="0">
                                <a:latin typeface="Cambria Math" panose="02040503050406030204" pitchFamily="18" charset="0"/>
                                <a:ea typeface="Cambria Math" panose="02040503050406030204" pitchFamily="18" charset="0"/>
                                <a:cs typeface="Arial"/>
                                <a:sym typeface="Arial"/>
                              </a:rPr>
                              <m:t>𝜎</m:t>
                            </m:r>
                          </m:e>
                          <m:sup>
                            <m:r>
                              <a:rPr lang="en-US" sz="2200" b="0" i="1" smtClean="0">
                                <a:latin typeface="Cambria Math" panose="02040503050406030204" pitchFamily="18" charset="0"/>
                                <a:ea typeface="Cambria Math" panose="02040503050406030204" pitchFamily="18" charset="0"/>
                                <a:cs typeface="Arial"/>
                                <a:sym typeface="Arial"/>
                              </a:rPr>
                              <m:t>2</m:t>
                            </m:r>
                          </m:sup>
                        </m:sSup>
                      </m:e>
                    </m:d>
                  </m:oMath>
                </a14:m>
                <a:r>
                  <a:rPr lang="en-US" sz="2200" dirty="0">
                    <a:latin typeface="Atkinson Hyperlegible Next"/>
                    <a:ea typeface="Arial"/>
                    <a:cs typeface="Arial"/>
                    <a:sym typeface="Arial"/>
                  </a:rPr>
                  <a:t>, is “White Noise”, zero mean Gaussian noise.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we integrate the bias over time we: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nary>
                        <m:naryPr>
                          <m:limLoc m:val="undOvr"/>
                          <m:subHide m:val="on"/>
                          <m:supHide m:val="on"/>
                          <m:ctrlPr>
                            <a:rPr lang="en-US" sz="2200" i="1" dirty="0" smtClean="0">
                              <a:latin typeface="Cambria Math" panose="02040503050406030204" pitchFamily="18" charset="0"/>
                              <a:cs typeface="Arial"/>
                              <a:sym typeface="Arial"/>
                            </a:rPr>
                          </m:ctrlPr>
                        </m:naryPr>
                        <m:sub/>
                        <m:sup/>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e>
                      </m:nary>
                      <m:r>
                        <a:rPr lang="en-US" sz="2200" b="0" i="1" dirty="0" smtClean="0">
                          <a:latin typeface="Cambria Math" panose="02040503050406030204" pitchFamily="18" charset="0"/>
                          <a:cs typeface="Arial"/>
                          <a:sym typeface="Arial"/>
                        </a:rPr>
                        <m:t>𝑑𝑡</m:t>
                      </m:r>
                      <m:r>
                        <a:rPr lang="en-US" sz="2200" b="0" i="1" dirty="0"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sym typeface="Arial"/>
                  </a:rPr>
                  <a:t>If the bias just 0.05 degrees / sec, how far off is our heading after 5 minutes?</a:t>
                </a:r>
              </a:p>
              <a:p>
                <a:pPr marL="0" indent="0">
                  <a:lnSpc>
                    <a:spcPct val="100000"/>
                  </a:lnSpc>
                  <a:spcBef>
                    <a:spcPts val="0"/>
                  </a:spcBef>
                  <a:buSzPts val="3000"/>
                  <a:buNone/>
                </a:pPr>
                <a:endParaRPr lang="en-US" sz="2000" b="0" i="1" dirty="0">
                  <a:latin typeface="+mj-lt"/>
                  <a:ea typeface="Cambria Math" panose="02040503050406030204" pitchFamily="18" charset="0"/>
                  <a:cs typeface="Arial"/>
                  <a:sym typeface="Arial"/>
                </a:endParaRPr>
              </a:p>
              <a:p>
                <a:pPr marL="0" indent="0" algn="ctr">
                  <a:lnSpc>
                    <a:spcPct val="100000"/>
                  </a:lnSpc>
                  <a:spcBef>
                    <a:spcPts val="0"/>
                  </a:spcBef>
                  <a:buSzPts val="3000"/>
                  <a:buNone/>
                </a:pPr>
                <a:r>
                  <a:rPr lang="en-US" sz="2000" b="1" dirty="0">
                    <a:latin typeface="+mj-lt"/>
                    <a:ea typeface="Cambria Math" panose="02040503050406030204" pitchFamily="18" charset="0"/>
                    <a:cs typeface="Arial"/>
                    <a:sym typeface="Arial"/>
                  </a:rPr>
                  <a:t>15 degrees!</a:t>
                </a:r>
              </a:p>
              <a:p>
                <a:pPr marL="0" indent="0" algn="ctr">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why we calibrate the IMU to measure and subtract </a:t>
                </a:r>
                <a:r>
                  <a:rPr lang="en-US" sz="2000" dirty="0">
                    <a:latin typeface="+mj-lt"/>
                    <a:ea typeface="Cambria Math" panose="02040503050406030204" pitchFamily="18" charset="0"/>
                    <a:cs typeface="Arial"/>
                    <a:sym typeface="Arial"/>
                  </a:rPr>
                  <a:t>the bias!</a:t>
                </a:r>
              </a:p>
            </p:txBody>
          </p:sp>
        </mc:Choice>
        <mc:Fallback xmlns="">
          <p:sp>
            <p:nvSpPr>
              <p:cNvPr id="118" name="Google Shape;118;p29">
                <a:extLst>
                  <a:ext uri="{FF2B5EF4-FFF2-40B4-BE49-F238E27FC236}">
                    <a16:creationId xmlns:a16="http://schemas.microsoft.com/office/drawing/2014/main" id="{C9D6B066-10FF-D37D-3D50-C7ECB17F38D3}"/>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3F0A10-EFFC-5323-40FD-1D1FFBF6AA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407A49-6C11-D874-6A32-3003F68BE0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6CA6F7-0901-3CEC-6FB0-E66228551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4DC72C-6B58-7BA7-E1A4-C710EB414F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7F213B-A91E-60C5-230B-0D87CD6E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D322F9-1A52-C598-EA3E-7C5CCB0AD8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EA3B39-C278-7651-9DBE-3B8CBD5733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5763C4-E967-CB76-B11A-580F740013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33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14EA17-22FA-3DF2-3D01-D1CD2FDCC4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55EEE2-CDC3-7698-846D-CF39C2D6695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with the bias removed we now have White Noise that remains.</a:t>
                </a:r>
              </a:p>
              <a:p>
                <a:pPr marL="0" indent="0">
                  <a:lnSpc>
                    <a:spcPct val="100000"/>
                  </a:lnSpc>
                  <a:spcBef>
                    <a:spcPts val="0"/>
                  </a:spcBef>
                  <a:buSzPts val="3000"/>
                  <a:buNone/>
                </a:pPr>
                <a:endParaRPr lang="en-US" sz="20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gyro</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true</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ea typeface="Cambria Math" panose="02040503050406030204" pitchFamily="18" charset="0"/>
                              <a:cs typeface="Arial"/>
                              <a:sym typeface="Arial"/>
                            </a:rPr>
                            <m:t>𝜖</m:t>
                          </m:r>
                        </m:e>
                        <m:sub>
                          <m:r>
                            <m:rPr>
                              <m:sty m:val="p"/>
                            </m:rPr>
                            <a:rPr lang="en-US" sz="2000" i="1">
                              <a:latin typeface="Cambria Math" panose="02040503050406030204" pitchFamily="18" charset="0"/>
                              <a:ea typeface="Cambria Math" panose="02040503050406030204" pitchFamily="18" charset="0"/>
                              <a:cs typeface="Arial"/>
                              <a:sym typeface="Arial"/>
                            </a:rPr>
                            <m:t>noise</m:t>
                          </m:r>
                        </m:sub>
                      </m:sSub>
                    </m:oMath>
                  </m:oMathPara>
                </a14:m>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Integrating </a:t>
                </a:r>
                <a:r>
                  <a:rPr lang="en-US" sz="2000" dirty="0">
                    <a:latin typeface="+mj-lt"/>
                    <a:ea typeface="Cambria Math" panose="02040503050406030204" pitchFamily="18" charset="0"/>
                    <a:cs typeface="Arial"/>
                    <a:sym typeface="Arial"/>
                  </a:rPr>
                  <a:t>white noise results in a “</a:t>
                </a:r>
                <a:r>
                  <a:rPr lang="en-US" sz="2000" b="1" dirty="0">
                    <a:latin typeface="+mj-lt"/>
                    <a:ea typeface="Cambria Math" panose="02040503050406030204" pitchFamily="18" charset="0"/>
                    <a:cs typeface="Arial"/>
                    <a:sym typeface="Arial"/>
                  </a:rPr>
                  <a:t>Random Walk</a:t>
                </a:r>
                <a:r>
                  <a:rPr lang="en-US" sz="2000" dirty="0">
                    <a:latin typeface="+mj-lt"/>
                    <a:ea typeface="Cambria Math" panose="02040503050406030204" pitchFamily="18" charset="0"/>
                    <a:cs typeface="Arial"/>
                    <a:sym typeface="Arial"/>
                  </a:rPr>
                  <a:t>” (a Wiener process in stochastic calculus).</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mean of the error over multiple “Random Walk” runs is centered at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0</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variance of the error grows linearly with time </a:t>
                </a:r>
                <a14:m>
                  <m:oMath xmlns:m="http://schemas.openxmlformats.org/officeDocument/2006/math">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b="0" i="1" dirty="0" smtClean="0">
                            <a:latin typeface="Cambria Math" panose="02040503050406030204" pitchFamily="18" charset="0"/>
                            <a:ea typeface="Cambria Math" panose="02040503050406030204" pitchFamily="18" charset="0"/>
                            <a:cs typeface="Arial"/>
                            <a:sym typeface="Arial"/>
                          </a:rPr>
                          <m:t>𝜎</m:t>
                        </m:r>
                      </m:e>
                      <m:sub>
                        <m:r>
                          <a:rPr lang="en-US" sz="2000" b="0" i="1" dirty="0" smtClean="0">
                            <a:latin typeface="Cambria Math" panose="02040503050406030204" pitchFamily="18" charset="0"/>
                            <a:ea typeface="Cambria Math" panose="02040503050406030204" pitchFamily="18" charset="0"/>
                            <a:cs typeface="Arial"/>
                            <a:sym typeface="Arial"/>
                          </a:rPr>
                          <m:t>𝜑</m:t>
                        </m:r>
                      </m:sub>
                      <m:sup>
                        <m:r>
                          <a:rPr lang="en-US" sz="2000" b="0" i="1" dirty="0" smtClean="0">
                            <a:latin typeface="Cambria Math" panose="02040503050406030204" pitchFamily="18" charset="0"/>
                            <a:ea typeface="Cambria Math" panose="02040503050406030204" pitchFamily="18" charset="0"/>
                            <a:cs typeface="Arial"/>
                            <a:sym typeface="Arial"/>
                          </a:rPr>
                          <m:t>2</m:t>
                        </m:r>
                      </m:sup>
                    </m:sSubSup>
                    <m:r>
                      <a:rPr lang="en-US" sz="2000" b="0" i="1" dirty="0" smtClean="0">
                        <a:latin typeface="Cambria Math" panose="02040503050406030204" pitchFamily="18" charset="0"/>
                        <a:ea typeface="Cambria Math" panose="02040503050406030204" pitchFamily="18" charset="0"/>
                        <a:cs typeface="Arial"/>
                        <a:sym typeface="Arial"/>
                      </a:rPr>
                      <m:t>=</m:t>
                    </m:r>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i="1" dirty="0">
                            <a:latin typeface="Cambria Math" panose="02040503050406030204" pitchFamily="18" charset="0"/>
                            <a:ea typeface="Cambria Math" panose="02040503050406030204" pitchFamily="18" charset="0"/>
                            <a:cs typeface="Arial"/>
                            <a:sym typeface="Arial"/>
                          </a:rPr>
                          <m:t>𝜎</m:t>
                        </m:r>
                      </m:e>
                      <m:sub>
                        <m:r>
                          <a:rPr lang="en-US" sz="2000" i="1" dirty="0" smtClean="0">
                            <a:latin typeface="Cambria Math" panose="02040503050406030204" pitchFamily="18" charset="0"/>
                            <a:ea typeface="Cambria Math" panose="02040503050406030204" pitchFamily="18" charset="0"/>
                            <a:cs typeface="Arial"/>
                            <a:sym typeface="Arial"/>
                          </a:rPr>
                          <m:t>𝜔</m:t>
                        </m:r>
                      </m:sub>
                      <m:sup>
                        <m:r>
                          <a:rPr lang="en-US" sz="2000" i="1" dirty="0">
                            <a:latin typeface="Cambria Math" panose="02040503050406030204" pitchFamily="18" charset="0"/>
                            <a:ea typeface="Cambria Math" panose="02040503050406030204" pitchFamily="18" charset="0"/>
                            <a:cs typeface="Arial"/>
                            <a:sym typeface="Arial"/>
                          </a:rPr>
                          <m:t>2</m:t>
                        </m:r>
                      </m:sup>
                    </m:sSubSup>
                    <m:r>
                      <m:rPr>
                        <m:sty m:val="p"/>
                      </m:rPr>
                      <a:rPr lang="en-US" sz="2000" i="0" dirty="0" smtClean="0">
                        <a:latin typeface="Cambria Math" panose="02040503050406030204" pitchFamily="18" charset="0"/>
                        <a:ea typeface="Cambria Math" panose="02040503050406030204" pitchFamily="18" charset="0"/>
                        <a:cs typeface="Arial"/>
                        <a:sym typeface="Arial"/>
                      </a:rPr>
                      <m:t>Δ</m:t>
                    </m:r>
                    <m:r>
                      <a:rPr lang="en-US" sz="2000" i="1" dirty="0" smtClean="0">
                        <a:latin typeface="Cambria Math" panose="02040503050406030204" pitchFamily="18" charset="0"/>
                        <a:ea typeface="Cambria Math" panose="02040503050406030204" pitchFamily="18" charset="0"/>
                        <a:cs typeface="Arial"/>
                        <a:sym typeface="Arial"/>
                      </a:rPr>
                      <m:t>𝑡</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standard deviation (the actual angular error) grows proportional to the square root of time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 </m:t>
                    </m:r>
                    <m:rad>
                      <m:radPr>
                        <m:degHide m:val="on"/>
                        <m:ctrlPr>
                          <a:rPr lang="en-US" sz="2000" b="0" i="1" smtClean="0">
                            <a:latin typeface="Cambria Math" panose="02040503050406030204" pitchFamily="18" charset="0"/>
                            <a:ea typeface="Cambria Math" panose="02040503050406030204" pitchFamily="18" charset="0"/>
                            <a:cs typeface="Arial"/>
                            <a:sym typeface="Arial"/>
                          </a:rPr>
                        </m:ctrlPr>
                      </m:radPr>
                      <m:deg/>
                      <m:e>
                        <m:r>
                          <m:rPr>
                            <m:sty m:val="p"/>
                          </m:rPr>
                          <a:rPr lang="en-US" sz="2000" b="0" i="1" smtClean="0">
                            <a:latin typeface="Cambria Math" panose="02040503050406030204" pitchFamily="18" charset="0"/>
                            <a:ea typeface="Cambria Math" panose="02040503050406030204" pitchFamily="18" charset="0"/>
                            <a:cs typeface="Arial"/>
                            <a:sym typeface="Arial"/>
                          </a:rPr>
                          <m:t>t</m:t>
                        </m:r>
                      </m:e>
                    </m:rad>
                  </m:oMath>
                </a14:m>
                <a:r>
                  <a:rPr lang="en-US" sz="2000" b="0" dirty="0">
                    <a:latin typeface="+mj-lt"/>
                    <a:ea typeface="Cambria Math" panose="02040503050406030204" pitchFamily="18" charset="0"/>
                    <a:cs typeface="Arial"/>
                    <a:sym typeface="Arial"/>
                  </a:rPr>
                  <a:t>. The math for proving this is very complicated, so just take it as truth!</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Thus, over long period, the gyro’s heading becomes entirely unreliable!</a:t>
                </a:r>
              </a:p>
            </p:txBody>
          </p:sp>
        </mc:Choice>
        <mc:Fallback xmlns="">
          <p:sp>
            <p:nvSpPr>
              <p:cNvPr id="118" name="Google Shape;118;p29">
                <a:extLst>
                  <a:ext uri="{FF2B5EF4-FFF2-40B4-BE49-F238E27FC236}">
                    <a16:creationId xmlns:a16="http://schemas.microsoft.com/office/drawing/2014/main" id="{3F55EEE2-CDC3-7698-846D-CF39C2D6695A}"/>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4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CCA73AD-AA1E-2D97-1917-94C9CDB200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E9989F-8446-367B-618F-9DB175E76A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E7F7F1A-01A7-55F0-5779-25826F9F00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1E1EBB-952C-3C2F-0907-D4E69F1197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13308A-B3D1-2B72-D5B6-B72A8F7580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B07FE0D-ED47-C4D3-E1D6-FB8D894683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89F874-F92D-A95D-E31C-7183544FF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2073D7-C169-435E-AFF0-A93F4C88DA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7670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A7F0F48-FD66-0068-0226-3C6653FA95F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9362EA-C21F-AC39-D262-FB7E55F37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10643-9872-014A-0B92-EE6B2A60F2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36A73D-1A13-80E5-A640-A1746D9591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170DFE-6B7C-76DE-03C6-BD9005BC38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2E760C-D6C1-3E9C-55A1-9C9AB59AD3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436059-DAF3-0389-B9F7-FCC00B3406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F9F0C8-EDDD-B2B7-55CC-FDE177E364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9F9111-220C-C228-C249-7BB180BFE2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7E1B50D1-3054-D474-FE00-026AAFAE2E96}"/>
              </a:ext>
            </a:extLst>
          </p:cNvPr>
          <p:cNvSpPr>
            <a:spLocks noGrp="1"/>
          </p:cNvSpPr>
          <p:nvPr>
            <p:ph type="body" idx="1"/>
          </p:nvPr>
        </p:nvSpPr>
        <p:spPr/>
        <p:txBody>
          <a:bodyPr/>
          <a:lstStyle/>
          <a:p>
            <a:endParaRPr lang="en-US" dirty="0"/>
          </a:p>
        </p:txBody>
      </p:sp>
      <p:pic>
        <p:nvPicPr>
          <p:cNvPr id="5" name="Graphic 4" descr="Plot titled &quot;White Noise (sigma equals 1) vs Time&quot;: dozens of simulated traces of accumulated (integrated) white noise, angle in degrees versus time from 0 to 300 seconds. All traces start at 0 and wander randomly, spreading wider over time, about plus or minus 10 degrees by 25 seconds and up to plus or minus 40 degrees by 250 to 300 seconds. This shows how summing small random errors produces unbounded drift that grows with time.">
            <a:extLst>
              <a:ext uri="{FF2B5EF4-FFF2-40B4-BE49-F238E27FC236}">
                <a16:creationId xmlns:a16="http://schemas.microsoft.com/office/drawing/2014/main" id="{51BAB843-7088-724C-E33B-5C28CB5B43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71725" y="931562"/>
            <a:ext cx="7448550" cy="5592478"/>
          </a:xfrm>
          <a:prstGeom prst="rect">
            <a:avLst/>
          </a:prstGeom>
        </p:spPr>
      </p:pic>
    </p:spTree>
    <p:extLst>
      <p:ext uri="{BB962C8B-B14F-4D97-AF65-F5344CB8AC3E}">
        <p14:creationId xmlns:p14="http://schemas.microsoft.com/office/powerpoint/2010/main" val="1491280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EB7BBF-8F98-212E-9B38-36FE45DFCD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A399D8-64C2-AE55-3A69-840F4E06BC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9A499A-632D-6A56-C2F5-1855F4F2DC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B2CCCD-63B6-C535-4B41-062E4AF9879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EC8CDA-780F-8BB0-B80E-D99CCB7632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BDBDA4-CB51-BA47-3436-AA41BF9E44C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BBD68F-B9D8-6300-DB49-7583D7FF6F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B3F97-F3C8-481A-6A8A-8F517BC689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D2E4EF-9215-4863-9B7F-F8EDB9C571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white noise mean versus time over 0 to 300 seconds, y axis labeled &quot;Radians (degrees).&quot; A flat line marks the expected noise mean of zero. The measured mean dips to about minus 0.1 in the first few seconds, rises to about 0.4 by 45 seconds, then wanders between roughly 0.3 and 0.6 until about 240 seconds, ending near 0.28. It never settles back to zero, showing a persistent, drifting error.">
            <a:extLst>
              <a:ext uri="{FF2B5EF4-FFF2-40B4-BE49-F238E27FC236}">
                <a16:creationId xmlns:a16="http://schemas.microsoft.com/office/drawing/2014/main" id="{315ED8E6-1A93-6BA4-35DD-15A6BF9A800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5100" y="1412985"/>
            <a:ext cx="5848350" cy="4391025"/>
          </a:xfrm>
          <a:prstGeom prst="rect">
            <a:avLst/>
          </a:prstGeom>
        </p:spPr>
      </p:pic>
      <p:pic>
        <p:nvPicPr>
          <p:cNvPr id="9" name="Graphic 8" descr="Plot: standard deviation of integrated white noise versus time, 0 to 300 seconds, with angle on the vertical axis (labeled &quot;radians (degrees)&quot;). The expected curve, sigma times the square root of t with sigma equal to 1, rises steeply at first and then more slowly, reaching about 17.3 at 300 seconds. The measured white-noise standard deviation closely tracks it, falling slightly below to about 16.5 by the end. This shows that integrated sensor noise causes error to grow with the square root of time.">
            <a:extLst>
              <a:ext uri="{FF2B5EF4-FFF2-40B4-BE49-F238E27FC236}">
                <a16:creationId xmlns:a16="http://schemas.microsoft.com/office/drawing/2014/main" id="{5EDCFAED-D88C-BF40-EBFD-F63257E520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178550" y="1412985"/>
            <a:ext cx="5848350" cy="4391025"/>
          </a:xfrm>
          <a:prstGeom prst="rect">
            <a:avLst/>
          </a:prstGeom>
        </p:spPr>
      </p:pic>
    </p:spTree>
    <p:extLst>
      <p:ext uri="{BB962C8B-B14F-4D97-AF65-F5344CB8AC3E}">
        <p14:creationId xmlns:p14="http://schemas.microsoft.com/office/powerpoint/2010/main" val="1996753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56EF7-A6A6-2EEE-0343-809D003BA8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A269514-6DAD-F5AA-6FFB-B6127160743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Encoders</a:t>
            </a:r>
            <a:r>
              <a:rPr lang="en-US" sz="2000" dirty="0">
                <a:latin typeface="+mj-lt"/>
                <a:ea typeface="Cambria Math" panose="02040503050406030204" pitchFamily="18" charset="0"/>
                <a:cs typeface="Arial"/>
                <a:sym typeface="Arial"/>
              </a:rPr>
              <a:t> are good at low speeds and measuring exact distance, but terrible at heading due to wheel slip.</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Gyroscopes</a:t>
            </a:r>
            <a:r>
              <a:rPr lang="en-US" sz="2000" dirty="0">
                <a:latin typeface="+mj-lt"/>
                <a:ea typeface="Cambria Math" panose="02040503050406030204" pitchFamily="18" charset="0"/>
                <a:cs typeface="Arial"/>
                <a:sym typeface="Arial"/>
              </a:rPr>
              <a:t> are highly accurate for rapid rotations and </a:t>
            </a:r>
            <a:r>
              <a:rPr lang="en-US" sz="2000" b="1" dirty="0">
                <a:latin typeface="+mj-lt"/>
                <a:ea typeface="Cambria Math" panose="02040503050406030204" pitchFamily="18" charset="0"/>
                <a:cs typeface="Arial"/>
                <a:sym typeface="Arial"/>
              </a:rPr>
              <a:t>immune to wheel slip</a:t>
            </a:r>
            <a:r>
              <a:rPr lang="en-US" sz="2000" dirty="0">
                <a:latin typeface="+mj-lt"/>
                <a:ea typeface="Cambria Math" panose="02040503050406030204" pitchFamily="18" charset="0"/>
                <a:cs typeface="Arial"/>
                <a:sym typeface="Arial"/>
              </a:rPr>
              <a:t>, but drift over time due to integrated noise.</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Sensor Fusion is the mathematical process of combining these complementary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algorithms like Complementary Filters or Kalman Filters to merge the data.</a:t>
            </a:r>
          </a:p>
        </p:txBody>
      </p:sp>
      <p:sp>
        <p:nvSpPr>
          <p:cNvPr id="119" name="Google Shape;119;p29">
            <a:extLst>
              <a:ext uri="{FF2B5EF4-FFF2-40B4-BE49-F238E27FC236}">
                <a16:creationId xmlns:a16="http://schemas.microsoft.com/office/drawing/2014/main" id="{D3E99706-43F5-E2CC-6110-681317CD10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37D41-05DF-EED9-C42F-2D6CCB04BE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F5148C3-83FA-3D56-C528-763CF889AB1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08BDAD-B6E3-ABF9-6DC7-443405D705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760EB37-479E-38C3-2C5B-4C5A086254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4E265C-005B-78DB-F324-FBFBF4223E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59F94-09E0-04AF-0EB1-3385ABF453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B3DD9B-DE85-4A97-D002-0876EB133A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73098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A8285-DC09-1ED3-C502-2D0EE0A7887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7B62C66-340C-F490-FF7C-9F3B56DFC07F}"/>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Very briefly the Complementary Filter (very simple filter) blends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filtered signal and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filtered signal.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heading, we pass the integrated Gyro data through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 (trusting it in the short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pass an absolute heading measurement (like a Magnetometer, if available) through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 (trusting it in the long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r>
                        <a:rPr lang="en-US" sz="2000" b="0" i="1" dirty="0" smtClean="0">
                          <a:latin typeface="Cambria Math" panose="02040503050406030204" pitchFamily="18" charset="0"/>
                          <a:ea typeface="Cambria Math" panose="02040503050406030204" pitchFamily="18" charset="0"/>
                          <a:cs typeface="Arial"/>
                          <a:sym typeface="Arial"/>
                        </a:rPr>
                        <m:t>𝛼</m:t>
                      </m:r>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𝜔</m:t>
                              </m:r>
                            </m:e>
                            <m:sub>
                              <m:r>
                                <a:rPr lang="en-US" sz="2000" b="0" i="1" dirty="0" smtClean="0">
                                  <a:latin typeface="Cambria Math" panose="02040503050406030204" pitchFamily="18" charset="0"/>
                                  <a:ea typeface="Cambria Math" panose="02040503050406030204" pitchFamily="18" charset="0"/>
                                  <a:cs typeface="Arial"/>
                                  <a:sym typeface="Arial"/>
                                </a:rPr>
                                <m:t>𝑔𝑦𝑟𝑜</m:t>
                              </m:r>
                            </m:sub>
                          </m:sSub>
                          <m:r>
                            <m:rPr>
                              <m:sty m:val="p"/>
                            </m:rPr>
                            <a:rPr lang="en-US" sz="2000" b="0" i="0" dirty="0" smtClean="0">
                              <a:latin typeface="Cambria Math" panose="02040503050406030204" pitchFamily="18" charset="0"/>
                              <a:ea typeface="Cambria Math" panose="02040503050406030204" pitchFamily="18" charset="0"/>
                              <a:cs typeface="Arial"/>
                              <a:sym typeface="Arial"/>
                            </a:rPr>
                            <m:t>Δ</m:t>
                          </m:r>
                          <m:r>
                            <a:rPr lang="en-US" sz="2000" b="0" i="1" dirty="0" smtClean="0">
                              <a:latin typeface="Cambria Math" panose="02040503050406030204" pitchFamily="18" charset="0"/>
                              <a:ea typeface="Cambria Math" panose="02040503050406030204" pitchFamily="18" charset="0"/>
                              <a:cs typeface="Arial"/>
                              <a:sym typeface="Arial"/>
                            </a:rPr>
                            <m:t>𝑡</m:t>
                          </m:r>
                        </m:e>
                      </m:d>
                      <m:r>
                        <a:rPr lang="en-US" sz="2000" b="0" i="1" dirty="0" smtClean="0">
                          <a:latin typeface="Cambria Math" panose="02040503050406030204" pitchFamily="18" charset="0"/>
                          <a:ea typeface="Cambria Math" panose="02040503050406030204" pitchFamily="18" charset="0"/>
                          <a:cs typeface="Arial"/>
                          <a:sym typeface="Arial"/>
                        </a:rPr>
                        <m:t>+</m:t>
                      </m:r>
                      <m:d>
                        <m:dPr>
                          <m:ctrlPr>
                            <a:rPr lang="en-US" sz="2000" b="0" i="1" dirty="0" smtClean="0">
                              <a:latin typeface="Cambria Math" panose="02040503050406030204" pitchFamily="18" charset="0"/>
                              <a:ea typeface="Cambria Math" panose="02040503050406030204" pitchFamily="18" charset="0"/>
                              <a:cs typeface="Arial"/>
                              <a:sym typeface="Arial"/>
                            </a:rPr>
                          </m:ctrlPr>
                        </m:dPr>
                        <m:e>
                          <m:r>
                            <a:rPr lang="en-US" sz="2000" b="0" i="1" dirty="0" smtClean="0">
                              <a:latin typeface="Cambria Math" panose="02040503050406030204" pitchFamily="18" charset="0"/>
                              <a:ea typeface="Cambria Math" panose="02040503050406030204" pitchFamily="18" charset="0"/>
                              <a:cs typeface="Arial"/>
                              <a:sym typeface="Arial"/>
                            </a:rPr>
                            <m:t>1−</m:t>
                          </m:r>
                          <m:r>
                            <a:rPr lang="en-US" sz="2000" b="0" i="1" dirty="0" smtClean="0">
                              <a:latin typeface="Cambria Math" panose="02040503050406030204" pitchFamily="18" charset="0"/>
                              <a:ea typeface="Cambria Math" panose="02040503050406030204" pitchFamily="18" charset="0"/>
                              <a:cs typeface="Arial"/>
                              <a:sym typeface="Arial"/>
                            </a:rPr>
                            <m:t>𝛼</m:t>
                          </m:r>
                        </m:e>
                      </m:d>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𝑚𝑎𝑔</m:t>
                              </m:r>
                            </m:sub>
                          </m:sSub>
                        </m:e>
                      </m:d>
                    </m:oMath>
                  </m:oMathPara>
                </a14:m>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Where </a:t>
                </a:r>
                <a14:m>
                  <m:oMath xmlns:m="http://schemas.openxmlformats.org/officeDocument/2006/math">
                    <m:r>
                      <a:rPr lang="en-US" sz="2000" i="1" dirty="0">
                        <a:latin typeface="Cambria Math" panose="02040503050406030204" pitchFamily="18" charset="0"/>
                        <a:ea typeface="Cambria Math" panose="02040503050406030204" pitchFamily="18" charset="0"/>
                        <a:cs typeface="Arial"/>
                        <a:sym typeface="Arial"/>
                      </a:rPr>
                      <m:t>𝛼</m:t>
                    </m:r>
                  </m:oMath>
                </a14:m>
                <a:r>
                  <a:rPr lang="en-US" sz="2000" b="0" dirty="0">
                    <a:latin typeface="+mj-lt"/>
                    <a:ea typeface="Cambria Math" panose="02040503050406030204" pitchFamily="18" charset="0"/>
                    <a:cs typeface="Arial"/>
                    <a:sym typeface="Arial"/>
                  </a:rPr>
                  <a:t> is a tuning constant close to 1 (e.g., 0.98).</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essential an </a:t>
                </a:r>
                <a:r>
                  <a:rPr lang="en-US" sz="2000" b="1" dirty="0">
                    <a:latin typeface="+mj-lt"/>
                    <a:ea typeface="Cambria Math" panose="02040503050406030204" pitchFamily="18" charset="0"/>
                    <a:cs typeface="Arial"/>
                    <a:sym typeface="Arial"/>
                  </a:rPr>
                  <a:t>exponential moving average</a:t>
                </a:r>
                <a:r>
                  <a:rPr lang="en-US" sz="2000" b="0" dirty="0">
                    <a:latin typeface="+mj-lt"/>
                    <a:ea typeface="Cambria Math" panose="02040503050406030204" pitchFamily="18" charset="0"/>
                    <a:cs typeface="Arial"/>
                    <a:sym typeface="Arial"/>
                  </a:rPr>
                  <a:t>,</a:t>
                </a:r>
              </a:p>
            </p:txBody>
          </p:sp>
        </mc:Choice>
        <mc:Fallback xmlns="">
          <p:sp>
            <p:nvSpPr>
              <p:cNvPr id="118" name="Google Shape;118;p29">
                <a:extLst>
                  <a:ext uri="{FF2B5EF4-FFF2-40B4-BE49-F238E27FC236}">
                    <a16:creationId xmlns:a16="http://schemas.microsoft.com/office/drawing/2014/main" id="{47B62C66-340C-F490-FF7C-9F3B56DFC07F}"/>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3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B87A26-8095-AF99-227F-510FB5C3B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E31207-2716-447E-2BA9-E1B9A7D251C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2A9982-05DB-6F73-B8EC-D09B27E42C8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9DEF0-5402-0DB2-7D7A-3DBD5AFDE8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F00F84-60E9-B614-EAC2-ED2315745D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C4F01B-EC53-802F-C922-49E25B4406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412205-CE9E-29CB-0CEC-BF3D44E90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77C12-A39B-4531-DC7D-AED77A785D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608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F40AAD7-3C70-0239-BE97-EF6B1AEBBC1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381550B-E51B-39E7-AB68-DF10E73EB82D}"/>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SLAM</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VERY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86C8F2C-3094-70B9-E5B7-0A254DCCDB7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49ED9E9-3E25-C0E2-CB1B-3FCF0628DC3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44D8AC0-C32F-A041-B910-965B57F1823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6DDEACD-1773-6FF9-7690-1230679E5BC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4695ABA-95A9-C78B-810A-C68E4452EC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926152-23DF-12CF-E52B-4C5D5F6CA9C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C32CFBC-7B48-C0B6-0953-B829AB823F6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D90CE1-8CF2-827A-46DE-1DE9B00D24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71DF5EA-F26C-A777-C778-5B0F0DF4A3A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89172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EB45AC-EA78-3764-0C90-46082F038F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2CD263-623E-E1DA-AC7D-BD304FCD99FC}"/>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Even with perfect sensor fusion of internal sensors, drift will eventually occur.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To truly fix our global position, we must look at the external world using active or passive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detect </a:t>
            </a:r>
            <a:r>
              <a:rPr lang="en-US" sz="2000" b="1" dirty="0">
                <a:latin typeface="+mj-lt"/>
                <a:ea typeface="Cambria Math" panose="02040503050406030204" pitchFamily="18" charset="0"/>
                <a:cs typeface="Arial"/>
                <a:sym typeface="Arial"/>
              </a:rPr>
              <a:t>Landmarks</a:t>
            </a:r>
            <a:r>
              <a:rPr lang="en-US" sz="2000" dirty="0">
                <a:latin typeface="+mj-lt"/>
                <a:ea typeface="Cambria Math" panose="02040503050406030204" pitchFamily="18" charset="0"/>
                <a:cs typeface="Arial"/>
                <a:sym typeface="Arial"/>
              </a:rPr>
              <a:t>: recognizable, distinct features in the environment with known coordinates.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we see a landmark, we calculate our relative distance to it and use that to instantly reset our accumulated odometry error.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you are driving / walking and you are lost what are some landmarks that you use to relocate yourself?</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Examples: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buildings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road names</a:t>
            </a:r>
          </a:p>
        </p:txBody>
      </p:sp>
      <p:sp>
        <p:nvSpPr>
          <p:cNvPr id="119" name="Google Shape;119;p29">
            <a:extLst>
              <a:ext uri="{FF2B5EF4-FFF2-40B4-BE49-F238E27FC236}">
                <a16:creationId xmlns:a16="http://schemas.microsoft.com/office/drawing/2014/main" id="{37B0DD54-FC64-0F3B-F71B-8C1058204A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D2AB1D-5CF6-B189-3F48-52DE03AEB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7EE7A8-1B97-72AC-E06B-2EBD3A60E6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7044C4-B1F4-C675-0908-CB705CD61D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3C3E96-5D03-CF53-7CB2-38025197893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CCF6D3-45A9-68B5-8CDD-17CA1675D7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2EA43F-98B8-E675-26FE-19217803E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A9E4EA-919D-2DE5-13C6-78E390C58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8347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20967-0045-E533-F966-4754683C97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513AC27-5103-E9B7-BB43-E214728B8C7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2 sensors that we can use in our robot is the LiDAR and the camera.</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the camera, we can create specific tags to place in the environment as landmarks. The most common is called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If you cannot place landmarks in your environment, then it becomes much more complicated as a process: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Look at images, find pixels that represent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At the next frame match to find those previous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Calculate the 6DOF movement your camera did to achieve the landmark transform</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Calculculate the odometry</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If you perform a loop, correct any error through loop closure</a:t>
            </a:r>
          </a:p>
        </p:txBody>
      </p:sp>
      <p:sp>
        <p:nvSpPr>
          <p:cNvPr id="119" name="Google Shape;119;p29">
            <a:extLst>
              <a:ext uri="{FF2B5EF4-FFF2-40B4-BE49-F238E27FC236}">
                <a16:creationId xmlns:a16="http://schemas.microsoft.com/office/drawing/2014/main" id="{37281661-9413-8F8C-B65D-A007B4F965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42C6EE-4DE4-86E2-C13A-CA06F30AC7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AE86D17-8E98-6A63-6B74-D2408714F3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F4C9FC-87B0-08FB-A25B-DA4A75C8A2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DFA5E1E-7EB5-751C-7BD1-C1810D3816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2F08FA-B9EE-CE20-0AE6-266072DD1C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C10FC1-36A0-F976-0DB8-6F992C4FC8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AA4580-E7EB-4864-2967-CE885B803F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40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A8ACF3-73D5-55D0-CFD9-1C5F043320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F6559EB-E085-7ED1-DBA5-EBF170C9C6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9A4914-5ED0-DC4A-37F7-3B2C6E997D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C8F399-7B1F-2B67-C6D7-59AAD64389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5AD0B2-69C1-51AB-7871-70CC031F9A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7DF00C-6079-0A18-5CEA-A4BE451EC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9B5354-B8AA-C744-144F-8BA91C99C6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8FB027-9172-FA8F-FA88-F24C844172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59704A-6EAA-B4AD-6978-179821A836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F76EE2-92E0-0223-2826-F4330C0AA86E}"/>
              </a:ext>
            </a:extLst>
          </p:cNvPr>
          <p:cNvSpPr>
            <a:spLocks noGrp="1"/>
          </p:cNvSpPr>
          <p:nvPr>
            <p:ph type="body" idx="1"/>
          </p:nvPr>
        </p:nvSpPr>
        <p:spPr/>
        <p:txBody>
          <a:bodyPr/>
          <a:lstStyle/>
          <a:p>
            <a:endParaRPr lang="en-US" dirty="0"/>
          </a:p>
        </p:txBody>
      </p:sp>
      <p:pic>
        <p:nvPicPr>
          <p:cNvPr id="2050" name="Picture 2" descr="Comparison of two monocular SLAM runs in the same low-texture hallway. Top: point-only ORB-SLAM builds a sparse point map and a camera trajectory along three sides of a loop, then fails; its camera view of a plain corridor reads &quot;Track lost. Trying to relocalize.&quot; Bottom: PSL-SLAM, using points plus structure lines, tracks the full closed rectangular loop. Its camera view shows many detected line and point features on the walls and ceiling, with 219 keyframes, 8048 map points, and 377 matches.">
            <a:extLst>
              <a:ext uri="{FF2B5EF4-FFF2-40B4-BE49-F238E27FC236}">
                <a16:creationId xmlns:a16="http://schemas.microsoft.com/office/drawing/2014/main" id="{3FF978FE-3B23-FBD7-7C9B-C9235E17D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78762" y="961569"/>
            <a:ext cx="5127513" cy="524777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64AF9AD-162D-1E9E-9C01-61B463D08624}"/>
              </a:ext>
            </a:extLst>
          </p:cNvPr>
          <p:cNvSpPr txBox="1"/>
          <p:nvPr/>
        </p:nvSpPr>
        <p:spPr>
          <a:xfrm>
            <a:off x="6978762" y="6170559"/>
            <a:ext cx="5067300" cy="369332"/>
          </a:xfrm>
          <a:prstGeom prst="rect">
            <a:avLst/>
          </a:prstGeom>
          <a:noFill/>
        </p:spPr>
        <p:txBody>
          <a:bodyPr wrap="square">
            <a:spAutoFit/>
          </a:bodyPr>
          <a:lstStyle/>
          <a:p>
            <a:pPr algn="ctr"/>
            <a:r>
              <a:rPr lang="en-US" sz="900" dirty="0">
                <a:hlinkClick r:id="rId5"/>
              </a:rPr>
              <a:t>https://www.researchgate.net/publication/355183350_PSL-SLAM_a_monocular_SLAM_system_using_points_and_structure_lines_in_Manhattan_World</a:t>
            </a:r>
            <a:r>
              <a:rPr lang="en-US" sz="900" dirty="0"/>
              <a:t> </a:t>
            </a:r>
          </a:p>
        </p:txBody>
      </p:sp>
      <p:pic>
        <p:nvPicPr>
          <p:cNvPr id="3074" name="Picture 2" descr="Photo: about ten small white four-wheeled robots with antennas and cameras parked on a park path and lawn, each with black-and-white AprilTag markers on its sides and top. An enlarged inset shows one AprilTag, a square grid of black and white cells with a black border that cameras can detect to identify each robot and estimate its position and orientation.">
            <a:extLst>
              <a:ext uri="{FF2B5EF4-FFF2-40B4-BE49-F238E27FC236}">
                <a16:creationId xmlns:a16="http://schemas.microsoft.com/office/drawing/2014/main" id="{75E36511-A060-74B2-042C-98B852A9EF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1786841"/>
            <a:ext cx="6979146" cy="353374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CFB65907-4711-BE75-9EBD-F89FDFB51589}"/>
              </a:ext>
            </a:extLst>
          </p:cNvPr>
          <p:cNvSpPr txBox="1"/>
          <p:nvPr/>
        </p:nvSpPr>
        <p:spPr>
          <a:xfrm>
            <a:off x="1606798" y="6228302"/>
            <a:ext cx="3765550" cy="246221"/>
          </a:xfrm>
          <a:prstGeom prst="rect">
            <a:avLst/>
          </a:prstGeom>
          <a:noFill/>
        </p:spPr>
        <p:txBody>
          <a:bodyPr wrap="square">
            <a:spAutoFit/>
          </a:bodyPr>
          <a:lstStyle/>
          <a:p>
            <a:pPr algn="ctr"/>
            <a:r>
              <a:rPr lang="en-US" sz="1000" dirty="0">
                <a:hlinkClick r:id="rId7"/>
              </a:rPr>
              <a:t>https://april.eecs.umich.edu/software/apriltag</a:t>
            </a:r>
            <a:r>
              <a:rPr lang="en-US" sz="1000" dirty="0"/>
              <a:t> </a:t>
            </a:r>
          </a:p>
        </p:txBody>
      </p:sp>
    </p:spTree>
    <p:extLst>
      <p:ext uri="{BB962C8B-B14F-4D97-AF65-F5344CB8AC3E}">
        <p14:creationId xmlns:p14="http://schemas.microsoft.com/office/powerpoint/2010/main" val="12006633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8282C2-B8F7-2C7A-F07C-5EF82EFDEC3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CE1ED7-1976-2C3A-F985-18B04F2C078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What if there are no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and we don’t know the map beforehand?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t>
            </a:r>
            <a:r>
              <a:rPr lang="en-US" sz="2000" b="1" dirty="0">
                <a:latin typeface="+mj-lt"/>
                <a:ea typeface="Cambria Math" panose="02040503050406030204" pitchFamily="18" charset="0"/>
                <a:cs typeface="Arial"/>
                <a:sym typeface="Arial"/>
              </a:rPr>
              <a:t>SLAM: Simultaneous Localization and Mapping</a:t>
            </a:r>
            <a:r>
              <a:rPr lang="en-US" sz="200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rapidly spinning LiDAR generates a dense 2D point cloud.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As the robot moves, it takes a new point cloud scan and compares it to the previous scan.</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How do we align two-point clouds taken a few seconds apart?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a:t>
            </a:r>
            <a:r>
              <a:rPr lang="en-US" sz="2000" b="1" dirty="0">
                <a:latin typeface="+mj-lt"/>
                <a:ea typeface="Cambria Math" panose="02040503050406030204" pitchFamily="18" charset="0"/>
                <a:cs typeface="Arial"/>
                <a:sym typeface="Arial"/>
              </a:rPr>
              <a:t>Iterative Closest Point </a:t>
            </a:r>
            <a:r>
              <a:rPr lang="en-US" sz="2000" dirty="0">
                <a:latin typeface="+mj-lt"/>
                <a:ea typeface="Cambria Math" panose="02040503050406030204" pitchFamily="18" charset="0"/>
                <a:cs typeface="Arial"/>
                <a:sym typeface="Arial"/>
              </a:rPr>
              <a:t>(ICP) algorithm rotates and translates the new scan until it best overlaps with the old scan.</a:t>
            </a: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required rotation and translation to make them match is exactly how much the robot moved.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This provides highly accurate odometry without relying on wheel friction!</a:t>
            </a:r>
          </a:p>
        </p:txBody>
      </p:sp>
      <p:sp>
        <p:nvSpPr>
          <p:cNvPr id="119" name="Google Shape;119;p29">
            <a:extLst>
              <a:ext uri="{FF2B5EF4-FFF2-40B4-BE49-F238E27FC236}">
                <a16:creationId xmlns:a16="http://schemas.microsoft.com/office/drawing/2014/main" id="{3D2CBD79-B09D-4A1A-D424-198FE3FCF82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1CF9B9-16B9-FD6A-65BB-39BA1BC53D4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A74EE3-353C-BFEB-02A1-EB2ADA66BB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DBA326-B5E5-2C59-1228-C66D18D7C7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534A93-68BD-813E-749E-0067982419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32EEC3-8BF1-8EEE-86F6-1FC36B036F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F00C73-C1E8-9FBB-D56F-9D11722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2CF559-1ACB-C91F-F963-7AFB3AB911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6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402C20-D953-7C0C-D93B-860DAD41BE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86DAF9B-3B5F-D59E-B260-648DB1D97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7B7ACA-492A-FE25-9EF8-B9DADD8094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335854-BF20-4E4F-D021-B1F0B24AAD0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6A320B-E0AF-7459-5905-3E723742E5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5D5065-1E47-71C0-FB3B-D7D0402DE4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48CC38-4904-8F30-D988-04467539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35E5C1-F08F-6552-9591-AC3C2BDB49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1CCFAA-C4F6-1B3E-8241-1AF794E32A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17BFE57B-5E75-7438-0A86-EE797C3EFD47}"/>
              </a:ext>
            </a:extLst>
          </p:cNvPr>
          <p:cNvSpPr>
            <a:spLocks noGrp="1"/>
          </p:cNvSpPr>
          <p:nvPr>
            <p:ph type="body" idx="1"/>
          </p:nvPr>
        </p:nvSpPr>
        <p:spPr/>
        <p:txBody>
          <a:bodyPr/>
          <a:lstStyle/>
          <a:p>
            <a:endParaRPr lang="en-US"/>
          </a:p>
        </p:txBody>
      </p:sp>
      <p:pic>
        <p:nvPicPr>
          <p:cNvPr id="4098" name="Picture 2" descr="Two side-by-side panels comparing point-to-point and point-to-plane Iterative Closest Point (ICP) scan matching on the Stanford bunny point cloud, both at iteration 0. In each, a red source scan and a blue target scan of the bunny are offset and rotated relative to each other, showing the initial misalignment that ICP iteratively corrects; the starting misalignment is identical in both panels.">
            <a:extLst>
              <a:ext uri="{FF2B5EF4-FFF2-40B4-BE49-F238E27FC236}">
                <a16:creationId xmlns:a16="http://schemas.microsoft.com/office/drawing/2014/main" id="{38F2D035-EEDF-B5B1-7F00-156C87F5E5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07672" y="1344132"/>
            <a:ext cx="6555753" cy="416973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6B1B59-D863-F10E-30F1-E16A89DDD63E}"/>
              </a:ext>
            </a:extLst>
          </p:cNvPr>
          <p:cNvSpPr txBox="1"/>
          <p:nvPr/>
        </p:nvSpPr>
        <p:spPr>
          <a:xfrm>
            <a:off x="3048000" y="6184228"/>
            <a:ext cx="6096000" cy="246221"/>
          </a:xfrm>
          <a:prstGeom prst="rect">
            <a:avLst/>
          </a:prstGeom>
          <a:noFill/>
        </p:spPr>
        <p:txBody>
          <a:bodyPr wrap="square">
            <a:spAutoFit/>
          </a:bodyPr>
          <a:lstStyle/>
          <a:p>
            <a:pPr algn="ctr"/>
            <a:r>
              <a:rPr lang="en-US" sz="1000" dirty="0">
                <a:hlinkClick r:id="rId5"/>
              </a:rPr>
              <a:t>https://learnopencv.com/iterative-closest-point-icp-explained/</a:t>
            </a:r>
            <a:r>
              <a:rPr lang="en-US" sz="1000" dirty="0"/>
              <a:t> </a:t>
            </a:r>
          </a:p>
        </p:txBody>
      </p:sp>
      <p:pic>
        <p:nvPicPr>
          <p:cNvPr id="7" name="Picture 6" descr="Plot: iterative closest point (ICP) alignment at iteration 0, mean error not yet computed. Red source points A, the set to be moved, trace one sine-wave period from (0, 0) up to about 1 near x = 1.4, down to about minus 1 near x = 4.9, and back to 0 at x = 6.3. Blue target points B form the same wave shape, rotated counterclockwise and shifted up and right, running from about (2.1, 0.3) to (7.6, 3.2). ICP must find the rotation and translation that align A onto B.">
            <a:extLst>
              <a:ext uri="{FF2B5EF4-FFF2-40B4-BE49-F238E27FC236}">
                <a16:creationId xmlns:a16="http://schemas.microsoft.com/office/drawing/2014/main" id="{749C5622-0D26-7FC2-2E63-53E62FF28A68}"/>
              </a:ext>
            </a:extLst>
          </p:cNvPr>
          <p:cNvPicPr>
            <a:picLocks noChangeAspect="1"/>
          </p:cNvPicPr>
          <p:nvPr/>
        </p:nvPicPr>
        <p:blipFill>
          <a:blip r:embed="rId6"/>
          <a:stretch>
            <a:fillRect/>
          </a:stretch>
        </p:blipFill>
        <p:spPr>
          <a:xfrm>
            <a:off x="28575" y="1347554"/>
            <a:ext cx="5550522" cy="4162892"/>
          </a:xfrm>
          <a:prstGeom prst="rect">
            <a:avLst/>
          </a:prstGeom>
        </p:spPr>
      </p:pic>
    </p:spTree>
    <p:extLst>
      <p:ext uri="{BB962C8B-B14F-4D97-AF65-F5344CB8AC3E}">
        <p14:creationId xmlns:p14="http://schemas.microsoft.com/office/powerpoint/2010/main" val="17041984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1097</TotalTime>
  <Words>2885</Words>
  <Application>Microsoft Office PowerPoint</Application>
  <PresentationFormat>Widescreen</PresentationFormat>
  <Paragraphs>447</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227</cp:revision>
  <dcterms:created xsi:type="dcterms:W3CDTF">2019-01-14T22:06:33Z</dcterms:created>
  <dcterms:modified xsi:type="dcterms:W3CDTF">2026-03-11T20:15:22Z</dcterms:modified>
</cp:coreProperties>
</file>