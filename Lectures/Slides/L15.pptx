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437" r:id="rId25"/>
    <p:sldId id="436" r:id="rId26"/>
    <p:sldId id="438" r:id="rId27"/>
    <p:sldId id="458" r:id="rId28"/>
    <p:sldId id="439" r:id="rId29"/>
    <p:sldId id="440" r:id="rId30"/>
    <p:sldId id="441" r:id="rId31"/>
    <p:sldId id="442" r:id="rId32"/>
    <p:sldId id="443" r:id="rId33"/>
    <p:sldId id="445" r:id="rId34"/>
    <p:sldId id="447" r:id="rId35"/>
    <p:sldId id="444" r:id="rId36"/>
    <p:sldId id="448" r:id="rId37"/>
    <p:sldId id="449" r:id="rId38"/>
    <p:sldId id="450" r:id="rId39"/>
    <p:sldId id="453" r:id="rId40"/>
    <p:sldId id="452" r:id="rId41"/>
    <p:sldId id="454" r:id="rId42"/>
    <p:sldId id="455" r:id="rId43"/>
    <p:sldId id="456" r:id="rId44"/>
    <p:sldId id="45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DFC25D6-F64E-F7E8-7EF1-3D44F16ED8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153428-DA95-9E30-E05C-D3596A229A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7BDBCA-A110-5052-2B7B-FC61B3E5AE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23333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FD0AD-19F7-20B6-BA4F-7E3AAC382C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AE6DE1-5D24-0B2E-7458-EDC1FF5CC4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0D2DC7-DEA1-7039-7FA0-68E49DB85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0951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F7D257-51B6-449D-D309-A44A8C94CF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16CDF0-DC3E-FDA5-4F24-CFF7458913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D72445-7521-A8A2-A874-E396361A84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54430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9F0CDA-A079-B246-A1FA-2FE9C4AB86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C7B2F7-7970-86DC-2A29-9B0C4D6B9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5E2DEF-93EE-25D5-6E00-4057D3E88E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05827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4B48CB-5C0F-03DE-F40A-08B17A02EB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3EDC-AF68-787D-7D9D-3E906F44B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C147F73-9515-16E8-9473-45D5A2CF1E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4727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71A3041-965F-B8AF-4344-9285AC280A9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B1803F9-CCE5-8947-EB0A-D44E1D61DF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F6543B3-BB15-6911-9334-5DD954C23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8420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28518-8438-CF4E-817F-4B7ED567B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48EAA-70A3-52A4-ACAF-EB10715B71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2E4230-B6A7-901E-BA7D-5E85C8C5A1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18687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3CC5AD-2C8B-6CD3-3B0F-E22C5A50A82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BE3EB9-8751-82E7-7BCC-CBA885B139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E28E4B-E391-46A0-FCF6-EEE337283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7629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22E025-D59A-768B-8EF2-4E6891E70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087AD0-D746-1DB3-AFCB-C3B298F1B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831774-8FB6-D3C9-F4E1-8AEF2ECE0E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162596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6E2D6C-ADDD-7919-8B01-F2430F6C1A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3FE519-7DBE-3B61-21CD-B3B0C226BB7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5B633-BC28-01CE-8413-F37070E050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548879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7ECC29-CFF4-8ABF-C915-3169F433EBB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2B0F87-E6CF-D7A1-40B9-495F109176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AB015F-7BBC-E4B3-1037-CA3DAE9E8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477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44B803-FB2A-FE28-C110-D02F02F3A9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D9D84A-304A-E55E-9324-85274DFA51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BB618D-94FA-58A9-4155-F121609E5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00424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D6B2225-C0B2-56EA-3045-806081BC79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CA1C512-4501-0D1D-A2AA-3AEE7779B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4BDA5A-BCA5-4965-0EEA-A9AB0F4BB3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7896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41BC26-EB58-4C22-AF95-3E749992E4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13548C-5DB0-865E-C740-34E11AC2AD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382200-C9EB-25C0-9161-F002EF390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6366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E8F99-4EF5-8C1C-B8FB-DC0D9E9D452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A67404-F6AF-3E18-349F-311E3E7B2C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5FD715-7DE0-1C44-D1A0-F523F61750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83490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E18440F-1056-DAFA-176A-D26254D360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D88BCB-8134-07CA-DB5D-25E76AF8BD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2EAE820-72DD-88C2-F9F9-F6BD94102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4064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58109F-86CB-C8B2-DBD1-6B4C043A93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1227C0-9987-B6FE-943E-0258944082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D54106-1EA5-D09F-5297-4E5F9FA4D4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01358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B4C103-FD70-DC24-3807-8A9F53C179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65B16-AED5-042F-9941-627D2421E5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C881E0-573D-D8BA-0B4E-6AAC9475B2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67631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C82AC7-8202-F2C9-A3D9-B5D987B1AA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B8A00E-83B2-E80F-3506-85A7613BD93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B61B05-1962-E37D-BC7D-A134229005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08188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D9D9EA-5589-19AF-E262-E2F2F623AF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399A02-E788-A483-A486-8A6EB9147E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2689D-70E1-4B17-76A2-B86E57C8819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78369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1FFF0E-C97C-278C-3F77-3CC6B4049B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A5001F4-2420-5D75-35F6-B8AF968F11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098A410-8313-E2B4-8AEA-70E986C0E9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01001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en.wikipedia.org/wiki/Observational_error" TargetMode="External"/><Relationship Id="rId5" Type="http://schemas.openxmlformats.org/officeDocument/2006/relationships/image" Target="../media/image34.sv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april.eecs.umich.edu/software/apriltag"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2.jpeg"/><Relationship Id="rId5" Type="http://schemas.openxmlformats.org/officeDocument/2006/relationships/hyperlink" Target="https://www.researchgate.net/publication/355183350_PSL-SLAM_a_monocular_SLAM_system_using_points_and_structure_lines_in_Manhattan_World" TargetMode="Externa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4.gif"/><Relationship Id="rId5" Type="http://schemas.openxmlformats.org/officeDocument/2006/relationships/hyperlink" Target="https://learnopencv.com/iterative-closest-point-icp-explained/" TargetMode="External"/><Relationship Id="rId4" Type="http://schemas.openxmlformats.org/officeDocument/2006/relationships/image" Target="../media/image43.gif"/></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15: Coordinate Transforms &amp; Dead-reckoning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March 11</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Stand up and with your partner and: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Agree on a starting position and a target position</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Discuss ways how one would go from point A to B as accurately as possible with their eyes closed.</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lvl="1" indent="-457200">
              <a:lnSpc>
                <a:spcPct val="100000"/>
              </a:lnSpc>
              <a:spcBef>
                <a:spcPts val="0"/>
              </a:spcBef>
              <a:buSzPts val="3000"/>
              <a:buFont typeface="+mj-lt"/>
              <a:buAutoNum type="arabicPeriod"/>
            </a:pPr>
            <a:r>
              <a:rPr lang="en-US" dirty="0">
                <a:latin typeface="Atkinson Hyperlegible Next"/>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Spring Break next week, no 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p>
          <a:p>
            <a:pPr marL="285750" indent="-285750">
              <a:lnSpc>
                <a:spcPct val="100000"/>
              </a:lnSpc>
              <a:spcBef>
                <a:spcPts val="0"/>
              </a:spcBef>
              <a:buSzPts val="3000"/>
            </a:pPr>
            <a:r>
              <a:rPr lang="en-US" sz="1800" dirty="0">
                <a:latin typeface="Atkinson Hyperlegible Next"/>
                <a:ea typeface="Arial"/>
                <a:cs typeface="Arial"/>
                <a:sym typeface="Arial"/>
              </a:rPr>
              <a:t>Don’t forget the Lab 6 LabVIEW assignment that needs to be done beforehand!</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Localization</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the fundamental question of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Coordinate Transformation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robot experiences the world from its own perspective, which we call the </a:t>
            </a:r>
            <a:r>
              <a:rPr lang="en-US" sz="2200" b="1" dirty="0">
                <a:latin typeface="Atkinson Hyperlegible Next"/>
                <a:ea typeface="Arial"/>
                <a:cs typeface="Arial"/>
                <a:sym typeface="Arial"/>
              </a:rPr>
              <a:t>Local Frame </a:t>
            </a:r>
            <a:r>
              <a:rPr lang="en-US" sz="2200" dirty="0">
                <a:latin typeface="Atkinson Hyperlegible Next"/>
                <a:ea typeface="Arial"/>
                <a:cs typeface="Arial"/>
                <a:sym typeface="Arial"/>
              </a:rPr>
              <a:t>(or Body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map or the room exists in a fixed, global reference frame, called the </a:t>
            </a:r>
            <a:r>
              <a:rPr lang="en-US" sz="2200" b="1" dirty="0">
                <a:latin typeface="Atkinson Hyperlegible Next"/>
                <a:ea typeface="Arial"/>
                <a:cs typeface="Arial"/>
                <a:sym typeface="Arial"/>
              </a:rPr>
              <a:t>Global / World Frame</a:t>
            </a:r>
            <a:r>
              <a:rPr lang="en-US" sz="2200" dirty="0">
                <a:latin typeface="Atkinson Hyperlegible Next"/>
                <a:ea typeface="Arial"/>
                <a:cs typeface="Arial"/>
                <a:sym typeface="Arial"/>
              </a:rPr>
              <a:t> (or Inertial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local frames of each of the sensors can be of different positions and orientation than the robot’s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t>
                </a:r>
                <a:r>
                  <a:rPr lang="en-US" sz="2200" b="1" dirty="0">
                    <a:latin typeface="Atkinson Hyperlegible Next"/>
                    <a:ea typeface="Arial"/>
                    <a:cs typeface="Arial"/>
                    <a:sym typeface="Arial"/>
                  </a:rPr>
                  <a:t>body frame</a:t>
                </a:r>
                <a:r>
                  <a:rPr lang="en-US" sz="2200" dirty="0">
                    <a:latin typeface="Atkinson Hyperlegible Next"/>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of the robot.</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to the right moves “forward 1 meter”, does its local x coordinate increase or it’s y? What about it’s world x, y coordinates?</a:t>
                </a:r>
              </a:p>
            </p:txBody>
          </p:sp>
        </mc:Choice>
        <mc:Fallback xmlns="">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Left, photo: a four-wheeled mobile robot with a tall sensor tower. From top: Bumblebee stereo camera at 126 cm, Wi-Fi router, tilted laser at about 60 cm, PC, and frontal and back lasers near 35 cm. Body-frame axes at its base show x (red) pointing forward toward the frontal laser, y (blue) to the side, and z (green) up. Right, frame tree: frames bumblebee, laservtcal, laserfront and laserback, each offset and rotated differently, all linked to base_link.">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World Frame </a:t>
                </a:r>
                <a:r>
                  <a:rPr lang="en-US" sz="2200" dirty="0">
                    <a:latin typeface="Atkinson Hyperlegible Next"/>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the </a:t>
                </a:r>
                <a:r>
                  <a:rPr lang="en-US" sz="2200" b="1" dirty="0">
                    <a:latin typeface="Atkinson Hyperlegible Next"/>
                    <a:ea typeface="Arial"/>
                    <a:cs typeface="Arial"/>
                    <a:sym typeface="Arial"/>
                  </a:rPr>
                  <a:t>Body Frame </a:t>
                </a:r>
                <a:r>
                  <a:rPr lang="en-US" sz="2200" dirty="0">
                    <a:latin typeface="Atkinson Hyperlegible Next"/>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tkinson Hyperlegible Next"/>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tkinson Hyperlegible Next"/>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tkinson Hyperlegible Next"/>
                    <a:ea typeface="Arial"/>
                    <a:cs typeface="Arial"/>
                    <a:sym typeface="Arial"/>
                  </a:rPr>
                  <a:t> in the robot frame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descr="Diagram: A world frame with origin O, X axis to the right and Y axis up. A two-wheeled robot, a rectangular body with wheels above and below, sits at position x, y, marked by dashed projections onto the axes. A body frame with axes X sub B and Y sub B is attached at the robot's center, parallel to the world X and Y axes. This illustrates a pure translation of the body frame from the world origin, with no rotation.">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from the rotated frame to the fixed frame.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Therefore,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Translation (Shifting)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descr="Top view of a two-wheeled robot showing a world frame and a body frame that share an origin at the robot's center. The world X axis points up and the world Y axis points right. The body axis X sub B points forward, perpendicular to the wheel axle, and Y sub B runs along the axle. The body frame is rotated counterclockwise by the angle phi, measured from the world Y axis to X sub B.">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xmlns="">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world coordinates are thus,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is elegantly expressed using matrix multiplications!</a:t>
                </a:r>
              </a:p>
            </p:txBody>
          </p:sp>
        </mc:Choice>
        <mc:Fallback xmlns="">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tkinson Hyperlegible Next"/>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tkinson Hyperlegible Next"/>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should be 1, meaning it preserves the scale and area! The robot doesn’t stretch as it turns!</a:t>
                </a:r>
              </a:p>
            </p:txBody>
          </p:sp>
        </mc:Choice>
        <mc:Fallback xmlns="">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2D Rotation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Thus, the complete transformation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the standard representation used in all modern software!</a:t>
                </a:r>
              </a:p>
            </p:txBody>
          </p:sp>
        </mc:Choice>
        <mc:Fallback xmlns="">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Localization – </a:t>
            </a:r>
            <a:r>
              <a:rPr i="0" b="0" lang="en-US" sz="2400" dirty="0">
                <a:solidFill>
                  <a:schemeClr val="lt1"/>
                </a:solidFill>
              </a:rPr>
              <a:t>Transformation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Dead-Reckoning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Dead-Reckoning</a:t>
            </a:r>
            <a:r>
              <a:rPr lang="en-US" sz="2200" dirty="0">
                <a:latin typeface="Atkinson Hyperlegible Next"/>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is the average of the two wheels: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goes forward!</a:t>
                </a:r>
              </a:p>
            </p:txBody>
          </p:sp>
        </mc:Choice>
        <mc:Fallback xmlns="">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b="0" i="1" smtClean="0">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robot rotates in place (a zero-radius turn).</a:t>
                </a:r>
              </a:p>
            </p:txBody>
          </p:sp>
        </mc:Choice>
        <mc:Fallback xmlns="">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AA458C-FDB8-0ACE-9813-541CF7D31E7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76EF0D-39CE-39D6-1DD6-733B92389290}"/>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Assuming that the wheels are at contacting the ground, the wheels describe arcs in the plane in such a way that the robot always rotates around a point (the </a:t>
                </a:r>
                <a:r>
                  <a:rPr lang="en-US" sz="2200" b="1" dirty="0">
                    <a:latin typeface="Atkinson Hyperlegible Next"/>
                    <a:ea typeface="Arial"/>
                    <a:cs typeface="Arial"/>
                    <a:sym typeface="Arial"/>
                  </a:rPr>
                  <a:t>ICR </a:t>
                </a:r>
                <a:r>
                  <a:rPr lang="en-US" sz="2200" dirty="0">
                    <a:latin typeface="Atkinson Hyperlegible Next"/>
                    <a:ea typeface="Arial"/>
                    <a:cs typeface="Arial"/>
                    <a:sym typeface="Arial"/>
                  </a:rPr>
                  <a:t>refers to the instantaneous center of rotation).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rotation leads the robot to have the rotation of the vehicle to be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around the </a:t>
                </a:r>
                <a:r>
                  <a:rPr lang="en-US" sz="2200" b="1" dirty="0">
                    <a:latin typeface="Atkinson Hyperlegible Next"/>
                    <a:ea typeface="Arial"/>
                    <a:cs typeface="Arial"/>
                    <a:sym typeface="Arial"/>
                  </a:rPr>
                  <a:t>ICR</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Following the angular velocity equation </a:t>
                </a:r>
                <a14:m>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r>
                      <m:rPr>
                        <m:sty m:val="p"/>
                      </m:rPr>
                      <a:rPr lang="en-US" sz="2200" b="0" i="1" smtClean="0">
                        <a:latin typeface="Cambria Math" panose="02040503050406030204" pitchFamily="18" charset="0"/>
                        <a:ea typeface="Cambria Math" panose="02040503050406030204" pitchFamily="18" charset="0"/>
                        <a:cs typeface="Arial"/>
                        <a:sym typeface="Arial"/>
                      </a:rPr>
                      <m:t>r</m:t>
                    </m:r>
                    <m:r>
                      <a:rPr lang="en-US" sz="2200" b="0" i="1" smtClean="0">
                        <a:latin typeface="Cambria Math" panose="02040503050406030204" pitchFamily="18" charset="0"/>
                        <a:ea typeface="Cambria Math" panose="02040503050406030204" pitchFamily="18" charset="0"/>
                        <a:cs typeface="Arial"/>
                        <a:sym typeface="Arial"/>
                      </a:rPr>
                      <m:t>𝜈</m:t>
                    </m:r>
                    <m:r>
                      <a:rPr lang="en-US" sz="2200" b="0" i="1" smtClean="0">
                        <a:latin typeface="Cambria Math" panose="02040503050406030204" pitchFamily="18" charset="0"/>
                        <a:ea typeface="Cambria Math" panose="02040503050406030204" pitchFamily="18" charset="0"/>
                        <a:cs typeface="Arial"/>
                        <a:sym typeface="Arial"/>
                      </a:rPr>
                      <m:t> </m:t>
                    </m:r>
                  </m:oMath>
                </a14:m>
                <a:r>
                  <a:rPr lang="en-US" sz="2200" dirty="0">
                    <a:latin typeface="Atkinson Hyperlegible Next"/>
                    <a:ea typeface="Arial"/>
                    <a:cs typeface="Arial"/>
                    <a:sym typeface="Arial"/>
                  </a:rPr>
                  <a:t>,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b="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e>
                      </m:d>
                      <m:sSub>
                        <m:sSubPr>
                          <m:ctrlPr>
                            <a:rPr lang="en-US" sz="2200" b="0" i="1" smtClean="0">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m:oMathPara>
                </a14:m>
                <a:endParaRPr lang="en-US" sz="22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d>
                        <m:dPr>
                          <m:ctrlPr>
                            <a:rPr lang="en-US" sz="2200" i="1">
                              <a:latin typeface="Cambria Math" panose="02040503050406030204" pitchFamily="18" charset="0"/>
                              <a:ea typeface="Cambria Math" panose="02040503050406030204" pitchFamily="18" charset="0"/>
                              <a:cs typeface="Arial"/>
                              <a:sym typeface="Arial"/>
                            </a:rPr>
                          </m:ctrlPr>
                        </m:dPr>
                        <m:e>
                          <m:r>
                            <a:rPr lang="en-US" sz="2200" i="1" smtClean="0">
                              <a:latin typeface="Cambria Math" panose="02040503050406030204" pitchFamily="18" charset="0"/>
                              <a:ea typeface="Cambria Math" panose="02040503050406030204" pitchFamily="18" charset="0"/>
                              <a:cs typeface="Arial"/>
                              <a:sym typeface="Arial"/>
                            </a:rPr>
                            <m:t>𝑅</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ea typeface="Cambria Math" panose="02040503050406030204" pitchFamily="18" charset="0"/>
                                  <a:cs typeface="Arial"/>
                                  <a:sym typeface="Arial"/>
                                </a:rPr>
                              </m:ctrlPr>
                            </m:fPr>
                            <m:num>
                              <m:r>
                                <m:rPr>
                                  <m:sty m:val="p"/>
                                </m:rPr>
                                <a:rPr lang="en-US" sz="2200" i="1">
                                  <a:latin typeface="Cambria Math" panose="02040503050406030204" pitchFamily="18" charset="0"/>
                                  <a:ea typeface="Cambria Math" panose="02040503050406030204" pitchFamily="18" charset="0"/>
                                  <a:cs typeface="Arial"/>
                                  <a:sym typeface="Arial"/>
                                </a:rPr>
                                <m:t>b</m:t>
                              </m:r>
                            </m:num>
                            <m:den>
                              <m:r>
                                <a:rPr lang="en-US" sz="2200" i="1">
                                  <a:latin typeface="Cambria Math" panose="02040503050406030204" pitchFamily="18" charset="0"/>
                                  <a:ea typeface="Cambria Math" panose="02040503050406030204" pitchFamily="18" charset="0"/>
                                  <a:cs typeface="Arial"/>
                                  <a:sym typeface="Arial"/>
                                </a:rPr>
                                <m:t>2</m:t>
                              </m:r>
                            </m:den>
                          </m:f>
                        </m:e>
                      </m:d>
                      <m:sSub>
                        <m:sSubPr>
                          <m:ctrlPr>
                            <a:rPr lang="en-US" sz="2200" i="1">
                              <a:latin typeface="Cambria Math" panose="02040503050406030204" pitchFamily="18" charset="0"/>
                              <a:ea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76EF0D-39CE-39D6-1DD6-733B92389290}"/>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r="-193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047C59-56C9-ADF3-FB5D-C717D92C80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8FD53B-4723-ABD0-9FCF-CABC2AEF745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C9F23A-B72D-4ED6-16CE-1CFFC4DAFA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9FC659-2FBE-6D45-D427-4D988D2D67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1809E5-DC5A-8030-41B9-21D95E6BB0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BAE7C5-F4C5-22C4-50A7-80ACB3E5C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9E3CE9D-BA9A-F61E-A0A1-4D7E55B3D0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A05BA9-51EF-31FA-93C7-F068C56FE7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57E820A-FAFB-0518-9A2F-DF8DB1F9797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12468457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13026-6ABA-1E9D-FD91-85F548236C0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C57B75-374F-1071-DAC6-B28E22E5DDB8}"/>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Solving for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tkinson Hyperlegible Next"/>
                    <a:ea typeface="Arial"/>
                    <a:cs typeface="Arial"/>
                    <a:sym typeface="Arial"/>
                  </a:rPr>
                  <a:t> and R, we get that,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i="1">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r>
                            <m:rPr>
                              <m:sty m:val="p"/>
                            </m:rPr>
                            <a:rPr lang="en-US" sz="2200" i="1">
                              <a:latin typeface="Cambria Math" panose="02040503050406030204" pitchFamily="18" charset="0"/>
                              <a:ea typeface="Cambria Math" panose="02040503050406030204" pitchFamily="18" charset="0"/>
                              <a:cs typeface="Arial"/>
                              <a:sym typeface="Arial"/>
                            </a:rPr>
                            <m:t>b</m:t>
                          </m:r>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0" smtClean="0">
                          <a:latin typeface="Cambria Math" panose="02040503050406030204" pitchFamily="18" charset="0"/>
                          <a:ea typeface="Cambria Math" panose="02040503050406030204" pitchFamily="18" charset="0"/>
                          <a:cs typeface="Arial"/>
                          <a:sym typeface="Arial"/>
                        </a:rPr>
                        <m:t>R</m:t>
                      </m:r>
                      <m:r>
                        <a:rPr lang="en-US" sz="2200" i="1">
                          <a:latin typeface="Cambria Math" panose="02040503050406030204" pitchFamily="18" charset="0"/>
                          <a:ea typeface="Cambria Math" panose="02040503050406030204" pitchFamily="18" charset="0"/>
                          <a:cs typeface="Arial"/>
                          <a:sym typeface="Arial"/>
                        </a:rPr>
                        <m:t>=</m:t>
                      </m:r>
                      <m:f>
                        <m:fPr>
                          <m:ctrlPr>
                            <a:rPr lang="en-US" sz="2200" i="1" smtClean="0">
                              <a:latin typeface="Cambria Math" panose="02040503050406030204" pitchFamily="18" charset="0"/>
                              <a:ea typeface="Cambria Math" panose="02040503050406030204" pitchFamily="18" charset="0"/>
                              <a:cs typeface="Arial"/>
                              <a:sym typeface="Arial"/>
                            </a:rPr>
                          </m:ctrlPr>
                        </m:fPr>
                        <m:num>
                          <m:r>
                            <m:rPr>
                              <m:sty m:val="p"/>
                            </m:rPr>
                            <a:rPr lang="en-US" sz="2200" b="0" i="1" smtClean="0">
                              <a:latin typeface="Cambria Math" panose="02040503050406030204" pitchFamily="18" charset="0"/>
                              <a:ea typeface="Cambria Math" panose="02040503050406030204" pitchFamily="18" charset="0"/>
                              <a:cs typeface="Arial"/>
                              <a:sym typeface="Arial"/>
                            </a:rPr>
                            <m:t>b</m:t>
                          </m:r>
                        </m:num>
                        <m:den>
                          <m:r>
                            <a:rPr lang="en-US" sz="2200" b="0" i="1" smtClean="0">
                              <a:latin typeface="Cambria Math" panose="02040503050406030204" pitchFamily="18" charset="0"/>
                              <a:ea typeface="Cambria Math" panose="02040503050406030204" pitchFamily="18" charset="0"/>
                              <a:cs typeface="Arial"/>
                              <a:sym typeface="Arial"/>
                            </a:rPr>
                            <m:t>2</m:t>
                          </m:r>
                        </m:den>
                      </m:f>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m:t>
                          </m:r>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num>
                        <m:den>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cs typeface="Arial"/>
                              <a:sym typeface="Arial"/>
                            </a:rPr>
                            <m:t> −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L</m:t>
                              </m:r>
                            </m:sub>
                          </m:sSub>
                        </m:den>
                      </m:f>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Very simple!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a:latin typeface="Cambria Math" panose="02040503050406030204" pitchFamily="18" charset="0"/>
                        <a:ea typeface="Cambria Math" panose="02040503050406030204" pitchFamily="18" charset="0"/>
                        <a:cs typeface="Arial"/>
                        <a:sym typeface="Arial"/>
                      </a:rPr>
                      <m:t>R</m:t>
                    </m:r>
                    <m:r>
                      <a:rPr lang="en-US" sz="2200" b="0" i="0" smtClean="0">
                        <a:latin typeface="Cambria Math" panose="02040503050406030204" pitchFamily="18" charset="0"/>
                        <a:ea typeface="Cambria Math" panose="02040503050406030204" pitchFamily="18" charset="0"/>
                        <a:cs typeface="Arial"/>
                        <a:sym typeface="Arial"/>
                      </a:rPr>
                      <m:t> = </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r>
                  <a:rPr lang="en-US" sz="2200" dirty="0">
                    <a:latin typeface="Atkinson Hyperlegible Next"/>
                    <a:ea typeface="Arial"/>
                    <a:cs typeface="Arial"/>
                    <a:sym typeface="Arial"/>
                  </a:rPr>
                  <a:t>When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 0</m:t>
                    </m:r>
                  </m:oMath>
                </a14:m>
                <a:r>
                  <a:rPr lang="en-US" sz="2200" dirty="0">
                    <a:latin typeface="Atkinson Hyperlegible Next"/>
                    <a:ea typeface="Arial"/>
                    <a:cs typeface="Arial"/>
                    <a:sym typeface="Arial"/>
                  </a:rPr>
                  <a:t>, what is the robot doing?</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1C57B75-374F-1071-DAC6-B28E22E5DDB8}"/>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E687758-CA04-3163-CE38-B6AC64638D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F1CC9-EFE6-DAB7-FFA6-DD570FFFE5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A7089C-3F15-063A-06F6-26A95EC357B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61F874-C670-686C-7B21-1E745FD655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627F39-0053-02A9-6FC5-F35434AD01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02E0AB-6328-8DF2-7D09-67833D2F6D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23FD1-A272-CDDD-5538-194CF66621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59382F-689C-A388-0D11-423AC33E8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2E5442EB-5FDF-63B8-74EC-F0DEBD0C35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67429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82A523-5CFF-0ACA-94BC-DF8BADF9F3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A2C7AC-C42D-ACEC-6107-387F1EE0C0EE}"/>
                  </a:ext>
                </a:extLst>
              </p:cNvPr>
              <p:cNvSpPr txBox="1">
                <a:spLocks noGrp="1"/>
              </p:cNvSpPr>
              <p:nvPr>
                <p:ph type="body" idx="1"/>
              </p:nvPr>
            </p:nvSpPr>
            <p:spPr>
              <a:xfrm>
                <a:off x="376809" y="1334279"/>
                <a:ext cx="726031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Based on the calculated forward velocity from the encoders,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tkinson Hyperlegible Next"/>
                    <a:ea typeface="Arial"/>
                    <a:cs typeface="Arial"/>
                    <a:sym typeface="Arial"/>
                  </a:rPr>
                  <a:t>, in lab we already calculate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r>
                      <a:rPr lang="en-US" sz="2200" b="0" i="1" smtClean="0">
                        <a:latin typeface="Cambria Math" panose="02040503050406030204" pitchFamily="18" charset="0"/>
                        <a:ea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L</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Using forward Euler integration, we update our world </a:t>
                </a:r>
                <a14:m>
                  <m:oMath xmlns:m="http://schemas.openxmlformats.org/officeDocument/2006/math">
                    <m:r>
                      <m:rPr>
                        <m:sty m:val="p"/>
                      </m:rPr>
                      <a:rPr lang="en-US" sz="2200" b="0" i="1" smtClean="0">
                        <a:latin typeface="Cambria Math" panose="02040503050406030204" pitchFamily="18" charset="0"/>
                        <a:ea typeface="Arial"/>
                        <a:cs typeface="Arial"/>
                        <a:sym typeface="Arial"/>
                      </a:rPr>
                      <m:t>X</m:t>
                    </m:r>
                  </m:oMath>
                </a14:m>
                <a:r>
                  <a:rPr lang="en-US" sz="2200" dirty="0">
                    <a:latin typeface="Atkinson Hyperlegible Next"/>
                    <a:ea typeface="Arial"/>
                    <a:cs typeface="Arial"/>
                    <a:sym typeface="Arial"/>
                  </a:rPr>
                  <a:t> and </a:t>
                </a:r>
                <a14:m>
                  <m:oMath xmlns:m="http://schemas.openxmlformats.org/officeDocument/2006/math">
                    <m:r>
                      <m:rPr>
                        <m:sty m:val="p"/>
                      </m:rPr>
                      <a:rPr lang="en-US" sz="2200" b="0" i="1" smtClean="0">
                        <a:latin typeface="Cambria Math" panose="02040503050406030204" pitchFamily="18" charset="0"/>
                        <a:ea typeface="Arial"/>
                        <a:cs typeface="Arial"/>
                        <a:sym typeface="Arial"/>
                      </a:rPr>
                      <m:t>Y</m:t>
                    </m:r>
                  </m:oMath>
                </a14:m>
                <a:r>
                  <a:rPr lang="en-US" sz="2200" dirty="0">
                    <a:latin typeface="Atkinson Hyperlegible Next"/>
                    <a:ea typeface="Arial"/>
                    <a:cs typeface="Arial"/>
                    <a:sym typeface="Arial"/>
                  </a:rPr>
                  <a:t> coordinates using our current heading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e>
                          </m:d>
                        </m:e>
                      </m:func>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smtClean="0">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m:rPr>
                              <m:sty m:val="p"/>
                            </m:rPr>
                            <a:rPr lang="en-US" sz="2200" b="0" i="1" smtClean="0">
                              <a:latin typeface="Cambria Math" panose="02040503050406030204" pitchFamily="18" charset="0"/>
                              <a:ea typeface="Arial"/>
                              <a:cs typeface="Arial"/>
                              <a:sym typeface="Arial"/>
                            </a:rPr>
                            <m:t>y</m:t>
                          </m:r>
                        </m:e>
                        <m:sub>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𝑉</m:t>
                          </m:r>
                        </m:e>
                        <m:sub>
                          <m:r>
                            <a:rPr lang="en-US" sz="2200" b="0" i="1" smtClean="0">
                              <a:latin typeface="Cambria Math" panose="02040503050406030204" pitchFamily="18" charset="0"/>
                              <a:ea typeface="Arial"/>
                              <a:cs typeface="Arial"/>
                              <a:sym typeface="Arial"/>
                            </a:rPr>
                            <m:t>𝑡</m:t>
                          </m:r>
                        </m:sub>
                      </m:sSub>
                      <m:func>
                        <m:funcPr>
                          <m:ctrlPr>
                            <a:rPr lang="en-US" sz="2200" i="1">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a:rPr lang="en-US" sz="2200" i="1">
                                      <a:latin typeface="Cambria Math" panose="02040503050406030204" pitchFamily="18" charset="0"/>
                                      <a:ea typeface="Arial"/>
                                      <a:cs typeface="Arial"/>
                                      <a:sym typeface="Arial"/>
                                    </a:rPr>
                                    <m:t>𝑡</m:t>
                                  </m:r>
                                </m:sub>
                              </m:sSub>
                            </m:e>
                          </m:d>
                        </m:e>
                      </m:func>
                      <m:r>
                        <a:rPr lang="en-US" sz="2200" i="1">
                          <a:latin typeface="Cambria Math" panose="02040503050406030204" pitchFamily="18" charset="0"/>
                          <a:ea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𝜑</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𝜔</m:t>
                          </m:r>
                        </m:e>
                        <m:sub>
                          <m:r>
                            <a:rPr lang="en-US" sz="2200" b="0" i="1" smtClean="0">
                              <a:latin typeface="Cambria Math" panose="02040503050406030204" pitchFamily="18" charset="0"/>
                              <a:ea typeface="Arial"/>
                              <a:cs typeface="Arial"/>
                              <a:sym typeface="Arial"/>
                            </a:rPr>
                            <m:t>𝑡</m:t>
                          </m:r>
                        </m:sub>
                      </m:sSub>
                      <m:r>
                        <m:rPr>
                          <m:sty m:val="p"/>
                        </m:rPr>
                        <a:rPr lang="en-US" sz="2200" b="0" i="0" smtClean="0">
                          <a:latin typeface="Cambria Math" panose="02040503050406030204" pitchFamily="18" charset="0"/>
                          <a:ea typeface="Arial"/>
                          <a:cs typeface="Arial"/>
                          <a:sym typeface="Arial"/>
                        </a:rPr>
                        <m:t>Δ</m:t>
                      </m:r>
                      <m:r>
                        <a:rPr lang="en-US" sz="2200" b="0" i="1" smtClean="0">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we go! </a:t>
                </a:r>
              </a:p>
              <a:p>
                <a:pPr marL="0" indent="0">
                  <a:lnSpc>
                    <a:spcPct val="100000"/>
                  </a:lnSpc>
                  <a:spcBef>
                    <a:spcPts val="0"/>
                  </a:spcBef>
                  <a:buSzPts val="3000"/>
                  <a:buNone/>
                </a:pPr>
                <a:r>
                  <a:rPr lang="en-US" sz="2200" dirty="0">
                    <a:latin typeface="Atkinson Hyperlegible Next"/>
                    <a:ea typeface="Arial"/>
                    <a:cs typeface="Arial"/>
                    <a:sym typeface="Arial"/>
                  </a:rPr>
                  <a:t>We now have 2 ways to get the robot’s position, integrating the </a:t>
                </a:r>
                <a:r>
                  <a:rPr lang="en-US" sz="2200" b="1" dirty="0">
                    <a:latin typeface="Atkinson Hyperlegible Next"/>
                    <a:ea typeface="Arial"/>
                    <a:cs typeface="Arial"/>
                    <a:sym typeface="Arial"/>
                  </a:rPr>
                  <a:t>IMU</a:t>
                </a:r>
                <a:r>
                  <a:rPr lang="en-US" sz="2200" dirty="0">
                    <a:latin typeface="Atkinson Hyperlegible Next"/>
                    <a:ea typeface="Arial"/>
                    <a:cs typeface="Arial"/>
                    <a:sym typeface="Arial"/>
                  </a:rPr>
                  <a:t> or integrating the </a:t>
                </a:r>
                <a:r>
                  <a:rPr lang="en-US" sz="2200" b="1" dirty="0">
                    <a:latin typeface="Atkinson Hyperlegible Next"/>
                    <a:ea typeface="Arial"/>
                    <a:cs typeface="Arial"/>
                    <a:sym typeface="Arial"/>
                  </a:rPr>
                  <a:t>wheel encoder</a:t>
                </a:r>
                <a:r>
                  <a:rPr lang="en-US" sz="2200" dirty="0">
                    <a:latin typeface="Atkinson Hyperlegible Next"/>
                    <a:ea typeface="Arial"/>
                    <a:cs typeface="Arial"/>
                    <a:sym typeface="Arial"/>
                  </a:rPr>
                  <a:t> information!</a:t>
                </a:r>
              </a:p>
            </p:txBody>
          </p:sp>
        </mc:Choice>
        <mc:Fallback xmlns="">
          <p:sp>
            <p:nvSpPr>
              <p:cNvPr id="118" name="Google Shape;118;p29">
                <a:extLst>
                  <a:ext uri="{FF2B5EF4-FFF2-40B4-BE49-F238E27FC236}">
                    <a16:creationId xmlns:a16="http://schemas.microsoft.com/office/drawing/2014/main" id="{CBA2C7AC-C42D-ACEC-6107-387F1EE0C0EE}"/>
                  </a:ext>
                </a:extLst>
              </p:cNvPr>
              <p:cNvSpPr txBox="1">
                <a:spLocks noGrp="1" noRot="1" noChangeAspect="1" noMove="1" noResize="1" noEditPoints="1" noAdjustHandles="1" noChangeArrowheads="1" noChangeShapeType="1" noTextEdit="1"/>
              </p:cNvSpPr>
              <p:nvPr>
                <p:ph type="body" idx="1"/>
              </p:nvPr>
            </p:nvSpPr>
            <p:spPr>
              <a:xfrm>
                <a:off x="376809" y="1334279"/>
                <a:ext cx="7260312" cy="4821102"/>
              </a:xfrm>
              <a:prstGeom prst="rect">
                <a:avLst/>
              </a:prstGeom>
              <a:blipFill>
                <a:blip r:embed="rId3"/>
                <a:stretch>
                  <a:fillRect l="-1092" t="-759"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D52C4-FB11-1D29-BFDF-5B4E893443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CAE51B-7AB3-0DB7-D54C-59C13FCCDF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2EABB-D6FA-75C0-53E7-C8751917955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734D7BA-0767-2C19-95E6-454294A6D0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982E7F-3E1F-964D-42F3-0AFE7A4109E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2BD7EA-4E6F-479B-2A5D-E7CCD38B52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261583-041E-282D-A7E1-0D5DD1FA22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C65B02-D03F-D72D-D15E-30F178A5C34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Differential-drive robot in a world frame with axes X and Y and origin O. The robot's center sits at position x, y. Its body frame has X sub B pointing forward along the velocity V, rotated by heading angle phi from the world X axis, and Y sub B pointing left. Two wheels of radius r are separated by track width b and have speeds v sub L and v sub R. The robot rotates at angular rate omega about the instantaneous center of rotation, ICR, at distance R along the Y sub B axis.">
            <a:extLst>
              <a:ext uri="{FF2B5EF4-FFF2-40B4-BE49-F238E27FC236}">
                <a16:creationId xmlns:a16="http://schemas.microsoft.com/office/drawing/2014/main" id="{08DCB2E8-FF30-3015-8E18-F5DE0586C1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7121" y="1267629"/>
            <a:ext cx="4322741" cy="4322741"/>
          </a:xfrm>
          <a:prstGeom prst="rect">
            <a:avLst/>
          </a:prstGeom>
        </p:spPr>
      </p:pic>
    </p:spTree>
    <p:extLst>
      <p:ext uri="{BB962C8B-B14F-4D97-AF65-F5344CB8AC3E}">
        <p14:creationId xmlns:p14="http://schemas.microsoft.com/office/powerpoint/2010/main" val="374676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E2CFA7-0E50-0DA3-9C6C-F5EAAC3F062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3E99BBD-50E2-2AE2-28AB-4FECBACF31EE}"/>
                  </a:ext>
                </a:extLst>
              </p:cNvPr>
              <p:cNvSpPr txBox="1">
                <a:spLocks noGrp="1"/>
              </p:cNvSpPr>
              <p:nvPr>
                <p:ph type="body" idx="1"/>
              </p:nvPr>
            </p:nvSpPr>
            <p:spPr>
              <a:xfrm>
                <a:off x="376809" y="1334279"/>
                <a:ext cx="11452008" cy="2413288"/>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multiple ways of integrating; however, we can get a slightly more accurate result depending on how we do it.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Specifically, instead of doing the Riemann sum (rectangle rule) we can do the Trapezoidal rule. In lab </a:t>
                </a:r>
                <a14:m>
                  <m:oMath xmlns:m="http://schemas.openxmlformats.org/officeDocument/2006/math">
                    <m:r>
                      <a:rPr lang="en-US" sz="2200" b="0" i="1" smtClean="0">
                        <a:latin typeface="Cambria Math" panose="02040503050406030204" pitchFamily="18" charset="0"/>
                        <a:ea typeface="Arial"/>
                        <a:cs typeface="Arial"/>
                        <a:sym typeface="Arial"/>
                      </a:rPr>
                      <m:t>𝑥</m:t>
                    </m:r>
                  </m:oMath>
                </a14:m>
                <a:r>
                  <a:rPr lang="en-US" sz="2200" dirty="0">
                    <a:latin typeface="Atkinson Hyperlegible Next"/>
                    <a:ea typeface="Arial"/>
                    <a:cs typeface="Arial"/>
                    <a:sym typeface="Arial"/>
                  </a:rPr>
                  <a:t>, represents the heading </a:t>
                </a:r>
                <a14:m>
                  <m:oMath xmlns:m="http://schemas.openxmlformats.org/officeDocument/2006/math">
                    <m:r>
                      <a:rPr lang="en-US" sz="2200" b="0" i="1" smtClean="0">
                        <a:latin typeface="Cambria Math" panose="02040503050406030204" pitchFamily="18" charset="0"/>
                        <a:ea typeface="Arial"/>
                        <a:cs typeface="Arial"/>
                        <a:sym typeface="Arial"/>
                      </a:rPr>
                      <m:t>𝜑</m:t>
                    </m:r>
                  </m:oMath>
                </a14:m>
                <a:r>
                  <a:rPr lang="en-US" sz="2200" dirty="0">
                    <a:latin typeface="Atkinson Hyperlegible Next"/>
                    <a:ea typeface="Arial"/>
                    <a:cs typeface="Arial"/>
                    <a:sym typeface="Arial"/>
                  </a:rPr>
                  <a:t>, and </a:t>
                </a:r>
                <a14:m>
                  <m:oMath xmlns:m="http://schemas.openxmlformats.org/officeDocument/2006/math">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oMath>
                </a14:m>
                <a:r>
                  <a:rPr lang="en-US" sz="2200" dirty="0">
                    <a:latin typeface="Atkinson Hyperlegible Next"/>
                    <a:ea typeface="Arial"/>
                    <a:cs typeface="Arial"/>
                    <a:sym typeface="Arial"/>
                  </a:rPr>
                  <a:t>, represents the </a:t>
                </a:r>
                <a:r>
                  <a:rPr lang="en-US" sz="2200">
                    <a:latin typeface="Atkinson Hyperlegible Next"/>
                    <a:ea typeface="Arial"/>
                    <a:cs typeface="Arial"/>
                    <a:sym typeface="Arial"/>
                  </a:rPr>
                  <a:t>gyro reading.</a:t>
                </a: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cs typeface="Arial"/>
                              <a:sym typeface="Arial"/>
                            </a:rPr>
                          </m:ctrlPr>
                        </m:fPr>
                        <m:num>
                          <m:r>
                            <a:rPr lang="en-US" sz="2200" b="0" i="1" smtClean="0">
                              <a:latin typeface="Cambria Math" panose="02040503050406030204" pitchFamily="18" charset="0"/>
                              <a:cs typeface="Arial"/>
                              <a:sym typeface="Arial"/>
                            </a:rPr>
                            <m:t>1</m:t>
                          </m:r>
                        </m:num>
                        <m:den>
                          <m:r>
                            <a:rPr lang="en-US" sz="2200" b="0" i="1" smtClean="0">
                              <a:latin typeface="Cambria Math" panose="02040503050406030204" pitchFamily="18" charset="0"/>
                              <a:cs typeface="Arial"/>
                              <a:sym typeface="Arial"/>
                            </a:rPr>
                            <m:t>2</m:t>
                          </m:r>
                        </m:den>
                      </m:f>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−1</m:t>
                              </m:r>
                            </m:sub>
                          </m:sSub>
                          <m:r>
                            <a:rPr lang="en-US" sz="2200" b="0" i="1" smtClean="0">
                              <a:latin typeface="Cambria Math" panose="02040503050406030204" pitchFamily="18" charset="0"/>
                              <a:ea typeface="Arial"/>
                              <a:cs typeface="Arial"/>
                              <a:sym typeface="Arial"/>
                            </a:rPr>
                            <m:t>)</m:t>
                          </m:r>
                        </m:e>
                      </m:d>
                      <m:r>
                        <a:rPr lang="en-US" sz="2200" b="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83E99BBD-50E2-2AE2-28AB-4FECBACF31EE}"/>
                  </a:ext>
                </a:extLst>
              </p:cNvPr>
              <p:cNvSpPr txBox="1">
                <a:spLocks noGrp="1" noRot="1" noChangeAspect="1" noMove="1" noResize="1" noEditPoints="1" noAdjustHandles="1" noChangeArrowheads="1" noChangeShapeType="1" noTextEdit="1"/>
              </p:cNvSpPr>
              <p:nvPr>
                <p:ph type="body" idx="1"/>
              </p:nvPr>
            </p:nvSpPr>
            <p:spPr>
              <a:xfrm>
                <a:off x="376809" y="1334279"/>
                <a:ext cx="11452008" cy="2413288"/>
              </a:xfrm>
              <a:prstGeom prst="rect">
                <a:avLst/>
              </a:prstGeom>
              <a:blipFill>
                <a:blip r:embed="rId3"/>
                <a:stretch>
                  <a:fillRect l="-692" t="-1515" r="-63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9BC3FA3-D8BE-3C94-AF83-2F21A2767F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9350-852B-449C-F745-436514C54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3A5C098-8DDD-CBAD-C639-8613CAFC940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5BDCA8-6771-AD90-78C7-BD08E596DC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D2B06E-29C9-31FD-12D1-C1D5047115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B62037-8D0F-1143-D983-4D433CBD24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F811A8-AB9D-001B-1B38-38732F17B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30FDC6-A020-894E-7845-E512CB765C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trapezoidal-rule integration of a curve f that rises to a peak and falls. The area under it is split into shaded trapezoids of equal width p, whose tops are straight lines joining sample points on the curve. One trapezoid, S sub i, spans x sub i to x sub i plus 1, with parallel sides f of x sub i and f of x sub i plus 1. Its area is p times the quantity f of x sub i plus f of x sub i plus 1, over 2. The trapezoid tops follow the curve closely.">
            <a:extLst>
              <a:ext uri="{FF2B5EF4-FFF2-40B4-BE49-F238E27FC236}">
                <a16:creationId xmlns:a16="http://schemas.microsoft.com/office/drawing/2014/main" id="{89D0CA00-8753-DA08-F841-EF1FE694E95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995394" y="3676954"/>
            <a:ext cx="3397817" cy="2847086"/>
          </a:xfrm>
          <a:prstGeom prst="rect">
            <a:avLst/>
          </a:prstGeom>
        </p:spPr>
      </p:pic>
      <p:pic>
        <p:nvPicPr>
          <p:cNvPr id="6" name="Graphic 5" descr="Plot: the red curve y equals x cubed rises from 0 at x equals 0 to 8 at x equals 2. Blue left-Riemann rectangles of width 0.5 sit beneath it with heights 0, 0.125, 1, and 3.375, each taken from the curve's value at the left edge of its interval. The rectangles leave large gaps below the steepening curve, so the rectangle rule underestimates the integral. This error motivates using the trapezoidal rule instead.">
            <a:extLst>
              <a:ext uri="{FF2B5EF4-FFF2-40B4-BE49-F238E27FC236}">
                <a16:creationId xmlns:a16="http://schemas.microsoft.com/office/drawing/2014/main" id="{AE4E309E-FD80-C30D-E2B0-52B363B78C0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798789" y="3747908"/>
            <a:ext cx="3397816" cy="2718253"/>
          </a:xfrm>
          <a:prstGeom prst="rect">
            <a:avLst/>
          </a:prstGeom>
        </p:spPr>
      </p:pic>
    </p:spTree>
    <p:extLst>
      <p:ext uri="{BB962C8B-B14F-4D97-AF65-F5344CB8AC3E}">
        <p14:creationId xmlns:p14="http://schemas.microsoft.com/office/powerpoint/2010/main" val="13086453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51E58F-B0D3-64FE-8ECA-A61DCF5EC77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46A2FE-E7C1-B3B3-8DC0-D9BD94BBC89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Given the 2 methods of calculating the robot’s position, if we run this integration for 10 minutes, will the robot’s calculated position match its real physical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Will the IMU and the wheel encoder measurements match?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Absolutely not! Dead-reckoning is subject to unbounded accumulating errors.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Any small measurement error is added to the previous state, meaning the error grows infinitely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known as drift. </a:t>
            </a:r>
            <a:r>
              <a:rPr lang="en-US" sz="2200" b="1" dirty="0">
                <a:latin typeface="Atkinson Hyperlegible Next"/>
                <a:ea typeface="Arial"/>
                <a:cs typeface="Arial"/>
                <a:sym typeface="Arial"/>
              </a:rPr>
              <a:t>Odometry Drift </a:t>
            </a:r>
            <a:r>
              <a:rPr lang="en-US" sz="2200" dirty="0">
                <a:latin typeface="Atkinson Hyperlegible Next"/>
                <a:ea typeface="Arial"/>
                <a:cs typeface="Arial"/>
                <a:sym typeface="Arial"/>
              </a:rPr>
              <a:t>for wheel encoders and </a:t>
            </a:r>
            <a:r>
              <a:rPr lang="en-US" sz="2200" b="1" dirty="0">
                <a:latin typeface="Atkinson Hyperlegible Next"/>
                <a:ea typeface="Arial"/>
                <a:cs typeface="Arial"/>
                <a:sym typeface="Arial"/>
              </a:rPr>
              <a:t>IMU Drift </a:t>
            </a:r>
            <a:r>
              <a:rPr lang="en-US" sz="2200" dirty="0">
                <a:latin typeface="Atkinson Hyperlegible Next"/>
                <a:ea typeface="Arial"/>
                <a:cs typeface="Arial"/>
                <a:sym typeface="Arial"/>
              </a:rPr>
              <a:t>for the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later lectures we will learn about the </a:t>
            </a:r>
            <a:r>
              <a:rPr lang="en-US" sz="2200" b="1" dirty="0">
                <a:latin typeface="Atkinson Hyperlegible Next"/>
                <a:ea typeface="Arial"/>
                <a:cs typeface="Arial"/>
                <a:sym typeface="Arial"/>
              </a:rPr>
              <a:t>Kalman Filter</a:t>
            </a:r>
            <a:r>
              <a:rPr lang="en-US" sz="2200" dirty="0">
                <a:latin typeface="Atkinson Hyperlegible Next"/>
                <a:ea typeface="Arial"/>
                <a:cs typeface="Arial"/>
                <a:sym typeface="Arial"/>
              </a:rPr>
              <a:t> to be able to </a:t>
            </a:r>
            <a:r>
              <a:rPr lang="en-US" sz="2200" b="1" dirty="0">
                <a:latin typeface="Atkinson Hyperlegible Next"/>
                <a:ea typeface="Arial"/>
                <a:cs typeface="Arial"/>
                <a:sym typeface="Arial"/>
              </a:rPr>
              <a:t>fuse</a:t>
            </a:r>
            <a:r>
              <a:rPr lang="en-US" sz="2200" dirty="0">
                <a:latin typeface="Atkinson Hyperlegible Next"/>
                <a:ea typeface="Arial"/>
                <a:cs typeface="Arial"/>
                <a:sym typeface="Arial"/>
              </a:rPr>
              <a:t> both sensors to get a more accurate measurement!</a:t>
            </a:r>
            <a:endParaRPr lang="en-US" sz="22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4C8F507-239D-C9EC-C9EB-02845847F1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0215FE-B039-301D-3E61-8D4098F31C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Dead-Reckoning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CE2F3B-F0FE-C028-ACA2-31FAC3B19F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482B0C-A27E-3C2F-060D-38EFD34CB5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EDF2B-390A-8D89-CC48-B965C45253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4F9939-589D-2C2A-57F8-95382EE942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AF25A3-E8DC-0901-7582-6410FF6EA3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4A40C6-C9DF-00B3-4F34-3B7D2E65E3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9733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55DE9A2-4DDF-039E-DDAF-7A13C7FF489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E610F3D-B5AB-6389-3923-76F72CAA4B9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Errors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3FD5944D-11A0-0159-1787-EB384114A92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2A880CC-F404-6122-90C1-83EE02CE141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C519B51-4066-5507-542E-6DF70D43E4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A564C6-8367-E96B-3958-0E14D3BC050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1EA9C19-F18B-EE1A-8D9D-3A88F9D567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2515B72-FE76-84E0-8C6A-55EE199121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1DE7DB-A0B0-75A1-CBED-7A9F8DC484F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40AF3A3-B001-E849-E7F3-3550D3B69F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4A8C815-0A54-93F7-5BB4-B00385F14D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43532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BE669C-2B00-75F3-4971-C61FBC7A44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EB9E38-337B-DBD1-54F7-5D0A0A717ECB}"/>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Systematic Error:</a:t>
            </a:r>
          </a:p>
          <a:p>
            <a:pPr marL="342900">
              <a:lnSpc>
                <a:spcPct val="100000"/>
              </a:lnSpc>
              <a:spcBef>
                <a:spcPts val="0"/>
              </a:spcBef>
              <a:buSzPts val="3000"/>
            </a:pPr>
            <a:r>
              <a:rPr lang="en-US" sz="2200" dirty="0">
                <a:latin typeface="Atkinson Hyperlegible Next"/>
                <a:ea typeface="Arial"/>
                <a:cs typeface="Arial"/>
                <a:sym typeface="Arial"/>
              </a:rPr>
              <a:t>Built into the physical mechanism of the sensor</a:t>
            </a:r>
          </a:p>
          <a:p>
            <a:pPr marL="342900">
              <a:lnSpc>
                <a:spcPct val="100000"/>
              </a:lnSpc>
              <a:spcBef>
                <a:spcPts val="0"/>
              </a:spcBef>
              <a:buSzPts val="3000"/>
            </a:pPr>
            <a:r>
              <a:rPr lang="en-US" sz="2200" dirty="0">
                <a:latin typeface="Atkinson Hyperlegible Next"/>
                <a:ea typeface="Arial"/>
                <a:cs typeface="Arial"/>
                <a:sym typeface="Arial"/>
              </a:rPr>
              <a:t>Always occurs, with the same value, when we the instrument in the same way and in the same case</a:t>
            </a:r>
          </a:p>
          <a:p>
            <a:pPr marL="342900">
              <a:lnSpc>
                <a:spcPct val="100000"/>
              </a:lnSpc>
              <a:spcBef>
                <a:spcPts val="0"/>
              </a:spcBef>
              <a:buSzPts val="3000"/>
            </a:pPr>
            <a:r>
              <a:rPr lang="en-US" sz="2200" dirty="0">
                <a:latin typeface="Atkinson Hyperlegible Next"/>
                <a:ea typeface="Arial"/>
                <a:cs typeface="Arial"/>
                <a:sym typeface="Arial"/>
              </a:rPr>
              <a:t>Can often be accounted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Unequal wheel diameter</a:t>
            </a:r>
          </a:p>
          <a:p>
            <a:pPr marL="342900">
              <a:lnSpc>
                <a:spcPct val="100000"/>
              </a:lnSpc>
              <a:spcBef>
                <a:spcPts val="0"/>
              </a:spcBef>
              <a:buSzPts val="3000"/>
            </a:pPr>
            <a:r>
              <a:rPr lang="en-US" sz="2200" dirty="0">
                <a:latin typeface="Atkinson Hyperlegible Next"/>
                <a:ea typeface="Arial"/>
                <a:cs typeface="Arial"/>
                <a:sym typeface="Arial"/>
              </a:rPr>
              <a:t>Constant accelerometer bias</a:t>
            </a:r>
          </a:p>
        </p:txBody>
      </p:sp>
      <p:sp>
        <p:nvSpPr>
          <p:cNvPr id="119" name="Google Shape;119;p29">
            <a:extLst>
              <a:ext uri="{FF2B5EF4-FFF2-40B4-BE49-F238E27FC236}">
                <a16:creationId xmlns:a16="http://schemas.microsoft.com/office/drawing/2014/main" id="{3E6EB404-38A3-3078-53F7-2A622DF78E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3713E9-A7EA-D0F6-AD5F-805D75ABF2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87137-D673-EF1F-12EF-21120A0AC1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192D8A-BACB-65A7-1B09-C1A281B40C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0CFA20-AAF2-61D5-D03C-DA107E4AAD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91EE80-93F3-810D-3B2E-CF3B8D481E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F99E3C-1FAB-8B2F-6396-376C698966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4F2C0-3CD8-0E25-D566-2C4EC1B57C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D7E15BB6-082A-1B39-6E44-A4C768B729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61C32CC8-D63B-A3FD-3D08-E79B19EF3637}"/>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13992272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BEFAD-91CA-E8E7-1264-DC5CF82694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BC22F-0A0D-05F1-899A-1386CF6A242D}"/>
              </a:ext>
            </a:extLst>
          </p:cNvPr>
          <p:cNvSpPr txBox="1">
            <a:spLocks noGrp="1"/>
          </p:cNvSpPr>
          <p:nvPr>
            <p:ph type="body" idx="1"/>
          </p:nvPr>
        </p:nvSpPr>
        <p:spPr>
          <a:xfrm>
            <a:off x="376809" y="1334279"/>
            <a:ext cx="65103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2-types of errors in measurements,</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Random Error:</a:t>
            </a:r>
          </a:p>
          <a:p>
            <a:pPr marL="342900">
              <a:lnSpc>
                <a:spcPct val="100000"/>
              </a:lnSpc>
              <a:spcBef>
                <a:spcPts val="0"/>
              </a:spcBef>
              <a:buSzPts val="3000"/>
            </a:pPr>
            <a:r>
              <a:rPr lang="en-US" sz="2200" dirty="0">
                <a:latin typeface="Atkinson Hyperlegible Next"/>
                <a:ea typeface="Arial"/>
                <a:cs typeface="Arial"/>
                <a:sym typeface="Arial"/>
              </a:rPr>
              <a:t>Random and due to environment factors</a:t>
            </a:r>
          </a:p>
          <a:p>
            <a:pPr marL="342900">
              <a:lnSpc>
                <a:spcPct val="100000"/>
              </a:lnSpc>
              <a:spcBef>
                <a:spcPts val="0"/>
              </a:spcBef>
              <a:buSzPts val="3000"/>
            </a:pPr>
            <a:r>
              <a:rPr lang="en-US" sz="2200" dirty="0">
                <a:latin typeface="Atkinson Hyperlegible Next"/>
                <a:ea typeface="Arial"/>
                <a:cs typeface="Arial"/>
                <a:sym typeface="Arial"/>
              </a:rPr>
              <a:t>May vary from observation to another</a:t>
            </a:r>
          </a:p>
          <a:p>
            <a:pPr marL="342900">
              <a:lnSpc>
                <a:spcPct val="100000"/>
              </a:lnSpc>
              <a:spcBef>
                <a:spcPts val="0"/>
              </a:spcBef>
              <a:buSzPts val="3000"/>
            </a:pPr>
            <a:r>
              <a:rPr lang="en-US" sz="2200" dirty="0">
                <a:latin typeface="Atkinson Hyperlegible Next"/>
                <a:ea typeface="Arial"/>
                <a:cs typeface="Arial"/>
                <a:sym typeface="Arial"/>
              </a:rPr>
              <a:t>These fluctuations may be in part due to interference of the environment with the measurement process</a:t>
            </a:r>
          </a:p>
          <a:p>
            <a:pPr marL="342900">
              <a:lnSpc>
                <a:spcPct val="100000"/>
              </a:lnSpc>
              <a:spcBef>
                <a:spcPts val="0"/>
              </a:spcBef>
              <a:buSzPts val="3000"/>
            </a:pPr>
            <a:r>
              <a:rPr lang="en-US" sz="2200" dirty="0">
                <a:latin typeface="Atkinson Hyperlegible Next"/>
                <a:ea typeface="Arial"/>
                <a:cs typeface="Arial"/>
                <a:sym typeface="Arial"/>
              </a:rPr>
              <a:t>Much harder to model (often assumed to be Gaussian)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Examples:</a:t>
            </a:r>
          </a:p>
          <a:p>
            <a:pPr marL="342900">
              <a:lnSpc>
                <a:spcPct val="100000"/>
              </a:lnSpc>
              <a:spcBef>
                <a:spcPts val="0"/>
              </a:spcBef>
              <a:buSzPts val="3000"/>
            </a:pPr>
            <a:r>
              <a:rPr lang="en-US" sz="2200" dirty="0">
                <a:latin typeface="Atkinson Hyperlegible Next"/>
                <a:ea typeface="Arial"/>
                <a:cs typeface="Arial"/>
                <a:sym typeface="Arial"/>
              </a:rPr>
              <a:t>Wheel slip</a:t>
            </a:r>
          </a:p>
          <a:p>
            <a:pPr marL="342900">
              <a:lnSpc>
                <a:spcPct val="100000"/>
              </a:lnSpc>
              <a:spcBef>
                <a:spcPts val="0"/>
              </a:spcBef>
              <a:buSzPts val="3000"/>
            </a:pPr>
            <a:r>
              <a:rPr lang="en-US" sz="2200" dirty="0">
                <a:latin typeface="Atkinson Hyperlegible Next"/>
                <a:ea typeface="Arial"/>
                <a:cs typeface="Arial"/>
                <a:sym typeface="Arial"/>
              </a:rPr>
              <a:t>Loose components</a:t>
            </a:r>
          </a:p>
        </p:txBody>
      </p:sp>
      <p:sp>
        <p:nvSpPr>
          <p:cNvPr id="119" name="Google Shape;119;p29">
            <a:extLst>
              <a:ext uri="{FF2B5EF4-FFF2-40B4-BE49-F238E27FC236}">
                <a16:creationId xmlns:a16="http://schemas.microsoft.com/office/drawing/2014/main" id="{9B10AA86-5C04-976D-1D91-14FF3107E6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F0EBEC-6851-570C-6040-ACC21DBC09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BAFB68-3222-53BF-C007-A3E286A7E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F2D5A-DBC1-5D87-77EA-2A965CB793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C3C1EB-5B32-4D47-53E4-29E6C73943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F938CC-49DE-9D5E-D35D-64023195F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13090A-5BCC-44BA-784B-C0C3B69FF6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5A83F5-3BBE-B05C-F582-83391096D9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bell-shaped probability density curve over measured value. A black dashed line marks the true value, and a red dashed line at the curve's peak (the mean measurement) sits to its right; the gap between them is labeled systematic error, a constant offset. A blue arrow from the peak out to the curve's side is labeled random error, representing the spread of measurements around their mean.">
            <a:extLst>
              <a:ext uri="{FF2B5EF4-FFF2-40B4-BE49-F238E27FC236}">
                <a16:creationId xmlns:a16="http://schemas.microsoft.com/office/drawing/2014/main" id="{5AB07676-E75C-9490-A2CF-AB34E41E2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82450" y="1896269"/>
            <a:ext cx="4941617" cy="3065462"/>
          </a:xfrm>
          <a:prstGeom prst="rect">
            <a:avLst/>
          </a:prstGeom>
        </p:spPr>
      </p:pic>
      <p:sp>
        <p:nvSpPr>
          <p:cNvPr id="5" name="TextBox 4">
            <a:extLst>
              <a:ext uri="{FF2B5EF4-FFF2-40B4-BE49-F238E27FC236}">
                <a16:creationId xmlns:a16="http://schemas.microsoft.com/office/drawing/2014/main" id="{524B60A4-F0E0-4D1F-F8A9-30DA0CA75CA8}"/>
              </a:ext>
            </a:extLst>
          </p:cNvPr>
          <p:cNvSpPr txBox="1"/>
          <p:nvPr/>
        </p:nvSpPr>
        <p:spPr>
          <a:xfrm>
            <a:off x="8358203" y="4838620"/>
            <a:ext cx="2928633" cy="246221"/>
          </a:xfrm>
          <a:prstGeom prst="rect">
            <a:avLst/>
          </a:prstGeom>
          <a:noFill/>
        </p:spPr>
        <p:txBody>
          <a:bodyPr wrap="square">
            <a:spAutoFit/>
          </a:bodyPr>
          <a:lstStyle/>
          <a:p>
            <a:pPr algn="ctr"/>
            <a:r>
              <a:rPr lang="en-US" sz="1000" dirty="0">
                <a:hlinkClick r:id="rId6"/>
              </a:rPr>
              <a:t>https://en.wikipedia.org/wiki/Observational_error</a:t>
            </a:r>
            <a:r>
              <a:rPr lang="en-US" sz="1000" dirty="0"/>
              <a:t> </a:t>
            </a:r>
          </a:p>
        </p:txBody>
      </p:sp>
    </p:spTree>
    <p:extLst>
      <p:ext uri="{BB962C8B-B14F-4D97-AF65-F5344CB8AC3E}">
        <p14:creationId xmlns:p14="http://schemas.microsoft.com/office/powerpoint/2010/main" val="4231205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0298F2-87D7-F51C-1066-930A3A6DA0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4FABCC-163C-F0AE-8588-DCE2CD7C130D}"/>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In robotics the best way to handle noise is just by adding more sensors / different sensors.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more different opinions / viewpoints you have the more likely that the majority will agree or will provide useful information to help compensate from the fault of others!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 does one calculate how much the error drift?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help combat heading drift from encoders, we use the Z-axis rate gyro from our IMU.</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 </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+1</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𝜑</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gyro</m:t>
                          </m:r>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m:rPr>
                          <m:sty m:val="p"/>
                        </m:rPr>
                        <a:rPr lang="en-US" sz="2200">
                          <a:latin typeface="Cambria Math" panose="02040503050406030204" pitchFamily="18" charset="0"/>
                          <a:ea typeface="Arial"/>
                          <a:cs typeface="Arial"/>
                          <a:sym typeface="Arial"/>
                        </a:rPr>
                        <m:t>Δ</m:t>
                      </m:r>
                      <m:r>
                        <a:rPr lang="en-US" sz="2200" i="1">
                          <a:latin typeface="Cambria Math" panose="02040503050406030204" pitchFamily="18" charset="0"/>
                          <a:ea typeface="Arial"/>
                          <a:cs typeface="Arial"/>
                          <a:sym typeface="Arial"/>
                        </a:rPr>
                        <m:t>𝑡</m:t>
                      </m:r>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E4FABCC-163C-F0AE-8588-DCE2CD7C130D}"/>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3238-2384-43A6-8220-8542D0CD6B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BB4EEEC-EA22-B55B-1B23-3261523CE2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CE7D8C-AED4-C1D8-7372-9894F313FB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AA9872-DCFF-3BBB-26FB-D5233D0E51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A06728-7240-0F73-C869-ECE2E2CDFE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BCA7A4-2918-3BE4-EE20-C0DC59868B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6E17D-98E1-36E7-8B52-68C6D8E0A3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40F9E8-4330-6907-DA90-50CEC9488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64218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63740D-B40A-975C-D982-8E7FFD74015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D6B066-10FF-D37D-3D50-C7ECB17F38D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Gyroscope’s output is: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i="1">
                              <a:latin typeface="Cambria Math" panose="02040503050406030204" pitchFamily="18" charset="0"/>
                              <a:ea typeface="Arial"/>
                              <a:cs typeface="Arial"/>
                              <a:sym typeface="Arial"/>
                            </a:rPr>
                            <m:t>gyro</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𝜔</m:t>
                          </m:r>
                        </m:e>
                        <m:sub>
                          <m:r>
                            <m:rPr>
                              <m:sty m:val="p"/>
                            </m:rPr>
                            <a:rPr lang="en-US" sz="2200" b="0" i="1" smtClean="0">
                              <a:latin typeface="Cambria Math" panose="02040503050406030204" pitchFamily="18" charset="0"/>
                              <a:ea typeface="Arial"/>
                              <a:cs typeface="Arial"/>
                              <a:sym typeface="Arial"/>
                            </a:rPr>
                            <m:t>true</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cs typeface="Arial"/>
                              <a:sym typeface="Arial"/>
                            </a:rPr>
                            <m:t>bias</m:t>
                          </m:r>
                        </m:sub>
                      </m:sSub>
                      <m:r>
                        <a:rPr lang="en-US" sz="2200" b="0" i="1" smtClean="0">
                          <a:latin typeface="Cambria Math" panose="02040503050406030204" pitchFamily="18" charset="0"/>
                          <a:ea typeface="Arial"/>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b="0" i="1" smtClean="0">
                              <a:latin typeface="Cambria Math" panose="02040503050406030204" pitchFamily="18" charset="0"/>
                              <a:ea typeface="Cambria Math" panose="02040503050406030204" pitchFamily="18" charset="0"/>
                              <a:cs typeface="Arial"/>
                              <a:sym typeface="Arial"/>
                            </a:rPr>
                            <m:t>noise</m:t>
                          </m:r>
                        </m:sub>
                      </m:sSub>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assume that the noise </a:t>
                </a:r>
                <a14:m>
                  <m:oMath xmlns:m="http://schemas.openxmlformats.org/officeDocument/2006/math">
                    <m:sSub>
                      <m:sSubPr>
                        <m:ctrlPr>
                          <a:rPr lang="en-US" sz="2200" i="1" smtClean="0">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ea typeface="Cambria Math" panose="02040503050406030204" pitchFamily="18" charset="0"/>
                            <a:cs typeface="Arial"/>
                            <a:sym typeface="Arial"/>
                          </a:rPr>
                          <m:t>noise</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𝒩</m:t>
                    </m:r>
                    <m:d>
                      <m:dPr>
                        <m:ctrlPr>
                          <a:rPr lang="en-US" sz="2200" b="0" i="1" smtClean="0">
                            <a:latin typeface="Cambria Math" panose="02040503050406030204" pitchFamily="18" charset="0"/>
                            <a:ea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0,</m:t>
                        </m:r>
                        <m:sSup>
                          <m:sSupPr>
                            <m:ctrlPr>
                              <a:rPr lang="en-US" sz="2200" b="0" i="1" smtClean="0">
                                <a:latin typeface="Cambria Math" panose="02040503050406030204" pitchFamily="18" charset="0"/>
                                <a:ea typeface="Cambria Math" panose="02040503050406030204" pitchFamily="18" charset="0"/>
                                <a:cs typeface="Arial"/>
                                <a:sym typeface="Arial"/>
                              </a:rPr>
                            </m:ctrlPr>
                          </m:sSupPr>
                          <m:e>
                            <m:r>
                              <a:rPr lang="en-US" sz="2200" b="0" i="1" smtClean="0">
                                <a:latin typeface="Cambria Math" panose="02040503050406030204" pitchFamily="18" charset="0"/>
                                <a:ea typeface="Cambria Math" panose="02040503050406030204" pitchFamily="18" charset="0"/>
                                <a:cs typeface="Arial"/>
                                <a:sym typeface="Arial"/>
                              </a:rPr>
                              <m:t>𝜎</m:t>
                            </m:r>
                          </m:e>
                          <m:sup>
                            <m:r>
                              <a:rPr lang="en-US" sz="2200" b="0" i="1" smtClean="0">
                                <a:latin typeface="Cambria Math" panose="02040503050406030204" pitchFamily="18" charset="0"/>
                                <a:ea typeface="Cambria Math" panose="02040503050406030204" pitchFamily="18" charset="0"/>
                                <a:cs typeface="Arial"/>
                                <a:sym typeface="Arial"/>
                              </a:rPr>
                              <m:t>2</m:t>
                            </m:r>
                          </m:sup>
                        </m:sSup>
                      </m:e>
                    </m:d>
                  </m:oMath>
                </a14:m>
                <a:r>
                  <a:rPr lang="en-US" sz="2200" dirty="0">
                    <a:latin typeface="Atkinson Hyperlegible Next"/>
                    <a:ea typeface="Arial"/>
                    <a:cs typeface="Arial"/>
                    <a:sym typeface="Arial"/>
                  </a:rPr>
                  <a:t>, is “White Noise”, zero mean Gaussian noise.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we integrate the bias over time we: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nary>
                        <m:naryPr>
                          <m:limLoc m:val="undOvr"/>
                          <m:subHide m:val="on"/>
                          <m:supHide m:val="on"/>
                          <m:ctrlPr>
                            <a:rPr lang="en-US" sz="2200" i="1" dirty="0" smtClean="0">
                              <a:latin typeface="Cambria Math" panose="02040503050406030204" pitchFamily="18" charset="0"/>
                              <a:cs typeface="Arial"/>
                              <a:sym typeface="Arial"/>
                            </a:rPr>
                          </m:ctrlPr>
                        </m:naryPr>
                        <m:sub/>
                        <m:sup/>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e>
                      </m:nary>
                      <m:r>
                        <a:rPr lang="en-US" sz="2200" b="0" i="1" dirty="0" smtClean="0">
                          <a:latin typeface="Cambria Math" panose="02040503050406030204" pitchFamily="18" charset="0"/>
                          <a:cs typeface="Arial"/>
                          <a:sym typeface="Arial"/>
                        </a:rPr>
                        <m:t>𝑑𝑡</m:t>
                      </m:r>
                      <m:r>
                        <a:rPr lang="en-US" sz="2200" b="0" i="1" dirty="0"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𝜖</m:t>
                          </m:r>
                        </m:e>
                        <m:sub>
                          <m:r>
                            <m:rPr>
                              <m:sty m:val="p"/>
                            </m:rPr>
                            <a:rPr lang="en-US" sz="2200" i="1">
                              <a:latin typeface="Cambria Math" panose="02040503050406030204" pitchFamily="18" charset="0"/>
                              <a:cs typeface="Arial"/>
                              <a:sym typeface="Arial"/>
                            </a:rPr>
                            <m:t>bias</m:t>
                          </m:r>
                        </m:sub>
                      </m:sSub>
                      <m:r>
                        <a:rPr lang="en-US" sz="2200" i="1" smtClean="0">
                          <a:latin typeface="Cambria Math" panose="02040503050406030204" pitchFamily="18" charset="0"/>
                          <a:ea typeface="Cambria Math" panose="02040503050406030204" pitchFamily="18" charset="0"/>
                          <a:cs typeface="Arial"/>
                          <a:sym typeface="Arial"/>
                        </a:rPr>
                        <m:t>∆</m:t>
                      </m:r>
                      <m:r>
                        <a:rPr lang="en-US" sz="2200" b="0" i="1" smtClean="0">
                          <a:latin typeface="Cambria Math" panose="02040503050406030204" pitchFamily="18" charset="0"/>
                          <a:ea typeface="Cambria Math" panose="02040503050406030204" pitchFamily="18" charset="0"/>
                          <a:cs typeface="Arial"/>
                          <a:sym typeface="Arial"/>
                        </a:rPr>
                        <m:t>𝑡</m:t>
                      </m:r>
                    </m:oMath>
                  </m:oMathPara>
                </a14:m>
                <a:endParaRPr lang="en-US" sz="2200" b="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sym typeface="Arial"/>
                  </a:rPr>
                  <a:t>If the bias just 0.05 degrees / sec, how far off is our heading after 5 minutes?</a:t>
                </a:r>
              </a:p>
              <a:p>
                <a:pPr marL="0" indent="0">
                  <a:lnSpc>
                    <a:spcPct val="100000"/>
                  </a:lnSpc>
                  <a:spcBef>
                    <a:spcPts val="0"/>
                  </a:spcBef>
                  <a:buSzPts val="3000"/>
                  <a:buNone/>
                </a:pPr>
                <a:endParaRPr lang="en-US" sz="2000" b="0" i="1" dirty="0">
                  <a:latin typeface="+mj-lt"/>
                  <a:ea typeface="Cambria Math" panose="02040503050406030204" pitchFamily="18" charset="0"/>
                  <a:cs typeface="Arial"/>
                  <a:sym typeface="Arial"/>
                </a:endParaRPr>
              </a:p>
              <a:p>
                <a:pPr marL="0" indent="0" algn="ctr">
                  <a:lnSpc>
                    <a:spcPct val="100000"/>
                  </a:lnSpc>
                  <a:spcBef>
                    <a:spcPts val="0"/>
                  </a:spcBef>
                  <a:buSzPts val="3000"/>
                  <a:buNone/>
                </a:pPr>
                <a:r>
                  <a:rPr lang="en-US" sz="2000" b="1" dirty="0">
                    <a:latin typeface="+mj-lt"/>
                    <a:ea typeface="Cambria Math" panose="02040503050406030204" pitchFamily="18" charset="0"/>
                    <a:cs typeface="Arial"/>
                    <a:sym typeface="Arial"/>
                  </a:rPr>
                  <a:t>15 degrees!</a:t>
                </a:r>
              </a:p>
              <a:p>
                <a:pPr marL="0" indent="0" algn="ctr">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why we calibrate the IMU to measure and subtract </a:t>
                </a:r>
                <a:r>
                  <a:rPr lang="en-US" sz="2000" dirty="0">
                    <a:latin typeface="+mj-lt"/>
                    <a:ea typeface="Cambria Math" panose="02040503050406030204" pitchFamily="18" charset="0"/>
                    <a:cs typeface="Arial"/>
                    <a:sym typeface="Arial"/>
                  </a:rPr>
                  <a:t>the bias!</a:t>
                </a:r>
              </a:p>
            </p:txBody>
          </p:sp>
        </mc:Choice>
        <mc:Fallback xmlns="">
          <p:sp>
            <p:nvSpPr>
              <p:cNvPr id="118" name="Google Shape;118;p29">
                <a:extLst>
                  <a:ext uri="{FF2B5EF4-FFF2-40B4-BE49-F238E27FC236}">
                    <a16:creationId xmlns:a16="http://schemas.microsoft.com/office/drawing/2014/main" id="{C9D6B066-10FF-D37D-3D50-C7ECB17F38D3}"/>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692" t="-759"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3F0A10-EFFC-5323-40FD-1D1FFBF6AA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407A49-6C11-D874-6A32-3003F68BE0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6CA6F7-0901-3CEC-6FB0-E66228551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4DC72C-6B58-7BA7-E1A4-C710EB414F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7F213B-A91E-60C5-230B-0D87CD6E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D322F9-1A52-C598-EA3E-7C5CCB0AD8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EA3B39-C278-7651-9DBE-3B8CBD5733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5763C4-E967-CB76-B11A-580F740013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33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14EA17-22FA-3DF2-3D01-D1CD2FDCC4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55EEE2-CDC3-7698-846D-CF39C2D6695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with the bias removed we now have White Noise that remains.</a:t>
                </a:r>
              </a:p>
              <a:p>
                <a:pPr marL="0" indent="0">
                  <a:lnSpc>
                    <a:spcPct val="100000"/>
                  </a:lnSpc>
                  <a:spcBef>
                    <a:spcPts val="0"/>
                  </a:spcBef>
                  <a:buSzPts val="3000"/>
                  <a:buNone/>
                </a:pPr>
                <a:endParaRPr lang="en-US" sz="2000" b="0" dirty="0">
                  <a:latin typeface="Atkinson Hyperlegible Nex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gyro</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𝜔</m:t>
                          </m:r>
                        </m:e>
                        <m:sub>
                          <m:r>
                            <m:rPr>
                              <m:sty m:val="p"/>
                            </m:rPr>
                            <a:rPr lang="en-US" sz="2000" i="1">
                              <a:latin typeface="Cambria Math" panose="02040503050406030204" pitchFamily="18" charset="0"/>
                              <a:ea typeface="Arial"/>
                              <a:cs typeface="Arial"/>
                              <a:sym typeface="Arial"/>
                            </a:rPr>
                            <m:t>true</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ea typeface="Cambria Math" panose="02040503050406030204" pitchFamily="18" charset="0"/>
                              <a:cs typeface="Arial"/>
                              <a:sym typeface="Arial"/>
                            </a:rPr>
                            <m:t>𝜖</m:t>
                          </m:r>
                        </m:e>
                        <m:sub>
                          <m:r>
                            <m:rPr>
                              <m:sty m:val="p"/>
                            </m:rPr>
                            <a:rPr lang="en-US" sz="2000" i="1">
                              <a:latin typeface="Cambria Math" panose="02040503050406030204" pitchFamily="18" charset="0"/>
                              <a:ea typeface="Cambria Math" panose="02040503050406030204" pitchFamily="18" charset="0"/>
                              <a:cs typeface="Arial"/>
                              <a:sym typeface="Arial"/>
                            </a:rPr>
                            <m:t>noise</m:t>
                          </m:r>
                        </m:sub>
                      </m:sSub>
                    </m:oMath>
                  </m:oMathPara>
                </a14:m>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Integrating </a:t>
                </a:r>
                <a:r>
                  <a:rPr lang="en-US" sz="2000" dirty="0">
                    <a:latin typeface="+mj-lt"/>
                    <a:ea typeface="Cambria Math" panose="02040503050406030204" pitchFamily="18" charset="0"/>
                    <a:cs typeface="Arial"/>
                    <a:sym typeface="Arial"/>
                  </a:rPr>
                  <a:t>white noise results in a “</a:t>
                </a:r>
                <a:r>
                  <a:rPr lang="en-US" sz="2000" b="1" dirty="0">
                    <a:latin typeface="+mj-lt"/>
                    <a:ea typeface="Cambria Math" panose="02040503050406030204" pitchFamily="18" charset="0"/>
                    <a:cs typeface="Arial"/>
                    <a:sym typeface="Arial"/>
                  </a:rPr>
                  <a:t>Random Walk</a:t>
                </a:r>
                <a:r>
                  <a:rPr lang="en-US" sz="2000" dirty="0">
                    <a:latin typeface="+mj-lt"/>
                    <a:ea typeface="Cambria Math" panose="02040503050406030204" pitchFamily="18" charset="0"/>
                    <a:cs typeface="Arial"/>
                    <a:sym typeface="Arial"/>
                  </a:rPr>
                  <a:t>” (a Wiener process in stochastic calculus).</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mean of the error over multiple “Random Walk” runs is centered at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0</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variance of the error grows linearly with time </a:t>
                </a:r>
                <a14:m>
                  <m:oMath xmlns:m="http://schemas.openxmlformats.org/officeDocument/2006/math">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b="0" i="1" dirty="0" smtClean="0">
                            <a:latin typeface="Cambria Math" panose="02040503050406030204" pitchFamily="18" charset="0"/>
                            <a:ea typeface="Cambria Math" panose="02040503050406030204" pitchFamily="18" charset="0"/>
                            <a:cs typeface="Arial"/>
                            <a:sym typeface="Arial"/>
                          </a:rPr>
                          <m:t>𝜎</m:t>
                        </m:r>
                      </m:e>
                      <m:sub>
                        <m:r>
                          <a:rPr lang="en-US" sz="2000" b="0" i="1" dirty="0" smtClean="0">
                            <a:latin typeface="Cambria Math" panose="02040503050406030204" pitchFamily="18" charset="0"/>
                            <a:ea typeface="Cambria Math" panose="02040503050406030204" pitchFamily="18" charset="0"/>
                            <a:cs typeface="Arial"/>
                            <a:sym typeface="Arial"/>
                          </a:rPr>
                          <m:t>𝜑</m:t>
                        </m:r>
                      </m:sub>
                      <m:sup>
                        <m:r>
                          <a:rPr lang="en-US" sz="2000" b="0" i="1" dirty="0" smtClean="0">
                            <a:latin typeface="Cambria Math" panose="02040503050406030204" pitchFamily="18" charset="0"/>
                            <a:ea typeface="Cambria Math" panose="02040503050406030204" pitchFamily="18" charset="0"/>
                            <a:cs typeface="Arial"/>
                            <a:sym typeface="Arial"/>
                          </a:rPr>
                          <m:t>2</m:t>
                        </m:r>
                      </m:sup>
                    </m:sSubSup>
                    <m:r>
                      <a:rPr lang="en-US" sz="2000" b="0" i="1" dirty="0" smtClean="0">
                        <a:latin typeface="Cambria Math" panose="02040503050406030204" pitchFamily="18" charset="0"/>
                        <a:ea typeface="Cambria Math" panose="02040503050406030204" pitchFamily="18" charset="0"/>
                        <a:cs typeface="Arial"/>
                        <a:sym typeface="Arial"/>
                      </a:rPr>
                      <m:t>=</m:t>
                    </m:r>
                    <m:sSubSup>
                      <m:sSubSupPr>
                        <m:ctrlPr>
                          <a:rPr lang="en-US" sz="2000" b="0" i="1" dirty="0" smtClean="0">
                            <a:latin typeface="Cambria Math" panose="02040503050406030204" pitchFamily="18" charset="0"/>
                            <a:ea typeface="Cambria Math" panose="02040503050406030204" pitchFamily="18" charset="0"/>
                            <a:cs typeface="Arial"/>
                            <a:sym typeface="Arial"/>
                          </a:rPr>
                        </m:ctrlPr>
                      </m:sSubSupPr>
                      <m:e>
                        <m:r>
                          <a:rPr lang="en-US" sz="2000" i="1" dirty="0">
                            <a:latin typeface="Cambria Math" panose="02040503050406030204" pitchFamily="18" charset="0"/>
                            <a:ea typeface="Cambria Math" panose="02040503050406030204" pitchFamily="18" charset="0"/>
                            <a:cs typeface="Arial"/>
                            <a:sym typeface="Arial"/>
                          </a:rPr>
                          <m:t>𝜎</m:t>
                        </m:r>
                      </m:e>
                      <m:sub>
                        <m:r>
                          <a:rPr lang="en-US" sz="2000" i="1" dirty="0" smtClean="0">
                            <a:latin typeface="Cambria Math" panose="02040503050406030204" pitchFamily="18" charset="0"/>
                            <a:ea typeface="Cambria Math" panose="02040503050406030204" pitchFamily="18" charset="0"/>
                            <a:cs typeface="Arial"/>
                            <a:sym typeface="Arial"/>
                          </a:rPr>
                          <m:t>𝜔</m:t>
                        </m:r>
                      </m:sub>
                      <m:sup>
                        <m:r>
                          <a:rPr lang="en-US" sz="2000" i="1" dirty="0">
                            <a:latin typeface="Cambria Math" panose="02040503050406030204" pitchFamily="18" charset="0"/>
                            <a:ea typeface="Cambria Math" panose="02040503050406030204" pitchFamily="18" charset="0"/>
                            <a:cs typeface="Arial"/>
                            <a:sym typeface="Arial"/>
                          </a:rPr>
                          <m:t>2</m:t>
                        </m:r>
                      </m:sup>
                    </m:sSubSup>
                    <m:r>
                      <m:rPr>
                        <m:sty m:val="p"/>
                      </m:rPr>
                      <a:rPr lang="en-US" sz="2000" i="0" dirty="0" smtClean="0">
                        <a:latin typeface="Cambria Math" panose="02040503050406030204" pitchFamily="18" charset="0"/>
                        <a:ea typeface="Cambria Math" panose="02040503050406030204" pitchFamily="18" charset="0"/>
                        <a:cs typeface="Arial"/>
                        <a:sym typeface="Arial"/>
                      </a:rPr>
                      <m:t>Δ</m:t>
                    </m:r>
                    <m:r>
                      <a:rPr lang="en-US" sz="2000" i="1" dirty="0" smtClean="0">
                        <a:latin typeface="Cambria Math" panose="02040503050406030204" pitchFamily="18" charset="0"/>
                        <a:ea typeface="Cambria Math" panose="02040503050406030204" pitchFamily="18" charset="0"/>
                        <a:cs typeface="Arial"/>
                        <a:sym typeface="Arial"/>
                      </a:rPr>
                      <m:t>𝑡</m:t>
                    </m:r>
                  </m:oMath>
                </a14:m>
                <a:r>
                  <a:rPr lang="en-US" sz="2000" b="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The standard deviation (the actual angular error) grows proportional to the square root of time </a:t>
                </a: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 </m:t>
                    </m:r>
                    <m:rad>
                      <m:radPr>
                        <m:degHide m:val="on"/>
                        <m:ctrlPr>
                          <a:rPr lang="en-US" sz="2000" b="0" i="1" smtClean="0">
                            <a:latin typeface="Cambria Math" panose="02040503050406030204" pitchFamily="18" charset="0"/>
                            <a:ea typeface="Cambria Math" panose="02040503050406030204" pitchFamily="18" charset="0"/>
                            <a:cs typeface="Arial"/>
                            <a:sym typeface="Arial"/>
                          </a:rPr>
                        </m:ctrlPr>
                      </m:radPr>
                      <m:deg/>
                      <m:e>
                        <m:r>
                          <m:rPr>
                            <m:sty m:val="p"/>
                          </m:rPr>
                          <a:rPr lang="en-US" sz="2000" b="0" i="1" smtClean="0">
                            <a:latin typeface="Cambria Math" panose="02040503050406030204" pitchFamily="18" charset="0"/>
                            <a:ea typeface="Cambria Math" panose="02040503050406030204" pitchFamily="18" charset="0"/>
                            <a:cs typeface="Arial"/>
                            <a:sym typeface="Arial"/>
                          </a:rPr>
                          <m:t>t</m:t>
                        </m:r>
                      </m:e>
                    </m:rad>
                  </m:oMath>
                </a14:m>
                <a:r>
                  <a:rPr lang="en-US" sz="2000" b="0" dirty="0">
                    <a:latin typeface="+mj-lt"/>
                    <a:ea typeface="Cambria Math" panose="02040503050406030204" pitchFamily="18" charset="0"/>
                    <a:cs typeface="Arial"/>
                    <a:sym typeface="Arial"/>
                  </a:rPr>
                  <a:t>. The math for proving this is very complicated, so just take it as truth!</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Thus, over long period, the gyro’s heading becomes entirely unreliable!</a:t>
                </a:r>
              </a:p>
            </p:txBody>
          </p:sp>
        </mc:Choice>
        <mc:Fallback xmlns="">
          <p:sp>
            <p:nvSpPr>
              <p:cNvPr id="118" name="Google Shape;118;p29">
                <a:extLst>
                  <a:ext uri="{FF2B5EF4-FFF2-40B4-BE49-F238E27FC236}">
                    <a16:creationId xmlns:a16="http://schemas.microsoft.com/office/drawing/2014/main" id="{3F55EEE2-CDC3-7698-846D-CF39C2D6695A}"/>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4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CCA73AD-AA1E-2D97-1917-94C9CDB200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E9989F-8446-367B-618F-9DB175E76A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7F7F1A-01A7-55F0-5779-25826F9F00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1E1EBB-952C-3C2F-0907-D4E69F1197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13308A-B3D1-2B72-D5B6-B72A8F7580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B07FE0D-ED47-C4D3-E1D6-FB8D894683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89F874-F92D-A95D-E31C-7183544FF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2073D7-C169-435E-AFF0-A93F4C88DA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7670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A7F0F48-FD66-0068-0226-3C6653FA95F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9362EA-C21F-AC39-D262-FB7E55F37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010643-9872-014A-0B92-EE6B2A60F2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36A73D-1A13-80E5-A640-A1746D9591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170DFE-6B7C-76DE-03C6-BD9005BC38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2E760C-D6C1-3E9C-55A1-9C9AB59AD3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436059-DAF3-0389-B9F7-FCC00B3406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F9F0C8-EDDD-B2B7-55CC-FDE177E364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9F9111-220C-C228-C249-7BB180BFE2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7E1B50D1-3054-D474-FE00-026AAFAE2E96}"/>
              </a:ext>
            </a:extLst>
          </p:cNvPr>
          <p:cNvSpPr>
            <a:spLocks noGrp="1"/>
          </p:cNvSpPr>
          <p:nvPr>
            <p:ph type="body" idx="1"/>
          </p:nvPr>
        </p:nvSpPr>
        <p:spPr/>
        <p:txBody>
          <a:bodyPr/>
          <a:lstStyle/>
          <a:p>
            <a:endParaRPr lang="en-US" dirty="0"/>
          </a:p>
        </p:txBody>
      </p:sp>
      <p:pic>
        <p:nvPicPr>
          <p:cNvPr id="5" name="Graphic 4" descr="Plot titled &quot;White Noise (sigma equals 1) vs Time&quot;: dozens of simulated traces of accumulated (integrated) white noise, angle in degrees versus time from 0 to 300 seconds. All traces start at 0 and wander randomly, spreading wider over time, about plus or minus 10 degrees by 25 seconds and up to plus or minus 40 degrees by 250 to 300 seconds. This shows how summing small random errors produces unbounded drift that grows with time.">
            <a:extLst>
              <a:ext uri="{FF2B5EF4-FFF2-40B4-BE49-F238E27FC236}">
                <a16:creationId xmlns:a16="http://schemas.microsoft.com/office/drawing/2014/main" id="{51BAB843-7088-724C-E33B-5C28CB5B43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371725" y="931562"/>
            <a:ext cx="7448550" cy="5592478"/>
          </a:xfrm>
          <a:prstGeom prst="rect">
            <a:avLst/>
          </a:prstGeom>
        </p:spPr>
      </p:pic>
    </p:spTree>
    <p:extLst>
      <p:ext uri="{BB962C8B-B14F-4D97-AF65-F5344CB8AC3E}">
        <p14:creationId xmlns:p14="http://schemas.microsoft.com/office/powerpoint/2010/main" val="1491280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EB7BBF-8F98-212E-9B38-36FE45DFCD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A399D8-64C2-AE55-3A69-840F4E06BC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9A499A-632D-6A56-C2F5-1855F4F2DC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2CCCD-63B6-C535-4B41-062E4AF9879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EC8CDA-780F-8BB0-B80E-D99CCB7632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BDBDA4-CB51-BA47-3436-AA41BF9E44C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BBD68F-B9D8-6300-DB49-7583D7FF6F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9B3F97-F3C8-481A-6A8A-8F517BC689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D2E4EF-9215-4863-9B7F-F8EDB9C571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white noise mean versus time over 0 to 300 seconds, y axis labeled &quot;Radians (degrees).&quot; A flat line marks the expected noise mean of zero. The measured mean dips to about minus 0.1 in the first few seconds, rises to about 0.4 by 45 seconds, then wanders between roughly 0.3 and 0.6 until about 240 seconds, ending near 0.28. It never settles back to zero, showing a persistent, drifting error.">
            <a:extLst>
              <a:ext uri="{FF2B5EF4-FFF2-40B4-BE49-F238E27FC236}">
                <a16:creationId xmlns:a16="http://schemas.microsoft.com/office/drawing/2014/main" id="{315ED8E6-1A93-6BA4-35DD-15A6BF9A800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5100" y="1412985"/>
            <a:ext cx="5848350" cy="4391025"/>
          </a:xfrm>
          <a:prstGeom prst="rect">
            <a:avLst/>
          </a:prstGeom>
        </p:spPr>
      </p:pic>
      <p:pic>
        <p:nvPicPr>
          <p:cNvPr id="9" name="Graphic 8" descr="Plot: standard deviation of integrated white noise versus time, 0 to 300 seconds, with angle on the vertical axis (labeled &quot;radians (degrees)&quot;). The expected curve, sigma times the square root of t with sigma equal to 1, rises steeply at first and then more slowly, reaching about 17.3 at 300 seconds. The measured white-noise standard deviation closely tracks it, falling slightly below to about 16.5 by the end. This shows that integrated sensor noise causes error to grow with the square root of time.">
            <a:extLst>
              <a:ext uri="{FF2B5EF4-FFF2-40B4-BE49-F238E27FC236}">
                <a16:creationId xmlns:a16="http://schemas.microsoft.com/office/drawing/2014/main" id="{5EDCFAED-D88C-BF40-EBFD-F63257E5209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78550" y="1412985"/>
            <a:ext cx="5848350" cy="4391025"/>
          </a:xfrm>
          <a:prstGeom prst="rect">
            <a:avLst/>
          </a:prstGeom>
        </p:spPr>
      </p:pic>
    </p:spTree>
    <p:extLst>
      <p:ext uri="{BB962C8B-B14F-4D97-AF65-F5344CB8AC3E}">
        <p14:creationId xmlns:p14="http://schemas.microsoft.com/office/powerpoint/2010/main" val="19967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56EF7-A6A6-2EEE-0343-809D003BA8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A269514-6DAD-F5AA-6FFB-B6127160743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Encoders</a:t>
            </a:r>
            <a:r>
              <a:rPr lang="en-US" sz="2000" dirty="0">
                <a:latin typeface="+mj-lt"/>
                <a:ea typeface="Cambria Math" panose="02040503050406030204" pitchFamily="18" charset="0"/>
                <a:cs typeface="Arial"/>
                <a:sym typeface="Arial"/>
              </a:rPr>
              <a:t> are good at low speeds and measuring exact distance, but terrible at heading due to wheel slip.</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1" dirty="0">
                <a:latin typeface="+mj-lt"/>
                <a:ea typeface="Cambria Math" panose="02040503050406030204" pitchFamily="18" charset="0"/>
                <a:cs typeface="Arial"/>
                <a:sym typeface="Arial"/>
              </a:rPr>
              <a:t>Gyroscopes</a:t>
            </a:r>
            <a:r>
              <a:rPr lang="en-US" sz="2000" dirty="0">
                <a:latin typeface="+mj-lt"/>
                <a:ea typeface="Cambria Math" panose="02040503050406030204" pitchFamily="18" charset="0"/>
                <a:cs typeface="Arial"/>
                <a:sym typeface="Arial"/>
              </a:rPr>
              <a:t> are highly accurate for rapid rotations and </a:t>
            </a:r>
            <a:r>
              <a:rPr lang="en-US" sz="2000" b="1" dirty="0">
                <a:latin typeface="+mj-lt"/>
                <a:ea typeface="Cambria Math" panose="02040503050406030204" pitchFamily="18" charset="0"/>
                <a:cs typeface="Arial"/>
                <a:sym typeface="Arial"/>
              </a:rPr>
              <a:t>immune to wheel slip</a:t>
            </a:r>
            <a:r>
              <a:rPr lang="en-US" sz="2000" dirty="0">
                <a:latin typeface="+mj-lt"/>
                <a:ea typeface="Cambria Math" panose="02040503050406030204" pitchFamily="18" charset="0"/>
                <a:cs typeface="Arial"/>
                <a:sym typeface="Arial"/>
              </a:rPr>
              <a:t>, but drift over time due to integrated noise.</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Sensor Fusion is the mathematical process of combining these complementary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algorithms like Complementary Filters or Kalman Filters to merge the data.</a:t>
            </a:r>
          </a:p>
        </p:txBody>
      </p:sp>
      <p:sp>
        <p:nvSpPr>
          <p:cNvPr id="119" name="Google Shape;119;p29">
            <a:extLst>
              <a:ext uri="{FF2B5EF4-FFF2-40B4-BE49-F238E27FC236}">
                <a16:creationId xmlns:a16="http://schemas.microsoft.com/office/drawing/2014/main" id="{D3E99706-43F5-E2CC-6110-681317CD10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37D41-05DF-EED9-C42F-2D6CCB04B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F5148C3-83FA-3D56-C528-763CF889AB1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08BDAD-B6E3-ABF9-6DC7-443405D705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760EB37-479E-38C3-2C5B-4C5A086254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4E265C-005B-78DB-F324-FBFBF4223E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59F94-09E0-04AF-0EB1-3385ABF453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B3DD9B-DE85-4A97-D002-0876EB133A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73098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A8285-DC09-1ED3-C502-2D0EE0A7887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7B62C66-340C-F490-FF7C-9F3B56DFC07F}"/>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Very briefly the Complementary Filter (very simple filter) blends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filtered signal and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filtered signal.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heading, we pass the integrated Gyro data through a </a:t>
                </a:r>
                <a:r>
                  <a:rPr lang="en-US" sz="2000" b="1" dirty="0">
                    <a:latin typeface="+mj-lt"/>
                    <a:ea typeface="Cambria Math" panose="02040503050406030204" pitchFamily="18" charset="0"/>
                    <a:cs typeface="Arial"/>
                    <a:sym typeface="Arial"/>
                  </a:rPr>
                  <a:t>High-Pass</a:t>
                </a:r>
                <a:r>
                  <a:rPr lang="en-US" sz="2000" dirty="0">
                    <a:latin typeface="+mj-lt"/>
                    <a:ea typeface="Cambria Math" panose="02040503050406030204" pitchFamily="18" charset="0"/>
                    <a:cs typeface="Arial"/>
                    <a:sym typeface="Arial"/>
                  </a:rPr>
                  <a:t> filter (trusting it in the short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pass an absolute heading measurement (like a Magnetometer, if available) through a </a:t>
                </a:r>
                <a:r>
                  <a:rPr lang="en-US" sz="2000" b="1" dirty="0">
                    <a:latin typeface="+mj-lt"/>
                    <a:ea typeface="Cambria Math" panose="02040503050406030204" pitchFamily="18" charset="0"/>
                    <a:cs typeface="Arial"/>
                    <a:sym typeface="Arial"/>
                  </a:rPr>
                  <a:t>Low-Pass</a:t>
                </a:r>
                <a:r>
                  <a:rPr lang="en-US" sz="2000" dirty="0">
                    <a:latin typeface="+mj-lt"/>
                    <a:ea typeface="Cambria Math" panose="02040503050406030204" pitchFamily="18" charset="0"/>
                    <a:cs typeface="Arial"/>
                    <a:sym typeface="Arial"/>
                  </a:rPr>
                  <a:t> filter (trusting it in the long term).</a:t>
                </a:r>
              </a:p>
              <a:p>
                <a:pPr marL="0" indent="0">
                  <a:lnSpc>
                    <a:spcPct val="100000"/>
                  </a:lnSpc>
                  <a:spcBef>
                    <a:spcPts val="0"/>
                  </a:spcBef>
                  <a:buSzPts val="3000"/>
                  <a:buNone/>
                </a:pPr>
                <a:endParaRPr lang="en-US" sz="2000" b="0" dirty="0">
                  <a:latin typeface="+mj-lt"/>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r>
                        <a:rPr lang="en-US" sz="2000" b="0" i="1" dirty="0" smtClean="0">
                          <a:latin typeface="Cambria Math" panose="02040503050406030204" pitchFamily="18" charset="0"/>
                          <a:ea typeface="Cambria Math" panose="02040503050406030204" pitchFamily="18" charset="0"/>
                          <a:cs typeface="Arial"/>
                          <a:sym typeface="Arial"/>
                        </a:rPr>
                        <m:t>𝛼</m:t>
                      </m:r>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𝑓𝑢𝑠𝑒𝑑</m:t>
                              </m:r>
                            </m:sub>
                          </m:sSub>
                          <m:r>
                            <a:rPr lang="en-US" sz="2000" b="0" i="1" dirty="0" smtClean="0">
                              <a:latin typeface="Cambria Math" panose="02040503050406030204" pitchFamily="18" charset="0"/>
                              <a:ea typeface="Cambria Math" panose="02040503050406030204" pitchFamily="18" charset="0"/>
                              <a:cs typeface="Arial"/>
                              <a:sym typeface="Arial"/>
                            </a:rPr>
                            <m:t>+</m:t>
                          </m:r>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𝜔</m:t>
                              </m:r>
                            </m:e>
                            <m:sub>
                              <m:r>
                                <a:rPr lang="en-US" sz="2000" b="0" i="1" dirty="0" smtClean="0">
                                  <a:latin typeface="Cambria Math" panose="02040503050406030204" pitchFamily="18" charset="0"/>
                                  <a:ea typeface="Cambria Math" panose="02040503050406030204" pitchFamily="18" charset="0"/>
                                  <a:cs typeface="Arial"/>
                                  <a:sym typeface="Arial"/>
                                </a:rPr>
                                <m:t>𝑔𝑦𝑟𝑜</m:t>
                              </m:r>
                            </m:sub>
                          </m:sSub>
                          <m:r>
                            <m:rPr>
                              <m:sty m:val="p"/>
                            </m:rPr>
                            <a:rPr lang="en-US" sz="2000" b="0" i="0" dirty="0" smtClean="0">
                              <a:latin typeface="Cambria Math" panose="02040503050406030204" pitchFamily="18" charset="0"/>
                              <a:ea typeface="Cambria Math" panose="02040503050406030204" pitchFamily="18" charset="0"/>
                              <a:cs typeface="Arial"/>
                              <a:sym typeface="Arial"/>
                            </a:rPr>
                            <m:t>Δ</m:t>
                          </m:r>
                          <m:r>
                            <a:rPr lang="en-US" sz="2000" b="0" i="1" dirty="0" smtClean="0">
                              <a:latin typeface="Cambria Math" panose="02040503050406030204" pitchFamily="18" charset="0"/>
                              <a:ea typeface="Cambria Math" panose="02040503050406030204" pitchFamily="18" charset="0"/>
                              <a:cs typeface="Arial"/>
                              <a:sym typeface="Arial"/>
                            </a:rPr>
                            <m:t>𝑡</m:t>
                          </m:r>
                        </m:e>
                      </m:d>
                      <m:r>
                        <a:rPr lang="en-US" sz="2000" b="0" i="1" dirty="0" smtClean="0">
                          <a:latin typeface="Cambria Math" panose="02040503050406030204" pitchFamily="18" charset="0"/>
                          <a:ea typeface="Cambria Math" panose="02040503050406030204" pitchFamily="18" charset="0"/>
                          <a:cs typeface="Arial"/>
                          <a:sym typeface="Arial"/>
                        </a:rPr>
                        <m:t>+</m:t>
                      </m:r>
                      <m:d>
                        <m:dPr>
                          <m:ctrlPr>
                            <a:rPr lang="en-US" sz="2000" b="0" i="1" dirty="0" smtClean="0">
                              <a:latin typeface="Cambria Math" panose="02040503050406030204" pitchFamily="18" charset="0"/>
                              <a:ea typeface="Cambria Math" panose="02040503050406030204" pitchFamily="18" charset="0"/>
                              <a:cs typeface="Arial"/>
                              <a:sym typeface="Arial"/>
                            </a:rPr>
                          </m:ctrlPr>
                        </m:dPr>
                        <m:e>
                          <m:r>
                            <a:rPr lang="en-US" sz="2000" b="0" i="1" dirty="0" smtClean="0">
                              <a:latin typeface="Cambria Math" panose="02040503050406030204" pitchFamily="18" charset="0"/>
                              <a:ea typeface="Cambria Math" panose="02040503050406030204" pitchFamily="18" charset="0"/>
                              <a:cs typeface="Arial"/>
                              <a:sym typeface="Arial"/>
                            </a:rPr>
                            <m:t>1−</m:t>
                          </m:r>
                          <m:r>
                            <a:rPr lang="en-US" sz="2000" b="0" i="1" dirty="0" smtClean="0">
                              <a:latin typeface="Cambria Math" panose="02040503050406030204" pitchFamily="18" charset="0"/>
                              <a:ea typeface="Cambria Math" panose="02040503050406030204" pitchFamily="18" charset="0"/>
                              <a:cs typeface="Arial"/>
                              <a:sym typeface="Arial"/>
                            </a:rPr>
                            <m:t>𝛼</m:t>
                          </m:r>
                        </m:e>
                      </m:d>
                      <m:d>
                        <m:dPr>
                          <m:ctrlPr>
                            <a:rPr lang="en-US" sz="2000" b="0" i="1" dirty="0" smtClean="0">
                              <a:latin typeface="Cambria Math" panose="02040503050406030204" pitchFamily="18" charset="0"/>
                              <a:ea typeface="Cambria Math" panose="02040503050406030204" pitchFamily="18" charset="0"/>
                              <a:cs typeface="Arial"/>
                              <a:sym typeface="Arial"/>
                            </a:rPr>
                          </m:ctrlPr>
                        </m:dPr>
                        <m:e>
                          <m:sSub>
                            <m:sSubPr>
                              <m:ctrlPr>
                                <a:rPr lang="en-US" sz="2000" b="0" i="1" dirty="0" smtClean="0">
                                  <a:latin typeface="Cambria Math" panose="02040503050406030204" pitchFamily="18" charset="0"/>
                                  <a:ea typeface="Cambria Math" panose="02040503050406030204" pitchFamily="18" charset="0"/>
                                  <a:cs typeface="Arial"/>
                                  <a:sym typeface="Arial"/>
                                </a:rPr>
                              </m:ctrlPr>
                            </m:sSubPr>
                            <m:e>
                              <m:r>
                                <a:rPr lang="en-US" sz="2000" b="0" i="1" dirty="0" smtClean="0">
                                  <a:latin typeface="Cambria Math" panose="02040503050406030204" pitchFamily="18" charset="0"/>
                                  <a:ea typeface="Cambria Math" panose="02040503050406030204" pitchFamily="18" charset="0"/>
                                  <a:cs typeface="Arial"/>
                                  <a:sym typeface="Arial"/>
                                </a:rPr>
                                <m:t>𝜑</m:t>
                              </m:r>
                            </m:e>
                            <m:sub>
                              <m:r>
                                <a:rPr lang="en-US" sz="2000" b="0" i="1" dirty="0" smtClean="0">
                                  <a:latin typeface="Cambria Math" panose="02040503050406030204" pitchFamily="18" charset="0"/>
                                  <a:ea typeface="Cambria Math" panose="02040503050406030204" pitchFamily="18" charset="0"/>
                                  <a:cs typeface="Arial"/>
                                  <a:sym typeface="Arial"/>
                                </a:rPr>
                                <m:t>𝑚𝑎𝑔</m:t>
                              </m:r>
                            </m:sub>
                          </m:sSub>
                        </m:e>
                      </m:d>
                    </m:oMath>
                  </m:oMathPara>
                </a14:m>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Where </a:t>
                </a:r>
                <a14:m>
                  <m:oMath xmlns:m="http://schemas.openxmlformats.org/officeDocument/2006/math">
                    <m:r>
                      <a:rPr lang="en-US" sz="2000" i="1" dirty="0">
                        <a:latin typeface="Cambria Math" panose="02040503050406030204" pitchFamily="18" charset="0"/>
                        <a:ea typeface="Cambria Math" panose="02040503050406030204" pitchFamily="18" charset="0"/>
                        <a:cs typeface="Arial"/>
                        <a:sym typeface="Arial"/>
                      </a:rPr>
                      <m:t>𝛼</m:t>
                    </m:r>
                  </m:oMath>
                </a14:m>
                <a:r>
                  <a:rPr lang="en-US" sz="2000" b="0" dirty="0">
                    <a:latin typeface="+mj-lt"/>
                    <a:ea typeface="Cambria Math" panose="02040503050406030204" pitchFamily="18" charset="0"/>
                    <a:cs typeface="Arial"/>
                    <a:sym typeface="Arial"/>
                  </a:rPr>
                  <a:t> is a tuning constant close to 1 (e.g., 0.98).</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b="0" dirty="0">
                    <a:latin typeface="+mj-lt"/>
                    <a:ea typeface="Cambria Math" panose="02040503050406030204" pitchFamily="18" charset="0"/>
                    <a:cs typeface="Arial"/>
                    <a:sym typeface="Arial"/>
                  </a:rPr>
                  <a:t>This is essential an </a:t>
                </a:r>
                <a:r>
                  <a:rPr lang="en-US" sz="2000" b="1" dirty="0">
                    <a:latin typeface="+mj-lt"/>
                    <a:ea typeface="Cambria Math" panose="02040503050406030204" pitchFamily="18" charset="0"/>
                    <a:cs typeface="Arial"/>
                    <a:sym typeface="Arial"/>
                  </a:rPr>
                  <a:t>exponential moving average</a:t>
                </a:r>
                <a:r>
                  <a:rPr lang="en-US" sz="2000" b="0" dirty="0">
                    <a:latin typeface="+mj-lt"/>
                    <a:ea typeface="Cambria Math" panose="02040503050406030204" pitchFamily="18" charset="0"/>
                    <a:cs typeface="Arial"/>
                    <a:sym typeface="Arial"/>
                  </a:rPr>
                  <a:t>,</a:t>
                </a:r>
              </a:p>
            </p:txBody>
          </p:sp>
        </mc:Choice>
        <mc:Fallback xmlns="">
          <p:sp>
            <p:nvSpPr>
              <p:cNvPr id="118" name="Google Shape;118;p29">
                <a:extLst>
                  <a:ext uri="{FF2B5EF4-FFF2-40B4-BE49-F238E27FC236}">
                    <a16:creationId xmlns:a16="http://schemas.microsoft.com/office/drawing/2014/main" id="{47B62C66-340C-F490-FF7C-9F3B56DFC07F}"/>
                  </a:ext>
                </a:extLst>
              </p:cNvPr>
              <p:cNvSpPr txBox="1">
                <a:spLocks noGrp="1" noRot="1" noChangeAspect="1" noMove="1" noResize="1" noEditPoints="1" noAdjustHandles="1" noChangeArrowheads="1" noChangeShapeType="1" noTextEdit="1"/>
              </p:cNvSpPr>
              <p:nvPr>
                <p:ph type="body" idx="1"/>
              </p:nvPr>
            </p:nvSpPr>
            <p:spPr>
              <a:xfrm>
                <a:off x="376809" y="1334279"/>
                <a:ext cx="11452008" cy="4821102"/>
              </a:xfrm>
              <a:prstGeom prst="rect">
                <a:avLst/>
              </a:prstGeom>
              <a:blipFill>
                <a:blip r:embed="rId3"/>
                <a:stretch>
                  <a:fillRect l="-586" t="-632" r="-3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B87A26-8095-AF99-227F-510FB5C3B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E31207-2716-447E-2BA9-E1B9A7D251C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Errors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A9982-05DB-6F73-B8EC-D09B27E42C8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99DEF0-5402-0DB2-7D7A-3DBD5AFDE8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F00F84-60E9-B614-EAC2-ED2315745D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C4F01B-EC53-802F-C922-49E25B4406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412205-CE9E-29CB-0CEC-BF3D44E90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77C12-A39B-4531-DC7D-AED77A785D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608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F40AAD7-3C70-0239-BE97-EF6B1AEBBC1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B381550B-E51B-39E7-AB68-DF10E73EB82D}"/>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SLAM</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(A VERY brief introduction.)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86C8F2C-3094-70B9-E5B7-0A254DCCDB7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49ED9E9-3E25-C0E2-CB1B-3FCF0628DC3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44D8AC0-C32F-A041-B910-965B57F1823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6DDEACD-1773-6FF9-7690-1230679E5BC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E4695ABA-95A9-C78B-810A-C68E4452EC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926152-23DF-12CF-E52B-4C5D5F6CA9C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C32CFBC-7B48-C0B6-0953-B829AB823F6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D90CE1-8CF2-827A-46DE-1DE9B00D24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71DF5EA-F26C-A777-C778-5B0F0DF4A3A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89172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EB45AC-EA78-3764-0C90-46082F038F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2CD263-623E-E1DA-AC7D-BD304FCD99FC}"/>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Even with perfect sensor fusion of internal sensors, drift will eventually occur.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To truly fix our global position, we must look at the external world using active or passive sensors.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detect </a:t>
            </a:r>
            <a:r>
              <a:rPr lang="en-US" sz="2000" b="1" dirty="0">
                <a:latin typeface="+mj-lt"/>
                <a:ea typeface="Cambria Math" panose="02040503050406030204" pitchFamily="18" charset="0"/>
                <a:cs typeface="Arial"/>
                <a:sym typeface="Arial"/>
              </a:rPr>
              <a:t>Landmarks</a:t>
            </a:r>
            <a:r>
              <a:rPr lang="en-US" sz="2000" dirty="0">
                <a:latin typeface="+mj-lt"/>
                <a:ea typeface="Cambria Math" panose="02040503050406030204" pitchFamily="18" charset="0"/>
                <a:cs typeface="Arial"/>
                <a:sym typeface="Arial"/>
              </a:rPr>
              <a:t>: recognizable, distinct features in the environment with known coordinates.</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we see a landmark, we calculate our relative distance to it and use that to instantly reset our accumulated odometry error.</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When you are driving / walking and you are lost what are some landmarks that you use to relocate yourself?</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Examples: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buildings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Specific road names</a:t>
            </a:r>
          </a:p>
        </p:txBody>
      </p:sp>
      <p:sp>
        <p:nvSpPr>
          <p:cNvPr id="119" name="Google Shape;119;p29">
            <a:extLst>
              <a:ext uri="{FF2B5EF4-FFF2-40B4-BE49-F238E27FC236}">
                <a16:creationId xmlns:a16="http://schemas.microsoft.com/office/drawing/2014/main" id="{37B0DD54-FC64-0F3B-F71B-8C1058204A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D2AB1D-5CF6-B189-3F48-52DE03AEB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7EE7A8-1B97-72AC-E06B-2EBD3A60E6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7044C4-B1F4-C675-0908-CB705CD61D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3C3E96-5D03-CF53-7CB2-38025197893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CCF6D3-45A9-68B5-8CDD-17CA1675D7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2EA43F-98B8-E675-26FE-19217803E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A9E4EA-919D-2DE5-13C6-78E390C58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48347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1" end="1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20967-0045-E533-F966-4754683C97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513AC27-5103-E9B7-BB43-E214728B8C7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2 sensors that we can use in our robot is the LiDAR and the camera.</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For the camera, we can create specific tags to place in the environment as landmarks. The most common is called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If you cannot place landmarks in your environment, then it becomes much more complicated as a process: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Look at images, find pixels that represent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At the next frame match to find those previous landmarks</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Calculate the 6DOF movement your camera did to achieve the landmark transform</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Calculculate the odometry</a:t>
            </a:r>
          </a:p>
          <a:p>
            <a:pPr marL="342900">
              <a:lnSpc>
                <a:spcPct val="100000"/>
              </a:lnSpc>
              <a:spcBef>
                <a:spcPts val="0"/>
              </a:spcBef>
              <a:buSzPts val="3000"/>
            </a:pPr>
            <a:r>
              <a:rPr lang="en-US" sz="2000" dirty="0">
                <a:latin typeface="+mj-lt"/>
                <a:ea typeface="Cambria Math" panose="02040503050406030204" pitchFamily="18" charset="0"/>
                <a:cs typeface="Arial"/>
                <a:sym typeface="Arial"/>
              </a:rPr>
              <a:t>If you perform a loop, correct any error through loop closure</a:t>
            </a:r>
          </a:p>
        </p:txBody>
      </p:sp>
      <p:sp>
        <p:nvSpPr>
          <p:cNvPr id="119" name="Google Shape;119;p29">
            <a:extLst>
              <a:ext uri="{FF2B5EF4-FFF2-40B4-BE49-F238E27FC236}">
                <a16:creationId xmlns:a16="http://schemas.microsoft.com/office/drawing/2014/main" id="{37281661-9413-8F8C-B65D-A007B4F965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42C6EE-4DE4-86E2-C13A-CA06F30AC7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AE86D17-8E98-6A63-6B74-D2408714F3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F4C9FC-87B0-08FB-A25B-DA4A75C8A2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DFA5E1E-7EB5-751C-7BD1-C1810D3816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2F08FA-B9EE-CE20-0AE6-266072DD1C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C10FC1-36A0-F976-0DB8-6F992C4FC8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AA4580-E7EB-4864-2967-CE885B803F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40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A8ACF3-73D5-55D0-CFD9-1C5F043320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F6559EB-E085-7ED1-DBA5-EBF170C9C6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9A4914-5ED0-DC4A-37F7-3B2C6E997D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C8F399-7B1F-2B67-C6D7-59AAD64389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5AD0B2-69C1-51AB-7871-70CC031F9A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7DF00C-6079-0A18-5CEA-A4BE451EC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9B5354-B8AA-C744-144F-8BA91C99C6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8FB027-9172-FA8F-FA88-F24C844172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9704A-6EAA-B4AD-6978-179821A836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F76EE2-92E0-0223-2826-F4330C0AA86E}"/>
              </a:ext>
            </a:extLst>
          </p:cNvPr>
          <p:cNvSpPr>
            <a:spLocks noGrp="1"/>
          </p:cNvSpPr>
          <p:nvPr>
            <p:ph type="body" idx="1"/>
          </p:nvPr>
        </p:nvSpPr>
        <p:spPr/>
        <p:txBody>
          <a:bodyPr/>
          <a:lstStyle/>
          <a:p>
            <a:endParaRPr lang="en-US" dirty="0"/>
          </a:p>
        </p:txBody>
      </p:sp>
      <p:pic>
        <p:nvPicPr>
          <p:cNvPr id="2050" name="Picture 2" descr="Comparison of two monocular SLAM runs in the same low-texture hallway. Top: point-only ORB-SLAM builds a sparse point map and a camera trajectory along three sides of a loop, then fails; its camera view of a plain corridor reads &quot;Track lost. Trying to relocalize.&quot; Bottom: PSL-SLAM, using points plus structure lines, tracks the full closed rectangular loop. Its camera view shows many detected line and point features on the walls and ceiling, with 219 keyframes, 8048 map points, and 377 matches.">
            <a:extLst>
              <a:ext uri="{FF2B5EF4-FFF2-40B4-BE49-F238E27FC236}">
                <a16:creationId xmlns:a16="http://schemas.microsoft.com/office/drawing/2014/main" id="{3FF978FE-3B23-FBD7-7C9B-C9235E17D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78762" y="961569"/>
            <a:ext cx="5127513" cy="524777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64AF9AD-162D-1E9E-9C01-61B463D08624}"/>
              </a:ext>
            </a:extLst>
          </p:cNvPr>
          <p:cNvSpPr txBox="1"/>
          <p:nvPr/>
        </p:nvSpPr>
        <p:spPr>
          <a:xfrm>
            <a:off x="6978762" y="6170559"/>
            <a:ext cx="5067300" cy="369332"/>
          </a:xfrm>
          <a:prstGeom prst="rect">
            <a:avLst/>
          </a:prstGeom>
          <a:noFill/>
        </p:spPr>
        <p:txBody>
          <a:bodyPr wrap="square">
            <a:spAutoFit/>
          </a:bodyPr>
          <a:lstStyle/>
          <a:p>
            <a:pPr algn="ctr"/>
            <a:r>
              <a:rPr lang="en-US" sz="900" dirty="0">
                <a:hlinkClick r:id="rId5"/>
              </a:rPr>
              <a:t>https://www.researchgate.net/publication/355183350_PSL-SLAM_a_monocular_SLAM_system_using_points_and_structure_lines_in_Manhattan_World</a:t>
            </a:r>
            <a:r>
              <a:rPr lang="en-US" sz="900" dirty="0"/>
              <a:t> </a:t>
            </a:r>
          </a:p>
        </p:txBody>
      </p:sp>
      <p:pic>
        <p:nvPicPr>
          <p:cNvPr id="3074" name="Picture 2" descr="Photo: about ten small white four-wheeled robots with antennas and cameras parked on a park path and lawn, each with black-and-white AprilTag markers on its sides and top. An enlarged inset shows one AprilTag, a square grid of black and white cells with a black border that cameras can detect to identify each robot and estimate its position and orientation.">
            <a:extLst>
              <a:ext uri="{FF2B5EF4-FFF2-40B4-BE49-F238E27FC236}">
                <a16:creationId xmlns:a16="http://schemas.microsoft.com/office/drawing/2014/main" id="{75E36511-A060-74B2-042C-98B852A9EF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0" y="1786841"/>
            <a:ext cx="6979146" cy="353374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CFB65907-4711-BE75-9EBD-F89FDFB51589}"/>
              </a:ext>
            </a:extLst>
          </p:cNvPr>
          <p:cNvSpPr txBox="1"/>
          <p:nvPr/>
        </p:nvSpPr>
        <p:spPr>
          <a:xfrm>
            <a:off x="1606798" y="6228302"/>
            <a:ext cx="3765550" cy="246221"/>
          </a:xfrm>
          <a:prstGeom prst="rect">
            <a:avLst/>
          </a:prstGeom>
          <a:noFill/>
        </p:spPr>
        <p:txBody>
          <a:bodyPr wrap="square">
            <a:spAutoFit/>
          </a:bodyPr>
          <a:lstStyle/>
          <a:p>
            <a:pPr algn="ctr"/>
            <a:r>
              <a:rPr lang="en-US" sz="1000" dirty="0">
                <a:hlinkClick r:id="rId7"/>
              </a:rPr>
              <a:t>https://april.eecs.umich.edu/software/apriltag</a:t>
            </a:r>
            <a:r>
              <a:rPr lang="en-US" sz="1000" dirty="0"/>
              <a:t> </a:t>
            </a:r>
          </a:p>
        </p:txBody>
      </p:sp>
    </p:spTree>
    <p:extLst>
      <p:ext uri="{BB962C8B-B14F-4D97-AF65-F5344CB8AC3E}">
        <p14:creationId xmlns:p14="http://schemas.microsoft.com/office/powerpoint/2010/main" val="12006633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8282C2-B8F7-2C7A-F07C-5EF82EFDEC3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CE1ED7-1976-2C3A-F985-18B04F2C078A}"/>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What if there are no </a:t>
            </a:r>
            <a:r>
              <a:rPr lang="en-US" sz="2000" dirty="0" err="1">
                <a:latin typeface="+mj-lt"/>
                <a:ea typeface="Cambria Math" panose="02040503050406030204" pitchFamily="18" charset="0"/>
                <a:cs typeface="Arial"/>
                <a:sym typeface="Arial"/>
              </a:rPr>
              <a:t>AprilTags</a:t>
            </a:r>
            <a:r>
              <a:rPr lang="en-US" sz="2000" dirty="0">
                <a:latin typeface="+mj-lt"/>
                <a:ea typeface="Cambria Math" panose="02040503050406030204" pitchFamily="18" charset="0"/>
                <a:cs typeface="Arial"/>
                <a:sym typeface="Arial"/>
              </a:rPr>
              <a:t> and we don’t know the map beforehand?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We use </a:t>
            </a:r>
            <a:r>
              <a:rPr lang="en-US" sz="2000" b="1" dirty="0">
                <a:latin typeface="+mj-lt"/>
                <a:ea typeface="Cambria Math" panose="02040503050406030204" pitchFamily="18" charset="0"/>
                <a:cs typeface="Arial"/>
                <a:sym typeface="Arial"/>
              </a:rPr>
              <a:t>SLAM: Simultaneous Localization and Mapping</a:t>
            </a:r>
            <a:r>
              <a:rPr lang="en-US" sz="2000" dirty="0">
                <a:latin typeface="+mj-lt"/>
                <a:ea typeface="Cambria Math" panose="02040503050406030204" pitchFamily="18" charset="0"/>
                <a:cs typeface="Arial"/>
                <a:sym typeface="Arial"/>
              </a:rPr>
              <a: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rapidly spinning LiDAR generates a dense 2D point cloud.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As the robot moves, it takes a new point cloud scan and compares it to the previous scan.</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How do we align two-point clouds taken a few seconds apart?</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a:t>
            </a:r>
            <a:r>
              <a:rPr lang="en-US" sz="2000" b="1" dirty="0">
                <a:latin typeface="+mj-lt"/>
                <a:ea typeface="Cambria Math" panose="02040503050406030204" pitchFamily="18" charset="0"/>
                <a:cs typeface="Arial"/>
                <a:sym typeface="Arial"/>
              </a:rPr>
              <a:t>Iterative Closest Point </a:t>
            </a:r>
            <a:r>
              <a:rPr lang="en-US" sz="2000" dirty="0">
                <a:latin typeface="+mj-lt"/>
                <a:ea typeface="Cambria Math" panose="02040503050406030204" pitchFamily="18" charset="0"/>
                <a:cs typeface="Arial"/>
                <a:sym typeface="Arial"/>
              </a:rPr>
              <a:t>(ICP) algorithm rotates and translates the new scan until it best overlaps with the old scan.</a:t>
            </a: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The required rotation and translation to make them match is exactly how much the robot moved.</a:t>
            </a:r>
          </a:p>
          <a:p>
            <a:pPr marL="0" indent="0">
              <a:lnSpc>
                <a:spcPct val="100000"/>
              </a:lnSpc>
              <a:spcBef>
                <a:spcPts val="0"/>
              </a:spcBef>
              <a:buSzPts val="3000"/>
              <a:buNone/>
            </a:pPr>
            <a:endParaRPr lang="en-US" sz="2000" dirty="0">
              <a:latin typeface="+mj-lt"/>
              <a:ea typeface="Cambria Math" panose="02040503050406030204" pitchFamily="18" charset="0"/>
              <a:cs typeface="Arial"/>
              <a:sym typeface="Arial"/>
            </a:endParaRPr>
          </a:p>
          <a:p>
            <a:pPr marL="0" indent="0">
              <a:lnSpc>
                <a:spcPct val="100000"/>
              </a:lnSpc>
              <a:spcBef>
                <a:spcPts val="0"/>
              </a:spcBef>
              <a:buSzPts val="3000"/>
              <a:buNone/>
            </a:pPr>
            <a:r>
              <a:rPr lang="en-US" sz="2000" dirty="0">
                <a:latin typeface="+mj-lt"/>
                <a:ea typeface="Cambria Math" panose="02040503050406030204" pitchFamily="18" charset="0"/>
                <a:cs typeface="Arial"/>
                <a:sym typeface="Arial"/>
              </a:rPr>
              <a:t>This provides highly accurate odometry without relying on wheel friction!</a:t>
            </a:r>
          </a:p>
        </p:txBody>
      </p:sp>
      <p:sp>
        <p:nvSpPr>
          <p:cNvPr id="119" name="Google Shape;119;p29">
            <a:extLst>
              <a:ext uri="{FF2B5EF4-FFF2-40B4-BE49-F238E27FC236}">
                <a16:creationId xmlns:a16="http://schemas.microsoft.com/office/drawing/2014/main" id="{3D2CBD79-B09D-4A1A-D424-198FE3FCF82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CF9B9-16B9-FD6A-65BB-39BA1BC53D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A74EE3-353C-BFEB-02A1-EB2ADA66BB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DBA326-B5E5-2C59-1228-C66D18D7C7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534A93-68BD-813E-749E-0067982419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32EEC3-8BF1-8EEE-86F6-1FC36B036F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F00C73-C1E8-9FBB-D56F-9D11722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2CF559-1ACB-C91F-F963-7AFB3AB9111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6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402C20-D953-7C0C-D93B-860DAD41BE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86DAF9B-3B5F-D59E-B260-648DB1D97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7B7ACA-492A-FE25-9EF8-B9DADD8094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335854-BF20-4E4F-D021-B1F0B24AAD0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A6A320B-E0AF-7459-5905-3E723742E5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5D5065-1E47-71C0-FB3B-D7D0402DE4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48CC38-4904-8F30-D988-04467539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35E5C1-F08F-6552-9591-AC3C2BDB49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01CCFAA-C4F6-1B3E-8241-1AF794E32A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17BFE57B-5E75-7438-0A86-EE797C3EFD47}"/>
              </a:ext>
            </a:extLst>
          </p:cNvPr>
          <p:cNvSpPr>
            <a:spLocks noGrp="1"/>
          </p:cNvSpPr>
          <p:nvPr>
            <p:ph type="body" idx="1"/>
          </p:nvPr>
        </p:nvSpPr>
        <p:spPr/>
        <p:txBody>
          <a:bodyPr/>
          <a:lstStyle/>
          <a:p>
            <a:endParaRPr lang="en-US"/>
          </a:p>
        </p:txBody>
      </p:sp>
      <p:pic>
        <p:nvPicPr>
          <p:cNvPr id="4098" name="Picture 2" descr="Two side-by-side panels comparing point-to-point and point-to-plane Iterative Closest Point (ICP) scan matching on the Stanford bunny point cloud, both at iteration 0. In each, a red source scan and a blue target scan of the bunny are offset and rotated relative to each other, showing the initial misalignment that ICP iteratively corrects; the starting misalignment is identical in both panels.">
            <a:extLst>
              <a:ext uri="{FF2B5EF4-FFF2-40B4-BE49-F238E27FC236}">
                <a16:creationId xmlns:a16="http://schemas.microsoft.com/office/drawing/2014/main" id="{38F2D035-EEDF-B5B1-7F00-156C87F5E5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07672" y="1344132"/>
            <a:ext cx="6555753" cy="41697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6B1B59-D863-F10E-30F1-E16A89DDD63E}"/>
              </a:ext>
            </a:extLst>
          </p:cNvPr>
          <p:cNvSpPr txBox="1"/>
          <p:nvPr/>
        </p:nvSpPr>
        <p:spPr>
          <a:xfrm>
            <a:off x="3048000" y="6184228"/>
            <a:ext cx="6096000" cy="246221"/>
          </a:xfrm>
          <a:prstGeom prst="rect">
            <a:avLst/>
          </a:prstGeom>
          <a:noFill/>
        </p:spPr>
        <p:txBody>
          <a:bodyPr wrap="square">
            <a:spAutoFit/>
          </a:bodyPr>
          <a:lstStyle/>
          <a:p>
            <a:pPr algn="ctr"/>
            <a:r>
              <a:rPr lang="en-US" sz="1000" dirty="0">
                <a:hlinkClick r:id="rId5"/>
              </a:rPr>
              <a:t>https://learnopencv.com/iterative-closest-point-icp-explained/</a:t>
            </a:r>
            <a:r>
              <a:rPr lang="en-US" sz="1000" dirty="0"/>
              <a:t> </a:t>
            </a:r>
          </a:p>
        </p:txBody>
      </p:sp>
      <p:pic>
        <p:nvPicPr>
          <p:cNvPr id="7" name="Picture 6" descr="Plot: iterative closest point (ICP) alignment at iteration 0, mean error not yet computed. Red source points A, the set to be moved, trace one sine-wave period from (0, 0) up to about 1 near x = 1.4, down to about minus 1 near x = 4.9, and back to 0 at x = 6.3. Blue target points B form the same wave shape, rotated counterclockwise and shifted up and right, running from about (2.1, 0.3) to (7.6, 3.2). ICP must find the rotation and translation that align A onto B.">
            <a:extLst>
              <a:ext uri="{FF2B5EF4-FFF2-40B4-BE49-F238E27FC236}">
                <a16:creationId xmlns:a16="http://schemas.microsoft.com/office/drawing/2014/main" id="{749C5622-0D26-7FC2-2E63-53E62FF28A68}"/>
              </a:ext>
            </a:extLst>
          </p:cNvPr>
          <p:cNvPicPr>
            <a:picLocks noChangeAspect="1"/>
          </p:cNvPicPr>
          <p:nvPr/>
        </p:nvPicPr>
        <p:blipFill>
          <a:blip r:embed="rId6"/>
          <a:stretch>
            <a:fillRect/>
          </a:stretch>
        </p:blipFill>
        <p:spPr>
          <a:xfrm>
            <a:off x="28575" y="1347554"/>
            <a:ext cx="5550522" cy="4162892"/>
          </a:xfrm>
          <a:prstGeom prst="rect">
            <a:avLst/>
          </a:prstGeom>
        </p:spPr>
      </p:pic>
    </p:spTree>
    <p:extLst>
      <p:ext uri="{BB962C8B-B14F-4D97-AF65-F5344CB8AC3E}">
        <p14:creationId xmlns:p14="http://schemas.microsoft.com/office/powerpoint/2010/main" val="17041984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1097</TotalTime>
  <Words>2885</Words>
  <Application>Microsoft Office PowerPoint</Application>
  <PresentationFormat>Widescreen</PresentationFormat>
  <Paragraphs>447</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227</cp:revision>
  <dcterms:created xsi:type="dcterms:W3CDTF">2019-01-14T22:06:33Z</dcterms:created>
  <dcterms:modified xsi:type="dcterms:W3CDTF">2026-03-11T20:15:22Z</dcterms:modified>
</cp:coreProperties>
</file>