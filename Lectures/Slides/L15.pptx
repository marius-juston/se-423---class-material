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31" r:id="rId9"/>
    <p:sldId id="420" r:id="rId10"/>
    <p:sldId id="422" r:id="rId11"/>
    <p:sldId id="421" r:id="rId12"/>
    <p:sldId id="423" r:id="rId13"/>
    <p:sldId id="424" r:id="rId14"/>
    <p:sldId id="425" r:id="rId15"/>
    <p:sldId id="426" r:id="rId16"/>
    <p:sldId id="427" r:id="rId17"/>
    <p:sldId id="428" r:id="rId18"/>
    <p:sldId id="429" r:id="rId19"/>
    <p:sldId id="430" r:id="rId20"/>
    <p:sldId id="432" r:id="rId21"/>
    <p:sldId id="433" r:id="rId22"/>
    <p:sldId id="434" r:id="rId23"/>
    <p:sldId id="435" r:id="rId24"/>
    <p:sldId id="437" r:id="rId25"/>
    <p:sldId id="436" r:id="rId26"/>
    <p:sldId id="438" r:id="rId27"/>
    <p:sldId id="458" r:id="rId28"/>
    <p:sldId id="439" r:id="rId29"/>
    <p:sldId id="440" r:id="rId30"/>
    <p:sldId id="441" r:id="rId31"/>
    <p:sldId id="442" r:id="rId32"/>
    <p:sldId id="443" r:id="rId33"/>
    <p:sldId id="445" r:id="rId34"/>
    <p:sldId id="447" r:id="rId35"/>
    <p:sldId id="444" r:id="rId36"/>
    <p:sldId id="448" r:id="rId37"/>
    <p:sldId id="449" r:id="rId38"/>
    <p:sldId id="450" r:id="rId39"/>
    <p:sldId id="453" r:id="rId40"/>
    <p:sldId id="452" r:id="rId41"/>
    <p:sldId id="454" r:id="rId42"/>
    <p:sldId id="455" r:id="rId43"/>
    <p:sldId id="456" r:id="rId44"/>
    <p:sldId id="45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15: Coordinate Transforms and Dead-reckoning, presented by Marius Juston on Wednesday, March 11th, 2026. The University of Illinois Urbana-Champaign logo sits at the top over a dark blue background with faint hand-drawn math sketches.</a:t>
            </a:r>
          </a:p>
          <a:p>
            <a:pPr marL="0" lvl="0" indent="0" algn="l" rtl="0">
              <a:spcBef>
                <a:spcPts val="0"/>
              </a:spcBef>
              <a:spcAft>
                <a:spcPts val="600"/>
              </a:spcAft>
              <a:buNone/>
            </a:pPr>
            <a:r>
              <a:rPr lang="en-US" dirty="0"/>
              <a:t>Today you learn how the robot works out where it is. The lecture covers 2D translation and rotation between coordinate frames, then dead-reckoning from wheel motion, the errors that build up over time, and a brief look at SLAM. It starts with a hands-on partner activity.</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activity titled "Review – 5-minute partner discussion." It is all text. It asks you to talk with the person next to you, stand up together, and work through four numbered steps. First, agree on a starting position and a target position. Second, discuss how someone could get from point A to point B as accurately as possible with their eyes closed. Third, one partner closes their eyes and carries out the strategy while the other partner keeps them safe but gives no information; the slide labels this dead-reckoning. Fourth, repeat the task, but now the partner may tell you your distance to the target, which the slide compares to an IR sensor.</a:t>
            </a:r>
          </a:p>
          <a:p>
            <a:pPr marL="0" lvl="0" indent="0" algn="l" rtl="0">
              <a:lnSpc>
                <a:spcPct val="100000"/>
              </a:lnSpc>
              <a:spcBef>
                <a:spcPts val="0"/>
              </a:spcBef>
              <a:spcAft>
                <a:spcPts val="600"/>
              </a:spcAft>
              <a:buSzPts val="1400"/>
              <a:buNone/>
            </a:pPr>
            <a:r>
              <a:rPr lang="en-US" dirty="0"/>
              <a:t>Dead-reckoning means estimating where you are only from your own motion: counting steps, judging step length, and tracking how far you have turned. This is what the robot does with its wheel encoders. Notice how small errors in step length or heading build up over the walk, so you usually miss the target, and you miss by more the farther you go.</a:t>
            </a:r>
          </a:p>
          <a:p>
            <a:pPr marL="0" lvl="0" indent="0" algn="l" rtl="0">
              <a:lnSpc>
                <a:spcPct val="100000"/>
              </a:lnSpc>
              <a:spcBef>
                <a:spcPts val="0"/>
              </a:spcBef>
              <a:spcAft>
                <a:spcPts val="600"/>
              </a:spcAft>
              <a:buSzPts val="1400"/>
              <a:buNone/>
            </a:pPr>
            <a:r>
              <a:rPr lang="en-US" dirty="0"/>
              <a:t>In the second round, a single distance measurement does not tell you which direction to go. It does let you correct the drift, especially as you get close to the target. This is the basic idea behind combining an odometry estimate with an outside sensor, which leads later to Kalman filters and SLAM.</a:t>
            </a:r>
          </a:p>
          <a:p>
            <a:pPr marL="0" lvl="0" indent="0" algn="l" rtl="0">
              <a:lnSpc>
                <a:spcPct val="100000"/>
              </a:lnSpc>
              <a:spcBef>
                <a:spcPts val="0"/>
              </a:spcBef>
              <a:spcAft>
                <a:spcPts val="600"/>
              </a:spcAft>
              <a:buSzPts val="1400"/>
              <a:buNone/>
            </a:pPr>
            <a:r>
              <a:rPr lang="en-US" dirty="0"/>
              <a:t>Before you sit down, ask yourselves: which type of error grew faster, the error in distance or the error in heading?</a:t>
            </a:r>
          </a:p>
          <a:p>
            <a:pPr marL="0" lvl="0" indent="0" algn="l" rtl="0">
              <a:lnSpc>
                <a:spcPct val="100000"/>
              </a:lnSpc>
              <a:spcBef>
                <a:spcPts val="0"/>
              </a:spcBef>
              <a:spcAft>
                <a:spcPts val="600"/>
              </a:spcAft>
              <a:buSzPts val="1400"/>
              <a:buNone/>
            </a:pPr>
            <a:r>
              <a:rPr lang="en-US" dirty="0"/>
              <a:t>After a few reminders, today's lecture makes this activity formal with coordinate transforms, dead-reckoning equations, and their errors.</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"Reminders," lists course announcements under three red headings. The first line, also in red, says spring break is next week and there are no office hours that week.</a:t>
            </a:r>
          </a:p>
          <a:p>
            <a:pPr marL="0" lvl="0" indent="0" algn="l" rtl="0">
              <a:lnSpc>
                <a:spcPct val="100000"/>
              </a:lnSpc>
              <a:spcBef>
                <a:spcPts val="0"/>
              </a:spcBef>
              <a:spcAft>
                <a:spcPts val="600"/>
              </a:spcAft>
              <a:buSzPts val="1400"/>
              <a:buNone/>
            </a:pPr>
            <a:r>
              <a:rPr lang="en-US" dirty="0"/>
              <a:t>Under "Lab": Lab 5 starts this week, and it is a one-week lab. Remember that the Lab 6 LabVIEW assignment must be done before Lab 6 begins.</a:t>
            </a:r>
          </a:p>
          <a:p>
            <a:pPr marL="0" lvl="0" indent="0" algn="l" rtl="0">
              <a:lnSpc>
                <a:spcPct val="100000"/>
              </a:lnSpc>
              <a:spcBef>
                <a:spcPts val="0"/>
              </a:spcBef>
              <a:spcAft>
                <a:spcPts val="600"/>
              </a:spcAft>
              <a:buSzPts val="1400"/>
              <a:buNone/>
            </a:pPr>
            <a:r>
              <a:rPr lang="en-US" dirty="0"/>
              <a:t>Under "Homeworks" there are three deadlines. The words "homework 3" and "homework 4" on the slide link to the assignments.</a:t>
            </a:r>
          </a:p>
          <a:p>
            <a:pPr marL="0" lvl="0" indent="0" algn="l" rtl="0">
              <a:lnSpc>
                <a:spcPct val="100000"/>
              </a:lnSpc>
              <a:spcBef>
                <a:spcPts val="0"/>
              </a:spcBef>
              <a:spcAft>
                <a:spcPts val="600"/>
              </a:spcAft>
              <a:buSzPts val="1400"/>
              <a:buNone/>
            </a:pPr>
            <a:r>
              <a:rPr lang="en-US" dirty="0"/>
              <a:t>First, check-offs for homework 3, Exercise 5, are due March 24 at 5 PM, the end of office hours. Homework 3 is long, so do not expect to start and finish it during the Tuesday office hours.</a:t>
            </a:r>
          </a:p>
          <a:p>
            <a:pPr marL="0" lvl="0" indent="0" algn="l" rtl="0">
              <a:lnSpc>
                <a:spcPct val="100000"/>
              </a:lnSpc>
              <a:spcBef>
                <a:spcPts val="0"/>
              </a:spcBef>
              <a:spcAft>
                <a:spcPts val="600"/>
              </a:spcAft>
              <a:buSzPts val="1400"/>
              <a:buNone/>
            </a:pPr>
            <a:r>
              <a:rPr lang="en-US" dirty="0"/>
              <a:t>Second, answers and code submissions for homework 3 are due March 25 at 9 AM.</a:t>
            </a:r>
          </a:p>
          <a:p>
            <a:pPr marL="0" lvl="0" indent="0" algn="l" rtl="0">
              <a:lnSpc>
                <a:spcPct val="100000"/>
              </a:lnSpc>
              <a:spcBef>
                <a:spcPts val="0"/>
              </a:spcBef>
              <a:spcAft>
                <a:spcPts val="600"/>
              </a:spcAft>
              <a:buSzPts val="1400"/>
              <a:buNone/>
            </a:pPr>
            <a:r>
              <a:rPr lang="en-US" dirty="0"/>
              <a:t>Third, check-offs for homework 4, Exercises 2 and 3, are due March 31 at 5 PM, again the end of office hours.</a:t>
            </a:r>
          </a:p>
          <a:p>
            <a:pPr marL="0" lvl="0" indent="0" algn="l" rtl="0">
              <a:lnSpc>
                <a:spcPct val="100000"/>
              </a:lnSpc>
              <a:spcBef>
                <a:spcPts val="0"/>
              </a:spcBef>
              <a:spcAft>
                <a:spcPts val="600"/>
              </a:spcAft>
              <a:buSzPts val="1400"/>
              <a:buNone/>
            </a:pPr>
            <a:r>
              <a:rPr lang="en-US" dirty="0"/>
              <a:t>The homework 3 check-off falls right after spring break, and there are no office hours during the break. Plan to get help this week if you need it.</a:t>
            </a:r>
          </a:p>
          <a:p>
            <a:pPr marL="0" lvl="0" indent="0" algn="l" rtl="0">
              <a:lnSpc>
                <a:spcPct val="100000"/>
              </a:lnSpc>
              <a:spcBef>
                <a:spcPts val="0"/>
              </a:spcBef>
              <a:spcAft>
                <a:spcPts val="600"/>
              </a:spcAft>
              <a:buSzPts val="1400"/>
              <a:buNone/>
            </a:pPr>
            <a:r>
              <a:rPr lang="en-US" dirty="0"/>
              <a:t>After these reminders, the next slide opens the floor for questions about homework, lab, or LabVIEW. Then we return to the eyes-closed walking activity, which leads into localization and dead-reckoning.</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It shows the word "Questions?" in large white letters on the dark blue Illinois background, with faint hand-drawn equations and diagrams behind it. Below a thin orange line it asks: "Homework, Lab, LabVIEW?"</a:t>
            </a:r>
          </a:p>
          <a:p>
            <a:pPr marL="0" lvl="0" indent="0" algn="l" rtl="0">
              <a:spcBef>
                <a:spcPts val="0"/>
              </a:spcBef>
              <a:spcAft>
                <a:spcPts val="600"/>
              </a:spcAft>
              <a:buNone/>
            </a:pPr>
            <a:r>
              <a:rPr lang="en-US" dirty="0"/>
              <a:t>Now is the time to ask about anything from the reminders: homework 3 and 4, the one-week Lab 5, or the Lab 6 LabVIEW assignment you finish before that lab. Next, we start localization: how the robot knows where it is.</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"Localization" in large dark blue letters, with the subtitle "(A brief introduction.)" beneath it, on the orange Illinois background with faint hand-drawn equations and sketches as decoration.</a:t>
            </a:r>
          </a:p>
          <a:p>
            <a:pPr marL="0" lvl="0" indent="0" algn="l" rtl="0">
              <a:spcBef>
                <a:spcPts val="0"/>
              </a:spcBef>
              <a:spcAft>
                <a:spcPts val="600"/>
              </a:spcAft>
              <a:buNone/>
            </a:pPr>
            <a:r>
              <a:rPr lang="en-US" dirty="0"/>
              <a:t>With the reminders and questions done, you now start the main topic of this lecture. So far you have sensors and feedback control, but how does the robot know where it is? The next slides pose that question, then build the tools to answer it: coordinate transforms and dead-reckoning.</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B53992-DBCC-1A47-D509-2283B20A38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6DA2EB-93A5-88B8-DC24-FDB0D7C203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localization topic. It has a white background with four short paragraphs of text and no figures. The text says that we now have sensors to find where obstacles are and sensors to find the internal state of the robot. It adds that we know how to make a robot drive straight or follow a wall using feedback control. Then it asks: if we tell the robot to "go to coordinates (5, 5) on the map," how does it know where it currently is? The last line names this the fundamental question of Localization, with the word Localization in bold.</a:t>
            </a:r>
          </a:p>
          <a:p>
            <a:pPr marL="0" lvl="0" indent="0" algn="l" rtl="0">
              <a:lnSpc>
                <a:spcPct val="100000"/>
              </a:lnSpc>
              <a:spcBef>
                <a:spcPts val="0"/>
              </a:spcBef>
              <a:spcAft>
                <a:spcPts val="600"/>
              </a:spcAft>
              <a:buSzPts val="1400"/>
              <a:buNone/>
            </a:pPr>
            <a:r>
              <a:rPr lang="en-US" dirty="0"/>
              <a:t>Take stock of what you already have. Obstacle-sensing sensors, such as the distance sensors and LiDAR, tell the robot what is around it. Internal sensors, such as the wheel encoders and the gyro, tell it how its wheels are turning and how it is rotating. Your wall-following and drive-straight controllers work in relative terms. They hold a distance or a heading compared with something nearby, and they never need to know where on the map the robot is.</a:t>
            </a:r>
          </a:p>
          <a:p>
            <a:pPr marL="0" lvl="0" indent="0" algn="l" rtl="0">
              <a:lnSpc>
                <a:spcPct val="100000"/>
              </a:lnSpc>
              <a:spcBef>
                <a:spcPts val="0"/>
              </a:spcBef>
              <a:spcAft>
                <a:spcPts val="600"/>
              </a:spcAft>
              <a:buSzPts val="1400"/>
              <a:buNone/>
            </a:pPr>
            <a:r>
              <a:rPr lang="en-US" dirty="0"/>
              <a:t>A goal like (5, 5) is different. It is an absolute position in a map frame. To steer toward it, the robot must know its own pose: its x position, its y position, and its heading angle theta, all in that same frame. Localization is the problem of estimating that pose.</a:t>
            </a:r>
          </a:p>
          <a:p>
            <a:pPr marL="0" lvl="0" indent="0" algn="l" rtl="0">
              <a:lnSpc>
                <a:spcPct val="100000"/>
              </a:lnSpc>
              <a:spcBef>
                <a:spcPts val="0"/>
              </a:spcBef>
              <a:spcAft>
                <a:spcPts val="600"/>
              </a:spcAft>
              <a:buSzPts val="1400"/>
              <a:buNone/>
            </a:pPr>
            <a:r>
              <a:rPr lang="en-US" dirty="0"/>
              <a:t>Quick check: could your wall-following code alone get the robot to (5, 5)? Why not?</a:t>
            </a:r>
          </a:p>
          <a:p>
            <a:pPr marL="0" lvl="0" indent="0" algn="l" rtl="0">
              <a:lnSpc>
                <a:spcPct val="100000"/>
              </a:lnSpc>
              <a:spcBef>
                <a:spcPts val="0"/>
              </a:spcBef>
              <a:spcAft>
                <a:spcPts val="600"/>
              </a:spcAft>
              <a:buSzPts val="1400"/>
              <a:buNone/>
            </a:pPr>
            <a:r>
              <a:rPr lang="en-US" dirty="0"/>
              <a:t>The next slide shows that no single sensor answers this question perfectly. It outlines the plan: dead reckoning from internal sensors, the drift it causes, and correction using external sensors.</a:t>
            </a:r>
          </a:p>
        </p:txBody>
      </p:sp>
      <p:sp>
        <p:nvSpPr>
          <p:cNvPr id="116" name="Google Shape;116;p29:notes">
            <a:extLst>
              <a:ext uri="{FF2B5EF4-FFF2-40B4-BE49-F238E27FC236}">
                <a16:creationId xmlns:a16="http://schemas.microsoft.com/office/drawing/2014/main" id="{32478B48-83E8-4F87-AFC3-6B61F37266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06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2299D0-F2DF-2356-8F5D-682A0BE7C9F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BFF871-D58C-A13F-05E6-8187B1841C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Localization. It lays out the overall strategy in steps. First, no single sensor gives the exact answer, because the world is not perfect. Second, you estimate movement with internal sensors, which is called dead-reckoning. Third, the slide asks what goes wrong with using only internal sensors, and answers that they drift and accumulate errors. It compares this to walking blind and counting your steps, as you did at the beginning of the lecture. Finally, external sensors such as LiDAR and cameras look at landmarks to correct those errors, which leads to SLAM.</a:t>
            </a:r>
          </a:p>
          <a:p>
            <a:pPr marL="0" lvl="0" indent="0" algn="l" rtl="0">
              <a:lnSpc>
                <a:spcPct val="100000"/>
              </a:lnSpc>
              <a:spcBef>
                <a:spcPts val="0"/>
              </a:spcBef>
              <a:spcAft>
                <a:spcPts val="600"/>
              </a:spcAft>
              <a:buSzPts val="1400"/>
              <a:buNone/>
            </a:pPr>
            <a:r>
              <a:rPr lang="en-US" dirty="0"/>
              <a:t>The key idea is that localization combines two kinds of information. Internal sensors measure the robot's own motion. On our robot these are the wheel encoders, and possibly a gyro. Dead-reckoning integrates those measurements over time: add up how far each wheel turned and you get a position estimate.</a:t>
            </a:r>
          </a:p>
          <a:p>
            <a:pPr marL="0" lvl="0" indent="0" algn="l" rtl="0">
              <a:lnSpc>
                <a:spcPct val="100000"/>
              </a:lnSpc>
              <a:spcBef>
                <a:spcPts val="0"/>
              </a:spcBef>
              <a:spcAft>
                <a:spcPts val="600"/>
              </a:spcAft>
              <a:buSzPts val="1400"/>
              <a:buNone/>
            </a:pPr>
            <a:r>
              <a:rPr lang="en-US" dirty="0"/>
              <a:t>The catch is that every small error gets added in too. Wheel slip, a slightly wrong wheel radius or a small gyro bias each contribute, and because the estimate is a running sum, the errors never cancel out. They grow the longer you drive.</a:t>
            </a:r>
          </a:p>
          <a:p>
            <a:pPr marL="0" lvl="0" indent="0" algn="l" rtl="0">
              <a:lnSpc>
                <a:spcPct val="100000"/>
              </a:lnSpc>
              <a:spcBef>
                <a:spcPts val="0"/>
              </a:spcBef>
              <a:spcAft>
                <a:spcPts val="600"/>
              </a:spcAft>
              <a:buSzPts val="1400"/>
              <a:buNone/>
            </a:pPr>
            <a:r>
              <a:rPr lang="en-US" dirty="0"/>
              <a:t>External sensors fix this by measuring something fixed in the world, such as a wall or a landmark, and pulling the estimate back toward the truth. SLAM, simultaneous localization and mapping, does this while also building the map.</a:t>
            </a:r>
          </a:p>
          <a:p>
            <a:pPr marL="0" lvl="0" indent="0" algn="l" rtl="0">
              <a:lnSpc>
                <a:spcPct val="100000"/>
              </a:lnSpc>
              <a:spcBef>
                <a:spcPts val="0"/>
              </a:spcBef>
              <a:spcAft>
                <a:spcPts val="600"/>
              </a:spcAft>
              <a:buSzPts val="1400"/>
              <a:buNone/>
            </a:pPr>
            <a:r>
              <a:rPr lang="en-US" dirty="0"/>
              <a:t>Quick check: if your step count were off by just 2 percent, would your position error after 100 steps be larger or smaller than after 10 steps?</a:t>
            </a:r>
          </a:p>
          <a:p>
            <a:pPr marL="0" lvl="0" indent="0" algn="l" rtl="0">
              <a:lnSpc>
                <a:spcPct val="100000"/>
              </a:lnSpc>
              <a:spcBef>
                <a:spcPts val="0"/>
              </a:spcBef>
              <a:spcAft>
                <a:spcPts val="600"/>
              </a:spcAft>
              <a:buSzPts val="1400"/>
              <a:buNone/>
            </a:pPr>
            <a:r>
              <a:rPr lang="en-US" dirty="0"/>
              <a:t>Before you can do any of this, you need a way to describe positions in different frames, so next we look at coordinate transformations.</a:t>
            </a:r>
          </a:p>
        </p:txBody>
      </p:sp>
      <p:sp>
        <p:nvSpPr>
          <p:cNvPr id="116" name="Google Shape;116;p29:notes">
            <a:extLst>
              <a:ext uri="{FF2B5EF4-FFF2-40B4-BE49-F238E27FC236}">
                <a16:creationId xmlns:a16="http://schemas.microsoft.com/office/drawing/2014/main" id="{AEA7B009-B8C1-1542-E4CE-DCB5DF2C63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2802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BDCF605-DB66-3DD8-A8A0-6D35958FA67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02E670-274B-DC92-6DB4-BFE4DE6C15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"Coordinate Transformation" in dark blue on the orange Illinois background, with faint hand-drawn math and chemistry sketches behind it as decoration.</a:t>
            </a:r>
          </a:p>
          <a:p>
            <a:pPr marL="0" lvl="0" indent="0" algn="l" rtl="0">
              <a:spcBef>
                <a:spcPts val="0"/>
              </a:spcBef>
              <a:spcAft>
                <a:spcPts val="600"/>
              </a:spcAft>
              <a:buNone/>
            </a:pPr>
            <a:r>
              <a:rPr lang="en-US" dirty="0"/>
              <a:t>You just saw that localization starts with dead-reckoning and is corrected with SLAM. Both depend on one skill: expressing a point measured in one reference frame in another frame. Next you meet the robot's local body frame and the fixed world frame. Then you build the 2D translation and rotation that connect them.</a:t>
            </a:r>
          </a:p>
        </p:txBody>
      </p:sp>
      <p:sp>
        <p:nvSpPr>
          <p:cNvPr id="102" name="Google Shape;102;p28:notes">
            <a:extLst>
              <a:ext uri="{FF2B5EF4-FFF2-40B4-BE49-F238E27FC236}">
                <a16:creationId xmlns:a16="http://schemas.microsoft.com/office/drawing/2014/main" id="{B11C997B-FB9B-774B-A490-29210A94FA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665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B651D49-3479-47FA-7613-7F7702EE7D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4F75C1-2CF2-34C0-628E-6E9C6FAAEE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with no figures. It defines the two reference frames used throughout the rest of the lecture. Key terms appear in bold: Local Frame and Global / World Frame.</a:t>
            </a:r>
          </a:p>
          <a:p>
            <a:pPr marL="0" lvl="0" indent="0" algn="l" rtl="0">
              <a:lnSpc>
                <a:spcPct val="100000"/>
              </a:lnSpc>
              <a:spcBef>
                <a:spcPts val="0"/>
              </a:spcBef>
              <a:spcAft>
                <a:spcPts val="600"/>
              </a:spcAft>
              <a:buSzPts val="1400"/>
              <a:buNone/>
            </a:pPr>
            <a:r>
              <a:rPr lang="en-US" dirty="0"/>
              <a:t>First, a robot experiences the world from its own perspective, called the Local Frame or Body Frame. The frame is attached to the robot and moves and turns with it. When a sensor reports "an obstacle 2 meters ahead," that means ahead of the robot, wherever the robot happens to be pointing.</a:t>
            </a:r>
          </a:p>
          <a:p>
            <a:pPr marL="0" lvl="0" indent="0" algn="l" rtl="0">
              <a:lnSpc>
                <a:spcPct val="100000"/>
              </a:lnSpc>
              <a:spcBef>
                <a:spcPts val="0"/>
              </a:spcBef>
              <a:spcAft>
                <a:spcPts val="600"/>
              </a:spcAft>
              <a:buSzPts val="1400"/>
              <a:buNone/>
            </a:pPr>
            <a:r>
              <a:rPr lang="en-US" dirty="0"/>
              <a:t>Second, the map or the room exists in a fixed global reference frame, called the Global, World, or Inertial Frame. Its origin and axes never move, so every location in the room has one agreed-upon set of coordinates.</a:t>
            </a:r>
          </a:p>
          <a:p>
            <a:pPr marL="0" lvl="0" indent="0" algn="l" rtl="0">
              <a:lnSpc>
                <a:spcPct val="100000"/>
              </a:lnSpc>
              <a:spcBef>
                <a:spcPts val="0"/>
              </a:spcBef>
              <a:spcAft>
                <a:spcPts val="600"/>
              </a:spcAft>
              <a:buSzPts val="1400"/>
              <a:buNone/>
            </a:pPr>
            <a:r>
              <a:rPr lang="en-US" dirty="0"/>
              <a:t>The car analogy ties these together. Your local frame is your point of view inside the car, and only you have it. "The exit is on my right" means nothing to someone else unless they know where you are and which way you face. The GPS map is the shared global viewpoint that everyone can use.</a:t>
            </a:r>
          </a:p>
          <a:p>
            <a:pPr marL="0" lvl="0" indent="0" algn="l" rtl="0">
              <a:lnSpc>
                <a:spcPct val="100000"/>
              </a:lnSpc>
              <a:spcBef>
                <a:spcPts val="0"/>
              </a:spcBef>
              <a:spcAft>
                <a:spcPts val="600"/>
              </a:spcAft>
              <a:buSzPts val="1400"/>
              <a:buNone/>
            </a:pPr>
            <a:r>
              <a:rPr lang="en-US" dirty="0"/>
              <a:t>The last point is the reason this matters. Every sensor reports data in its own local frame, so the robot has to translate that data into the global map before it can navigate a room.</a:t>
            </a:r>
          </a:p>
          <a:p>
            <a:pPr marL="0" lvl="0" indent="0" algn="l" rtl="0">
              <a:lnSpc>
                <a:spcPct val="100000"/>
              </a:lnSpc>
              <a:spcBef>
                <a:spcPts val="0"/>
              </a:spcBef>
              <a:spcAft>
                <a:spcPts val="600"/>
              </a:spcAft>
              <a:buSzPts val="1400"/>
              <a:buNone/>
            </a:pPr>
            <a:r>
              <a:rPr lang="en-US" dirty="0"/>
              <a:t>A quick check for you: if the robot turns 90 degrees in place, do its local coordinates of a wall change? Do the wall's world coordinates change? The local coordinates change, but the world coordinates do not.</a:t>
            </a:r>
          </a:p>
          <a:p>
            <a:pPr marL="0" lvl="0" indent="0" algn="l" rtl="0">
              <a:lnSpc>
                <a:spcPct val="100000"/>
              </a:lnSpc>
              <a:spcBef>
                <a:spcPts val="0"/>
              </a:spcBef>
              <a:spcAft>
                <a:spcPts val="600"/>
              </a:spcAft>
              <a:buSzPts val="1400"/>
              <a:buNone/>
            </a:pPr>
            <a:r>
              <a:rPr lang="en-US" dirty="0"/>
              <a:t>Next, you see that each sensor can have its own frame, offset and rotated from the robot's body frame. That leads to a chain of transforms: sensor frame to body frame, then body frame to world frame.</a:t>
            </a:r>
          </a:p>
        </p:txBody>
      </p:sp>
      <p:sp>
        <p:nvSpPr>
          <p:cNvPr id="116" name="Google Shape;116;p29:notes">
            <a:extLst>
              <a:ext uri="{FF2B5EF4-FFF2-40B4-BE49-F238E27FC236}">
                <a16:creationId xmlns:a16="http://schemas.microsoft.com/office/drawing/2014/main" id="{27DA9332-2978-2177-38B5-199FC4B4F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860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F33BE4-7944-0CAC-5025-FDDEFA89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3DD3F6-0220-7B32-EFA0-6D346AE14DB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why you usually need more than one coordinate transform. On the left, the text makes three points. Each sensor has its own local frame, which can sit at a different position and orientation than the robot's body frame. The body frame is where you define the robot's pose, (x, y, theta). So you transform sensor data first into the body frame, then from the body frame into the global frame.</a:t>
            </a:r>
          </a:p>
          <a:p>
            <a:pPr marL="0" lvl="0" indent="0" algn="l" rtl="0">
              <a:lnSpc>
                <a:spcPct val="100000"/>
              </a:lnSpc>
              <a:spcBef>
                <a:spcPts val="0"/>
              </a:spcBef>
              <a:spcAft>
                <a:spcPts val="600"/>
              </a:spcAft>
              <a:buSzPts val="1400"/>
              <a:buNone/>
            </a:pPr>
            <a:r>
              <a:rPr lang="en-US" dirty="0"/>
              <a:t>The figure on the left is a photo of a four-wheeled research robot with a tall sensor tower. From the top down, it carries a Bumblebee stereo camera at 126 cm, a Wi-Fi router, a tilted laser near 60 cm, an onboard PC, and frontal and back lasers near 35 cm. At its base, the body-frame axes are drawn: x in red points forward toward the frontal laser, y in blue points to the side, and z in green points up.</a:t>
            </a:r>
          </a:p>
          <a:p>
            <a:pPr marL="0" lvl="0" indent="0" algn="l" rtl="0">
              <a:lnSpc>
                <a:spcPct val="100000"/>
              </a:lnSpc>
              <a:spcBef>
                <a:spcPts val="0"/>
              </a:spcBef>
              <a:spcAft>
                <a:spcPts val="600"/>
              </a:spcAft>
              <a:buSzPts val="1400"/>
              <a:buNone/>
            </a:pPr>
            <a:r>
              <a:rPr lang="en-US" dirty="0"/>
              <a:t>The figure on the right is a frame tree. It shows the frames bumblebee, laservtcal, laserfront and laserback, each offset and rotated differently, all connected by lines to a single frame called base_link, the body frame. This is how ROS-style software organizes sensors. Each sensor stores a fixed offset and rotation relative to base_link.</a:t>
            </a:r>
          </a:p>
          <a:p>
            <a:pPr marL="0" lvl="0" indent="0" algn="l" rtl="0">
              <a:lnSpc>
                <a:spcPct val="100000"/>
              </a:lnSpc>
              <a:spcBef>
                <a:spcPts val="0"/>
              </a:spcBef>
              <a:spcAft>
                <a:spcPts val="600"/>
              </a:spcAft>
              <a:buSzPts val="1400"/>
              <a:buNone/>
            </a:pPr>
            <a:r>
              <a:rPr lang="en-US" dirty="0"/>
              <a:t>Now the question on the slide. "Forward" is along body x, so a 1-meter move is a displacement of (1, 0) in the robot's starting body frame. The world coordinates change by (cos(theta), sin(theta)), which depends on the heading. Only when theta = 0 does world x simply increase by 1. A common mistake is assuming body x and world x always line up.</a:t>
            </a:r>
          </a:p>
          <a:p>
            <a:pPr marL="0" lvl="0" indent="0" algn="l" rtl="0">
              <a:lnSpc>
                <a:spcPct val="100000"/>
              </a:lnSpc>
              <a:spcBef>
                <a:spcPts val="0"/>
              </a:spcBef>
              <a:spcAft>
                <a:spcPts val="600"/>
              </a:spcAft>
              <a:buSzPts val="1400"/>
              <a:buNone/>
            </a:pPr>
            <a:r>
              <a:rPr lang="en-US" dirty="0"/>
              <a:t>Next, we formalize this, starting with the simplest case, pure translation.</a:t>
            </a:r>
          </a:p>
        </p:txBody>
      </p:sp>
      <p:sp>
        <p:nvSpPr>
          <p:cNvPr id="116" name="Google Shape;116;p29:notes">
            <a:extLst>
              <a:ext uri="{FF2B5EF4-FFF2-40B4-BE49-F238E27FC236}">
                <a16:creationId xmlns:a16="http://schemas.microsoft.com/office/drawing/2014/main" id="{9C49740B-1434-96E0-9676-BA411739A3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8778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5A1C2D-BECA-E00E-F164-FF942FFBD53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31F6D0-06BD-901E-DF0D-C74E488C3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the notation for the rest of the lecture. The text defines two frames. The World Frame has axes X and Y with origin O. The Body Frame is attached to the robot and has axes X_B, pointing forward, and Y_B, pointing left, with origin O_B at the robot's center. The robot's pose, meaning its position plus its heading angle, is written p = (x, y, theta).</a:t>
            </a:r>
          </a:p>
          <a:p>
            <a:pPr marL="0" lvl="0" indent="0" algn="l" rtl="0">
              <a:lnSpc>
                <a:spcPct val="100000"/>
              </a:lnSpc>
              <a:spcBef>
                <a:spcPts val="0"/>
              </a:spcBef>
              <a:spcAft>
                <a:spcPts val="600"/>
              </a:spcAft>
              <a:buSzPts val="1400"/>
              <a:buNone/>
            </a:pPr>
            <a:r>
              <a:rPr lang="en-US" dirty="0"/>
              <a:t>The figure, taken from the Wikipedia article on differential wheeled robots, shows the world axes X to the right and Y up, with origin O at the bottom left. A rectangular two-wheeled robot sits at world position x, y, marked by dashed lines dropped to each axis. Its X_B axis points forward along the velocity arrow V and is rotated by angle phi, counterclockwise from a dashed horizontal line parallel to world X. Phi in the figure is the same quantity as theta in the text. Y_B points to the robot's left.</a:t>
            </a:r>
          </a:p>
          <a:p>
            <a:pPr marL="0" lvl="0" indent="0" algn="l" rtl="0">
              <a:lnSpc>
                <a:spcPct val="100000"/>
              </a:lnSpc>
              <a:spcBef>
                <a:spcPts val="0"/>
              </a:spcBef>
              <a:spcAft>
                <a:spcPts val="600"/>
              </a:spcAft>
              <a:buSzPts val="1400"/>
              <a:buNone/>
            </a:pPr>
            <a:r>
              <a:rPr lang="en-US" dirty="0"/>
              <a:t>The figure also labels quantities you need later for dead-reckoning. The left and right wheels move at speeds v_L and v_R. The wheels are separated by the track width b, and each wheel has diameter 2r. The robot turns at angular rate omega about the instantaneous center of rotation, ICR, which lies a distance R from the robot along the Y_B axis.</a:t>
            </a:r>
          </a:p>
          <a:p>
            <a:pPr marL="0" lvl="0" indent="0" algn="l" rtl="0">
              <a:lnSpc>
                <a:spcPct val="100000"/>
              </a:lnSpc>
              <a:spcBef>
                <a:spcPts val="0"/>
              </a:spcBef>
              <a:spcAft>
                <a:spcPts val="600"/>
              </a:spcAft>
              <a:buSzPts val="1400"/>
              <a:buNone/>
            </a:pPr>
            <a:r>
              <a:rPr lang="en-US" dirty="0"/>
              <a:t>A common mistake is mixing up degrees and radians, or measuring heading clockwise. Measure theta counterclockwise from world X, in radians.</a:t>
            </a:r>
          </a:p>
          <a:p>
            <a:pPr marL="0" lvl="0" indent="0" algn="l" rtl="0">
              <a:lnSpc>
                <a:spcPct val="100000"/>
              </a:lnSpc>
              <a:spcBef>
                <a:spcPts val="0"/>
              </a:spcBef>
              <a:spcAft>
                <a:spcPts val="600"/>
              </a:spcAft>
              <a:buSzPts val="1400"/>
              <a:buNone/>
            </a:pPr>
            <a:r>
              <a:rPr lang="en-US" dirty="0"/>
              <a:t>Quick check: when theta = 90 degrees, which world axis does X_B point along? (World Y.)</a:t>
            </a:r>
          </a:p>
          <a:p>
            <a:pPr marL="0" lvl="0" indent="0" algn="l" rtl="0">
              <a:lnSpc>
                <a:spcPct val="100000"/>
              </a:lnSpc>
              <a:spcBef>
                <a:spcPts val="0"/>
              </a:spcBef>
              <a:spcAft>
                <a:spcPts val="600"/>
              </a:spcAft>
              <a:buSzPts val="1400"/>
              <a:buNone/>
            </a:pPr>
            <a:r>
              <a:rPr lang="en-US" dirty="0"/>
              <a:t>On the last slide, sensor frames feed into the body frame. Now you transform the body frame into the world frame, starting with the simplest case, theta = 0.</a:t>
            </a:r>
          </a:p>
        </p:txBody>
      </p:sp>
      <p:sp>
        <p:nvSpPr>
          <p:cNvPr id="116" name="Google Shape;116;p29:notes">
            <a:extLst>
              <a:ext uri="{FF2B5EF4-FFF2-40B4-BE49-F238E27FC236}">
                <a16:creationId xmlns:a16="http://schemas.microsoft.com/office/drawing/2014/main" id="{78DDECD3-ECE8-3672-CFE4-E18B766A61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0730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021E94-44B8-042C-6B56-F12EBC032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B3D157-37C5-4682-E55E-3DA940A373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On the last slide you defined the world frame, the body frame, and the robot's pose: its position plus its heading angle. Now you start building the transform between those frames, beginning with the simplest case.</a:t>
            </a:r>
          </a:p>
          <a:p>
            <a:pPr marL="0" lvl="0" indent="0" algn="l" rtl="0">
              <a:lnSpc>
                <a:spcPct val="100000"/>
              </a:lnSpc>
              <a:spcBef>
                <a:spcPts val="0"/>
              </a:spcBef>
              <a:spcAft>
                <a:spcPts val="600"/>
              </a:spcAft>
              <a:buSzPts val="1400"/>
              <a:buNone/>
            </a:pPr>
            <a:r>
              <a:rPr lang="en-US" dirty="0"/>
              <a:t>The slide is all text and equations. It says that if the robot's heading theta = 0, its axes are perfectly aligned with the world axes. Moving from the robot frame to the world frame is then just vector addition. If the robot sits at world coordinates T = (x, y), a point P_R = (x_r, y_r) in the robot frame is, in the world frame, P_w = (x_r + x, y_r + y). Read aloud: P world equals x r plus x, comma, y r plus y. In vector form this is P_W = P_R + T, "P world equals P robot plus T." The slide closes by noting that translation is simple, but robots also rotate.</a:t>
            </a:r>
          </a:p>
          <a:p>
            <a:pPr marL="0" lvl="0" indent="0" algn="l" rtl="0">
              <a:lnSpc>
                <a:spcPct val="100000"/>
              </a:lnSpc>
              <a:spcBef>
                <a:spcPts val="0"/>
              </a:spcBef>
              <a:spcAft>
                <a:spcPts val="600"/>
              </a:spcAft>
              <a:buSzPts val="1400"/>
              <a:buNone/>
            </a:pPr>
            <a:r>
              <a:rPr lang="en-US" dirty="0"/>
              <a:t>The idea is that T is the vector from the world origin to the robot's origin, and P_R is the vector from the robot's origin to the point. Add them and you get the vector from the world origin to the point.</a:t>
            </a:r>
          </a:p>
          <a:p>
            <a:pPr marL="0" lvl="0" indent="0" algn="l" rtl="0">
              <a:lnSpc>
                <a:spcPct val="100000"/>
              </a:lnSpc>
              <a:spcBef>
                <a:spcPts val="0"/>
              </a:spcBef>
              <a:spcAft>
                <a:spcPts val="600"/>
              </a:spcAft>
              <a:buSzPts val="1400"/>
              <a:buNone/>
            </a:pPr>
            <a:r>
              <a:rPr lang="en-US" dirty="0"/>
              <a:t>Here is an example. The robot is at T = (2, 1) meters with heading zero, and a sensor is 0.5 m directly ahead of its center, so P_R = (0.5, 0). In the world frame that sensor is at (2.5, 1).</a:t>
            </a:r>
          </a:p>
          <a:p>
            <a:pPr marL="0" lvl="0" indent="0" algn="l" rtl="0">
              <a:lnSpc>
                <a:spcPct val="100000"/>
              </a:lnSpc>
              <a:spcBef>
                <a:spcPts val="0"/>
              </a:spcBef>
              <a:spcAft>
                <a:spcPts val="600"/>
              </a:spcAft>
              <a:buSzPts val="1400"/>
              <a:buNone/>
            </a:pPr>
            <a:r>
              <a:rPr lang="en-US" dirty="0"/>
              <a:t>A common mistake is getting the direction backwards. Going from the world frame to the robot frame, you subtract: P_R = P_W - T.</a:t>
            </a:r>
          </a:p>
          <a:p>
            <a:pPr marL="0" lvl="0" indent="0" algn="l" rtl="0">
              <a:lnSpc>
                <a:spcPct val="100000"/>
              </a:lnSpc>
              <a:spcBef>
                <a:spcPts val="0"/>
              </a:spcBef>
              <a:spcAft>
                <a:spcPts val="600"/>
              </a:spcAft>
              <a:buSzPts val="1400"/>
              <a:buNone/>
            </a:pPr>
            <a:r>
              <a:rPr lang="en-US" dirty="0"/>
              <a:t>To check yourself: if the world point is (3, 4) and the robot is at (1, 1), where is the point in the robot frame?</a:t>
            </a:r>
          </a:p>
          <a:p>
            <a:pPr marL="0" lvl="0" indent="0" algn="l" rtl="0">
              <a:lnSpc>
                <a:spcPct val="100000"/>
              </a:lnSpc>
              <a:spcBef>
                <a:spcPts val="0"/>
              </a:spcBef>
              <a:spcAft>
                <a:spcPts val="600"/>
              </a:spcAft>
              <a:buSzPts val="1400"/>
              <a:buNone/>
            </a:pPr>
            <a:r>
              <a:rPr lang="en-US" dirty="0"/>
              <a:t>The next slide shows this pure translation as a diagram. After that you add rotation, which is where the heading angle comes in.</a:t>
            </a:r>
          </a:p>
        </p:txBody>
      </p:sp>
      <p:sp>
        <p:nvSpPr>
          <p:cNvPr id="116" name="Google Shape;116;p29:notes">
            <a:extLst>
              <a:ext uri="{FF2B5EF4-FFF2-40B4-BE49-F238E27FC236}">
                <a16:creationId xmlns:a16="http://schemas.microsoft.com/office/drawing/2014/main" id="{08CB970C-19F6-D507-BC57-D1ED575003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2468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CAC9A3-7125-FD97-0CA4-A355EEE39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19C0B7-7AE7-11C0-74B4-E0B94DFEA5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picture that goes with the equation on the previous slide. It shows the world frame, with origin O, the X axis pointing right and the Y axis pointing up. A two-wheeled robot sits out in the plane. Its body is a rectangle, and its wheels are two gray blocks, one above and one below, so the axle runs vertically. The robot's center is at world position x, y, which dashed lines project down onto the X axis and across to the Y axis. The body frame is attached at that center. X_B points right (forward) and Y_B points up (left along the axle), so both axes are parallel to the world axes. The heading is zero.</a:t>
            </a:r>
          </a:p>
          <a:p>
            <a:pPr marL="0" lvl="0" indent="0" algn="l" rtl="0">
              <a:lnSpc>
                <a:spcPct val="100000"/>
              </a:lnSpc>
              <a:spcBef>
                <a:spcPts val="0"/>
              </a:spcBef>
              <a:spcAft>
                <a:spcPts val="600"/>
              </a:spcAft>
              <a:buSzPts val="1400"/>
              <a:buNone/>
            </a:pPr>
            <a:r>
              <a:rPr lang="en-US" dirty="0"/>
              <a:t>There are three colored vectors. The red vector T runs from the world origin O to the robot's center; it is the robot's position, T = [x, y]. The green vector P_r runs from the robot's center along X_B to a point on the robot; it is that point's position as the robot sees it. The blue vector P_w runs from O straight to the same point; it is the point's position in the world frame.</a:t>
            </a:r>
          </a:p>
          <a:p>
            <a:pPr marL="0" lvl="0" indent="0" algn="l" rtl="0">
              <a:lnSpc>
                <a:spcPct val="100000"/>
              </a:lnSpc>
              <a:spcBef>
                <a:spcPts val="0"/>
              </a:spcBef>
              <a:spcAft>
                <a:spcPts val="600"/>
              </a:spcAft>
              <a:buSzPts val="1400"/>
              <a:buNone/>
            </a:pPr>
            <a:r>
              <a:rPr lang="en-US" dirty="0"/>
              <a:t>The arrows form a triangle: going out along T and then along P_r lands you exactly where P_w ends. So P_w = T + P_r, or "P world equals T plus P robot." Component by component, x_w = x + x_r and y_w = y + y_r.</a:t>
            </a:r>
          </a:p>
          <a:p>
            <a:pPr marL="0" lvl="0" indent="0" algn="l" rtl="0">
              <a:lnSpc>
                <a:spcPct val="100000"/>
              </a:lnSpc>
              <a:spcBef>
                <a:spcPts val="0"/>
              </a:spcBef>
              <a:spcAft>
                <a:spcPts val="600"/>
              </a:spcAft>
              <a:buSzPts val="1400"/>
              <a:buNone/>
            </a:pPr>
            <a:r>
              <a:rPr lang="en-US" dirty="0"/>
              <a:t>Quick check: if the robot is at (2, 1) and a sensor sits 0.3 m ahead of its center, where is the sensor in the world? The answer is (2.3, 1). This simple addition only works because the frames are aligned. Next, we see what happens when the robot turns.</a:t>
            </a:r>
          </a:p>
        </p:txBody>
      </p:sp>
      <p:sp>
        <p:nvSpPr>
          <p:cNvPr id="116" name="Google Shape;116;p29:notes">
            <a:extLst>
              <a:ext uri="{FF2B5EF4-FFF2-40B4-BE49-F238E27FC236}">
                <a16:creationId xmlns:a16="http://schemas.microsoft.com/office/drawing/2014/main" id="{D42D5B97-F6BA-0D23-7160-3CB1F27591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715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87C942-D3CF-1804-8160-A38896B35D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FE11EB-6697-2CB2-9EAF-C7E6F2392D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starts the second piece of a coordinate transform: rotation. The text reads: suppose the robot frame is at the world origin but rotated by an angle phi. We want to map a point P from the rotated frame to the fixed frame. Let point P have polar coordinates (r, alpha). Therefore, centered on the slide: (x_r, y_r) = (r*cos(alpha), r*sin(alpha)), read as "x sub r, y sub r equals r cosine alpha, r sine alpha."</a:t>
            </a:r>
          </a:p>
          <a:p>
            <a:pPr marL="0" lvl="0" indent="0" algn="l" rtl="0">
              <a:lnSpc>
                <a:spcPct val="100000"/>
              </a:lnSpc>
              <a:spcBef>
                <a:spcPts val="0"/>
              </a:spcBef>
              <a:spcAft>
                <a:spcPts val="600"/>
              </a:spcAft>
              <a:buSzPts val="1400"/>
              <a:buNone/>
            </a:pPr>
            <a:r>
              <a:rPr lang="en-US" dirty="0"/>
              <a:t>On the last two slides you handled pure translation, where the robot's axes stay parallel to the world axes and converting a point is just vector addition. Now we isolate the other case. The two frames share an origin, so there is no shift, only a turn by phi.</a:t>
            </a:r>
          </a:p>
          <a:p>
            <a:pPr marL="0" lvl="0" indent="0" algn="l" rtl="0">
              <a:lnSpc>
                <a:spcPct val="100000"/>
              </a:lnSpc>
              <a:spcBef>
                <a:spcPts val="0"/>
              </a:spcBef>
              <a:spcAft>
                <a:spcPts val="600"/>
              </a:spcAft>
              <a:buSzPts val="1400"/>
              <a:buNone/>
            </a:pPr>
            <a:r>
              <a:rPr lang="en-US" dirty="0"/>
              <a:t>The trick is to describe P in polar form. Here r is the distance from the shared origin to P, and alpha is the angle of P measured from the robot's own X_B axis. The subscript r means these are robot-frame coordinates. Converting polar to Cartesian in the robot frame gives x_r = r*cos(alpha) and y_r = r*sin(alpha). Nothing about the world frame has entered yet. This is just the point as the robot sees it.</a:t>
            </a:r>
          </a:p>
          <a:p>
            <a:pPr marL="0" lvl="0" indent="0" algn="l" rtl="0">
              <a:lnSpc>
                <a:spcPct val="100000"/>
              </a:lnSpc>
              <a:spcBef>
                <a:spcPts val="0"/>
              </a:spcBef>
              <a:spcAft>
                <a:spcPts val="600"/>
              </a:spcAft>
              <a:buSzPts val="1400"/>
              <a:buNone/>
            </a:pPr>
            <a:r>
              <a:rPr lang="en-US" dirty="0"/>
              <a:t>A common mistake is to treat alpha as a world angle. It is not. Alpha is relative to the robot's heading. The distance r is the same in both frames, because a rotation does not change lengths.</a:t>
            </a:r>
          </a:p>
          <a:p>
            <a:pPr marL="0" lvl="0" indent="0" algn="l" rtl="0">
              <a:lnSpc>
                <a:spcPct val="100000"/>
              </a:lnSpc>
              <a:spcBef>
                <a:spcPts val="0"/>
              </a:spcBef>
              <a:spcAft>
                <a:spcPts val="600"/>
              </a:spcAft>
              <a:buSzPts val="1400"/>
              <a:buNone/>
            </a:pPr>
            <a:r>
              <a:rPr lang="en-US" dirty="0"/>
              <a:t>This is exactly the form your LiDAR data arrives in: each return is a range r and a bearing alpha relative to the robot. After the next slide's diagram, slide 16 shows that in the world frame the angle becomes alpha + phi, and then expands it with the trigonometric sum identities.</a:t>
            </a:r>
          </a:p>
        </p:txBody>
      </p:sp>
      <p:sp>
        <p:nvSpPr>
          <p:cNvPr id="116" name="Google Shape;116;p29:notes">
            <a:extLst>
              <a:ext uri="{FF2B5EF4-FFF2-40B4-BE49-F238E27FC236}">
                <a16:creationId xmlns:a16="http://schemas.microsoft.com/office/drawing/2014/main" id="{5544C7C4-01B9-E1A6-5D43-A05FE36ED2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1340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004C50-F47E-3B80-F9D3-3739D7D6B5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4E0809-82D7-C156-383F-518AE8E408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geometric picture for the rotation derivation, even though its title still reads "2D Translation (Shifting)". You see a top view of the two-wheeled robot. The world frame and the robot's body frame share an origin at the robot's center, so there is no translation, only rotation. The world X axis points up the page and the world Y axis points to the right. The body axis X sub B points forward, perpendicular to the wheel axle, and Y sub B runs along the axle. The body frame is rotated counterclockwise from the world frame by the angle phi, which is measured from the world Y axis to X sub B.</a:t>
            </a:r>
          </a:p>
          <a:p>
            <a:pPr marL="0" lvl="0" indent="0" algn="l" rtl="0">
              <a:lnSpc>
                <a:spcPct val="100000"/>
              </a:lnSpc>
              <a:spcBef>
                <a:spcPts val="0"/>
              </a:spcBef>
              <a:spcAft>
                <a:spcPts val="600"/>
              </a:spcAft>
              <a:buSzPts val="1400"/>
              <a:buNone/>
            </a:pPr>
            <a:r>
              <a:rPr lang="en-US" dirty="0"/>
              <a:t>A red arrow labeled r runs from the shared origin to a point on the robot, here the front corner of the body. A red arc labeled alpha marks that point's angle.</a:t>
            </a:r>
          </a:p>
          <a:p>
            <a:pPr marL="0" lvl="0" indent="0" algn="l" rtl="0">
              <a:lnSpc>
                <a:spcPct val="100000"/>
              </a:lnSpc>
              <a:spcBef>
                <a:spcPts val="0"/>
              </a:spcBef>
              <a:spcAft>
                <a:spcPts val="600"/>
              </a:spcAft>
              <a:buSzPts val="1400"/>
              <a:buNone/>
            </a:pPr>
            <a:r>
              <a:rPr lang="en-US" dirty="0"/>
              <a:t>This is the setup from the previous slide made visual. The point P has polar coordinates r and alpha in the rotated body frame, so x_B = r*cos(alpha) and y_B = r*sin(alpha). The key observation is that r does not change when you switch frames, because rotating the frame only changes the angle. Seen from the world frame, the point sits at angle alpha + phi.</a:t>
            </a:r>
          </a:p>
          <a:p>
            <a:pPr marL="0" lvl="0" indent="0" algn="l" rtl="0">
              <a:lnSpc>
                <a:spcPct val="100000"/>
              </a:lnSpc>
              <a:spcBef>
                <a:spcPts val="0"/>
              </a:spcBef>
              <a:spcAft>
                <a:spcPts val="600"/>
              </a:spcAft>
              <a:buSzPts val="1400"/>
              <a:buNone/>
            </a:pPr>
            <a:r>
              <a:rPr lang="en-US" dirty="0"/>
              <a:t>Common mistake: notice that the world axes here are drawn with X up and Y to the right, not in the usual math orientation. Always check which axis an angle is measured from before you write sines and cosines.</a:t>
            </a:r>
          </a:p>
          <a:p>
            <a:pPr marL="0" lvl="0" indent="0" algn="l" rtl="0">
              <a:lnSpc>
                <a:spcPct val="100000"/>
              </a:lnSpc>
              <a:spcBef>
                <a:spcPts val="0"/>
              </a:spcBef>
              <a:spcAft>
                <a:spcPts val="600"/>
              </a:spcAft>
              <a:buSzPts val="1400"/>
              <a:buNone/>
            </a:pPr>
            <a:r>
              <a:rPr lang="en-US" dirty="0"/>
              <a:t>On the next slide you expand cos(alpha + phi) and sin(alpha + phi) with the angle-sum identities, which leads to the rotation matrix.</a:t>
            </a:r>
          </a:p>
        </p:txBody>
      </p:sp>
      <p:sp>
        <p:nvSpPr>
          <p:cNvPr id="116" name="Google Shape;116;p29:notes">
            <a:extLst>
              <a:ext uri="{FF2B5EF4-FFF2-40B4-BE49-F238E27FC236}">
                <a16:creationId xmlns:a16="http://schemas.microsoft.com/office/drawing/2014/main" id="{E71A57EE-2D5E-F334-A42F-B62547745A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36539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64C2C3-87F7-1595-A01A-6F364F1F8A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F55EC0-3655-24FE-F888-BD002EFC09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geometric argument for rotation. Picking up from the setup on slide 14, point P has polar coordinates (r, alpha) in the robot's body frame: it sits a distance r from the origin at angle alpha measured from the body X axis. The body frame itself is rotated by phi relative to the world frame, and both frames share the same origin.</a:t>
            </a:r>
          </a:p>
          <a:p>
            <a:pPr marL="0" lvl="0" indent="0" algn="l" rtl="0">
              <a:lnSpc>
                <a:spcPct val="100000"/>
              </a:lnSpc>
              <a:spcBef>
                <a:spcPts val="0"/>
              </a:spcBef>
              <a:spcAft>
                <a:spcPts val="600"/>
              </a:spcAft>
              <a:buSzPts val="1400"/>
              <a:buNone/>
            </a:pPr>
            <a:r>
              <a:rPr lang="en-US" dirty="0"/>
              <a:t>The first line says that in the world frame, the angle of point P is now alpha + phi. The point has not moved and its distance r from the origin is unchanged. Only the reference direction changed, so the two angles simply add.</a:t>
            </a:r>
          </a:p>
          <a:p>
            <a:pPr marL="0" lvl="0" indent="0" algn="l" rtl="0">
              <a:lnSpc>
                <a:spcPct val="100000"/>
              </a:lnSpc>
              <a:spcBef>
                <a:spcPts val="0"/>
              </a:spcBef>
              <a:spcAft>
                <a:spcPts val="600"/>
              </a:spcAft>
              <a:buSzPts val="1400"/>
              <a:buNone/>
            </a:pPr>
            <a:r>
              <a:rPr lang="en-US" dirty="0"/>
              <a:t>The world coordinates are therefore P_W = (r*cos(alpha + phi), r*sin(alpha + phi)), read as "P sub W equals r cosine of alpha plus phi, comma, r sine of alpha plus phi."</a:t>
            </a:r>
          </a:p>
          <a:p>
            <a:pPr marL="0" lvl="0" indent="0" algn="l" rtl="0">
              <a:lnSpc>
                <a:spcPct val="100000"/>
              </a:lnSpc>
              <a:spcBef>
                <a:spcPts val="0"/>
              </a:spcBef>
              <a:spcAft>
                <a:spcPts val="600"/>
              </a:spcAft>
              <a:buSzPts val="1400"/>
              <a:buNone/>
            </a:pPr>
            <a:r>
              <a:rPr lang="en-US" dirty="0"/>
              <a:t>Next the slide applies the standard trigonometric sum identities:</a:t>
            </a:r>
          </a:p>
          <a:p>
            <a:pPr marL="0" lvl="0" indent="0" algn="l" rtl="0">
              <a:lnSpc>
                <a:spcPct val="100000"/>
              </a:lnSpc>
              <a:spcBef>
                <a:spcPts val="0"/>
              </a:spcBef>
              <a:spcAft>
                <a:spcPts val="600"/>
              </a:spcAft>
              <a:buSzPts val="1400"/>
              <a:buNone/>
            </a:pPr>
            <a:r>
              <a:rPr lang="en-US" dirty="0"/>
              <a:t>x_W = r*(cos(alpha)*cos(phi) - sin(alpha)*sin(phi))</a:t>
            </a:r>
          </a:p>
          <a:p>
            <a:pPr marL="0" lvl="0" indent="0" algn="l" rtl="0">
              <a:lnSpc>
                <a:spcPct val="100000"/>
              </a:lnSpc>
              <a:spcBef>
                <a:spcPts val="0"/>
              </a:spcBef>
              <a:spcAft>
                <a:spcPts val="600"/>
              </a:spcAft>
              <a:buSzPts val="1400"/>
              <a:buNone/>
            </a:pPr>
            <a:r>
              <a:rPr lang="en-US" dirty="0"/>
              <a:t>y_W = r*(sin(alpha)*cos(phi) + cos(alpha)*sin(phi))</a:t>
            </a:r>
          </a:p>
          <a:p>
            <a:pPr marL="0" lvl="0" indent="0" algn="l" rtl="0">
              <a:lnSpc>
                <a:spcPct val="100000"/>
              </a:lnSpc>
              <a:spcBef>
                <a:spcPts val="0"/>
              </a:spcBef>
              <a:spcAft>
                <a:spcPts val="600"/>
              </a:spcAft>
              <a:buSzPts val="1400"/>
              <a:buNone/>
            </a:pPr>
            <a:r>
              <a:rPr lang="en-US" dirty="0"/>
              <a:t>In words, x sub W equals r times the quantity cosine alpha cosine phi minus sine alpha sine phi. Y sub W equals r times the quantity sine alpha cosine phi plus cosine alpha sine phi.</a:t>
            </a:r>
          </a:p>
          <a:p>
            <a:pPr marL="0" lvl="0" indent="0" algn="l" rtl="0">
              <a:lnSpc>
                <a:spcPct val="100000"/>
              </a:lnSpc>
              <a:spcBef>
                <a:spcPts val="0"/>
              </a:spcBef>
              <a:spcAft>
                <a:spcPts val="600"/>
              </a:spcAft>
              <a:buSzPts val="1400"/>
              <a:buNone/>
            </a:pPr>
            <a:r>
              <a:rPr lang="en-US" dirty="0"/>
              <a:t>The point of expanding is to separate alpha, which belongs to the point, from phi, which belongs to the robot's heading. Notice that r*cos(alpha) and r*sin(alpha) are hiding in these expressions. Those are just the body-frame coordinates x_B and y_B. On the next slide you substitute them back, and the result becomes a matrix multiplication.</a:t>
            </a:r>
          </a:p>
          <a:p>
            <a:pPr marL="0" lvl="0" indent="0" algn="l" rtl="0">
              <a:lnSpc>
                <a:spcPct val="100000"/>
              </a:lnSpc>
              <a:spcBef>
                <a:spcPts val="0"/>
              </a:spcBef>
              <a:spcAft>
                <a:spcPts val="600"/>
              </a:spcAft>
              <a:buSzPts val="1400"/>
              <a:buNone/>
            </a:pPr>
            <a:r>
              <a:rPr lang="en-US" dirty="0"/>
              <a:t>A common slip is the sign: the minus sign belongs in the cosine identity, not the sine identity. As a quick check, set phi = 0. You should recover x_W = r*cos(alpha) and y_W = r*sin(alpha), so the two frames coincide.</a:t>
            </a:r>
          </a:p>
        </p:txBody>
      </p:sp>
      <p:sp>
        <p:nvSpPr>
          <p:cNvPr id="116" name="Google Shape;116;p29:notes">
            <a:extLst>
              <a:ext uri="{FF2B5EF4-FFF2-40B4-BE49-F238E27FC236}">
                <a16:creationId xmlns:a16="http://schemas.microsoft.com/office/drawing/2014/main" id="{B5FBF68B-B41F-C902-C4E0-EB730111C2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19078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332CC8-A2C1-CE72-3B84-DEFCEA9495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CAC600-6939-5063-9D45-2AC087D7FF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rotation derivation. It shows three groups of equations. First, the point's coordinates in the robot (body) frame: (x_r, y_r) = (r*cos(alpha), r*sin(alpha)), meaning x_r equals r times cosine of alpha and y_r equals r times sine of alpha. Second, the world-frame coordinates after the trig sum identities from the previous slide: x_W = r*(cos(alpha)*cos(phi) - sin(alpha)*sin(phi)) and y_W = r*(sin(alpha)*cos(phi) + cos(alpha)*sin(phi)). Third, the result: x_W = x_R*cos(phi) - y_R*sin(phi) and y_W = x_R*sin(phi) + y_R*cos(phi). The slide closes with "Which is elegantly expressed using matrix multiplications!"</a:t>
            </a:r>
          </a:p>
          <a:p>
            <a:pPr marL="0" lvl="0" indent="0" algn="l" rtl="0">
              <a:lnSpc>
                <a:spcPct val="100000"/>
              </a:lnSpc>
              <a:spcBef>
                <a:spcPts val="0"/>
              </a:spcBef>
              <a:spcAft>
                <a:spcPts val="600"/>
              </a:spcAft>
              <a:buSzPts val="1400"/>
              <a:buNone/>
            </a:pPr>
            <a:r>
              <a:rPr lang="en-US" dirty="0"/>
              <a:t>The key step is substitution. On the last slide you wrote the world position as r*cos(alpha + phi) and r*sin(alpha + phi) and expanded those. Distribute the r into each term and you find r*cos(alpha) and r*sin(alpha), which are exactly x_R and y_R. So r and alpha drop out. You no longer need the point's distance or angle, only its body-frame coordinates and the robot's heading phi. That is what makes this practical on the robot: a sensor such as the LiDAR reports points relative to the robot, and these two lines place them on the world map.</a:t>
            </a:r>
          </a:p>
          <a:p>
            <a:pPr marL="0" lvl="0" indent="0" algn="l" rtl="0">
              <a:lnSpc>
                <a:spcPct val="100000"/>
              </a:lnSpc>
              <a:spcBef>
                <a:spcPts val="0"/>
              </a:spcBef>
              <a:spcAft>
                <a:spcPts val="600"/>
              </a:spcAft>
              <a:buSzPts val="1400"/>
              <a:buNone/>
            </a:pPr>
            <a:r>
              <a:rPr lang="en-US" dirty="0"/>
              <a:t>To check your understanding, set phi = 90 degrees and take the point x_R = 1, y_R = 0. The equations give x_W = 0 and y_W = 1, a quarter turn counterclockwise, as expected.</a:t>
            </a:r>
          </a:p>
          <a:p>
            <a:pPr marL="0" lvl="0" indent="0" algn="l" rtl="0">
              <a:lnSpc>
                <a:spcPct val="100000"/>
              </a:lnSpc>
              <a:spcBef>
                <a:spcPts val="0"/>
              </a:spcBef>
              <a:spcAft>
                <a:spcPts val="600"/>
              </a:spcAft>
              <a:buSzPts val="1400"/>
              <a:buNone/>
            </a:pPr>
            <a:r>
              <a:rPr lang="en-US" dirty="0"/>
              <a:t>A common mistake is dropping or flipping the minus sign on the sin(phi) term in x_W. Another is passing degrees to the C sin() and cos() functions, which expect radians.</a:t>
            </a:r>
          </a:p>
          <a:p>
            <a:pPr marL="0" lvl="0" indent="0" algn="l" rtl="0">
              <a:lnSpc>
                <a:spcPct val="100000"/>
              </a:lnSpc>
              <a:spcBef>
                <a:spcPts val="0"/>
              </a:spcBef>
              <a:spcAft>
                <a:spcPts val="600"/>
              </a:spcAft>
              <a:buSzPts val="1400"/>
              <a:buNone/>
            </a:pPr>
            <a:r>
              <a:rPr lang="en-US" dirty="0"/>
              <a:t>Next, you rewrite these two equations as a 2x2 rotation matrix.</a:t>
            </a:r>
          </a:p>
        </p:txBody>
      </p:sp>
      <p:sp>
        <p:nvSpPr>
          <p:cNvPr id="116" name="Google Shape;116;p29:notes">
            <a:extLst>
              <a:ext uri="{FF2B5EF4-FFF2-40B4-BE49-F238E27FC236}">
                <a16:creationId xmlns:a16="http://schemas.microsoft.com/office/drawing/2014/main" id="{B70BF6BC-389E-B6CA-CB50-D93BE7AE3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64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8BF7BF-60B9-DA48-4BBA-5AE075B789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52BEC4-864E-8F7F-A658-A7B016F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packages the two rotation equations from the previous slide into one matrix equation: P_w = R(phi) * P_r. Read it as "the point in the world frame equals R of phi times the point in the robot frame." Written out, the column vector [x_W; y_W] equals the 2x2 matrix with first row cos(phi), minus sin(phi) and second row sin(phi), cos(phi), multiplied by the column vector [x_R; y_R]. Multiply it out and you get x_W = x_R*cos(phi) - y_R*sin(phi) and y_W = x_R*sin(phi) + y_R*cos(phi), which are exactly the equations we just derived.</a:t>
            </a:r>
          </a:p>
          <a:p>
            <a:pPr marL="0" lvl="0" indent="0" algn="l" rtl="0">
              <a:lnSpc>
                <a:spcPct val="100000"/>
              </a:lnSpc>
              <a:spcBef>
                <a:spcPts val="0"/>
              </a:spcBef>
              <a:spcAft>
                <a:spcPts val="600"/>
              </a:spcAft>
              <a:buSzPts val="1400"/>
              <a:buNone/>
            </a:pPr>
            <a:r>
              <a:rPr lang="en-US" dirty="0"/>
              <a:t>The slide then names the matrix: R(phi) belongs to the Special Orthogonal Group, SO(2). "Orthogonal" means the columns are perpendicular unit vectors, so R^T * R = I. This makes the inverse just the transpose, which is how you go from world back to robot coordinates. "Special" means the determinant is +1, not -1, so the matrix is a pure rotation with no mirror flip.</a:t>
            </a:r>
          </a:p>
          <a:p>
            <a:pPr marL="0" lvl="0" indent="0" algn="l" rtl="0">
              <a:lnSpc>
                <a:spcPct val="100000"/>
              </a:lnSpc>
              <a:spcBef>
                <a:spcPts val="0"/>
              </a:spcBef>
              <a:spcAft>
                <a:spcPts val="600"/>
              </a:spcAft>
              <a:buSzPts val="1400"/>
              <a:buNone/>
            </a:pPr>
            <a:r>
              <a:rPr lang="en-US" dirty="0"/>
              <a:t>The slide asks: if the determinant measures how much area gets scaled, what is the determinant of a rotation without calculating? The answer is 1. Spinning a shape does not change its area, so the robot does not stretch as it turns. You can confirm it quickly: cos^2(phi) + sin^2(phi) = 1.</a:t>
            </a:r>
          </a:p>
          <a:p>
            <a:pPr marL="0" lvl="0" indent="0" algn="l" rtl="0">
              <a:lnSpc>
                <a:spcPct val="100000"/>
              </a:lnSpc>
              <a:spcBef>
                <a:spcPts val="0"/>
              </a:spcBef>
              <a:spcAft>
                <a:spcPts val="600"/>
              </a:spcAft>
              <a:buSzPts val="1400"/>
              <a:buNone/>
            </a:pPr>
            <a:r>
              <a:rPr lang="en-US" dirty="0"/>
              <a:t>A common mistake is putting the minus sign on the wrong sin term. That gives you R(-phi), the rotation in the opposite direction.</a:t>
            </a:r>
          </a:p>
          <a:p>
            <a:pPr marL="0" lvl="0" indent="0" algn="l" rtl="0">
              <a:lnSpc>
                <a:spcPct val="100000"/>
              </a:lnSpc>
              <a:spcBef>
                <a:spcPts val="0"/>
              </a:spcBef>
              <a:spcAft>
                <a:spcPts val="600"/>
              </a:spcAft>
              <a:buSzPts val="1400"/>
              <a:buNone/>
            </a:pPr>
            <a:r>
              <a:rPr lang="en-US" dirty="0"/>
              <a:t>Next, we combine this rotation with translation into a single transformation.</a:t>
            </a:r>
          </a:p>
        </p:txBody>
      </p:sp>
      <p:sp>
        <p:nvSpPr>
          <p:cNvPr id="116" name="Google Shape;116;p29:notes">
            <a:extLst>
              <a:ext uri="{FF2B5EF4-FFF2-40B4-BE49-F238E27FC236}">
                <a16:creationId xmlns:a16="http://schemas.microsoft.com/office/drawing/2014/main" id="{AF18C965-0CD5-C9CE-69E8-F3852ECC9E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6120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99F037-8C12-8E40-3C8A-7B9469DE6E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F04FE2-FC42-93C3-5D44-30170411F5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combines the two pieces from the previous slides. In reality a robot is both translated and rotated, so the complete transformation from the robot frame to the world frame is P_w = R(phi)*P_r + T. In words: the point in world coordinates equals the rotation matrix R of the heading angle phi times the point in robot coordinates, plus the translation vector T. You rotate first, then shift.</a:t>
            </a:r>
          </a:p>
          <a:p>
            <a:pPr marL="0" lvl="0" indent="0" algn="l" rtl="0">
              <a:lnSpc>
                <a:spcPct val="100000"/>
              </a:lnSpc>
              <a:spcBef>
                <a:spcPts val="0"/>
              </a:spcBef>
              <a:spcAft>
                <a:spcPts val="600"/>
              </a:spcAft>
              <a:buSzPts val="1400"/>
              <a:buNone/>
            </a:pPr>
            <a:r>
              <a:rPr lang="en-US" dirty="0"/>
              <a:t>The slide then rewrites this as a single matrix operation using homogeneous coordinates. A column vector x_W, y_W, 1 equals a 3 by 3 matrix times the column vector x_R, y_R, 1. The matrix rows are: cos(theta), minus sin(theta), t_x; then sin(theta), cos(theta), t_y; then 0, 0, 1. The angle is called phi in the first equation and theta in the matrix, but it is the same heading angle. The slide closes by noting that this is the standard representation in all modern software.</a:t>
            </a:r>
          </a:p>
          <a:p>
            <a:pPr marL="0" lvl="0" indent="0" algn="l" rtl="0">
              <a:lnSpc>
                <a:spcPct val="100000"/>
              </a:lnSpc>
              <a:spcBef>
                <a:spcPts val="0"/>
              </a:spcBef>
              <a:spcAft>
                <a:spcPts val="600"/>
              </a:spcAft>
              <a:buSzPts val="1400"/>
              <a:buNone/>
            </a:pPr>
            <a:r>
              <a:rPr lang="en-US" dirty="0"/>
              <a:t>The trick is the extra 1 appended to each point. The upper-left 2 by 2 block is the SO(2) rotation matrix from the last slide, and the third column multiplies that 1, which adds t_x and t_y. Translation becomes matrix multiplication, so you can chain several transforms, such as LiDAR to robot to world, by multiplying matrices.</a:t>
            </a:r>
          </a:p>
          <a:p>
            <a:pPr marL="0" lvl="0" indent="0" algn="l" rtl="0">
              <a:lnSpc>
                <a:spcPct val="100000"/>
              </a:lnSpc>
              <a:spcBef>
                <a:spcPts val="0"/>
              </a:spcBef>
              <a:spcAft>
                <a:spcPts val="600"/>
              </a:spcAft>
              <a:buSzPts val="1400"/>
              <a:buNone/>
            </a:pPr>
            <a:r>
              <a:rPr lang="en-US" dirty="0"/>
              <a:t>As a quick check, where does the robot's own origin, x_R = 0 and y_R = 0, land in the world? It lands at (t_x, t_y), the robot's position. A common mistake is setting the last entry of the point to 0 instead of 1, which silently drops the translation.</a:t>
            </a:r>
          </a:p>
          <a:p>
            <a:pPr marL="0" lvl="0" indent="0" algn="l" rtl="0">
              <a:lnSpc>
                <a:spcPct val="100000"/>
              </a:lnSpc>
              <a:spcBef>
                <a:spcPts val="0"/>
              </a:spcBef>
              <a:spcAft>
                <a:spcPts val="600"/>
              </a:spcAft>
              <a:buSzPts val="1400"/>
              <a:buNone/>
            </a:pPr>
            <a:r>
              <a:rPr lang="en-US" dirty="0"/>
              <a:t>Next, we ask how the robot knows t_x, t_y and theta as it moves. That is dead-reckoning.</a:t>
            </a:r>
          </a:p>
        </p:txBody>
      </p:sp>
      <p:sp>
        <p:nvSpPr>
          <p:cNvPr id="116" name="Google Shape;116;p29:notes">
            <a:extLst>
              <a:ext uri="{FF2B5EF4-FFF2-40B4-BE49-F238E27FC236}">
                <a16:creationId xmlns:a16="http://schemas.microsoft.com/office/drawing/2014/main" id="{65C32F6B-4D61-6B49-5521-323F0FA5AA7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735204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8477EE1-B993-CD06-EEBA-78F4E3E996A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DDE1DD-0E78-2BFA-2A76-8DED2AF53B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titled "Dead-Reckoning," shown in dark blue on the orange Illinois background with faint hand-drawn math sketches, the Illinois "I" logo, and the footer "Systems Engineering" and "Grainger Engineering."</a:t>
            </a:r>
          </a:p>
          <a:p>
            <a:pPr marL="0" lvl="0" indent="0" algn="l" rtl="0">
              <a:spcBef>
                <a:spcPts val="0"/>
              </a:spcBef>
              <a:spcAft>
                <a:spcPts val="600"/>
              </a:spcAft>
              <a:buNone/>
            </a:pPr>
            <a:r>
              <a:rPr lang="en-US" dirty="0"/>
              <a:t>You now know how to map a point from the robot's frame into the world frame using rotation, translation, and homogeneous coordinates. This section asks the next question: as the robot drives, how does it keep track of where it is, using only its own wheel encoders and IMU?</a:t>
            </a:r>
          </a:p>
        </p:txBody>
      </p:sp>
      <p:sp>
        <p:nvSpPr>
          <p:cNvPr id="102" name="Google Shape;102;p28:notes">
            <a:extLst>
              <a:ext uri="{FF2B5EF4-FFF2-40B4-BE49-F238E27FC236}">
                <a16:creationId xmlns:a16="http://schemas.microsoft.com/office/drawing/2014/main" id="{DD793B7F-E5AF-6B99-0CD5-C800BF336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5071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501867-95D6-B00D-B73A-61ADCE518A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56DAAE-3D4D-31C8-FB91-1907718A1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the title "Dead-Reckoning" and three short lines of text with no figures. It opens with a question: now that we can map local coordinates to the world, how do we track our movement? It then defines dead-reckoning, also called odometry, as the process of calculating current position by integrating previously determined positions and estimated speeds over time. Finally, it notes that dead-reckoning relies purely on internal sensors, primarily wheel encoders and IMUs.</a:t>
            </a:r>
          </a:p>
          <a:p>
            <a:pPr marL="0" lvl="0" indent="0" algn="l" rtl="0">
              <a:lnSpc>
                <a:spcPct val="100000"/>
              </a:lnSpc>
              <a:spcBef>
                <a:spcPts val="0"/>
              </a:spcBef>
              <a:spcAft>
                <a:spcPts val="600"/>
              </a:spcAft>
              <a:buSzPts val="1400"/>
              <a:buNone/>
            </a:pPr>
            <a:r>
              <a:rPr lang="en-US" dirty="0"/>
              <a:t>The previous slides gave you the homogeneous transform that places the robot's body frame in the world frame, given its position x, y and heading. The remaining question is where those numbers come from as the robot drives. Dead-reckoning answers it incrementally. You start from a known pose, measure how fast you are moving and turning over one short sample period dt, add that small motion to the old pose, and repeat. In words, the new pose equals the old pose plus velocity times dt, for example x_(k+1) = x_k + v_k*cos(theta_k)*dt.</a:t>
            </a:r>
          </a:p>
          <a:p>
            <a:pPr marL="0" lvl="0" indent="0" algn="l" rtl="0">
              <a:lnSpc>
                <a:spcPct val="100000"/>
              </a:lnSpc>
              <a:spcBef>
                <a:spcPts val="0"/>
              </a:spcBef>
              <a:spcAft>
                <a:spcPts val="600"/>
              </a:spcAft>
              <a:buSzPts val="1400"/>
              <a:buNone/>
            </a:pPr>
            <a:r>
              <a:rPr lang="en-US" dirty="0"/>
              <a:t>"Internal sensors" means the robot measures only itself and never looks at the outside world. On your robot, the wheel encoders, read by the F28379D's quadrature encoder peripheral, give wheel rotation, and the IMU's gyro gives turn rate.</a:t>
            </a:r>
          </a:p>
          <a:p>
            <a:pPr marL="0" lvl="0" indent="0" algn="l" rtl="0">
              <a:lnSpc>
                <a:spcPct val="100000"/>
              </a:lnSpc>
              <a:spcBef>
                <a:spcPts val="0"/>
              </a:spcBef>
              <a:spcAft>
                <a:spcPts val="600"/>
              </a:spcAft>
              <a:buSzPts val="1400"/>
              <a:buNone/>
            </a:pPr>
            <a:r>
              <a:rPr lang="en-US" dirty="0"/>
              <a:t>Check your understanding: because each step adds onto the last one, what happens to a small error in one step? Hold that thought for the Errors section.</a:t>
            </a:r>
          </a:p>
          <a:p>
            <a:pPr marL="0" lvl="0" indent="0" algn="l" rtl="0">
              <a:lnSpc>
                <a:spcPct val="100000"/>
              </a:lnSpc>
              <a:spcBef>
                <a:spcPts val="0"/>
              </a:spcBef>
              <a:spcAft>
                <a:spcPts val="600"/>
              </a:spcAft>
              <a:buSzPts val="1400"/>
              <a:buNone/>
            </a:pPr>
            <a:r>
              <a:rPr lang="en-US" dirty="0"/>
              <a:t>Next, we work out how two wheel speeds become the robot's linear and angular velocity.</a:t>
            </a:r>
          </a:p>
        </p:txBody>
      </p:sp>
      <p:sp>
        <p:nvSpPr>
          <p:cNvPr id="116" name="Google Shape;116;p29:notes">
            <a:extLst>
              <a:ext uri="{FF2B5EF4-FFF2-40B4-BE49-F238E27FC236}">
                <a16:creationId xmlns:a16="http://schemas.microsoft.com/office/drawing/2014/main" id="{46A39EDE-9C73-1A82-E878-714DAFCE79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61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0165D6-2B0F-CB6D-C842-2A2FF9492C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026F1C-4C24-07F8-27C2-86F7FD232D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drive model that dead-reckoning is built on. The text says our robot uses a differential drive system: two wheels, each driven independently by its own motor. The robot's overall forward linear velocity V is the average of the two wheel speeds, written V = (v_L + v_R)/2, read "V equals v L plus v R, divided by two." The slide then asks: if v_L equals v_R, what is the robot doing? The answer is that the robot goes forward.</a:t>
            </a:r>
          </a:p>
          <a:p>
            <a:pPr marL="0" lvl="0" indent="0" algn="l" rtl="0">
              <a:lnSpc>
                <a:spcPct val="100000"/>
              </a:lnSpc>
              <a:spcBef>
                <a:spcPts val="0"/>
              </a:spcBef>
              <a:spcAft>
                <a:spcPts val="600"/>
              </a:spcAft>
              <a:buSzPts val="1400"/>
              <a:buNone/>
            </a:pPr>
            <a:r>
              <a:rPr lang="en-US" dirty="0"/>
              <a:t>The diagram on the right shows a world frame with origin O, horizontal axis X and vertical axis Y. A rectangular robot body sits with its center at world position x, y. It is rotated so that its body axis X_B, the forward direction, points along the velocity arrow V at heading angle phi from the world X axis. Y_B points to the robot's left. The left wheel (upper in the picture) has speed v_L and the right wheel has speed v_R, both drawn as arrows parallel to V. The wheels are separated by the track width b, and 2r marks the wheel diameter. A point labeled ICR, the instantaneous center of rotation, sits along the Y_B axis at distance R from the robot's center, with a curved arrow omega showing rotation about it.</a:t>
            </a:r>
          </a:p>
          <a:p>
            <a:pPr marL="0" lvl="0" indent="0" algn="l" rtl="0">
              <a:lnSpc>
                <a:spcPct val="100000"/>
              </a:lnSpc>
              <a:spcBef>
                <a:spcPts val="0"/>
              </a:spcBef>
              <a:spcAft>
                <a:spcPts val="600"/>
              </a:spcAft>
              <a:buSzPts val="1400"/>
              <a:buNone/>
            </a:pPr>
            <a:r>
              <a:rPr lang="en-US" dirty="0"/>
              <a:t>Here v_L and v_R are linear speeds at the wheel contact point, not motor shaft rates. On the robot you get them from the encoders as v = r * (wheel angular velocity). A common mistake is forgetting to multiply by r. Another is missing that one motor is mirrored, so its encoder counts negative when the robot drives forward.</a:t>
            </a:r>
          </a:p>
          <a:p>
            <a:pPr marL="0" lvl="0" indent="0" algn="l" rtl="0">
              <a:lnSpc>
                <a:spcPct val="100000"/>
              </a:lnSpc>
              <a:spcBef>
                <a:spcPts val="0"/>
              </a:spcBef>
              <a:spcAft>
                <a:spcPts val="600"/>
              </a:spcAft>
              <a:buSzPts val="1400"/>
              <a:buNone/>
            </a:pPr>
            <a:r>
              <a:rPr lang="en-US" dirty="0"/>
              <a:t>If both wheels move at the same speed, the ICR moves infinitely far away and the robot drives straight. Next, you see what happens when the wheel speeds differ.</a:t>
            </a:r>
          </a:p>
        </p:txBody>
      </p:sp>
      <p:sp>
        <p:nvSpPr>
          <p:cNvPr id="116" name="Google Shape;116;p29:notes">
            <a:extLst>
              <a:ext uri="{FF2B5EF4-FFF2-40B4-BE49-F238E27FC236}">
                <a16:creationId xmlns:a16="http://schemas.microsoft.com/office/drawing/2014/main" id="{0DF6B970-ADAE-795C-7359-E1A3A3509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44517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BCA9D6-B738-6212-9801-A17EA0F7D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EC23B1-F7A4-CD59-51F9-9B142FEFE7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differential-drive model. The text says that the robot's angular velocity, omega, depends on the difference between the wheel speeds: omega = (v_R - v_L)/b, read "omega equals v sub R minus v sub L, divided by b." It then asks: if v_L = -v_R, what is the robot doing? The answer: the robot rotates in place, a zero-radius turn.</a:t>
            </a:r>
          </a:p>
          <a:p>
            <a:pPr marL="0" lvl="0" indent="0" algn="l" rtl="0">
              <a:lnSpc>
                <a:spcPct val="100000"/>
              </a:lnSpc>
              <a:spcBef>
                <a:spcPts val="0"/>
              </a:spcBef>
              <a:spcAft>
                <a:spcPts val="600"/>
              </a:spcAft>
              <a:buSzPts val="1400"/>
              <a:buNone/>
            </a:pPr>
            <a:r>
              <a:rPr lang="en-US" dirty="0"/>
              <a:t>The diagram on the right is the same one as the previous slide. It shows the world frame X, Y with origin O. The robot sits at position x, y with heading angle phi measured from the world X axis. The body axis X_B points forward along the velocity V, and Y_B points left. The left wheel, with speed v_L, is on the Y_B side, and the right wheel, with speed v_R, is on the opposite side. The wheels are separated by the track width b, and each wheel has diameter 2r. The robot turns at rate omega about the instantaneous center of rotation, ICR, a distance R away along Y_B.</a:t>
            </a:r>
          </a:p>
          <a:p>
            <a:pPr marL="0" lvl="0" indent="0" algn="l" rtl="0">
              <a:lnSpc>
                <a:spcPct val="100000"/>
              </a:lnSpc>
              <a:spcBef>
                <a:spcPts val="0"/>
              </a:spcBef>
              <a:spcAft>
                <a:spcPts val="600"/>
              </a:spcAft>
              <a:buSzPts val="1400"/>
              <a:buNone/>
            </a:pPr>
            <a:r>
              <a:rPr lang="en-US" dirty="0"/>
              <a:t>On the last slide, the average of the two wheel speeds gave the forward speed V. Here, the difference gives rotation. If the right wheel is faster, omega is positive, which means a counterclockwise turn to the left. With v in meters per second and b in meters, omega comes out in radians per second.</a:t>
            </a:r>
          </a:p>
          <a:p>
            <a:pPr marL="0" lvl="0" indent="0" algn="l" rtl="0">
              <a:lnSpc>
                <a:spcPct val="100000"/>
              </a:lnSpc>
              <a:spcBef>
                <a:spcPts val="0"/>
              </a:spcBef>
              <a:spcAft>
                <a:spcPts val="600"/>
              </a:spcAft>
              <a:buSzPts val="1400"/>
              <a:buNone/>
            </a:pPr>
            <a:r>
              <a:rPr lang="en-US" dirty="0"/>
              <a:t>Now apply this to v_L = -v_R. The forward speed is V = (v_R + v_L)/2 = 0, while omega = 2*v_R/b. The robot spins without translating.</a:t>
            </a:r>
          </a:p>
          <a:p>
            <a:pPr marL="0" lvl="0" indent="0" algn="l" rtl="0">
              <a:lnSpc>
                <a:spcPct val="100000"/>
              </a:lnSpc>
              <a:spcBef>
                <a:spcPts val="0"/>
              </a:spcBef>
              <a:spcAft>
                <a:spcPts val="600"/>
              </a:spcAft>
              <a:buSzPts val="1400"/>
              <a:buNone/>
            </a:pPr>
            <a:r>
              <a:rPr lang="en-US" dirty="0"/>
              <a:t>Two common mistakes:</a:t>
            </a:r>
          </a:p>
          <a:p>
            <a:pPr marL="0" lvl="0" indent="0" algn="l" rtl="0">
              <a:lnSpc>
                <a:spcPct val="100000"/>
              </a:lnSpc>
              <a:spcBef>
                <a:spcPts val="0"/>
              </a:spcBef>
              <a:spcAft>
                <a:spcPts val="600"/>
              </a:spcAft>
              <a:buSzPts val="1400"/>
              <a:buNone/>
            </a:pPr>
            <a:r>
              <a:rPr lang="en-US" dirty="0"/>
              <a:t>1. Using half the track width instead of b, the full distance between the wheel contact points.</a:t>
            </a:r>
          </a:p>
          <a:p>
            <a:pPr marL="0" lvl="0" indent="0" algn="l" rtl="0">
              <a:lnSpc>
                <a:spcPct val="100000"/>
              </a:lnSpc>
              <a:spcBef>
                <a:spcPts val="0"/>
              </a:spcBef>
              <a:spcAft>
                <a:spcPts val="600"/>
              </a:spcAft>
              <a:buSzPts val="1400"/>
              <a:buNone/>
            </a:pPr>
            <a:r>
              <a:rPr lang="en-US" dirty="0"/>
              <a:t>2. Plugging in encoder rates directly. Your encoders measure wheel angle, so convert to linear speed with v = r * (wheel angular rate).</a:t>
            </a:r>
          </a:p>
          <a:p>
            <a:pPr marL="0" lvl="0" indent="0" algn="l" rtl="0">
              <a:lnSpc>
                <a:spcPct val="100000"/>
              </a:lnSpc>
              <a:spcBef>
                <a:spcPts val="0"/>
              </a:spcBef>
              <a:spcAft>
                <a:spcPts val="600"/>
              </a:spcAft>
              <a:buSzPts val="1400"/>
              <a:buNone/>
            </a:pPr>
            <a:r>
              <a:rPr lang="en-US" dirty="0"/>
              <a:t>Next, you will combine V and omega to find the turning radius R about the ICR.</a:t>
            </a:r>
          </a:p>
        </p:txBody>
      </p:sp>
      <p:sp>
        <p:nvSpPr>
          <p:cNvPr id="116" name="Google Shape;116;p29:notes">
            <a:extLst>
              <a:ext uri="{FF2B5EF4-FFF2-40B4-BE49-F238E27FC236}">
                <a16:creationId xmlns:a16="http://schemas.microsoft.com/office/drawing/2014/main" id="{1EA8222C-089B-B207-19A5-D181061FD2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7960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FC25D6-F64E-F7E8-7EF1-3D44F16ED8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153428-DA95-9E30-E05C-D3596A229A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a differential-drive robot turns. The text says that if both wheels stay in contact with the ground without slipping, each wheel traces an arc in the plane, and the whole robot rotates about a single point called the ICR, the instantaneous center of rotation. The robot's angular velocity about the ICR is omega.</a:t>
            </a:r>
          </a:p>
          <a:p>
            <a:pPr marL="0" lvl="0" indent="0" algn="l" rtl="0">
              <a:lnSpc>
                <a:spcPct val="100000"/>
              </a:lnSpc>
              <a:spcBef>
                <a:spcPts val="0"/>
              </a:spcBef>
              <a:spcAft>
                <a:spcPts val="600"/>
              </a:spcAft>
              <a:buSzPts val="1400"/>
              <a:buNone/>
            </a:pPr>
            <a:r>
              <a:rPr lang="en-US" dirty="0"/>
              <a:t>The diagram is the same one from the previous slides. The world frame has axes X and Y with origin O, and the robot sits at position x, y with heading angle phi. The ICR is drawn as a black dot along the body Y_B axis, at distance R from the robot's center, with a curved arrow labeled omega around it. The left wheel, speed v_L, is on the side nearer the ICR. The right wheel, speed v_R, is on the far side. The wheels are separated by track width b, and 2r marks the wheel diameter.</a:t>
            </a:r>
          </a:p>
          <a:p>
            <a:pPr marL="0" lvl="0" indent="0" algn="l" rtl="0">
              <a:lnSpc>
                <a:spcPct val="100000"/>
              </a:lnSpc>
              <a:spcBef>
                <a:spcPts val="0"/>
              </a:spcBef>
              <a:spcAft>
                <a:spcPts val="600"/>
              </a:spcAft>
              <a:buSzPts val="1400"/>
              <a:buNone/>
            </a:pPr>
            <a:r>
              <a:rPr lang="en-US" dirty="0"/>
              <a:t>The slide invokes the angular velocity relation and writes two equations. Read them in their standard form: linear speed equals angular velocity times distance from the center of rotation, v = omega*r. Here r is the distance from the ICR, not the wheel radius, and this is a common mix-up.</a:t>
            </a:r>
          </a:p>
          <a:p>
            <a:pPr marL="0" lvl="0" indent="0" algn="l" rtl="0">
              <a:lnSpc>
                <a:spcPct val="100000"/>
              </a:lnSpc>
              <a:spcBef>
                <a:spcPts val="0"/>
              </a:spcBef>
              <a:spcAft>
                <a:spcPts val="600"/>
              </a:spcAft>
              <a:buSzPts val="1400"/>
              <a:buNone/>
            </a:pPr>
            <a:r>
              <a:rPr lang="en-US" dirty="0"/>
              <a:t>The right wheel is R + b/2 from the ICR, so v_R = omega*(R + b/2). The left wheel is R − b/2 from the ICR, so v_L = omega*(R − b/2). Both wheels share the same omega, which is what links the two equations.</a:t>
            </a:r>
          </a:p>
          <a:p>
            <a:pPr marL="0" lvl="0" indent="0" algn="l" rtl="0">
              <a:lnSpc>
                <a:spcPct val="100000"/>
              </a:lnSpc>
              <a:spcBef>
                <a:spcPts val="0"/>
              </a:spcBef>
              <a:spcAft>
                <a:spcPts val="600"/>
              </a:spcAft>
              <a:buSzPts val="1400"/>
              <a:buNone/>
            </a:pPr>
            <a:r>
              <a:rPr lang="en-US" dirty="0"/>
              <a:t>So the outer wheel must travel faster than the inner one. Two equations with two unknowns, omega and R, is exactly what you solve on the next slide.</a:t>
            </a:r>
          </a:p>
          <a:p>
            <a:pPr marL="0" lvl="0" indent="0" algn="l" rtl="0">
              <a:lnSpc>
                <a:spcPct val="100000"/>
              </a:lnSpc>
              <a:spcBef>
                <a:spcPts val="0"/>
              </a:spcBef>
              <a:spcAft>
                <a:spcPts val="600"/>
              </a:spcAft>
              <a:buSzPts val="1400"/>
              <a:buNone/>
            </a:pPr>
            <a:r>
              <a:rPr lang="en-US" dirty="0"/>
              <a:t>Quick check: if v_R = v_L, where must the ICR be?</a:t>
            </a:r>
          </a:p>
        </p:txBody>
      </p:sp>
      <p:sp>
        <p:nvSpPr>
          <p:cNvPr id="116" name="Google Shape;116;p29:notes">
            <a:extLst>
              <a:ext uri="{FF2B5EF4-FFF2-40B4-BE49-F238E27FC236}">
                <a16:creationId xmlns:a16="http://schemas.microsoft.com/office/drawing/2014/main" id="{147BDBCA-A110-5052-2B7B-FC61B3E5AE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23333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FD0AD-19F7-20B6-BA4F-7E3AAC382C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AE6DE1-5D24-0B2E-7458-EDC1FF5CC4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shows the result of solving the two ICR equations for the robot's angular velocity omega and turning radius R. The first equation is omega = (v_R - v_L)/b, read "omega equals v R minus v L, all over b." The second is R = (b/2)*(v_R + v_L)/(v_R - v_L), read "R equals b over two, times v R plus v L, over v R minus v L." The text then says "Very simple!" and asks two questions: when R equals infinity, what is the robot doing, and when R equals zero, what is the robot doing? On the right is the same differential-drive diagram as before. The robot sits at x, y in the world frame with heading phi. The two wheels are separated by track width b and have speeds v_L and v_R. The robot rotates at rate omega about the ICR, which lies a distance R along the body Y_B axis.</a:t>
            </a:r>
          </a:p>
          <a:p>
            <a:pPr marL="0" lvl="0" indent="0" algn="l" rtl="0">
              <a:lnSpc>
                <a:spcPct val="100000"/>
              </a:lnSpc>
              <a:spcBef>
                <a:spcPts val="0"/>
              </a:spcBef>
              <a:spcAft>
                <a:spcPts val="600"/>
              </a:spcAft>
              <a:buSzPts val="1400"/>
              <a:buNone/>
            </a:pPr>
            <a:r>
              <a:rPr lang="en-US" dirty="0"/>
              <a:t>Here is the step the slide skips. From the previous slide, each wheel moves on a circle about the ICR, so v_R = omega*(R + b/2) and v_L = omega*(R - b/2). Subtracting the second equation from the first gives v_R - v_L = omega*b, which is the omega equation. Adding them gives v_R + v_L = 2*omega*R, and substituting omega gives the R equation.</a:t>
            </a:r>
          </a:p>
          <a:p>
            <a:pPr marL="0" lvl="0" indent="0" algn="l" rtl="0">
              <a:lnSpc>
                <a:spcPct val="100000"/>
              </a:lnSpc>
              <a:spcBef>
                <a:spcPts val="0"/>
              </a:spcBef>
              <a:spcAft>
                <a:spcPts val="600"/>
              </a:spcAft>
              <a:buSzPts val="1400"/>
              <a:buNone/>
            </a:pPr>
            <a:r>
              <a:rPr lang="en-US" dirty="0"/>
              <a:t>Now the questions. R is infinite when v_R = v_L: omega is zero and the robot drives straight. R is zero when v_R = -v_L: the robot spins in place, which matches slide 23. A positive R puts the ICR on the robot's left, and the robot turns left.</a:t>
            </a:r>
          </a:p>
          <a:p>
            <a:pPr marL="0" lvl="0" indent="0" algn="l" rtl="0">
              <a:lnSpc>
                <a:spcPct val="100000"/>
              </a:lnSpc>
              <a:spcBef>
                <a:spcPts val="0"/>
              </a:spcBef>
              <a:spcAft>
                <a:spcPts val="600"/>
              </a:spcAft>
              <a:buSzPts val="1400"/>
              <a:buNone/>
            </a:pPr>
            <a:r>
              <a:rPr lang="en-US" dirty="0"/>
              <a:t>A coding caution: never compute R directly on the robot. It divides by zero whenever you drive straight.</a:t>
            </a:r>
          </a:p>
          <a:p>
            <a:pPr marL="0" lvl="0" indent="0" algn="l" rtl="0">
              <a:lnSpc>
                <a:spcPct val="100000"/>
              </a:lnSpc>
              <a:spcBef>
                <a:spcPts val="0"/>
              </a:spcBef>
              <a:spcAft>
                <a:spcPts val="600"/>
              </a:spcAft>
              <a:buSzPts val="1400"/>
              <a:buNone/>
            </a:pPr>
            <a:r>
              <a:rPr lang="en-US" dirty="0"/>
              <a:t>Notice also that V = omega*R = (v_R + v_L)/2, the average of the wheel speeds. That forward velocity is exactly what the next slide integrates to get x and y.</a:t>
            </a:r>
          </a:p>
        </p:txBody>
      </p:sp>
      <p:sp>
        <p:nvSpPr>
          <p:cNvPr id="116" name="Google Shape;116;p29:notes">
            <a:extLst>
              <a:ext uri="{FF2B5EF4-FFF2-40B4-BE49-F238E27FC236}">
                <a16:creationId xmlns:a16="http://schemas.microsoft.com/office/drawing/2014/main" id="{220D2DC7-DEA1-7039-7FA0-68E49DB85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0951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F7D257-51B6-449D-D309-A44A8C94CF6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16CDF0-DC3E-FDA5-4F24-CFF7458913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pieces together into dead-reckoning: estimating the robot's pose by integrating its own velocity measurements. The diagram on the right is the same differential-drive robot as before. It sits in a world frame with axes X and Y and origin O, at position x, y. Its body axis X sub B points forward along the velocity V at heading angle phi from the world X axis. The wheels have speeds v_L and v_R and are separated by track width b. The robot rotates at rate omega about the ICR, a distance R away.</a:t>
            </a:r>
          </a:p>
          <a:p>
            <a:pPr marL="0" lvl="0" indent="0" algn="l" rtl="0">
              <a:lnSpc>
                <a:spcPct val="100000"/>
              </a:lnSpc>
              <a:spcBef>
                <a:spcPts val="0"/>
              </a:spcBef>
              <a:spcAft>
                <a:spcPts val="600"/>
              </a:spcAft>
              <a:buSzPts val="1400"/>
              <a:buNone/>
            </a:pPr>
            <a:r>
              <a:rPr lang="en-US" dirty="0"/>
              <a:t>In lab you already compute the wheel velocities v_R and v_L from the encoders, and from them the forward velocity V. Using forward Euler integration, the slide updates the world coordinates with the current heading phi_t:</a:t>
            </a:r>
          </a:p>
          <a:p>
            <a:pPr marL="0" lvl="0" indent="0" algn="l" rtl="0">
              <a:lnSpc>
                <a:spcPct val="100000"/>
              </a:lnSpc>
              <a:spcBef>
                <a:spcPts val="0"/>
              </a:spcBef>
              <a:spcAft>
                <a:spcPts val="600"/>
              </a:spcAft>
              <a:buSzPts val="1400"/>
              <a:buNone/>
            </a:pPr>
            <a:r>
              <a:rPr lang="en-US" dirty="0"/>
              <a:t>x_(t+1) = x_t + V_t*cos(phi_t)*dt, read as "next x equals current x plus V times cosine of phi times delta t."</a:t>
            </a:r>
          </a:p>
          <a:p>
            <a:pPr marL="0" lvl="0" indent="0" algn="l" rtl="0">
              <a:lnSpc>
                <a:spcPct val="100000"/>
              </a:lnSpc>
              <a:spcBef>
                <a:spcPts val="0"/>
              </a:spcBef>
              <a:spcAft>
                <a:spcPts val="600"/>
              </a:spcAft>
              <a:buSzPts val="1400"/>
              <a:buNone/>
            </a:pPr>
            <a:r>
              <a:rPr lang="en-US" dirty="0"/>
              <a:t>y_(t+1) = y_t + V_t*sin(phi_t)*dt.</a:t>
            </a:r>
          </a:p>
          <a:p>
            <a:pPr marL="0" lvl="0" indent="0" algn="l" rtl="0">
              <a:lnSpc>
                <a:spcPct val="100000"/>
              </a:lnSpc>
              <a:spcBef>
                <a:spcPts val="0"/>
              </a:spcBef>
              <a:spcAft>
                <a:spcPts val="600"/>
              </a:spcAft>
              <a:buSzPts val="1400"/>
              <a:buNone/>
            </a:pPr>
            <a:r>
              <a:rPr lang="en-US" dirty="0"/>
              <a:t>phi_(t+1) = phi_t + omega_t*dt.</a:t>
            </a:r>
          </a:p>
          <a:p>
            <a:pPr marL="0" lvl="0" indent="0" algn="l" rtl="0">
              <a:lnSpc>
                <a:spcPct val="100000"/>
              </a:lnSpc>
              <a:spcBef>
                <a:spcPts val="0"/>
              </a:spcBef>
              <a:spcAft>
                <a:spcPts val="600"/>
              </a:spcAft>
              <a:buSzPts val="1400"/>
              <a:buNone/>
            </a:pPr>
            <a:r>
              <a:rPr lang="en-US" dirty="0"/>
              <a:t>The cosine and sine terms are the 2D rotation from earlier in the lecture. They take the body-frame velocity, V forward and zero sideways, and express it in the world frame. Forward Euler assumes V and phi stay constant over each small step dt.</a:t>
            </a:r>
          </a:p>
          <a:p>
            <a:pPr marL="0" lvl="0" indent="0" algn="l" rtl="0">
              <a:lnSpc>
                <a:spcPct val="100000"/>
              </a:lnSpc>
              <a:spcBef>
                <a:spcPts val="0"/>
              </a:spcBef>
              <a:spcAft>
                <a:spcPts val="600"/>
              </a:spcAft>
              <a:buSzPts val="1400"/>
              <a:buNone/>
            </a:pPr>
            <a:r>
              <a:rPr lang="en-US" dirty="0"/>
              <a:t>Watch three things in your code. Compute x and y with the old phi before you update phi. Keep phi in radians. Make dt equal your actual sample period.</a:t>
            </a:r>
          </a:p>
          <a:p>
            <a:pPr marL="0" lvl="0" indent="0" algn="l" rtl="0">
              <a:lnSpc>
                <a:spcPct val="100000"/>
              </a:lnSpc>
              <a:spcBef>
                <a:spcPts val="0"/>
              </a:spcBef>
              <a:spcAft>
                <a:spcPts val="600"/>
              </a:spcAft>
              <a:buSzPts val="1400"/>
              <a:buNone/>
            </a:pPr>
            <a:r>
              <a:rPr lang="en-US" dirty="0"/>
              <a:t>The slide concludes that you now have two ways to get position: integrate the IMU, or integrate the wheel encoders. Quick check: which sensor can supply omega? Either one, from the gyro or from the wheel speeds. Next, we see how to integrate more accurately with the trapezoidal rule.</a:t>
            </a:r>
          </a:p>
        </p:txBody>
      </p:sp>
      <p:sp>
        <p:nvSpPr>
          <p:cNvPr id="116" name="Google Shape;116;p29:notes">
            <a:extLst>
              <a:ext uri="{FF2B5EF4-FFF2-40B4-BE49-F238E27FC236}">
                <a16:creationId xmlns:a16="http://schemas.microsoft.com/office/drawing/2014/main" id="{6FD72445-7521-A8A2-A874-E396361A84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54430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9F0CDA-A079-B246-A1FA-2FE9C4AB86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C7B2F7-7970-86DC-2A29-9B0C4D6B9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refines the integration step from the last slide. Its text says there are several ways to integrate, and some are slightly more accurate than others. Instead of the Riemann sum, also called the rectangle rule, you can use the trapezoidal rule. In lab, x represents the heading phi, and f represents the gyro reading. The update equation reads: x_t = x_(t-1) + (1/2)*(f(x_t) + f(x_(t-1)))*dt. In words, the new value is the old value plus the average of the current and previous rates, times the time step.</a:t>
            </a:r>
          </a:p>
          <a:p>
            <a:pPr marL="0" lvl="0" indent="0" algn="l" rtl="0">
              <a:lnSpc>
                <a:spcPct val="100000"/>
              </a:lnSpc>
              <a:spcBef>
                <a:spcPts val="0"/>
              </a:spcBef>
              <a:spcAft>
                <a:spcPts val="600"/>
              </a:spcAft>
              <a:buSzPts val="1400"/>
              <a:buNone/>
            </a:pPr>
            <a:r>
              <a:rPr lang="en-US" dirty="0"/>
              <a:t>The left plot shows the curve y = x^3 from 0 to 2, with blue left-Riemann rectangles of width 0.5. Their heights are 0, 0.125, 1 and 3.375, each taken from the curve at the left edge of its interval. They add up to an area of 0.5*(4.5) = 2.25, but the true integral is 4. The gaps under the steepening curve are the rectangle rule's error.</a:t>
            </a:r>
          </a:p>
          <a:p>
            <a:pPr marL="0" lvl="0" indent="0" algn="l" rtl="0">
              <a:lnSpc>
                <a:spcPct val="100000"/>
              </a:lnSpc>
              <a:spcBef>
                <a:spcPts val="0"/>
              </a:spcBef>
              <a:spcAft>
                <a:spcPts val="600"/>
              </a:spcAft>
              <a:buSzPts val="1400"/>
              <a:buNone/>
            </a:pPr>
            <a:r>
              <a:rPr lang="en-US" dirty="0"/>
              <a:t>The right plot shows trapezoids of width p whose slanted tops connect neighboring samples. The area of one trapezoid, S_i, is p*(f(x_i) + f(x_(i+1)))/2. The tops hug the curve closely. On the same x^3 example, trapezoids give 4.25, much closer to 4.</a:t>
            </a:r>
          </a:p>
          <a:p>
            <a:pPr marL="0" lvl="0" indent="0" algn="l" rtl="0">
              <a:lnSpc>
                <a:spcPct val="100000"/>
              </a:lnSpc>
              <a:spcBef>
                <a:spcPts val="0"/>
              </a:spcBef>
              <a:spcAft>
                <a:spcPts val="600"/>
              </a:spcAft>
              <a:buSzPts val="1400"/>
              <a:buNone/>
            </a:pPr>
            <a:r>
              <a:rPr lang="en-US" dirty="0"/>
              <a:t>For your heading in lab, this becomes phi_t = phi_(t-1) + 0.5*(gyro_t + gyro_(t-1))*dt. A common mistake is forgetting to save the current gyro reading as the "previous" value at the end of each interrupt. Also check that the gyro units match your heading units, for example radians per second for a heading in radians.</a:t>
            </a:r>
          </a:p>
          <a:p>
            <a:pPr marL="0" lvl="0" indent="0" algn="l" rtl="0">
              <a:lnSpc>
                <a:spcPct val="100000"/>
              </a:lnSpc>
              <a:spcBef>
                <a:spcPts val="0"/>
              </a:spcBef>
              <a:spcAft>
                <a:spcPts val="600"/>
              </a:spcAft>
              <a:buSzPts val="1400"/>
              <a:buNone/>
            </a:pPr>
            <a:r>
              <a:rPr lang="en-US" dirty="0"/>
              <a:t>Even a better integrator still accumulates small errors, which is the drift problem on the next slide.</a:t>
            </a:r>
          </a:p>
        </p:txBody>
      </p:sp>
      <p:sp>
        <p:nvSpPr>
          <p:cNvPr id="116" name="Google Shape;116;p29:notes">
            <a:extLst>
              <a:ext uri="{FF2B5EF4-FFF2-40B4-BE49-F238E27FC236}">
                <a16:creationId xmlns:a16="http://schemas.microsoft.com/office/drawing/2014/main" id="{835E2DEF-93EE-25D5-6E00-4057D3E88E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05827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4B48CB-5C0F-03DE-F40A-08B17A02EB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3EDC-AF68-787D-7D9D-3E906F44B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posed as a question and answer. It asks: given the two methods of calculating the robot's position, if you run this integration for 10 minutes, will the calculated position match the robot's real physical location? And will the IMU and wheel encoder estimates match each other? The answer is "Absolutely not!" Dead-reckoning is subject to unbounded, accumulating errors. Any small measurement error is added to the previous state, so the error keeps growing over time. This is called drift: odometry drift for the wheel encoders and IMU drift for the IMU. The slide closes by noting that in later lectures you will learn the Kalman Filter, which fuses both sensors into a more accurate estimate.</a:t>
            </a:r>
          </a:p>
          <a:p>
            <a:pPr marL="0" lvl="0" indent="0" algn="l" rtl="0">
              <a:lnSpc>
                <a:spcPct val="100000"/>
              </a:lnSpc>
              <a:spcBef>
                <a:spcPts val="0"/>
              </a:spcBef>
              <a:spcAft>
                <a:spcPts val="600"/>
              </a:spcAft>
              <a:buSzPts val="1400"/>
              <a:buNone/>
            </a:pPr>
            <a:r>
              <a:rPr lang="en-US" dirty="0"/>
              <a:t>To see why, look at the update from two slides ago: x_(k+1) = x_k + v_k*cos(phi_k)*dt. Every step adds a slightly wrong v_k or phi_k to an already slightly wrong x_k, and nothing ever corrects it. The errors add up rather than average out. Heading errors are especially damaging, because a small error in phi tilts every future step, so position error grows faster than the heading error itself. For the IMU, a constant gyro bias integrates into a heading error that grows steadily. A constant accelerometer bias integrated twice to get position gives an error that grows with time squared.</a:t>
            </a:r>
          </a:p>
          <a:p>
            <a:pPr marL="0" lvl="0" indent="0" algn="l" rtl="0">
              <a:lnSpc>
                <a:spcPct val="100000"/>
              </a:lnSpc>
              <a:spcBef>
                <a:spcPts val="0"/>
              </a:spcBef>
              <a:spcAft>
                <a:spcPts val="600"/>
              </a:spcAft>
              <a:buSzPts val="1400"/>
              <a:buNone/>
            </a:pPr>
            <a:r>
              <a:rPr lang="en-US" dirty="0"/>
              <a:t>You can see this in lab. Leave the robot sitting still and watch the integrated gyro heading slowly creep away from zero.</a:t>
            </a:r>
          </a:p>
          <a:p>
            <a:pPr marL="0" lvl="0" indent="0" algn="l" rtl="0">
              <a:lnSpc>
                <a:spcPct val="100000"/>
              </a:lnSpc>
              <a:spcBef>
                <a:spcPts val="0"/>
              </a:spcBef>
              <a:spcAft>
                <a:spcPts val="600"/>
              </a:spcAft>
              <a:buSzPts val="1400"/>
              <a:buNone/>
            </a:pPr>
            <a:r>
              <a:rPr lang="en-US" dirty="0"/>
              <a:t>Quick check: if the gyro reads a constant bias of 0.01 rad/s, how far off is the heading after 10 minutes? The answer is 0.01 * 600 = 6 radians, nearly a full turn.</a:t>
            </a:r>
          </a:p>
          <a:p>
            <a:pPr marL="0" lvl="0" indent="0" algn="l" rtl="0">
              <a:lnSpc>
                <a:spcPct val="100000"/>
              </a:lnSpc>
              <a:spcBef>
                <a:spcPts val="0"/>
              </a:spcBef>
              <a:spcAft>
                <a:spcPts val="600"/>
              </a:spcAft>
              <a:buSzPts val="1400"/>
              <a:buNone/>
            </a:pPr>
            <a:r>
              <a:rPr lang="en-US" dirty="0"/>
              <a:t>Next, you look at where these errors come from, starting with systematic and random error.</a:t>
            </a:r>
          </a:p>
        </p:txBody>
      </p:sp>
      <p:sp>
        <p:nvSpPr>
          <p:cNvPr id="116" name="Google Shape;116;p29:notes">
            <a:extLst>
              <a:ext uri="{FF2B5EF4-FFF2-40B4-BE49-F238E27FC236}">
                <a16:creationId xmlns:a16="http://schemas.microsoft.com/office/drawing/2014/main" id="{1C147F73-9515-16E8-9473-45D5A2CF1E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47277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1A3041-965F-B8AF-4344-9285AC280A9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B1803F9-CCE5-8947-EB0A-D44E1D61DF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"Errors" in dark blue on the orange Illinois background. Faint hand-drawn sketches of equations, a cube, a sphere and chemical structures fill the background for decoration only.</a:t>
            </a:r>
          </a:p>
          <a:p>
            <a:pPr marL="0" lvl="0" indent="0" algn="l" rtl="0">
              <a:spcBef>
                <a:spcPts val="0"/>
              </a:spcBef>
              <a:spcAft>
                <a:spcPts val="600"/>
              </a:spcAft>
              <a:buNone/>
            </a:pPr>
            <a:r>
              <a:rPr lang="en-US" dirty="0"/>
              <a:t>On the last slide you saw that dead-reckoning drifts without bound, because every small measurement error is added into the running position estimate. This section asks where those errors come from. Next you meet the two types, systematic and random, and what each means for your robot's odometry and IMU.</a:t>
            </a:r>
          </a:p>
        </p:txBody>
      </p:sp>
      <p:sp>
        <p:nvSpPr>
          <p:cNvPr id="102" name="Google Shape;102;p28:notes">
            <a:extLst>
              <a:ext uri="{FF2B5EF4-FFF2-40B4-BE49-F238E27FC236}">
                <a16:creationId xmlns:a16="http://schemas.microsoft.com/office/drawing/2014/main" id="{6F6543B3-BB15-6911-9334-5DD954C236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8420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28518-8438-CF4E-817F-4B7ED567B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48EAA-70A3-52A4-ACAF-EB10715B71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splits measurement error into two types and covers the first one, systematic error. The text says systematic error is built into the physical mechanism of the sensor, occurs with the same value every time you use the instrument the same way under the same conditions, and can often be accounted for. The examples are unequal wheel diameter and a constant accelerometer bias.</a:t>
            </a:r>
          </a:p>
          <a:p>
            <a:pPr marL="0" lvl="0" indent="0" algn="l" rtl="0">
              <a:lnSpc>
                <a:spcPct val="100000"/>
              </a:lnSpc>
              <a:spcBef>
                <a:spcPts val="0"/>
              </a:spcBef>
              <a:spcAft>
                <a:spcPts val="600"/>
              </a:spcAft>
              <a:buSzPts val="1400"/>
              <a:buNone/>
            </a:pPr>
            <a:r>
              <a:rPr lang="en-US" dirty="0"/>
              <a:t>On the right is a plot from Wikipedia's "Observational error" article. A bell-shaped probability density curve is drawn over measured value. A black dashed line marks the true value. A red dashed line at the peak of the curve, which is the average measurement, sits slightly to its right. The gap between the two lines is labeled systematic error, a constant offset. A blue arrow from the peak out to the side of the curve is labeled random error, the spread of readings around their average.</a:t>
            </a:r>
          </a:p>
          <a:p>
            <a:pPr marL="0" lvl="0" indent="0" algn="l" rtl="0">
              <a:lnSpc>
                <a:spcPct val="100000"/>
              </a:lnSpc>
              <a:spcBef>
                <a:spcPts val="0"/>
              </a:spcBef>
              <a:spcAft>
                <a:spcPts val="600"/>
              </a:spcAft>
              <a:buSzPts val="1400"/>
              <a:buNone/>
            </a:pPr>
            <a:r>
              <a:rPr lang="en-US" dirty="0"/>
              <a:t>The key idea is that systematic error shifts the whole distribution without widening it. Averaging more readings does not remove it, but because it is repeatable, you can measure it once and subtract it out.</a:t>
            </a:r>
          </a:p>
          <a:p>
            <a:pPr marL="0" lvl="0" indent="0" algn="l" rtl="0">
              <a:lnSpc>
                <a:spcPct val="100000"/>
              </a:lnSpc>
              <a:spcBef>
                <a:spcPts val="0"/>
              </a:spcBef>
              <a:spcAft>
                <a:spcPts val="600"/>
              </a:spcAft>
              <a:buSzPts val="1400"/>
              <a:buNone/>
            </a:pPr>
            <a:r>
              <a:rPr lang="en-US" dirty="0"/>
              <a:t>Consider the wheel example. If one wheel is slightly larger, it travels farther per encoder tick. Your dead-reckoning then reports a straight path while the robot actually curves, and the heading error keeps accumulating.</a:t>
            </a:r>
          </a:p>
          <a:p>
            <a:pPr marL="0" lvl="0" indent="0" algn="l" rtl="0">
              <a:lnSpc>
                <a:spcPct val="100000"/>
              </a:lnSpc>
              <a:spcBef>
                <a:spcPts val="0"/>
              </a:spcBef>
              <a:spcAft>
                <a:spcPts val="600"/>
              </a:spcAft>
              <a:buSzPts val="1400"/>
              <a:buNone/>
            </a:pPr>
            <a:r>
              <a:rPr lang="en-US" dirty="0"/>
              <a:t>For the accelerometer, a constant bias b integrated twice gives a position error of 0.5*b*t^2, which grows quickly. This is exactly the drift from the previous slides. The fix is calibration: average the IMU readings while the robot sits still, then subtract that offset.</a:t>
            </a:r>
          </a:p>
          <a:p>
            <a:pPr marL="0" lvl="0" indent="0" algn="l" rtl="0">
              <a:lnSpc>
                <a:spcPct val="100000"/>
              </a:lnSpc>
              <a:spcBef>
                <a:spcPts val="0"/>
              </a:spcBef>
              <a:spcAft>
                <a:spcPts val="600"/>
              </a:spcAft>
              <a:buSzPts val="1400"/>
              <a:buNone/>
            </a:pPr>
            <a:r>
              <a:rPr lang="en-US" dirty="0"/>
              <a:t>Quick check: does collecting more samples reduce systematic error? It does not. Next, you look at random error, the spread of the curve.</a:t>
            </a:r>
          </a:p>
        </p:txBody>
      </p:sp>
      <p:sp>
        <p:nvSpPr>
          <p:cNvPr id="116" name="Google Shape;116;p29:notes">
            <a:extLst>
              <a:ext uri="{FF2B5EF4-FFF2-40B4-BE49-F238E27FC236}">
                <a16:creationId xmlns:a16="http://schemas.microsoft.com/office/drawing/2014/main" id="{0A2E4230-B6A7-901E-BA7D-5E85C8C5A1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18687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3CC5AD-2C8B-6CD3-3B0F-E22C5A50A82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BE3EB9-8751-82E7-7BCC-CBA885B139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pair started on the previous one. There we covered systematic error; here the second type is random error. The bullets say random error comes from environmental factors, varies from one observation to the next, is partly caused by the environment interfering with the measurement process, and is much harder to model, so it is often assumed to be Gaussian. The examples are wheel slip and loose components.</a:t>
            </a:r>
          </a:p>
          <a:p>
            <a:pPr marL="0" lvl="0" indent="0" algn="l" rtl="0">
              <a:lnSpc>
                <a:spcPct val="100000"/>
              </a:lnSpc>
              <a:spcBef>
                <a:spcPts val="0"/>
              </a:spcBef>
              <a:spcAft>
                <a:spcPts val="600"/>
              </a:spcAft>
              <a:buSzPts val="1400"/>
              <a:buNone/>
            </a:pPr>
            <a:r>
              <a:rPr lang="en-US" dirty="0"/>
              <a:t>The figure on the right is the same plot as before, a bell-shaped probability density curve over measured value. A black dashed line marks the true value. A red dashed line at the peak of the curve, the average measurement, sits to its right, and the gap between the two is labeled systematic error. A blue arrow from the peak out to the side of the curve is labeled random error. It shows the spread of individual readings around their mean. The figure comes from the Wikipedia article on observational error, linked on the slide.</a:t>
            </a:r>
          </a:p>
          <a:p>
            <a:pPr marL="0" lvl="0" indent="0" algn="l" rtl="0">
              <a:lnSpc>
                <a:spcPct val="100000"/>
              </a:lnSpc>
              <a:spcBef>
                <a:spcPts val="0"/>
              </a:spcBef>
              <a:spcAft>
                <a:spcPts val="600"/>
              </a:spcAft>
              <a:buSzPts val="1400"/>
              <a:buNone/>
            </a:pPr>
            <a:r>
              <a:rPr lang="en-US" dirty="0"/>
              <a:t>The key distinction: systematic error shifts the whole curve, while random error makes it wider. On your robot, a wheel slipping on a smooth patch of floor, or a loosely mounted encoder or sensor that rattles, produces errors you cannot predict reading by reading. You can only describe them statistically, with a mean and a variance.</a:t>
            </a:r>
          </a:p>
          <a:p>
            <a:pPr marL="0" lvl="0" indent="0" algn="l" rtl="0">
              <a:lnSpc>
                <a:spcPct val="100000"/>
              </a:lnSpc>
              <a:spcBef>
                <a:spcPts val="0"/>
              </a:spcBef>
              <a:spcAft>
                <a:spcPts val="600"/>
              </a:spcAft>
              <a:buSzPts val="1400"/>
              <a:buNone/>
            </a:pPr>
            <a:r>
              <a:rPr lang="en-US" dirty="0"/>
              <a:t>A common mistake is to think averaging fixes everything. Averaging many readings shrinks random error, but it does nothing to a constant offset.</a:t>
            </a:r>
          </a:p>
          <a:p>
            <a:pPr marL="0" lvl="0" indent="0" algn="l" rtl="0">
              <a:lnSpc>
                <a:spcPct val="100000"/>
              </a:lnSpc>
              <a:spcBef>
                <a:spcPts val="0"/>
              </a:spcBef>
              <a:spcAft>
                <a:spcPts val="600"/>
              </a:spcAft>
              <a:buSzPts val="1400"/>
              <a:buNone/>
            </a:pPr>
            <a:r>
              <a:rPr lang="en-US" dirty="0"/>
              <a:t>Quick check: if your robot's measured heading drifts the same way on every run, which type of error is that?</a:t>
            </a:r>
          </a:p>
          <a:p>
            <a:pPr marL="0" lvl="0" indent="0" algn="l" rtl="0">
              <a:lnSpc>
                <a:spcPct val="100000"/>
              </a:lnSpc>
              <a:spcBef>
                <a:spcPts val="0"/>
              </a:spcBef>
              <a:spcAft>
                <a:spcPts val="600"/>
              </a:spcAft>
              <a:buSzPts val="1400"/>
              <a:buNone/>
            </a:pPr>
            <a:r>
              <a:rPr lang="en-US" dirty="0"/>
              <a:t>Next, we look at how to fight these errors, mainly by adding more and different sensors such as the gyro.</a:t>
            </a:r>
          </a:p>
        </p:txBody>
      </p:sp>
      <p:sp>
        <p:nvSpPr>
          <p:cNvPr id="116" name="Google Shape;116;p29:notes">
            <a:extLst>
              <a:ext uri="{FF2B5EF4-FFF2-40B4-BE49-F238E27FC236}">
                <a16:creationId xmlns:a16="http://schemas.microsoft.com/office/drawing/2014/main" id="{47E28E4B-E391-46A0-FCF6-EEE337283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76296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22E025-D59A-768B-8EF2-4E6891E70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087AD0-D746-1DB3-AFCB-C3B298F1B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shifts from describing errors to dealing with them. It makes two points in text. First, in robotics the best way to handle noise is to add more sensors, or different sensors. Second, the more different viewpoints you have, the more likely the majority agrees, or the more useful information you have to compensate for the faults of the others. It then asks: how do you calculate how much the error drifts? Finally, it says that to combat heading drift from the encoders, we use the Z-axis rate gyro from our IMU, and shows one equation.</a:t>
            </a:r>
          </a:p>
          <a:p>
            <a:pPr marL="0" lvl="0" indent="0" algn="l" rtl="0">
              <a:lnSpc>
                <a:spcPct val="100000"/>
              </a:lnSpc>
              <a:spcBef>
                <a:spcPts val="0"/>
              </a:spcBef>
              <a:spcAft>
                <a:spcPts val="600"/>
              </a:spcAft>
              <a:buSzPts val="1400"/>
              <a:buNone/>
            </a:pPr>
            <a:r>
              <a:rPr lang="en-US" dirty="0"/>
              <a:t>The equation reads: phi_gyro,(t+1) = phi_gyro,t + omega_gyro,t * delta t. In words, the gyro heading at the next time step equals the current gyro heading plus the measured yaw rate times the sample period. This is the same rectangular integration you used for dead-reckoning, applied to angle.</a:t>
            </a:r>
          </a:p>
          <a:p>
            <a:pPr marL="0" lvl="0" indent="0" algn="l" rtl="0">
              <a:lnSpc>
                <a:spcPct val="100000"/>
              </a:lnSpc>
              <a:spcBef>
                <a:spcPts val="0"/>
              </a:spcBef>
              <a:spcAft>
                <a:spcPts val="600"/>
              </a:spcAft>
              <a:buSzPts val="1400"/>
              <a:buNone/>
            </a:pPr>
            <a:r>
              <a:rPr lang="en-US" dirty="0"/>
              <a:t>Why a gyro? Encoder heading comes from the difference between the left and right wheel distances. It inherits both error types from the last two slides: a systematic error from unequal wheel diameters, and a random error from wheel slip. The gyro measures rotation directly about the vertical Z axis, so slip does not fool it. Its failure modes are different, which is exactly why combining the two sensors helps.</a:t>
            </a:r>
          </a:p>
          <a:p>
            <a:pPr marL="0" lvl="0" indent="0" algn="l" rtl="0">
              <a:lnSpc>
                <a:spcPct val="100000"/>
              </a:lnSpc>
              <a:spcBef>
                <a:spcPts val="0"/>
              </a:spcBef>
              <a:spcAft>
                <a:spcPts val="600"/>
              </a:spcAft>
              <a:buSzPts val="1400"/>
              <a:buNone/>
            </a:pPr>
            <a:r>
              <a:rPr lang="en-US" dirty="0"/>
              <a:t>Watch out: the gyro is not error-free. Because you integrate its output every sample, any error in omega accumulates in phi. The next slides quantify this. A constant bias grows linearly with time, and white noise becomes a random walk.</a:t>
            </a:r>
          </a:p>
          <a:p>
            <a:pPr marL="0" lvl="0" indent="0" algn="l" rtl="0">
              <a:lnSpc>
                <a:spcPct val="100000"/>
              </a:lnSpc>
              <a:spcBef>
                <a:spcPts val="0"/>
              </a:spcBef>
              <a:spcAft>
                <a:spcPts val="600"/>
              </a:spcAft>
              <a:buSzPts val="1400"/>
              <a:buNone/>
            </a:pPr>
            <a:r>
              <a:rPr lang="en-US" dirty="0"/>
              <a:t>Quick check: if omega has a constant offset b, what does that offset add to phi after time T? The answer is b*T.</a:t>
            </a:r>
          </a:p>
        </p:txBody>
      </p:sp>
      <p:sp>
        <p:nvSpPr>
          <p:cNvPr id="116" name="Google Shape;116;p29:notes">
            <a:extLst>
              <a:ext uri="{FF2B5EF4-FFF2-40B4-BE49-F238E27FC236}">
                <a16:creationId xmlns:a16="http://schemas.microsoft.com/office/drawing/2014/main" id="{30831774-8FB6-D3C9-F4E1-8AEF2ECE0E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162596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6E2D6C-ADDD-7919-8B01-F2430F6C1A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3FE519-7DBE-3B61-21CD-B3B0C226BB7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models what the gyroscope actually reports. The main equation reads: omega gyro at time t equals omega true at time t, plus epsilon bias, plus epsilon noise. In plain text, omega_gyro,t = omega_true,t + epsilon_bias + epsilon_noise. The gyro's measured turn rate is the real rate plus two error terms. The bias is a constant offset, the systematic error from the bell-curve plot two slides back. The noise is the random part.</a:t>
            </a:r>
          </a:p>
          <a:p>
            <a:pPr marL="0" lvl="0" indent="0" algn="l" rtl="0">
              <a:lnSpc>
                <a:spcPct val="100000"/>
              </a:lnSpc>
              <a:spcBef>
                <a:spcPts val="0"/>
              </a:spcBef>
              <a:spcAft>
                <a:spcPts val="600"/>
              </a:spcAft>
              <a:buSzPts val="1400"/>
              <a:buNone/>
            </a:pPr>
            <a:r>
              <a:rPr lang="en-US" dirty="0"/>
              <a:t>We assume the noise is "white noise." Its distribution is written epsilon_noise ~ N(0, sigma^2), which reads "normally distributed with mean zero and variance sigma squared." Zero mean means it averages out on any single reading. The bias does not average out.</a:t>
            </a:r>
          </a:p>
          <a:p>
            <a:pPr marL="0" lvl="0" indent="0" algn="l" rtl="0">
              <a:lnSpc>
                <a:spcPct val="100000"/>
              </a:lnSpc>
              <a:spcBef>
                <a:spcPts val="0"/>
              </a:spcBef>
              <a:spcAft>
                <a:spcPts val="600"/>
              </a:spcAft>
              <a:buSzPts val="1400"/>
              <a:buNone/>
            </a:pPr>
            <a:r>
              <a:rPr lang="en-US" dirty="0"/>
              <a:t>To get heading, you integrate the rate, and the bias gets integrated right along with it. The slide writes this as the integral of epsilon_bias dt = epsilon_bias * Delta t. A constant integrated over time grows linearly with elapsed time.</a:t>
            </a:r>
          </a:p>
          <a:p>
            <a:pPr marL="0" lvl="0" indent="0" algn="l" rtl="0">
              <a:lnSpc>
                <a:spcPct val="100000"/>
              </a:lnSpc>
              <a:spcBef>
                <a:spcPts val="0"/>
              </a:spcBef>
              <a:spcAft>
                <a:spcPts val="600"/>
              </a:spcAft>
              <a:buSzPts val="1400"/>
              <a:buNone/>
            </a:pPr>
            <a:r>
              <a:rPr lang="en-US" dirty="0"/>
              <a:t>Here is the example the slide works. The bias is only 0.05 degrees per second, and you drive for 5 minutes, which is 300 seconds. Then 0.05 * 300 = 15 degrees of heading error. That is enough to send your robot into a wall on the far side of the room.</a:t>
            </a:r>
          </a:p>
          <a:p>
            <a:pPr marL="0" lvl="0" indent="0" algn="l" rtl="0">
              <a:lnSpc>
                <a:spcPct val="100000"/>
              </a:lnSpc>
              <a:spcBef>
                <a:spcPts val="0"/>
              </a:spcBef>
              <a:spcAft>
                <a:spcPts val="600"/>
              </a:spcAft>
              <a:buSzPts val="1400"/>
              <a:buNone/>
            </a:pPr>
            <a:r>
              <a:rPr lang="en-US" dirty="0"/>
              <a:t>This is why we calibrate the IMU. You hold the robot still, so the true rate is zero. You average many gyro readings, and that average estimates the bias. You then subtract it from every later reading. A common mistake is bumping or moving the robot during this calibration window, which bakes a wrong bias into every measurement after it.</a:t>
            </a:r>
          </a:p>
          <a:p>
            <a:pPr marL="0" lvl="0" indent="0" algn="l" rtl="0">
              <a:lnSpc>
                <a:spcPct val="100000"/>
              </a:lnSpc>
              <a:spcBef>
                <a:spcPts val="0"/>
              </a:spcBef>
              <a:spcAft>
                <a:spcPts val="600"/>
              </a:spcAft>
              <a:buSzPts val="1400"/>
              <a:buNone/>
            </a:pPr>
            <a:r>
              <a:rPr lang="en-US" dirty="0"/>
              <a:t>Last slide we chose the Z-axis gyro to fix heading drift from the encoders, and here we remove its bias. Next we see what the leftover white noise does when you integrate it.</a:t>
            </a:r>
          </a:p>
        </p:txBody>
      </p:sp>
      <p:sp>
        <p:nvSpPr>
          <p:cNvPr id="116" name="Google Shape;116;p29:notes">
            <a:extLst>
              <a:ext uri="{FF2B5EF4-FFF2-40B4-BE49-F238E27FC236}">
                <a16:creationId xmlns:a16="http://schemas.microsoft.com/office/drawing/2014/main" id="{5DE5B633-BC28-01CE-8413-F37070E050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54887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7ECC29-CFF4-8ABF-C915-3169F433EBB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2B0F87-E6CF-D7A1-40B9-495F109176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picks up right after bias calibration. Once you measure and subtract the gyro's bias, what remains is white noise. The slide shows the gyro model in words: omega gyro at time t equals omega true at time t plus epsilon noise, written omega_(gyro,t) = omega_(true,t) + epsilon_noise. Here epsilon_noise is zero-mean Gaussian white noise, as defined on the previous slide.</a:t>
            </a:r>
          </a:p>
          <a:p>
            <a:pPr marL="0" lvl="0" indent="0" algn="l" rtl="0">
              <a:lnSpc>
                <a:spcPct val="100000"/>
              </a:lnSpc>
              <a:spcBef>
                <a:spcPts val="0"/>
              </a:spcBef>
              <a:spcAft>
                <a:spcPts val="600"/>
              </a:spcAft>
              <a:buSzPts val="1400"/>
              <a:buNone/>
            </a:pPr>
            <a:r>
              <a:rPr lang="en-US" dirty="0"/>
              <a:t>The key idea is what happens when you integrate that noise to get heading. Integrating white noise produces a "random walk," which stochastic calculus calls a Wiener process. Each tiny error is random, but you keep adding them up, so the heading error wanders away from the truth and never resets.</a:t>
            </a:r>
          </a:p>
          <a:p>
            <a:pPr marL="0" lvl="0" indent="0" algn="l" rtl="0">
              <a:lnSpc>
                <a:spcPct val="100000"/>
              </a:lnSpc>
              <a:spcBef>
                <a:spcPts val="0"/>
              </a:spcBef>
              <a:spcAft>
                <a:spcPts val="600"/>
              </a:spcAft>
              <a:buSzPts val="1400"/>
              <a:buNone/>
            </a:pPr>
            <a:r>
              <a:rPr lang="en-US" dirty="0"/>
              <a:t>The slide gives three properties. First, if you repeat many runs, the mean of the heading error is centered at 0, so on average there is no preferred direction. Second, the variance of the heading error grows linearly with time: sigma phi squared equals sigma omega squared times delta t, written sigma_phi^2 = sigma_omega^2 * Delta t. Here phi is the integrated angle, sigma_omega describes the gyro noise, and Delta t is the elapsed integration time. Third, the standard deviation, which is the actual typical angular error you see, grows proportional to the square root of time, sqrt(t).</a:t>
            </a:r>
          </a:p>
          <a:p>
            <a:pPr marL="0" lvl="0" indent="0" algn="l" rtl="0">
              <a:lnSpc>
                <a:spcPct val="100000"/>
              </a:lnSpc>
              <a:spcBef>
                <a:spcPts val="0"/>
              </a:spcBef>
              <a:spcAft>
                <a:spcPts val="600"/>
              </a:spcAft>
              <a:buSzPts val="1400"/>
              <a:buNone/>
            </a:pPr>
            <a:r>
              <a:rPr lang="en-US" dirty="0"/>
              <a:t>The slide says to take the proof as given, but here is some intuition. When you add independent random errors, their variances add. Doubling the time doubles the variance, so the standard deviation grows only by a factor of sqrt(2).</a:t>
            </a:r>
          </a:p>
          <a:p>
            <a:pPr marL="0" lvl="0" indent="0" algn="l" rtl="0">
              <a:lnSpc>
                <a:spcPct val="100000"/>
              </a:lnSpc>
              <a:spcBef>
                <a:spcPts val="0"/>
              </a:spcBef>
              <a:spcAft>
                <a:spcPts val="600"/>
              </a:spcAft>
              <a:buSzPts val="1400"/>
              <a:buNone/>
            </a:pPr>
            <a:r>
              <a:rPr lang="en-US" dirty="0"/>
              <a:t>A common mistake is thinking that "zero mean" means the error cancels out. It does not. Any single run, like your robot's, still drifts, and that drift is unbounded. Over a long period, heading from the gyro alone becomes entirely unreliable.</a:t>
            </a:r>
          </a:p>
          <a:p>
            <a:pPr marL="0" lvl="0" indent="0" algn="l" rtl="0">
              <a:lnSpc>
                <a:spcPct val="100000"/>
              </a:lnSpc>
              <a:spcBef>
                <a:spcPts val="0"/>
              </a:spcBef>
              <a:spcAft>
                <a:spcPts val="600"/>
              </a:spcAft>
              <a:buSzPts val="1400"/>
              <a:buNone/>
            </a:pPr>
            <a:r>
              <a:rPr lang="en-US" dirty="0"/>
              <a:t>The next slides show simulated random walks that confirm this behavior.</a:t>
            </a:r>
          </a:p>
        </p:txBody>
      </p:sp>
      <p:sp>
        <p:nvSpPr>
          <p:cNvPr id="116" name="Google Shape;116;p29:notes">
            <a:extLst>
              <a:ext uri="{FF2B5EF4-FFF2-40B4-BE49-F238E27FC236}">
                <a16:creationId xmlns:a16="http://schemas.microsoft.com/office/drawing/2014/main" id="{AAAB015F-7BBC-E4B3-1037-CA3DAE9E8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47721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44B803-FB2A-FE28-C110-D02F02F3A9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9D84A-304A-E55E-9324-85274DFA51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single plot titled "White Noise (sigma = 1) vs Time." The horizontal axis is time in seconds, from 0 to 300. The vertical axis is accumulated heading error, labeled "Radians (degrees)" and read here in degrees, from about minus 40 to plus 40. Dozens of overlapping traces, colored from light orange to dark purple, each show one simulated run of integrating zero-mean Gaussian white noise with standard deviation sigma = 1.</a:t>
            </a:r>
          </a:p>
          <a:p>
            <a:pPr marL="0" lvl="0" indent="0" algn="l" rtl="0">
              <a:lnSpc>
                <a:spcPct val="100000"/>
              </a:lnSpc>
              <a:spcBef>
                <a:spcPts val="0"/>
              </a:spcBef>
              <a:spcAft>
                <a:spcPts val="600"/>
              </a:spcAft>
              <a:buSzPts val="1400"/>
              <a:buNone/>
            </a:pPr>
            <a:r>
              <a:rPr lang="en-US" dirty="0"/>
              <a:t>Every trace starts at exactly 0 and wanders randomly. Together they form a widening fan. By about 25 seconds the traces span roughly plus or minus 10 degrees. By 250 to 300 seconds the outermost ones reach plus or minus 40 degrees.</a:t>
            </a:r>
          </a:p>
          <a:p>
            <a:pPr marL="0" lvl="0" indent="0" algn="l" rtl="0">
              <a:lnSpc>
                <a:spcPct val="100000"/>
              </a:lnSpc>
              <a:spcBef>
                <a:spcPts val="0"/>
              </a:spcBef>
              <a:spcAft>
                <a:spcPts val="600"/>
              </a:spcAft>
              <a:buSzPts val="1400"/>
              <a:buNone/>
            </a:pPr>
            <a:r>
              <a:rPr lang="en-US" dirty="0"/>
              <a:t>This is the random walk from the previous slide made visible. Each trace is what your gyro heading might do after you have already calibrated out the bias. Notice two things. First, the traces are spread evenly above and below zero, so the mean error across many runs stays near zero. Second, the spread keeps growing, and it grows with the square root of time.</a:t>
            </a:r>
          </a:p>
          <a:p>
            <a:pPr marL="0" lvl="0" indent="0" algn="l" rtl="0">
              <a:lnSpc>
                <a:spcPct val="100000"/>
              </a:lnSpc>
              <a:spcBef>
                <a:spcPts val="0"/>
              </a:spcBef>
              <a:spcAft>
                <a:spcPts val="600"/>
              </a:spcAft>
              <a:buSzPts val="1400"/>
              <a:buNone/>
            </a:pPr>
            <a:r>
              <a:rPr lang="en-US" dirty="0"/>
              <a:t>You can check the numbers yourself. The expected standard deviation is sigma*sqrt(t), and sigma*sqrt(300) is about 17.3 degrees. Most traces sit inside plus or minus 17 degrees. The few near plus or minus 40 are rare runs a bit beyond two standard deviations.</a:t>
            </a:r>
          </a:p>
          <a:p>
            <a:pPr marL="0" lvl="0" indent="0" algn="l" rtl="0">
              <a:lnSpc>
                <a:spcPct val="100000"/>
              </a:lnSpc>
              <a:spcBef>
                <a:spcPts val="0"/>
              </a:spcBef>
              <a:spcAft>
                <a:spcPts val="600"/>
              </a:spcAft>
              <a:buSzPts val="1400"/>
              <a:buNone/>
            </a:pPr>
            <a:r>
              <a:rPr lang="en-US" dirty="0"/>
              <a:t>A common mistake is to assume that zero-mean noise "averages out" when you integrate it. It does not. Any single robot run follows just one of these traces, and you cannot know which one.</a:t>
            </a:r>
          </a:p>
          <a:p>
            <a:pPr marL="0" lvl="0" indent="0" algn="l" rtl="0">
              <a:lnSpc>
                <a:spcPct val="100000"/>
              </a:lnSpc>
              <a:spcBef>
                <a:spcPts val="0"/>
              </a:spcBef>
              <a:spcAft>
                <a:spcPts val="600"/>
              </a:spcAft>
              <a:buSzPts val="1400"/>
              <a:buNone/>
            </a:pPr>
            <a:r>
              <a:rPr lang="en-US" dirty="0"/>
              <a:t>Quick check: at t = 75 seconds, what is the expected spread? The answer is sqrt(75), about 8.7 degrees.</a:t>
            </a:r>
          </a:p>
          <a:p>
            <a:pPr marL="0" lvl="0" indent="0" algn="l" rtl="0">
              <a:lnSpc>
                <a:spcPct val="100000"/>
              </a:lnSpc>
              <a:spcBef>
                <a:spcPts val="0"/>
              </a:spcBef>
              <a:spcAft>
                <a:spcPts val="600"/>
              </a:spcAft>
              <a:buSzPts val="1400"/>
              <a:buNone/>
            </a:pPr>
            <a:r>
              <a:rPr lang="en-US" dirty="0"/>
              <a:t>The next slide plots the mean and standard deviation of these runs against the theoretical curves.</a:t>
            </a:r>
          </a:p>
        </p:txBody>
      </p:sp>
      <p:sp>
        <p:nvSpPr>
          <p:cNvPr id="116" name="Google Shape;116;p29:notes">
            <a:extLst>
              <a:ext uri="{FF2B5EF4-FFF2-40B4-BE49-F238E27FC236}">
                <a16:creationId xmlns:a16="http://schemas.microsoft.com/office/drawing/2014/main" id="{86BB618D-94FA-58A9-4155-F121609E5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00424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D6B2225-C0B2-56EA-3045-806081BC79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CA1C512-4501-0D1D-A2AA-3AEE7779B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checks the claims from slide 34 against simulation. Both plots summarize the many random-walk runs from the previous slide, each made by integrating white noise with sigma = 1 over 300 seconds. The vertical axes are labeled "Radians (degrees)"; read the values as degrees of accumulated heading error, as on the previous slide.</a:t>
            </a:r>
          </a:p>
          <a:p>
            <a:pPr marL="0" lvl="0" indent="0" algn="l" rtl="0">
              <a:lnSpc>
                <a:spcPct val="100000"/>
              </a:lnSpc>
              <a:spcBef>
                <a:spcPts val="0"/>
              </a:spcBef>
              <a:spcAft>
                <a:spcPts val="600"/>
              </a:spcAft>
              <a:buSzPts val="1400"/>
              <a:buNone/>
            </a:pPr>
            <a:r>
              <a:rPr lang="en-US" dirty="0"/>
              <a:t>The left plot, "White Noise Mean vs Time," shows the average error across all runs at each instant. A flat red line marks the expected mean, mu = 0. The measured mean, in purple, dips to about minus 0.1 early, climbs to about 0.4 by 45 seconds, wanders between 0.3 and 0.6 until about 240 seconds, and ends near 0.28. It never sits exactly on zero because we averaged a finite number of runs. Compare its size to the right plot, though: a mean of half a degree against a spread of about 17 degrees is essentially zero. On average, white noise does not push the heading in any one direction.</a:t>
            </a:r>
          </a:p>
          <a:p>
            <a:pPr marL="0" lvl="0" indent="0" algn="l" rtl="0">
              <a:lnSpc>
                <a:spcPct val="100000"/>
              </a:lnSpc>
              <a:spcBef>
                <a:spcPts val="0"/>
              </a:spcBef>
              <a:spcAft>
                <a:spcPts val="600"/>
              </a:spcAft>
              <a:buSzPts val="1400"/>
              <a:buNone/>
            </a:pPr>
            <a:r>
              <a:rPr lang="en-US" dirty="0"/>
              <a:t>The right plot, "White Noise Standard Deviation vs Time," shows the spread across runs. The red expected curve is sigma*sqrt(t), "sigma times the square root of t," with sigma = 1. It rises steeply at first, then flattens, reaching sqrt(300), about 17.3, at 300 seconds. The purple measured curve tracks it closely and ends near 16.5.</a:t>
            </a:r>
          </a:p>
          <a:p>
            <a:pPr marL="0" lvl="0" indent="0" algn="l" rtl="0">
              <a:lnSpc>
                <a:spcPct val="100000"/>
              </a:lnSpc>
              <a:spcBef>
                <a:spcPts val="0"/>
              </a:spcBef>
              <a:spcAft>
                <a:spcPts val="600"/>
              </a:spcAft>
              <a:buSzPts val="1400"/>
              <a:buNone/>
            </a:pPr>
            <a:r>
              <a:rPr lang="en-US" dirty="0"/>
              <a:t>The key point is that unbiased does not mean harmless. Any single robot's heading still drifts by roughly sigma*sqrt(t), and that error has no upper limit.</a:t>
            </a:r>
          </a:p>
          <a:p>
            <a:pPr marL="0" lvl="0" indent="0" algn="l" rtl="0">
              <a:lnSpc>
                <a:spcPct val="100000"/>
              </a:lnSpc>
              <a:spcBef>
                <a:spcPts val="0"/>
              </a:spcBef>
              <a:spcAft>
                <a:spcPts val="600"/>
              </a:spcAft>
              <a:buSzPts val="1400"/>
              <a:buNone/>
            </a:pPr>
            <a:r>
              <a:rPr lang="en-US" dirty="0"/>
              <a:t>Quick check: if you run the robot four times longer, how much does the expected heading error grow? (Answer: twice as much, since sqrt(4) = 2.)</a:t>
            </a:r>
          </a:p>
          <a:p>
            <a:pPr marL="0" lvl="0" indent="0" algn="l" rtl="0">
              <a:lnSpc>
                <a:spcPct val="100000"/>
              </a:lnSpc>
              <a:spcBef>
                <a:spcPts val="0"/>
              </a:spcBef>
              <a:spcAft>
                <a:spcPts val="600"/>
              </a:spcAft>
              <a:buSzPts val="1400"/>
              <a:buNone/>
            </a:pPr>
            <a:r>
              <a:rPr lang="en-US" dirty="0"/>
              <a:t>Because a gyro alone cannot fix this drift, the next slide looks at how to combine it with other sensors.</a:t>
            </a:r>
          </a:p>
        </p:txBody>
      </p:sp>
      <p:sp>
        <p:nvSpPr>
          <p:cNvPr id="116" name="Google Shape;116;p29:notes">
            <a:extLst>
              <a:ext uri="{FF2B5EF4-FFF2-40B4-BE49-F238E27FC236}">
                <a16:creationId xmlns:a16="http://schemas.microsoft.com/office/drawing/2014/main" id="{3C4BDA5A-BCA5-4965-0EEA-A9AB0F4BB3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7896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41BC26-EB58-4C22-AF95-3E749992E4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13548C-5DB0-865E-C740-34E11AC2AD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"Errors." It makes four points. Encoders are good at low speeds and at measuring exact distance, but terrible at heading because of wheel slip. Gyroscopes are highly accurate for rapid rotations and, in bold, immune to wheel slip, but they drift over time because of integrated noise. Sensor fusion is the mathematical process of combining these complementary sensors. We use algorithms such as complementary filters or Kalman filters to merge the data.</a:t>
            </a:r>
          </a:p>
          <a:p>
            <a:pPr marL="0" lvl="0" indent="0" algn="l" rtl="0">
              <a:lnSpc>
                <a:spcPct val="100000"/>
              </a:lnSpc>
              <a:spcBef>
                <a:spcPts val="0"/>
              </a:spcBef>
              <a:spcAft>
                <a:spcPts val="600"/>
              </a:spcAft>
              <a:buSzPts val="1400"/>
              <a:buNone/>
            </a:pPr>
            <a:r>
              <a:rPr lang="en-US" dirty="0"/>
              <a:t>The previous two plots showed why the gyro drifts. Heading from a gyro is the integral of measured angular rate, so every small random error gets summed. The spread grows like sigma*sqrt(t), and any bias adds on top of that. So the gyro is trustworthy over seconds but not over minutes.</a:t>
            </a:r>
          </a:p>
          <a:p>
            <a:pPr marL="0" lvl="0" indent="0" algn="l" rtl="0">
              <a:lnSpc>
                <a:spcPct val="100000"/>
              </a:lnSpc>
              <a:spcBef>
                <a:spcPts val="0"/>
              </a:spcBef>
              <a:spcAft>
                <a:spcPts val="600"/>
              </a:spcAft>
              <a:buSzPts val="1400"/>
              <a:buNone/>
            </a:pPr>
            <a:r>
              <a:rPr lang="en-US" dirty="0"/>
              <a:t>Encoders fail in a different way. In dead reckoning, heading comes from the difference of the left and right wheel distances divided by the track width. A small slip on one wheel, which is common during fast turns, becomes a permanent heading error. Every later position estimate then inherits that error.</a:t>
            </a:r>
          </a:p>
          <a:p>
            <a:pPr marL="0" lvl="0" indent="0" algn="l" rtl="0">
              <a:lnSpc>
                <a:spcPct val="100000"/>
              </a:lnSpc>
              <a:spcBef>
                <a:spcPts val="0"/>
              </a:spcBef>
              <a:spcAft>
                <a:spcPts val="600"/>
              </a:spcAft>
              <a:buSzPts val="1400"/>
              <a:buNone/>
            </a:pPr>
            <a:r>
              <a:rPr lang="en-US" dirty="0"/>
              <a:t>The key word is complementary. The two sensors make errors in different situations and on different time scales, so combining them gives an estimate better than either one alone.</a:t>
            </a:r>
          </a:p>
          <a:p>
            <a:pPr marL="0" lvl="0" indent="0" algn="l" rtl="0">
              <a:lnSpc>
                <a:spcPct val="100000"/>
              </a:lnSpc>
              <a:spcBef>
                <a:spcPts val="0"/>
              </a:spcBef>
              <a:spcAft>
                <a:spcPts val="600"/>
              </a:spcAft>
              <a:buSzPts val="1400"/>
              <a:buNone/>
            </a:pPr>
            <a:r>
              <a:rPr lang="en-US" dirty="0"/>
              <a:t>A common mistake is assuming that a gyro with low noise never needs correction. Integration guarantees that its error eventually grows without bound.</a:t>
            </a:r>
          </a:p>
          <a:p>
            <a:pPr marL="0" lvl="0" indent="0" algn="l" rtl="0">
              <a:lnSpc>
                <a:spcPct val="100000"/>
              </a:lnSpc>
              <a:spcBef>
                <a:spcPts val="0"/>
              </a:spcBef>
              <a:spcAft>
                <a:spcPts val="600"/>
              </a:spcAft>
              <a:buSzPts val="1400"/>
              <a:buNone/>
            </a:pPr>
            <a:r>
              <a:rPr lang="en-US" dirty="0"/>
              <a:t>Quick check for you: on your robot, which sensor would you trust during a sharp spin, and which while driving slowly in a straight line? Next, we look at the simplest fusion method, the complementary filter.</a:t>
            </a:r>
          </a:p>
        </p:txBody>
      </p:sp>
      <p:sp>
        <p:nvSpPr>
          <p:cNvPr id="116" name="Google Shape;116;p29:notes">
            <a:extLst>
              <a:ext uri="{FF2B5EF4-FFF2-40B4-BE49-F238E27FC236}">
                <a16:creationId xmlns:a16="http://schemas.microsoft.com/office/drawing/2014/main" id="{3D382200-C9EB-25C0-9161-F002EF390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6366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E8F99-4EF5-8C1C-B8FB-DC0D9E9D452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A67404-F6AF-3E18-349F-311E3E7B2C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a brief look at the simplest sensor-fusion method from the previous slide, the complementary filter. The text says it blends a high-pass filtered signal with a low-pass filtered signal. For heading, the integrated gyro data goes through the high-pass path because we trust it in the short term. An absolute heading measurement, such as a magnetometer if one is available, goes through the low-pass path because we trust it in the long term.</a:t>
            </a:r>
          </a:p>
          <a:p>
            <a:pPr marL="0" lvl="0" indent="0" algn="l" rtl="0">
              <a:lnSpc>
                <a:spcPct val="100000"/>
              </a:lnSpc>
              <a:spcBef>
                <a:spcPts val="0"/>
              </a:spcBef>
              <a:spcAft>
                <a:spcPts val="600"/>
              </a:spcAft>
              <a:buSzPts val="1400"/>
              <a:buNone/>
            </a:pPr>
            <a:r>
              <a:rPr lang="en-US" dirty="0"/>
              <a:t>The centered equation reads: phi_fused equals alpha times the quantity phi_fused plus omega_gyro times delta t, plus one minus alpha times phi_mag. In plain text: phi_fused = alpha*(phi_fused + omega_gyro*dt) + (1 - alpha)*phi_mag. Alpha is a tuning constant close to 1, for example 0.98. The slide notes that this is essentially an exponential moving average.</a:t>
            </a:r>
          </a:p>
          <a:p>
            <a:pPr marL="0" lvl="0" indent="0" algn="l" rtl="0">
              <a:lnSpc>
                <a:spcPct val="100000"/>
              </a:lnSpc>
              <a:spcBef>
                <a:spcPts val="0"/>
              </a:spcBef>
              <a:spcAft>
                <a:spcPts val="600"/>
              </a:spcAft>
              <a:buSzPts val="1400"/>
              <a:buNone/>
            </a:pPr>
            <a:r>
              <a:rPr lang="en-US" dirty="0"/>
              <a:t>Here is how to read it. The first term is a gyro prediction: take the last fused heading and add the rotation measured during this sample. The second term gently pulls that prediction toward the magnetometer. With alpha = 0.98, each update is 98 percent gyro prediction and 2 percent magnetometer. Fast motion therefore comes from the smooth gyro. Slow gyro drift, the square-root-of-time growth you saw two slides ago, is steadily corrected by the absolute sensor. The magnetometer's high-frequency noise is averaged away.</a:t>
            </a:r>
          </a:p>
          <a:p>
            <a:pPr marL="0" lvl="0" indent="0" algn="l" rtl="0">
              <a:lnSpc>
                <a:spcPct val="100000"/>
              </a:lnSpc>
              <a:spcBef>
                <a:spcPts val="0"/>
              </a:spcBef>
              <a:spcAft>
                <a:spcPts val="600"/>
              </a:spcAft>
              <a:buSzPts val="1400"/>
              <a:buNone/>
            </a:pPr>
            <a:r>
              <a:rPr lang="en-US" dirty="0"/>
              <a:t>A useful rule of thumb is that the filter's time constant is about tau = alpha*dt/(1 - alpha). For example, with dt = 0.01 s, tau is about 0.49 s.</a:t>
            </a:r>
          </a:p>
          <a:p>
            <a:pPr marL="0" lvl="0" indent="0" algn="l" rtl="0">
              <a:lnSpc>
                <a:spcPct val="100000"/>
              </a:lnSpc>
              <a:spcBef>
                <a:spcPts val="0"/>
              </a:spcBef>
              <a:spcAft>
                <a:spcPts val="600"/>
              </a:spcAft>
              <a:buSzPts val="1400"/>
              <a:buNone/>
            </a:pPr>
            <a:r>
              <a:rPr lang="en-US" dirty="0"/>
              <a:t>To check your understanding, ask what alpha = 1 gives. It gives pure gyro integration, which drifts. Alpha = 0 gives the raw, noisy magnetometer.</a:t>
            </a:r>
          </a:p>
          <a:p>
            <a:pPr marL="0" lvl="0" indent="0" algn="l" rtl="0">
              <a:lnSpc>
                <a:spcPct val="100000"/>
              </a:lnSpc>
              <a:spcBef>
                <a:spcPts val="0"/>
              </a:spcBef>
              <a:spcAft>
                <a:spcPts val="600"/>
              </a:spcAft>
              <a:buSzPts val="1400"/>
              <a:buNone/>
            </a:pPr>
            <a:r>
              <a:rPr lang="en-US" dirty="0"/>
              <a:t>On the robot, watch for angle wrap-around near plus or minus pi. Also watch for magnetic disturbance from the motors.</a:t>
            </a:r>
          </a:p>
          <a:p>
            <a:pPr marL="0" lvl="0" indent="0" algn="l" rtl="0">
              <a:lnSpc>
                <a:spcPct val="100000"/>
              </a:lnSpc>
              <a:spcBef>
                <a:spcPts val="0"/>
              </a:spcBef>
              <a:spcAft>
                <a:spcPts val="600"/>
              </a:spcAft>
              <a:buSzPts val="1400"/>
              <a:buNone/>
            </a:pPr>
            <a:r>
              <a:rPr lang="en-US" dirty="0"/>
              <a:t>Even good fusion of internal sensors eventually drifts, which motivates landmarks and SLAM next.</a:t>
            </a:r>
          </a:p>
        </p:txBody>
      </p:sp>
      <p:sp>
        <p:nvSpPr>
          <p:cNvPr id="116" name="Google Shape;116;p29:notes">
            <a:extLst>
              <a:ext uri="{FF2B5EF4-FFF2-40B4-BE49-F238E27FC236}">
                <a16:creationId xmlns:a16="http://schemas.microsoft.com/office/drawing/2014/main" id="{125FD715-7DE0-1C44-D1A0-F523F61750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83490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E18440F-1056-DAFA-176A-D26254D360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D88BCB-8134-07CA-DB5D-25E76AF8BD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Dark blue text in the center says "SLAM," and below it, in smaller type, "(A VERY brief introduction.)" The background is the standard orange Illinois template with faint hand-drawn sketches of equations, molecules and diagrams, which are decoration only.</a:t>
            </a:r>
          </a:p>
          <a:p>
            <a:pPr marL="0" lvl="0" indent="0" algn="l" rtl="0">
              <a:spcBef>
                <a:spcPts val="0"/>
              </a:spcBef>
              <a:spcAft>
                <a:spcPts val="600"/>
              </a:spcAft>
              <a:buNone/>
            </a:pPr>
            <a:r>
              <a:rPr lang="en-US" dirty="0"/>
              <a:t>SLAM stands for Simultaneous Localization and Mapping. The robot builds a map of its environment and estimates its own position in that map at the same time.</a:t>
            </a:r>
          </a:p>
          <a:p>
            <a:pPr marL="0" lvl="0" indent="0" algn="l" rtl="0">
              <a:spcBef>
                <a:spcPts val="0"/>
              </a:spcBef>
              <a:spcAft>
                <a:spcPts val="600"/>
              </a:spcAft>
              <a:buNone/>
            </a:pPr>
            <a:r>
              <a:rPr lang="en-US" dirty="0"/>
              <a:t>Even with the sensor fusion you just saw, combining encoders and gyro, internal sensors still drift. Next you see how external landmarks seen by the LiDAR and camera on your robot correct that error.</a:t>
            </a:r>
          </a:p>
        </p:txBody>
      </p:sp>
      <p:sp>
        <p:nvSpPr>
          <p:cNvPr id="102" name="Google Shape;102;p28:notes">
            <a:extLst>
              <a:ext uri="{FF2B5EF4-FFF2-40B4-BE49-F238E27FC236}">
                <a16:creationId xmlns:a16="http://schemas.microsoft.com/office/drawing/2014/main" id="{12EAE820-72DD-88C2-F9F9-F6BD94102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4064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58109F-86CB-C8B2-DBD1-6B4C043A93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1227C0-9987-B6FE-943E-0258944082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the title SLAM. It makes four points. First, even with perfect sensor fusion of internal sensors, drift eventually occurs. Second, to truly fix your global position you must look at the external world using active or passive sensors. Third, you detect landmarks: recognizable, distinct features in the environment with known coordinates. Fourth, when you see a landmark, you calculate your relative distance to it and use that to instantly reset your accumulated odometry error. The slide ends with a question, "When you are driving or walking and you are lost, what landmarks do you use to relocate yourself?", and two examples: specific buildings and specific road names.</a:t>
            </a:r>
          </a:p>
          <a:p>
            <a:pPr marL="0" lvl="0" indent="0" algn="l" rtl="0">
              <a:lnSpc>
                <a:spcPct val="100000"/>
              </a:lnSpc>
              <a:spcBef>
                <a:spcPts val="0"/>
              </a:spcBef>
              <a:spcAft>
                <a:spcPts val="600"/>
              </a:spcAft>
              <a:buSzPts val="1400"/>
              <a:buNone/>
            </a:pPr>
            <a:r>
              <a:rPr lang="en-US" dirty="0"/>
              <a:t>This follows directly from the complementary filter on the previous slide. Blending the gyro and a magnetometer improves heading, but encoders and gyros only measure motion relative to where you were. Every small error is integrated and never removed, so position error grows without bound. Only an outside reference can pull it back.</a:t>
            </a:r>
          </a:p>
          <a:p>
            <a:pPr marL="0" lvl="0" indent="0" algn="l" rtl="0">
              <a:lnSpc>
                <a:spcPct val="100000"/>
              </a:lnSpc>
              <a:spcBef>
                <a:spcPts val="0"/>
              </a:spcBef>
              <a:spcAft>
                <a:spcPts val="600"/>
              </a:spcAft>
              <a:buSzPts val="1400"/>
              <a:buNone/>
            </a:pPr>
            <a:r>
              <a:rPr lang="en-US" dirty="0"/>
              <a:t>An active sensor emits energy and measures the return. LiDAR is an example: it sends out laser pulses. A passive sensor only receives what is already there. A camera is an example: it collects ambient light.</a:t>
            </a:r>
          </a:p>
          <a:p>
            <a:pPr marL="0" lvl="0" indent="0" algn="l" rtl="0">
              <a:lnSpc>
                <a:spcPct val="100000"/>
              </a:lnSpc>
              <a:spcBef>
                <a:spcPts val="0"/>
              </a:spcBef>
              <a:spcAft>
                <a:spcPts val="600"/>
              </a:spcAft>
              <a:buSzPts val="1400"/>
              <a:buNone/>
            </a:pPr>
            <a:r>
              <a:rPr lang="en-US" dirty="0"/>
              <a:t>The landmark idea works because the landmark's position is known. If you know where the landmark is and you measure where it is relative to you, you can solve for where you are. In practice you usually need its direction relative to the robot as well as its range.</a:t>
            </a:r>
          </a:p>
          <a:p>
            <a:pPr marL="0" lvl="0" indent="0" algn="l" rtl="0">
              <a:lnSpc>
                <a:spcPct val="100000"/>
              </a:lnSpc>
              <a:spcBef>
                <a:spcPts val="0"/>
              </a:spcBef>
              <a:spcAft>
                <a:spcPts val="600"/>
              </a:spcAft>
              <a:buSzPts val="1400"/>
              <a:buNone/>
            </a:pPr>
            <a:r>
              <a:rPr lang="en-US" dirty="0"/>
              <a:t>SLAM stands for Simultaneous Localization and Mapping. It is the harder case where the landmark coordinates are not known in advance, so you build the map while localizing in it.</a:t>
            </a:r>
          </a:p>
          <a:p>
            <a:pPr marL="0" lvl="0" indent="0" algn="l" rtl="0">
              <a:lnSpc>
                <a:spcPct val="100000"/>
              </a:lnSpc>
              <a:spcBef>
                <a:spcPts val="0"/>
              </a:spcBef>
              <a:spcAft>
                <a:spcPts val="600"/>
              </a:spcAft>
              <a:buSzPts val="1400"/>
              <a:buNone/>
            </a:pPr>
            <a:r>
              <a:rPr lang="en-US" dirty="0"/>
              <a:t>Take a moment with the question on the slide before moving on. The next slide looks at the two external sensors on your robot, the LiDAR and the camera.</a:t>
            </a:r>
          </a:p>
        </p:txBody>
      </p:sp>
      <p:sp>
        <p:nvSpPr>
          <p:cNvPr id="116" name="Google Shape;116;p29:notes">
            <a:extLst>
              <a:ext uri="{FF2B5EF4-FFF2-40B4-BE49-F238E27FC236}">
                <a16:creationId xmlns:a16="http://schemas.microsoft.com/office/drawing/2014/main" id="{8ED54106-1EA5-D09F-5297-4E5F9FA4D4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01358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B4C103-FD70-DC24-3807-8A9F53C179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65B16-AED5-042F-9941-627D2421E5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SLAM. It says the two sensors on our robot that can see the outside world are the LiDAR and the camera. With the camera, you can place purpose-made tags in the environment as landmarks, and the most common family is called AprilTags. An AprilTag is a square black-and-white pattern. A camera can detect it, read its unique ID, and estimate its position and orientation relative to the camera.</a:t>
            </a:r>
          </a:p>
          <a:p>
            <a:pPr marL="0" lvl="0" indent="0" algn="l" rtl="0">
              <a:lnSpc>
                <a:spcPct val="100000"/>
              </a:lnSpc>
              <a:spcBef>
                <a:spcPts val="0"/>
              </a:spcBef>
              <a:spcAft>
                <a:spcPts val="600"/>
              </a:spcAft>
              <a:buSzPts val="1400"/>
              <a:buNone/>
            </a:pPr>
            <a:r>
              <a:rPr lang="en-US" dirty="0"/>
              <a:t>On the previous slide, a landmark meant something recognizable with known coordinates. AprilTags give you exactly that, because you choose where they go.</a:t>
            </a:r>
          </a:p>
          <a:p>
            <a:pPr marL="0" lvl="0" indent="0" algn="l" rtl="0">
              <a:lnSpc>
                <a:spcPct val="100000"/>
              </a:lnSpc>
              <a:spcBef>
                <a:spcPts val="0"/>
              </a:spcBef>
              <a:spcAft>
                <a:spcPts val="600"/>
              </a:spcAft>
              <a:buSzPts val="1400"/>
              <a:buNone/>
            </a:pPr>
            <a:r>
              <a:rPr lang="en-US" dirty="0"/>
              <a:t>The slide then asks what happens if you cannot place landmarks. It lists five steps, which together are the visual odometry and visual SLAM pipeline:</a:t>
            </a:r>
          </a:p>
          <a:p>
            <a:pPr marL="0" lvl="0" indent="0" algn="l" rtl="0">
              <a:lnSpc>
                <a:spcPct val="100000"/>
              </a:lnSpc>
              <a:spcBef>
                <a:spcPts val="0"/>
              </a:spcBef>
              <a:spcAft>
                <a:spcPts val="600"/>
              </a:spcAft>
              <a:buSzPts val="1400"/>
              <a:buNone/>
            </a:pPr>
            <a:r>
              <a:rPr lang="en-US" dirty="0"/>
              <a:t>First, look at each image and find pixels that stand out as landmarks, such as corners or edges. These are called features.</a:t>
            </a:r>
          </a:p>
          <a:p>
            <a:pPr marL="0" lvl="0" indent="0" algn="l" rtl="0">
              <a:lnSpc>
                <a:spcPct val="100000"/>
              </a:lnSpc>
              <a:spcBef>
                <a:spcPts val="0"/>
              </a:spcBef>
              <a:spcAft>
                <a:spcPts val="600"/>
              </a:spcAft>
              <a:buSzPts val="1400"/>
              <a:buNone/>
            </a:pPr>
            <a:r>
              <a:rPr lang="en-US" dirty="0"/>
              <a:t>Second, in the next frame, match those features to the ones you found before.</a:t>
            </a:r>
          </a:p>
          <a:p>
            <a:pPr marL="0" lvl="0" indent="0" algn="l" rtl="0">
              <a:lnSpc>
                <a:spcPct val="100000"/>
              </a:lnSpc>
              <a:spcBef>
                <a:spcPts val="0"/>
              </a:spcBef>
              <a:spcAft>
                <a:spcPts val="600"/>
              </a:spcAft>
              <a:buSzPts val="1400"/>
              <a:buNone/>
            </a:pPr>
            <a:r>
              <a:rPr lang="en-US" dirty="0"/>
              <a:t>Third, calculate the 6DOF motion of the camera that explains how the matched features moved. 6DOF means six degrees of freedom: three translations (x, y, z) and three rotations (roll, pitch, yaw).</a:t>
            </a:r>
          </a:p>
          <a:p>
            <a:pPr marL="0" lvl="0" indent="0" algn="l" rtl="0">
              <a:lnSpc>
                <a:spcPct val="100000"/>
              </a:lnSpc>
              <a:spcBef>
                <a:spcPts val="0"/>
              </a:spcBef>
              <a:spcAft>
                <a:spcPts val="600"/>
              </a:spcAft>
              <a:buSzPts val="1400"/>
              <a:buNone/>
            </a:pPr>
            <a:r>
              <a:rPr lang="en-US" dirty="0"/>
              <a:t>Fourth, chain these frame-to-frame motions together to get odometry.</a:t>
            </a:r>
          </a:p>
          <a:p>
            <a:pPr marL="0" lvl="0" indent="0" algn="l" rtl="0">
              <a:lnSpc>
                <a:spcPct val="100000"/>
              </a:lnSpc>
              <a:spcBef>
                <a:spcPts val="0"/>
              </a:spcBef>
              <a:spcAft>
                <a:spcPts val="600"/>
              </a:spcAft>
              <a:buSzPts val="1400"/>
              <a:buNone/>
            </a:pPr>
            <a:r>
              <a:rPr lang="en-US" dirty="0"/>
              <a:t>Fifth, if you return to a place you have seen before, use loop closure to correct the drift that built up along the way.</a:t>
            </a:r>
          </a:p>
          <a:p>
            <a:pPr marL="0" lvl="0" indent="0" algn="l" rtl="0">
              <a:lnSpc>
                <a:spcPct val="100000"/>
              </a:lnSpc>
              <a:spcBef>
                <a:spcPts val="0"/>
              </a:spcBef>
              <a:spcAft>
                <a:spcPts val="600"/>
              </a:spcAft>
              <a:buSzPts val="1400"/>
              <a:buNone/>
            </a:pPr>
            <a:r>
              <a:rPr lang="en-US" dirty="0"/>
              <a:t>A common misconception is that visual odometry alone stops drift. It does not, because small errors still accumulate from frame to frame. Only loop closure, or a known landmark, removes them.</a:t>
            </a:r>
          </a:p>
          <a:p>
            <a:pPr marL="0" lvl="0" indent="0" algn="l" rtl="0">
              <a:lnSpc>
                <a:spcPct val="100000"/>
              </a:lnSpc>
              <a:spcBef>
                <a:spcPts val="0"/>
              </a:spcBef>
              <a:spcAft>
                <a:spcPts val="600"/>
              </a:spcAft>
              <a:buSzPts val="1400"/>
              <a:buNone/>
            </a:pPr>
            <a:r>
              <a:rPr lang="en-US" dirty="0"/>
              <a:t>Next, you see images of where this pipeline fails and of AprilTags in use, and then the LiDAR version of the same idea.</a:t>
            </a:r>
          </a:p>
        </p:txBody>
      </p:sp>
      <p:sp>
        <p:nvSpPr>
          <p:cNvPr id="116" name="Google Shape;116;p29:notes">
            <a:extLst>
              <a:ext uri="{FF2B5EF4-FFF2-40B4-BE49-F238E27FC236}">
                <a16:creationId xmlns:a16="http://schemas.microsoft.com/office/drawing/2014/main" id="{60C881E0-573D-D8BA-0B4E-6AAC9475B2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67631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82AC7-8202-F2C9-A3D9-B5D987B1AA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B8A00E-83B2-E80F-3506-85A7613BD9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pictures to the two camera approaches from the previous slide: placing your own landmarks, or finding landmarks in images you did not prepare.</a:t>
            </a:r>
          </a:p>
          <a:p>
            <a:pPr marL="0" lvl="0" indent="0" algn="l" rtl="0">
              <a:lnSpc>
                <a:spcPct val="100000"/>
              </a:lnSpc>
              <a:spcBef>
                <a:spcPts val="0"/>
              </a:spcBef>
              <a:spcAft>
                <a:spcPts val="600"/>
              </a:spcAft>
              <a:buSzPts val="1400"/>
              <a:buNone/>
            </a:pPr>
            <a:r>
              <a:rPr lang="en-US" dirty="0"/>
              <a:t>On the left is a photo of about ten small white four-wheeled robots with antennas and cameras, parked on a park path and lawn. Each robot carries black-and-white AprilTags on its sides and top. An enlarged inset shows one tag: a square grid of black and white cells inside a thick black border. A camera detects the border, decodes the cell pattern into a unique ID, and uses the four corners to compute the tag's position and orientation relative to the camera. If you know where a tag is, seeing it immediately corrects your odometry drift. The source is april.eecs.umich.edu/software/apriltag.</a:t>
            </a:r>
          </a:p>
          <a:p>
            <a:pPr marL="0" lvl="0" indent="0" algn="l" rtl="0">
              <a:lnSpc>
                <a:spcPct val="100000"/>
              </a:lnSpc>
              <a:spcBef>
                <a:spcPts val="0"/>
              </a:spcBef>
              <a:spcAft>
                <a:spcPts val="600"/>
              </a:spcAft>
              <a:buSzPts val="1400"/>
              <a:buNone/>
            </a:pPr>
            <a:r>
              <a:rPr lang="en-US" dirty="0"/>
              <a:t>On the right, two dashed panels show monocular SLAM, which uses a single camera, in a low-texture hallway. In the top panel, a point-only method (ORB-SLAM) builds a sparse point map and tracks the camera along three sides of a loop. Then it fails, and its camera view of a plain corridor reads "Track lost. Trying to relocalize." Blank walls simply do not give it enough distinctive points. In the bottom panel, PSL-SLAM adds structure lines (wall edges, ceiling panels, door frames) to the points. It tracks the full closed rectangular loop, and its status bar shows 219 keyframes, 8048 map points and 377 matches. The source is researchgate.net/publication/355183350_PSL-SLAM_a_monocular_SLAM_system_using_points_and_structure_lines_in_Manhattan_World.</a:t>
            </a:r>
          </a:p>
          <a:p>
            <a:pPr marL="0" lvl="0" indent="0" algn="l" rtl="0">
              <a:lnSpc>
                <a:spcPct val="100000"/>
              </a:lnSpc>
              <a:spcBef>
                <a:spcPts val="0"/>
              </a:spcBef>
              <a:spcAft>
                <a:spcPts val="600"/>
              </a:spcAft>
              <a:buSzPts val="1400"/>
              <a:buNone/>
            </a:pPr>
            <a:r>
              <a:rPr lang="en-US" dirty="0"/>
              <a:t>The lesson is that feature-based vision depends on what the environment offers. Quick check: why might the hallways in your lab building be hard for point-only SLAM?</a:t>
            </a:r>
          </a:p>
          <a:p>
            <a:pPr marL="0" lvl="0" indent="0" algn="l" rtl="0">
              <a:lnSpc>
                <a:spcPct val="100000"/>
              </a:lnSpc>
              <a:spcBef>
                <a:spcPts val="0"/>
              </a:spcBef>
              <a:spcAft>
                <a:spcPts val="600"/>
              </a:spcAft>
              <a:buSzPts val="1400"/>
              <a:buNone/>
            </a:pPr>
            <a:r>
              <a:rPr lang="en-US" dirty="0"/>
              <a:t>Next, you see how the LiDAR avoids this problem by matching whole scans.</a:t>
            </a:r>
          </a:p>
        </p:txBody>
      </p:sp>
      <p:sp>
        <p:nvSpPr>
          <p:cNvPr id="116" name="Google Shape;116;p29:notes">
            <a:extLst>
              <a:ext uri="{FF2B5EF4-FFF2-40B4-BE49-F238E27FC236}">
                <a16:creationId xmlns:a16="http://schemas.microsoft.com/office/drawing/2014/main" id="{73B61B05-1962-E37D-BC7D-A134229005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081887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D9D9EA-5589-19AF-E262-E2F2F623AF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399A02-E788-A483-A486-8A6EB9147E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titled SLAM. It asks: what if there are no AprilTags and we do not know the map beforehand? The answer is SLAM, Simultaneous Localization and Mapping. The spinning LiDAR produces a dense 2D point cloud. As the robot moves, it takes a new scan and compares it to the previous one. To align two point clouds taken a few seconds apart, the Iterative Closest Point algorithm, ICP, rotates and translates the new scan until it best overlaps the old one. That rotation and translation is exactly how much the robot moved, which gives accurate odometry without relying on wheel friction.</a:t>
            </a:r>
          </a:p>
          <a:p>
            <a:pPr marL="0" lvl="0" indent="0" algn="l" rtl="0">
              <a:lnSpc>
                <a:spcPct val="100000"/>
              </a:lnSpc>
              <a:spcBef>
                <a:spcPts val="0"/>
              </a:spcBef>
              <a:spcAft>
                <a:spcPts val="600"/>
              </a:spcAft>
              <a:buSzPts val="1400"/>
              <a:buNone/>
            </a:pPr>
            <a:r>
              <a:rPr lang="en-US" dirty="0"/>
              <a:t>On the last slide you saw the camera route: landmarks such as AprilTags, or hard-to-track natural features. The LiDAR route uses the robot's own scans as the landmarks. A point cloud is simply the list of (x, y) points where the laser hit a wall or object.</a:t>
            </a:r>
          </a:p>
          <a:p>
            <a:pPr marL="0" lvl="0" indent="0" algn="l" rtl="0">
              <a:lnSpc>
                <a:spcPct val="100000"/>
              </a:lnSpc>
              <a:spcBef>
                <a:spcPts val="0"/>
              </a:spcBef>
              <a:spcAft>
                <a:spcPts val="600"/>
              </a:spcAft>
              <a:buSzPts val="1400"/>
              <a:buNone/>
            </a:pPr>
            <a:r>
              <a:rPr lang="en-US" dirty="0"/>
              <a:t>ICP repeats three steps. First, pair each new point with its closest point in the old scan. Second, solve for the rotation angle theta and translation t that best line up those pairs, so each point becomes p_new = R(theta)*p + t. Third, apply that transform and repeat until the mean error stops shrinking. This is the same 2D rotation and translation from earlier in today's lecture.</a:t>
            </a:r>
          </a:p>
          <a:p>
            <a:pPr marL="0" lvl="0" indent="0" algn="l" rtl="0">
              <a:lnSpc>
                <a:spcPct val="100000"/>
              </a:lnSpc>
              <a:spcBef>
                <a:spcPts val="0"/>
              </a:spcBef>
              <a:spcAft>
                <a:spcPts val="600"/>
              </a:spcAft>
              <a:buSzPts val="1400"/>
              <a:buNone/>
            </a:pPr>
            <a:r>
              <a:rPr lang="en-US" dirty="0"/>
              <a:t>Here is why this matters. Wheel dead reckoning drifts whenever the wheels slip, and those are the errors we just studied. Scan matching measures motion against the walls themselves.</a:t>
            </a:r>
          </a:p>
          <a:p>
            <a:pPr marL="0" lvl="0" indent="0" algn="l" rtl="0">
              <a:lnSpc>
                <a:spcPct val="100000"/>
              </a:lnSpc>
              <a:spcBef>
                <a:spcPts val="0"/>
              </a:spcBef>
              <a:spcAft>
                <a:spcPts val="600"/>
              </a:spcAft>
              <a:buSzPts val="1400"/>
              <a:buNone/>
            </a:pPr>
            <a:r>
              <a:rPr lang="en-US" dirty="0"/>
              <a:t>A common pitfall is that ICP needs a reasonable initial guess and distinctive geometry. In a long, featureless hallway it can slide. Small errors still accumulate, which is why loop closure matters.</a:t>
            </a:r>
          </a:p>
          <a:p>
            <a:pPr marL="0" lvl="0" indent="0" algn="l" rtl="0">
              <a:lnSpc>
                <a:spcPct val="100000"/>
              </a:lnSpc>
              <a:spcBef>
                <a:spcPts val="0"/>
              </a:spcBef>
              <a:spcAft>
                <a:spcPts val="600"/>
              </a:spcAft>
              <a:buSzPts val="1400"/>
              <a:buNone/>
            </a:pPr>
            <a:r>
              <a:rPr lang="en-US" dirty="0"/>
              <a:t>Next, you see ICP aligning example point clouds.</a:t>
            </a:r>
          </a:p>
        </p:txBody>
      </p:sp>
      <p:sp>
        <p:nvSpPr>
          <p:cNvPr id="116" name="Google Shape;116;p29:notes">
            <a:extLst>
              <a:ext uri="{FF2B5EF4-FFF2-40B4-BE49-F238E27FC236}">
                <a16:creationId xmlns:a16="http://schemas.microsoft.com/office/drawing/2014/main" id="{31C2689D-70E1-4B17-76A2-B86E57C8819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78369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1FFF0E-C97C-278C-3F77-3CC6B4049B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A5001F4-2420-5D75-35F6-B8AF968F11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Iterative Closest Point algorithm, or ICP, from the previous slide in action. Each picture is the starting frame, iteration 0, of an alignment. The source is the learnopencv.com article on ICP, https://learnopencv.com/iterative-closest-point-icp-explained/.</a:t>
            </a:r>
          </a:p>
          <a:p>
            <a:pPr marL="0" lvl="0" indent="0" algn="l" rtl="0">
              <a:lnSpc>
                <a:spcPct val="100000"/>
              </a:lnSpc>
              <a:spcBef>
                <a:spcPts val="0"/>
              </a:spcBef>
              <a:spcAft>
                <a:spcPts val="600"/>
              </a:spcAft>
              <a:buSzPts val="1400"/>
              <a:buNone/>
            </a:pPr>
            <a:r>
              <a:rPr lang="en-US" dirty="0"/>
              <a:t>The left plot is a simple 2D example titled "Iteration 0, Mean Error: N/A." Red dots, labeled Source A (moving), trace one period of a sine wave from (0, 0) to about (6.3, 0). Blue crosses, labeled Target B, form the same wave shape, but rotated counterclockwise and shifted up and to the right, running from about (2.1, 0.3) to (7.6, 3.2). Think of A as the new LiDAR scan and B as the previous scan.</a:t>
            </a:r>
          </a:p>
          <a:p>
            <a:pPr marL="0" lvl="0" indent="0" algn="l" rtl="0">
              <a:lnSpc>
                <a:spcPct val="100000"/>
              </a:lnSpc>
              <a:spcBef>
                <a:spcPts val="0"/>
              </a:spcBef>
              <a:spcAft>
                <a:spcPts val="600"/>
              </a:spcAft>
              <a:buSzPts val="1400"/>
              <a:buNone/>
            </a:pPr>
            <a:r>
              <a:rPr lang="en-US" dirty="0"/>
              <a:t>The right side shows two 3D panels of the Stanford bunny point cloud. A red scan and a blue scan are offset and rotated by the same amount in both panels. One panel is labeled point-to-point and the other point-to-plane.</a:t>
            </a:r>
          </a:p>
          <a:p>
            <a:pPr marL="0" lvl="0" indent="0" algn="l" rtl="0">
              <a:lnSpc>
                <a:spcPct val="100000"/>
              </a:lnSpc>
              <a:spcBef>
                <a:spcPts val="0"/>
              </a:spcBef>
              <a:spcAft>
                <a:spcPts val="600"/>
              </a:spcAft>
              <a:buSzPts val="1400"/>
              <a:buNone/>
            </a:pPr>
            <a:r>
              <a:rPr lang="en-US" dirty="0"/>
              <a:t>ICP repeats four steps. First, match each source point to its closest target point. Second, find the rotation R and translation t that minimize the sum of squared distances, sum of ||R*a_i + t - b_i||^2. Third, apply that R and t to the source. Fourth, recompute the mean error, and stop when it stops decreasing.</a:t>
            </a:r>
          </a:p>
          <a:p>
            <a:pPr marL="0" lvl="0" indent="0" algn="l" rtl="0">
              <a:lnSpc>
                <a:spcPct val="100000"/>
              </a:lnSpc>
              <a:spcBef>
                <a:spcPts val="0"/>
              </a:spcBef>
              <a:spcAft>
                <a:spcPts val="600"/>
              </a:spcAft>
              <a:buSzPts val="1400"/>
              <a:buNone/>
            </a:pPr>
            <a:r>
              <a:rPr lang="en-US" dirty="0"/>
              <a:t>The point-to-point version minimizes straight-line distance between matched points. The point-to-plane version minimizes distance along the target surface normal. That lets points slide along flat surfaces such as walls, and it usually converges in fewer iterations.</a:t>
            </a:r>
          </a:p>
          <a:p>
            <a:pPr marL="0" lvl="0" indent="0" algn="l" rtl="0">
              <a:lnSpc>
                <a:spcPct val="100000"/>
              </a:lnSpc>
              <a:spcBef>
                <a:spcPts val="0"/>
              </a:spcBef>
              <a:spcAft>
                <a:spcPts val="600"/>
              </a:spcAft>
              <a:buSzPts val="1400"/>
              <a:buNone/>
            </a:pPr>
            <a:r>
              <a:rPr lang="en-US" dirty="0"/>
              <a:t>A common pitfall is that ICP only finds the nearest good fit. If the initial misalignment is too large, the closest-point matches are wrong and ICP converges to a bad answer. On your robot, dead-reckoning provides the initial guess.</a:t>
            </a:r>
          </a:p>
        </p:txBody>
      </p:sp>
      <p:sp>
        <p:nvSpPr>
          <p:cNvPr id="116" name="Google Shape;116;p29:notes">
            <a:extLst>
              <a:ext uri="{FF2B5EF4-FFF2-40B4-BE49-F238E27FC236}">
                <a16:creationId xmlns:a16="http://schemas.microsoft.com/office/drawing/2014/main" id="{A098A410-8313-E2B4-8AEA-70E986C0E9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01001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on the dark blue Grainger Engineering background, with faint hand-drawn equations and diagrams behind it. The footer reads Systems Engineering and Grainger Engineering.</a:t>
            </a:r>
          </a:p>
          <a:p>
            <a:pPr marL="0" lvl="0" indent="0" algn="l" rtl="0">
              <a:spcBef>
                <a:spcPts val="0"/>
              </a:spcBef>
              <a:spcAft>
                <a:spcPts val="600"/>
              </a:spcAft>
              <a:buNone/>
            </a:pPr>
            <a:r>
              <a:rPr lang="en-US" dirty="0"/>
              <a:t>That closes today's arc: 2D translation and rotation, dead-reckoning from wheel encoders, how its errors accumulate, and SLAM, where ICP aligns LiDAR scans to estimate motion. As a check, ask yourself: why does ICP odometry avoid the wheel-slip error that dead-reckoning suffers from?</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branding page: an orange background with faint hand-drawn engineering sketches of a cube, equations and diagrams, and the University of Illinois "I" logo beside the words "The Grainger College of Engineering, University of Illinois Urbana-Champaign."</a:t>
            </a:r>
          </a:p>
          <a:p>
            <a:pPr marL="0" lvl="0" indent="0" algn="l" rtl="0">
              <a:spcBef>
                <a:spcPts val="0"/>
              </a:spcBef>
              <a:spcAft>
                <a:spcPts val="600"/>
              </a:spcAft>
              <a:buNone/>
            </a:pPr>
            <a:r>
              <a:rPr lang="en-US" dirty="0"/>
              <a:t>That ends Lecture 15. You moved from coordinate transforms to dead-reckoning, saw why its errors accumulate, and got a first look at SLAM and ICP scan matching, which correct that drift using sensor data such as LiDAR scans.</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rontiersin.org/journals/robotics-and-ai/articles/10.3389/frobt.2025.1671673/full" TargetMode="External"/><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en.wikipedia.org/wiki/Differential_wheeled_rob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8.png"/><Relationship Id="rId7"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april.eecs.umich.edu/software/apriltag"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hyperlink" Target="https://www.researchgate.net/publication/355183350_PSL-SLAM_a_monocular_SLAM_system_using_points_and_structure_lines_in_Manhattan_World" TargetMode="Externa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4.gif"/><Relationship Id="rId5" Type="http://schemas.openxmlformats.org/officeDocument/2006/relationships/hyperlink" Target="https://learnopencv.com/iterative-closest-point-icp-explained/" TargetMode="External"/><Relationship Id="rId4" Type="http://schemas.openxmlformats.org/officeDocument/2006/relationships/image" Target="../media/image43.gif"/></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15: Coordinate Transforms &amp; Dead-reckoning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March 11</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Stand up and with your partner and: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Agree on a starting position and a target position</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Discuss ways how one would go from point A to B as accurately as possible with their eyes closed.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One of you closes your eyes (the partner should keep the other safe during the activity) and performs the strategy to try to get from point A to B. The other partner should not provide information during that time (Dead-Reckoning).</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Now redo the task but now your partner can only tell you distance to the target as well (type IR sensor).</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Spring Break next week, no 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p>
          <a:p>
            <a:pPr marL="285750" indent="-285750">
              <a:lnSpc>
                <a:spcPct val="100000"/>
              </a:lnSpc>
              <a:spcBef>
                <a:spcPts val="0"/>
              </a:spcBef>
              <a:buSzPts val="3000"/>
            </a:pPr>
            <a:r>
              <a:rPr lang="en-US" sz="1800" dirty="0">
                <a:latin typeface="Atkinson Hyperlegible Next"/>
                <a:ea typeface="Arial"/>
                <a:cs typeface="Arial"/>
                <a:sym typeface="Arial"/>
              </a:rPr>
              <a:t>Don’t forget the Lab 6 LabVIEW assignment that needs to be done beforehand!</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Localization</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54E6D-ADE0-FF7B-8B3B-FBB787005E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34F85F-14ED-8196-483A-A9B0CBE868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now have sensors to figure out where obstacles are. We have sensors to figure out the internal state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also know how to make a robot drive straight or follow a wall using feedback control.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if we ask the robot to “go to coordinates (5, 5) on the map,” how does it know where it currently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the fundamental question of </a:t>
            </a:r>
            <a:r>
              <a:rPr lang="en-US" sz="2400" b="1" dirty="0">
                <a:latin typeface="Atkinson Hyperlegible Next"/>
                <a:ea typeface="Arial"/>
                <a:cs typeface="Arial"/>
                <a:sym typeface="Arial"/>
              </a:rPr>
              <a:t>Localization</a:t>
            </a:r>
            <a:r>
              <a:rPr lang="en-US" sz="24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13215573-5A7C-3A19-B5FC-59A2DAECE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2BE7C5-E357-C849-95D1-A8AFC2B878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909E4A-4D7E-B978-3B33-F09D062D44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4271AA3-DDA8-8911-F3E0-99DCC109A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8E6136-75ED-E9E8-7811-4C19C9302C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E3BB8A-CC27-EE8F-6806-F3A5029472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1700D1-F08F-06B9-193E-676EC039D7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C927B8-E359-2078-0EE4-ADC57931A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6B0AB0-4051-A09B-7311-A4F931BA9B5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A21696-5A9A-3401-67CD-214B116713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To solve localization, we need to understand that the world is not perfect and not a single sensor gives the exact solution.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first estimate movement using internal sensors (Dead-Reckoning).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a problem with just using internal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internal sensors drift and accumulate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Think of this as walking blind and relying on just counting your steps as you did at the beginning of the lecture.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Finally, we use external sensors (LiDAR, Cameras) to look at landmarks and correct these errors (SLAM)</a:t>
            </a:r>
          </a:p>
        </p:txBody>
      </p:sp>
      <p:sp>
        <p:nvSpPr>
          <p:cNvPr id="119" name="Google Shape;119;p29">
            <a:extLst>
              <a:ext uri="{FF2B5EF4-FFF2-40B4-BE49-F238E27FC236}">
                <a16:creationId xmlns:a16="http://schemas.microsoft.com/office/drawing/2014/main" id="{EB1C9771-CEDB-F231-50E7-056ABA96B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844BD46-26EE-7A92-2F40-585E66379FA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(2/5)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9C415F-6234-A563-9685-6C58F007F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01D358-E660-5A3A-79D7-E72117E7D0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D20787-DE13-FFAB-59C4-53CB0535AE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E81C41-95EC-5910-AE81-9E9E0016E9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CB493-F98D-DEB8-5A08-571961CCE9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2CB86-A719-5322-78B8-CD4308B7CD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8143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F4750B5-B14A-01C9-2B88-F206A73A34D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6D4F231-FAC7-950C-5B45-988055DD235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Coordinate Transformation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2E38B49-2E3A-FDD3-E87E-670AC8567A9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D84C68B-3657-9A09-BA27-13DFBD4178B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5955F79-2034-08CB-A687-A865D40FE7A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17795A85-70CE-C4BB-770A-9D34F3334B4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4D5F0B-0552-CD63-B00C-A9C2A0CD86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1B59352F-72AC-C977-FC71-D1436D4ABDC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0FE4BDD-F9D0-96A9-034F-99CDC779B4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C43F291-FBED-C820-8FD0-BF27F8527B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EA57A2F-DF5A-9E87-A66E-340D67185C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1936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D68A14-2D43-55A7-F8C0-E002E2C62A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3FD844-676E-2C29-2373-9E0220DF013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robot experiences the world from its own perspective, which we call the </a:t>
            </a:r>
            <a:r>
              <a:rPr lang="en-US" sz="2200" b="1" dirty="0">
                <a:latin typeface="Atkinson Hyperlegible Next"/>
                <a:ea typeface="Arial"/>
                <a:cs typeface="Arial"/>
                <a:sym typeface="Arial"/>
              </a:rPr>
              <a:t>Local Frame </a:t>
            </a:r>
            <a:r>
              <a:rPr lang="en-US" sz="2200" dirty="0">
                <a:latin typeface="Atkinson Hyperlegible Next"/>
                <a:ea typeface="Arial"/>
                <a:cs typeface="Arial"/>
                <a:sym typeface="Arial"/>
              </a:rPr>
              <a:t>(or Body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map or the room exists in a fixed, global reference frame, called the </a:t>
            </a:r>
            <a:r>
              <a:rPr lang="en-US" sz="2200" b="1" dirty="0">
                <a:latin typeface="Atkinson Hyperlegible Next"/>
                <a:ea typeface="Arial"/>
                <a:cs typeface="Arial"/>
                <a:sym typeface="Arial"/>
              </a:rPr>
              <a:t>Global / World Frame</a:t>
            </a:r>
            <a:r>
              <a:rPr lang="en-US" sz="2200" dirty="0">
                <a:latin typeface="Atkinson Hyperlegible Next"/>
                <a:ea typeface="Arial"/>
                <a:cs typeface="Arial"/>
                <a:sym typeface="Arial"/>
              </a:rPr>
              <a:t> (or Inertial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driving a car, your local reference frame is your point of view inside the car, only you have that viewpoint, and the global reference is the shared viewpoint, which is provided by the GPS map.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Each of the sensors view its information in its own Local Frame; however, to navigate a room, we must translate the local sensor data into the global map!</a:t>
            </a:r>
          </a:p>
        </p:txBody>
      </p:sp>
      <p:sp>
        <p:nvSpPr>
          <p:cNvPr id="119" name="Google Shape;119;p29">
            <a:extLst>
              <a:ext uri="{FF2B5EF4-FFF2-40B4-BE49-F238E27FC236}">
                <a16:creationId xmlns:a16="http://schemas.microsoft.com/office/drawing/2014/main" id="{311CB4E9-9255-9A87-DA02-4531EC6F08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87E6F-1A16-5B7F-0DBD-EBB05D4C03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(3/5)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44F908-2DC1-FD6A-B6DD-0AE2DF0578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58C51D-5F5B-C5C1-7E3B-4E7961D336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A28F24-8ED6-D3C4-9D30-E11CE6FE4A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31BB56-3D10-4E51-1059-7704B1202A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D18472-15CC-951B-22D9-2D16BE443B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7BAC9-1191-2046-BCDC-AE807074BC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56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5CD33-FBA4-E607-F00C-CE9B0B73E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BD59CC6-7569-F8D1-B339-8E469DAB4A90}"/>
                  </a:ext>
                </a:extLst>
              </p:cNvPr>
              <p:cNvSpPr txBox="1">
                <a:spLocks noGrp="1"/>
              </p:cNvSpPr>
              <p:nvPr>
                <p:ph type="body" idx="1"/>
              </p:nvPr>
            </p:nvSpPr>
            <p:spPr>
              <a:xfrm>
                <a:off x="376809" y="1334279"/>
                <a:ext cx="584989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local frames of each of the sensors can be of different positions and orientation than the robot’s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 is typically the frame where you define the </a:t>
                </a:r>
                <a14:m>
                  <m:oMath xmlns:m="http://schemas.openxmlformats.org/officeDocument/2006/math">
                    <m:r>
                      <a:rPr lang="en-US" sz="2200" b="0" i="0" smtClean="0">
                        <a:latin typeface="Cambria Math" panose="02040503050406030204" pitchFamily="18" charset="0"/>
                        <a:ea typeface="Cambria Math" panose="02040503050406030204" pitchFamily="18" charset="0"/>
                        <a:cs typeface="Arial"/>
                        <a:sym typeface="Arial"/>
                      </a:rPr>
                      <m:t>(</m:t>
                    </m:r>
                    <m:r>
                      <m:rPr>
                        <m:sty m:val="p"/>
                      </m:rPr>
                      <a:rPr lang="en-US" sz="2200" b="0" i="0" smtClean="0">
                        <a:latin typeface="Cambria Math" panose="02040503050406030204" pitchFamily="18" charset="0"/>
                        <a:ea typeface="Cambria Math" panose="02040503050406030204" pitchFamily="18" charset="0"/>
                        <a:cs typeface="Arial"/>
                        <a:sym typeface="Arial"/>
                      </a:rPr>
                      <m:t>x</m:t>
                    </m:r>
                    <m:r>
                      <a:rPr lang="en-US" sz="2200" b="0" i="1" smtClean="0">
                        <a:latin typeface="Cambria Math" panose="02040503050406030204" pitchFamily="18" charset="0"/>
                        <a:ea typeface="Cambria Math" panose="02040503050406030204" pitchFamily="18" charset="0"/>
                        <a:cs typeface="Arial"/>
                        <a:sym typeface="Arial"/>
                      </a:rPr>
                      <m:t>, </m:t>
                    </m:r>
                    <m:r>
                      <m:rPr>
                        <m:sty m:val="p"/>
                      </m:rPr>
                      <a:rPr lang="en-US" sz="2200" b="0" i="1" smtClean="0">
                        <a:latin typeface="Cambria Math" panose="02040503050406030204" pitchFamily="18" charset="0"/>
                        <a:ea typeface="Cambria Math" panose="02040503050406030204" pitchFamily="18" charset="0"/>
                        <a:cs typeface="Arial"/>
                        <a:sym typeface="Arial"/>
                      </a:rPr>
                      <m:t>y</m:t>
                    </m:r>
                    <m:r>
                      <a:rPr lang="en-US" sz="2200" b="0" i="1" smtClean="0">
                        <a:latin typeface="Cambria Math" panose="02040503050406030204" pitchFamily="18" charset="0"/>
                        <a:ea typeface="Cambria Math" panose="02040503050406030204" pitchFamily="18" charset="0"/>
                        <a:cs typeface="Arial"/>
                        <a:sym typeface="Arial"/>
                      </a:rPr>
                      <m:t>, </m:t>
                    </m:r>
                    <m:r>
                      <a:rPr lang="en-US" sz="2200" i="1" smtClean="0">
                        <a:latin typeface="Cambria Math" panose="02040503050406030204" pitchFamily="18" charset="0"/>
                        <a:ea typeface="Cambria Math" panose="02040503050406030204" pitchFamily="18" charset="0"/>
                        <a:cs typeface="Arial"/>
                        <a:sym typeface="Arial"/>
                      </a:rPr>
                      <m:t>𝜃</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of the robot.</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So, we need to translate the sensor frames to the body frame, and then the body frame to the global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to the right moves “forward 1 meter”, does its local x coordinate increase or it’s y? What about it’s world x, y coordinates?</a:t>
                </a:r>
              </a:p>
            </p:txBody>
          </p:sp>
        </mc:Choice>
        <mc:Fallback xmlns="">
          <p:sp>
            <p:nvSpPr>
              <p:cNvPr id="118" name="Google Shape;118;p29">
                <a:extLst>
                  <a:ext uri="{FF2B5EF4-FFF2-40B4-BE49-F238E27FC236}">
                    <a16:creationId xmlns:a16="http://schemas.microsoft.com/office/drawing/2014/main" id="{9BD59CC6-7569-F8D1-B339-8E469DAB4A90}"/>
                  </a:ext>
                </a:extLst>
              </p:cNvPr>
              <p:cNvSpPr txBox="1">
                <a:spLocks noGrp="1" noRot="1" noChangeAspect="1" noMove="1" noResize="1" noEditPoints="1" noAdjustHandles="1" noChangeArrowheads="1" noChangeShapeType="1" noTextEdit="1"/>
              </p:cNvSpPr>
              <p:nvPr>
                <p:ph type="body" idx="1"/>
              </p:nvPr>
            </p:nvSpPr>
            <p:spPr>
              <a:xfrm>
                <a:off x="376809" y="1334279"/>
                <a:ext cx="5849892" cy="4821102"/>
              </a:xfrm>
              <a:prstGeom prst="rect">
                <a:avLst/>
              </a:prstGeom>
              <a:blipFill>
                <a:blip r:embed="rId3"/>
                <a:stretch>
                  <a:fillRect l="-1356" t="-759" r="-2398"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87ECFB-4495-249A-40BA-0241CD197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20AD81-C680-622A-A674-17B52CFBC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(4/5)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6BBCA4-CFCB-DA91-9B41-79074E15B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8624EF-6C6D-92FE-D024-BBB996549B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7E90F5-76C0-896B-E43F-E5F1FCF11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D82D89-6AC9-3A75-EBED-5C3049E2B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169CED0-53AD-DEF9-1671-4E93DE5248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50A90D-323B-E878-049D-26D4F411BC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Picture 6" descr="Left, photo: a four-wheeled mobile robot with a tall sensor tower. From top: Bumblebee stereo camera at 126 cm, Wi-Fi router, tilted laser at about 60 cm, PC, and frontal and back lasers near 35 cm. Body-frame axes at its base show x (red) pointing forward toward the frontal laser, y (blue) to the side, and z (green) up. Right, frame tree: frames bumblebee, laservtcal, laserfront and laserback, each offset and rotated differently, all linked to base_link.">
            <a:extLst>
              <a:ext uri="{FF2B5EF4-FFF2-40B4-BE49-F238E27FC236}">
                <a16:creationId xmlns:a16="http://schemas.microsoft.com/office/drawing/2014/main" id="{B09C676A-C7CC-590E-E845-C95E05865DD4}"/>
              </a:ext>
            </a:extLst>
          </p:cNvPr>
          <p:cNvPicPr>
            <a:picLocks noChangeAspect="1"/>
          </p:cNvPicPr>
          <p:nvPr/>
        </p:nvPicPr>
        <p:blipFill>
          <a:blip r:embed="rId5"/>
          <a:stretch>
            <a:fillRect/>
          </a:stretch>
        </p:blipFill>
        <p:spPr>
          <a:xfrm>
            <a:off x="6226701" y="1651719"/>
            <a:ext cx="5965299" cy="3846662"/>
          </a:xfrm>
          <a:prstGeom prst="rect">
            <a:avLst/>
          </a:prstGeom>
        </p:spPr>
      </p:pic>
      <p:sp>
        <p:nvSpPr>
          <p:cNvPr id="9" name="TextBox 8">
            <a:extLst>
              <a:ext uri="{FF2B5EF4-FFF2-40B4-BE49-F238E27FC236}">
                <a16:creationId xmlns:a16="http://schemas.microsoft.com/office/drawing/2014/main" id="{EF53D97B-B5D7-BF27-4A42-A1F5ECA4416E}"/>
              </a:ext>
            </a:extLst>
          </p:cNvPr>
          <p:cNvSpPr txBox="1"/>
          <p:nvPr/>
        </p:nvSpPr>
        <p:spPr>
          <a:xfrm>
            <a:off x="6588338" y="5603472"/>
            <a:ext cx="5353050" cy="246221"/>
          </a:xfrm>
          <a:prstGeom prst="rect">
            <a:avLst/>
          </a:prstGeom>
          <a:noFill/>
        </p:spPr>
        <p:txBody>
          <a:bodyPr wrap="square">
            <a:spAutoFit/>
          </a:bodyPr>
          <a:lstStyle/>
          <a:p>
            <a:pPr algn="ctr"/>
            <a:r>
              <a:rPr lang="en-US" sz="1000" dirty="0">
                <a:hlinkClick r:id="rId6"/>
              </a:rPr>
              <a:t>https://www.frontiersin.org/journals/robotics-and-ai/articles/10.3389/frobt.2025.1671673/full</a:t>
            </a:r>
            <a:r>
              <a:rPr lang="en-US" sz="1000" dirty="0"/>
              <a:t> </a:t>
            </a:r>
          </a:p>
        </p:txBody>
      </p:sp>
    </p:spTree>
    <p:extLst>
      <p:ext uri="{BB962C8B-B14F-4D97-AF65-F5344CB8AC3E}">
        <p14:creationId xmlns:p14="http://schemas.microsoft.com/office/powerpoint/2010/main" val="2534883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8F7FA4-F548-74E2-0628-F61D456ACF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1564308-C01B-3265-8F48-407500B31E86}"/>
                  </a:ext>
                </a:extLst>
              </p:cNvPr>
              <p:cNvSpPr txBox="1">
                <a:spLocks noGrp="1"/>
              </p:cNvSpPr>
              <p:nvPr>
                <p:ph type="body" idx="1"/>
              </p:nvPr>
            </p:nvSpPr>
            <p:spPr>
              <a:xfrm>
                <a:off x="376809" y="1334279"/>
                <a:ext cx="597065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World Frame </a:t>
                </a:r>
                <a:r>
                  <a:rPr lang="en-US" sz="2200" dirty="0">
                    <a:latin typeface="Atkinson Hyperlegible Next"/>
                    <a:ea typeface="Arial"/>
                    <a:cs typeface="Arial"/>
                    <a:sym typeface="Arial"/>
                  </a:rPr>
                  <a:t>be defined by axes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X</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with origin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O</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Body Frame </a:t>
                </a:r>
                <a:r>
                  <a:rPr lang="en-US" sz="2200" dirty="0">
                    <a:latin typeface="Atkinson Hyperlegible Next"/>
                    <a:ea typeface="Arial"/>
                    <a:cs typeface="Arial"/>
                    <a:sym typeface="Arial"/>
                  </a:rPr>
                  <a:t>be defined by axes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𝑋</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forward) and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𝑌</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left) with origin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𝑂</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pose in the world is defined by its position and it’s heading angle.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𝑝</m:t>
                      </m:r>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𝜃</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1564308-C01B-3265-8F48-407500B31E86}"/>
                  </a:ext>
                </a:extLst>
              </p:cNvPr>
              <p:cNvSpPr txBox="1">
                <a:spLocks noGrp="1" noRot="1" noChangeAspect="1" noMove="1" noResize="1" noEditPoints="1" noAdjustHandles="1" noChangeArrowheads="1" noChangeShapeType="1" noTextEdit="1"/>
              </p:cNvSpPr>
              <p:nvPr>
                <p:ph type="body" idx="1"/>
              </p:nvPr>
            </p:nvSpPr>
            <p:spPr>
              <a:xfrm>
                <a:off x="376809" y="1334279"/>
                <a:ext cx="5970651" cy="4821102"/>
              </a:xfrm>
              <a:prstGeom prst="rect">
                <a:avLst/>
              </a:prstGeom>
              <a:blipFill>
                <a:blip r:embed="rId3"/>
                <a:stretch>
                  <a:fillRect l="-132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7B17B77-EFCB-B07C-6B3E-77C7461953A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D28FD7-4978-E5ED-7F8D-57889B5F84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(5/5)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5F77DB-0C03-D850-1132-AB3E9EF3E4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895157-E85B-3373-ABEC-3F96A0B3DF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2CEFC3-26C7-0E1C-3C98-2F715F469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1548D-DD99-A7E1-6B5F-6FB7164D92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B026BE-F922-29E2-8125-9DC50A8F3D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173063-51F2-6EE4-485D-76EC01E38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B01BA914-F748-37D2-7034-19DF3A5F11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7460" y="906290"/>
            <a:ext cx="5373498" cy="5373498"/>
          </a:xfrm>
          <a:prstGeom prst="rect">
            <a:avLst/>
          </a:prstGeom>
        </p:spPr>
      </p:pic>
      <p:sp>
        <p:nvSpPr>
          <p:cNvPr id="5" name="TextBox 4">
            <a:extLst>
              <a:ext uri="{FF2B5EF4-FFF2-40B4-BE49-F238E27FC236}">
                <a16:creationId xmlns:a16="http://schemas.microsoft.com/office/drawing/2014/main" id="{CA17C04D-6741-0831-1652-246378C3FBE8}"/>
              </a:ext>
            </a:extLst>
          </p:cNvPr>
          <p:cNvSpPr txBox="1"/>
          <p:nvPr/>
        </p:nvSpPr>
        <p:spPr>
          <a:xfrm>
            <a:off x="7384479" y="6277819"/>
            <a:ext cx="3299459" cy="246221"/>
          </a:xfrm>
          <a:prstGeom prst="rect">
            <a:avLst/>
          </a:prstGeom>
          <a:noFill/>
        </p:spPr>
        <p:txBody>
          <a:bodyPr wrap="square">
            <a:spAutoFit/>
          </a:bodyPr>
          <a:lstStyle/>
          <a:p>
            <a:pPr algn="ctr"/>
            <a:r>
              <a:rPr lang="en-US" sz="1000" dirty="0">
                <a:hlinkClick r:id="rId7"/>
              </a:rPr>
              <a:t>https://en.wikipedia.org/wiki/Differential_wheeled_robot</a:t>
            </a:r>
            <a:r>
              <a:rPr lang="en-US" sz="1000" dirty="0"/>
              <a:t> </a:t>
            </a:r>
          </a:p>
        </p:txBody>
      </p:sp>
    </p:spTree>
    <p:extLst>
      <p:ext uri="{BB962C8B-B14F-4D97-AF65-F5344CB8AC3E}">
        <p14:creationId xmlns:p14="http://schemas.microsoft.com/office/powerpoint/2010/main" val="403239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E8A154-AC74-35C1-3F62-BF4ECDA82F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E8C429-6DB1-3359-08A6-437C1380A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the robot’s heading </a:t>
                </a:r>
                <a14:m>
                  <m:oMath xmlns:m="http://schemas.openxmlformats.org/officeDocument/2006/math">
                    <m:r>
                      <a:rPr lang="en-US" sz="2200" i="1" dirty="0" smtClean="0">
                        <a:latin typeface="Cambria Math" panose="02040503050406030204" pitchFamily="18" charset="0"/>
                        <a:ea typeface="Arial"/>
                        <a:cs typeface="Arial"/>
                        <a:sym typeface="Arial"/>
                      </a:rPr>
                      <m:t>𝜃</m:t>
                    </m:r>
                    <m:r>
                      <a:rPr lang="en-US" sz="2200" i="1" dirty="0" smtClean="0">
                        <a:latin typeface="Cambria Math" panose="02040503050406030204" pitchFamily="18" charset="0"/>
                        <a:ea typeface="Arial"/>
                        <a:cs typeface="Arial"/>
                        <a:sym typeface="Arial"/>
                      </a:rPr>
                      <m:t>= 0</m:t>
                    </m:r>
                  </m:oMath>
                </a14:m>
                <a:r>
                  <a:rPr lang="en-US" sz="2200" dirty="0">
                    <a:latin typeface="Atkinson Hyperlegible Next"/>
                    <a:ea typeface="Arial"/>
                    <a:cs typeface="Arial"/>
                    <a:sym typeface="Arial"/>
                  </a:rPr>
                  <a:t>, its axes are perfectly aligned with the world axes.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moving from the robot frame to the world frame is simply a vector addition!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is at world coordinates </a:t>
                </a:r>
                <a14:m>
                  <m:oMath xmlns:m="http://schemas.openxmlformats.org/officeDocument/2006/math">
                    <m:r>
                      <m:rPr>
                        <m:sty m:val="p"/>
                      </m:rPr>
                      <a:rPr lang="en-US" sz="2200" b="0" i="0" dirty="0" smtClean="0">
                        <a:latin typeface="Cambria Math" panose="02040503050406030204" pitchFamily="18" charset="0"/>
                        <a:ea typeface="Arial"/>
                        <a:cs typeface="Arial"/>
                        <a:sym typeface="Arial"/>
                      </a:rPr>
                      <m:t>T</m:t>
                    </m:r>
                    <m:r>
                      <a:rPr lang="en-US" sz="2200" b="0" i="0" dirty="0" smtClean="0">
                        <a:latin typeface="Cambria Math" panose="02040503050406030204" pitchFamily="18" charset="0"/>
                        <a:ea typeface="Arial"/>
                        <a:cs typeface="Arial"/>
                        <a:sym typeface="Arial"/>
                      </a:rPr>
                      <m:t> = </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a14:m>
                <a:r>
                  <a:rPr lang="en-US" sz="2200" dirty="0">
                    <a:latin typeface="Atkinson Hyperlegible Next"/>
                    <a:ea typeface="Arial"/>
                    <a:cs typeface="Arial"/>
                    <a:sym typeface="Arial"/>
                  </a:rPr>
                  <a:t>, a point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e>
                    </m:d>
                  </m:oMath>
                </a14:m>
                <a:r>
                  <a:rPr lang="en-US" sz="2200" dirty="0">
                    <a:latin typeface="Atkinson Hyperlegible Next"/>
                    <a:ea typeface="Arial"/>
                    <a:cs typeface="Arial"/>
                    <a:sym typeface="Arial"/>
                  </a:rPr>
                  <a:t> in the robot frame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the world frame. In vector math, this is represented as: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Translation is linear and simple; however, robot also rotate.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FE8C429-6DB1-3359-08A6-437C1380A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C648B22-4C8A-850E-9587-A1590E4518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B33C5-0225-FBE9-0908-901ED49E9D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 (1/3)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C15EB2-7579-6C29-F6F7-B64D04FEE3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90D5DF-B320-4FDB-D9FB-2FA72D34B2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B0321E-1AF6-31FA-3CB3-08866A7578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19A7F9-C906-D65A-6614-000B07D3D3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ABDE9-C9F2-0B62-868F-083C8BEB5A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F8F44F-83E4-8FA9-AB0A-E4FF934520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477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23D0E7-A089-75A4-9164-B7EC38D463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826FE40-7422-2C5B-E2F3-79825B7343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660EFA5-ABBD-8C82-F8B2-DFD888A442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CBFA23-E630-2125-C665-9F89AC6E15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47AD65-BCD5-502E-A5E1-AB8464363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894D45-370F-1CBC-D425-121EEC5B05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DCACAB-A035-59E2-CB7F-440B651FC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58007C-7062-4319-7E96-933E98DE90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FA883B-820E-A7D2-8378-770B243B64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8" name="Group 17">
            <a:extLst>
              <a:ext uri="{FF2B5EF4-FFF2-40B4-BE49-F238E27FC236}">
                <a16:creationId xmlns:a16="http://schemas.microsoft.com/office/drawing/2014/main" id="{5F751BDC-B070-4E06-803F-F7D670B67D61}"/>
              </a:ext>
            </a:extLst>
          </p:cNvPr>
          <p:cNvGrpSpPr/>
          <p:nvPr/>
        </p:nvGrpSpPr>
        <p:grpSpPr>
          <a:xfrm>
            <a:off x="3409251" y="1150542"/>
            <a:ext cx="5373498" cy="5373498"/>
            <a:chOff x="3145074" y="1150542"/>
            <a:chExt cx="5373498" cy="5373498"/>
          </a:xfrm>
        </p:grpSpPr>
        <p:pic>
          <p:nvPicPr>
            <p:cNvPr id="4" name="Graphic 3" descr="Diagram: A world frame with origin O, X axis to the right and Y axis up. A two-wheeled robot, a rectangular body with wheels above and below, sits at position x, y, marked by dashed projections onto the axes. A body frame with axes X sub B and Y sub B is attached at the robot's center, parallel to the world X and Y axes. This illustrates a pure translation of the body frame from the world origin, with no rotation.">
              <a:extLst>
                <a:ext uri="{FF2B5EF4-FFF2-40B4-BE49-F238E27FC236}">
                  <a16:creationId xmlns:a16="http://schemas.microsoft.com/office/drawing/2014/main" id="{D2324FFB-0CF5-F03C-B042-14E9646FD156}"/>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145074" y="1150542"/>
              <a:ext cx="5373498" cy="5373498"/>
            </a:xfrm>
            <a:prstGeom prst="rect">
              <a:avLst/>
            </a:prstGeom>
          </p:spPr>
        </p:pic>
        <p:cxnSp>
          <p:nvCxnSpPr>
            <p:cNvPr id="6" name="Straight Arrow Connector 5">
              <a:extLst>
                <a:ext uri="{FF2B5EF4-FFF2-40B4-BE49-F238E27FC236}">
                  <a16:creationId xmlns:a16="http://schemas.microsoft.com/office/drawing/2014/main" id="{551523CE-1BC1-05ED-CF5F-F26E9E2DB367}"/>
                </a:ext>
              </a:extLst>
            </p:cNvPr>
            <p:cNvCxnSpPr/>
            <p:nvPr/>
          </p:nvCxnSpPr>
          <p:spPr>
            <a:xfrm flipV="1">
              <a:off x="3543300" y="4183380"/>
              <a:ext cx="2552700" cy="189738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514D51C-6E7B-4880-6E2D-ECB9AA151E1A}"/>
                </a:ext>
              </a:extLst>
            </p:cNvPr>
            <p:cNvSpPr txBox="1"/>
            <p:nvPr/>
          </p:nvSpPr>
          <p:spPr>
            <a:xfrm>
              <a:off x="4583430" y="4639330"/>
              <a:ext cx="335280" cy="523220"/>
            </a:xfrm>
            <a:prstGeom prst="rect">
              <a:avLst/>
            </a:prstGeom>
            <a:noFill/>
          </p:spPr>
          <p:txBody>
            <a:bodyPr wrap="square" rtlCol="0">
              <a:spAutoFit/>
            </a:bodyPr>
            <a:lstStyle/>
            <a:p>
              <a:pPr algn="ctr"/>
              <a:r>
                <a:rPr lang="en-US" sz="2800" b="1" dirty="0">
                  <a:solidFill>
                    <a:srgbClr val="FF0000"/>
                  </a:solidFill>
                </a:rPr>
                <a:t>T</a:t>
              </a:r>
            </a:p>
          </p:txBody>
        </p:sp>
        <p:cxnSp>
          <p:nvCxnSpPr>
            <p:cNvPr id="8" name="Straight Arrow Connector 7">
              <a:extLst>
                <a:ext uri="{FF2B5EF4-FFF2-40B4-BE49-F238E27FC236}">
                  <a16:creationId xmlns:a16="http://schemas.microsoft.com/office/drawing/2014/main" id="{BB651C9E-B1E4-5597-C4F4-DFF98447751D}"/>
                </a:ext>
              </a:extLst>
            </p:cNvPr>
            <p:cNvCxnSpPr>
              <a:cxnSpLocks/>
            </p:cNvCxnSpPr>
            <p:nvPr/>
          </p:nvCxnSpPr>
          <p:spPr>
            <a:xfrm>
              <a:off x="6030936" y="4183039"/>
              <a:ext cx="954578"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83A95D-4753-CD5C-B982-8098E5269963}"/>
                </a:ext>
              </a:extLst>
            </p:cNvPr>
            <p:cNvSpPr txBox="1"/>
            <p:nvPr/>
          </p:nvSpPr>
          <p:spPr>
            <a:xfrm>
              <a:off x="6344473" y="3602036"/>
              <a:ext cx="609052" cy="523220"/>
            </a:xfrm>
            <a:prstGeom prst="rect">
              <a:avLst/>
            </a:prstGeom>
            <a:noFill/>
          </p:spPr>
          <p:txBody>
            <a:bodyPr wrap="square" rtlCol="0">
              <a:spAutoFit/>
            </a:bodyPr>
            <a:lstStyle/>
            <a:p>
              <a:pPr algn="ctr"/>
              <a:r>
                <a:rPr lang="en-US" sz="2800" b="1" dirty="0" err="1">
                  <a:solidFill>
                    <a:srgbClr val="FF0000"/>
                  </a:solidFill>
                </a:rPr>
                <a:t>P</a:t>
              </a:r>
              <a:r>
                <a:rPr lang="en-US" sz="2800" b="1" baseline="-25000" dirty="0" err="1">
                  <a:solidFill>
                    <a:srgbClr val="FF0000"/>
                  </a:solidFill>
                </a:rPr>
                <a:t>r</a:t>
              </a:r>
              <a:endParaRPr lang="en-US" sz="2800" b="1" dirty="0">
                <a:solidFill>
                  <a:srgbClr val="FF0000"/>
                </a:solidFill>
              </a:endParaRPr>
            </a:p>
          </p:txBody>
        </p:sp>
        <p:cxnSp>
          <p:nvCxnSpPr>
            <p:cNvPr id="12" name="Straight Arrow Connector 11">
              <a:extLst>
                <a:ext uri="{FF2B5EF4-FFF2-40B4-BE49-F238E27FC236}">
                  <a16:creationId xmlns:a16="http://schemas.microsoft.com/office/drawing/2014/main" id="{1F53EEDE-9C6A-1C4C-67A2-6599B0F78B9D}"/>
                </a:ext>
              </a:extLst>
            </p:cNvPr>
            <p:cNvCxnSpPr>
              <a:cxnSpLocks/>
            </p:cNvCxnSpPr>
            <p:nvPr/>
          </p:nvCxnSpPr>
          <p:spPr>
            <a:xfrm flipV="1">
              <a:off x="3543300" y="4244340"/>
              <a:ext cx="3410225" cy="183642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73FC0BC-1231-9DF3-339A-15D422721845}"/>
                </a:ext>
              </a:extLst>
            </p:cNvPr>
            <p:cNvSpPr txBox="1"/>
            <p:nvPr/>
          </p:nvSpPr>
          <p:spPr>
            <a:xfrm>
              <a:off x="5248412" y="5054279"/>
              <a:ext cx="609052" cy="523220"/>
            </a:xfrm>
            <a:prstGeom prst="rect">
              <a:avLst/>
            </a:prstGeom>
            <a:noFill/>
          </p:spPr>
          <p:txBody>
            <a:bodyPr wrap="square" rtlCol="0">
              <a:spAutoFit/>
            </a:bodyPr>
            <a:lstStyle/>
            <a:p>
              <a:pPr algn="ctr"/>
              <a:r>
                <a:rPr lang="en-US" sz="2800" b="1" dirty="0">
                  <a:solidFill>
                    <a:srgbClr val="FF0000"/>
                  </a:solidFill>
                </a:rPr>
                <a:t>P</a:t>
              </a:r>
              <a:r>
                <a:rPr lang="en-US" sz="2800" b="1" baseline="-25000" dirty="0">
                  <a:solidFill>
                    <a:srgbClr val="FF0000"/>
                  </a:solidFill>
                </a:rPr>
                <a:t>w</a:t>
              </a:r>
              <a:endParaRPr lang="en-US" sz="2800" b="1" dirty="0">
                <a:solidFill>
                  <a:srgbClr val="FF0000"/>
                </a:solidFill>
              </a:endParaRPr>
            </a:p>
          </p:txBody>
        </p:sp>
      </p:grpSp>
    </p:spTree>
    <p:extLst>
      <p:ext uri="{BB962C8B-B14F-4D97-AF65-F5344CB8AC3E}">
        <p14:creationId xmlns:p14="http://schemas.microsoft.com/office/powerpoint/2010/main" val="420781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5C7DE8-314F-0DB5-8E86-BDD53E860A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6A47D07-6F84-A133-8D6D-0C151E6B66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Suppose the robot frame is at the world origin but rotated by and angle </a:t>
                </a:r>
                <a14:m>
                  <m:oMath xmlns:m="http://schemas.openxmlformats.org/officeDocument/2006/math">
                    <m:r>
                      <a:rPr lang="en-US" sz="2200" b="0" i="1" dirty="0"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want to map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from the rotated frame to the fixed frame.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have polar coordinates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Cambria Math" panose="02040503050406030204" pitchFamily="18" charset="0"/>
                            <a:cs typeface="Arial"/>
                            <a:sym typeface="Arial"/>
                          </a:rPr>
                          <m:t>𝛼</m:t>
                        </m:r>
                      </m:e>
                    </m:d>
                  </m:oMath>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Therefore,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smtClean="0">
                              <a:latin typeface="Cambria Math" panose="02040503050406030204" pitchFamily="18" charset="0"/>
                              <a:ea typeface="Arial"/>
                              <a:cs typeface="Arial"/>
                              <a:sym typeface="Arial"/>
                            </a:rPr>
                          </m:ctrlPr>
                        </m:dPr>
                        <m:e>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𝑥</m:t>
                              </m:r>
                            </m:e>
                            <m:sub>
                              <m:r>
                                <a:rPr lang="en-US" sz="2200" i="1" smtClean="0">
                                  <a:latin typeface="Cambria Math" panose="02040503050406030204" pitchFamily="18" charset="0"/>
                                  <a:ea typeface="Arial"/>
                                  <a:cs typeface="Arial"/>
                                  <a:sym typeface="Arial"/>
                                </a:rPr>
                                <m:t>𝑟</m:t>
                              </m:r>
                            </m:sub>
                          </m:sSub>
                          <m:r>
                            <a:rPr lang="en-US" sz="2200" i="1" smtClean="0">
                              <a:latin typeface="Cambria Math" panose="02040503050406030204" pitchFamily="18" charset="0"/>
                              <a:ea typeface="Arial"/>
                              <a:cs typeface="Arial"/>
                              <a:sym typeface="Arial"/>
                            </a:rPr>
                            <m:t>,</m:t>
                          </m:r>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𝑦</m:t>
                              </m:r>
                            </m:e>
                            <m:sub>
                              <m:r>
                                <a:rPr lang="en-US" sz="2200" i="1" smtClean="0">
                                  <a:latin typeface="Cambria Math" panose="02040503050406030204" pitchFamily="18" charset="0"/>
                                  <a:ea typeface="Arial"/>
                                  <a:cs typeface="Arial"/>
                                  <a:sym typeface="Arial"/>
                                </a:rPr>
                                <m:t>𝑟</m:t>
                              </m:r>
                            </m:sub>
                          </m:sSub>
                        </m:e>
                      </m:d>
                      <m:r>
                        <a:rPr lang="en-US" sz="2200" i="1" smtClean="0">
                          <a:latin typeface="Cambria Math" panose="02040503050406030204" pitchFamily="18" charset="0"/>
                          <a:ea typeface="Arial"/>
                          <a:cs typeface="Arial"/>
                          <a:sym typeface="Arial"/>
                        </a:rPr>
                        <m:t>=</m:t>
                      </m:r>
                      <m:d>
                        <m:dPr>
                          <m:ctrlPr>
                            <a:rPr lang="en-US" sz="2200" i="1" smtClean="0">
                              <a:latin typeface="Cambria Math" panose="02040503050406030204" pitchFamily="18" charset="0"/>
                              <a:ea typeface="Arial"/>
                              <a:cs typeface="Arial"/>
                              <a:sym typeface="Arial"/>
                            </a:rPr>
                          </m:ctrlPr>
                        </m:dPr>
                        <m:e>
                          <m:r>
                            <a:rPr lang="en-US" sz="2200" i="1" smtClean="0">
                              <a:latin typeface="Cambria Math" panose="02040503050406030204" pitchFamily="18" charset="0"/>
                              <a:ea typeface="Arial"/>
                              <a:cs typeface="Arial"/>
                              <a:sym typeface="Arial"/>
                            </a:rPr>
                            <m:t>𝑟</m:t>
                          </m:r>
                          <m:func>
                            <m:funcPr>
                              <m:ctrlPr>
                                <a:rPr lang="en-US" sz="2200" i="1" smtClean="0">
                                  <a:latin typeface="Cambria Math" panose="02040503050406030204" pitchFamily="18" charset="0"/>
                                  <a:ea typeface="Arial"/>
                                  <a:cs typeface="Arial"/>
                                  <a:sym typeface="Arial"/>
                                </a:rPr>
                              </m:ctrlPr>
                            </m:funcPr>
                            <m:fName>
                              <m:r>
                                <m:rPr>
                                  <m:sty m:val="p"/>
                                </m:rPr>
                                <a:rPr lang="en-US" sz="2200" i="0" smtClean="0">
                                  <a:latin typeface="Cambria Math" panose="02040503050406030204" pitchFamily="18" charset="0"/>
                                  <a:ea typeface="Arial"/>
                                  <a:cs typeface="Arial"/>
                                  <a:sym typeface="Arial"/>
                                </a:rPr>
                                <m:t>cos</m:t>
                              </m:r>
                            </m:fName>
                            <m:e>
                              <m:d>
                                <m:dPr>
                                  <m:ctrlPr>
                                    <a:rPr lang="en-US" sz="220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smtClean="0">
                              <a:latin typeface="Cambria Math" panose="02040503050406030204" pitchFamily="18" charset="0"/>
                              <a:ea typeface="Arial"/>
                              <a:cs typeface="Arial"/>
                              <a:sym typeface="Arial"/>
                            </a:rPr>
                            <m:t>,</m:t>
                          </m:r>
                          <m:r>
                            <a:rPr lang="en-US" sz="2200" i="1" smtClean="0">
                              <a:latin typeface="Cambria Math" panose="02040503050406030204" pitchFamily="18" charset="0"/>
                              <a:ea typeface="Arial"/>
                              <a:cs typeface="Arial"/>
                              <a:sym typeface="Arial"/>
                            </a:rPr>
                            <m:t>𝑟</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b="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6A47D07-6F84-A133-8D6D-0C151E6B66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842C1AC-5D0C-3A76-450C-3E588E2667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FE1C3-C537-E5D9-D47C-056FAAD1A9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 (1/4)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6FA607-B34C-992F-C6D1-B410F67BF6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3AD0D2C-5813-CB1A-5D4E-EC745974E2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3EE0C5-CE02-242B-83CB-68C3208D7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F1C51F-4B83-02A9-40A7-23DB12DD08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D4CEF0-0C0A-C03F-A2A9-DA24FD61CD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3121A2-9B41-35EC-9169-F7214FC028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388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892C1B-92BF-003C-3EF9-8A7ED9DF1D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5C8D38-99A7-8356-97D9-07F33A6E15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61346E-6CF8-8D98-A005-416B122769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EC33ED-7158-4F69-413E-0D1C07BC5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C85C74-FD2B-E893-CE8B-F988748FB9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879E27-5D19-8048-5032-039BC33934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F494A4-56B2-46CD-BBF8-65F2A2777E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5E8381-537D-B47E-7841-ACA562186C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BE326-D393-7BE0-9B3B-90A885BB11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28" name="Group 27">
            <a:extLst>
              <a:ext uri="{FF2B5EF4-FFF2-40B4-BE49-F238E27FC236}">
                <a16:creationId xmlns:a16="http://schemas.microsoft.com/office/drawing/2014/main" id="{316B47BB-D91F-47C6-B481-40ADD75831E6}"/>
              </a:ext>
            </a:extLst>
          </p:cNvPr>
          <p:cNvGrpSpPr/>
          <p:nvPr/>
        </p:nvGrpSpPr>
        <p:grpSpPr>
          <a:xfrm>
            <a:off x="3730942" y="1303743"/>
            <a:ext cx="4730115" cy="4785116"/>
            <a:chOff x="3322320" y="1223172"/>
            <a:chExt cx="4730115" cy="4785116"/>
          </a:xfrm>
        </p:grpSpPr>
        <p:pic>
          <p:nvPicPr>
            <p:cNvPr id="9" name="Graphic 8" descr="Top view of a two-wheeled robot showing a world frame and a body frame that share an origin at the robot's center. The world X axis points up and the world Y axis points right. The body axis X sub B points forward, perpendicular to the wheel axle, and Y sub B runs along the axle. The body frame is rotated counterclockwise by the angle phi, measured from the world Y axis to X sub B.">
              <a:extLst>
                <a:ext uri="{FF2B5EF4-FFF2-40B4-BE49-F238E27FC236}">
                  <a16:creationId xmlns:a16="http://schemas.microsoft.com/office/drawing/2014/main" id="{6CD07C2B-9CCD-5838-F433-5C2EBF3516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322320" y="1223172"/>
              <a:ext cx="4730115" cy="4785116"/>
            </a:xfrm>
            <a:prstGeom prst="rect">
              <a:avLst/>
            </a:prstGeom>
          </p:spPr>
        </p:pic>
        <p:cxnSp>
          <p:nvCxnSpPr>
            <p:cNvPr id="14" name="Straight Arrow Connector 13">
              <a:extLst>
                <a:ext uri="{FF2B5EF4-FFF2-40B4-BE49-F238E27FC236}">
                  <a16:creationId xmlns:a16="http://schemas.microsoft.com/office/drawing/2014/main" id="{7654EE0D-8A73-08A3-EC61-6FD9221B5F1D}"/>
                </a:ext>
              </a:extLst>
            </p:cNvPr>
            <p:cNvCxnSpPr>
              <a:cxnSpLocks/>
            </p:cNvCxnSpPr>
            <p:nvPr/>
          </p:nvCxnSpPr>
          <p:spPr>
            <a:xfrm flipV="1">
              <a:off x="4597400" y="3322113"/>
              <a:ext cx="787400" cy="105938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9B4AA9F-BC45-FBD2-24CC-A75631C95223}"/>
                </a:ext>
              </a:extLst>
            </p:cNvPr>
            <p:cNvSpPr txBox="1"/>
            <p:nvPr/>
          </p:nvSpPr>
          <p:spPr>
            <a:xfrm>
              <a:off x="4655820" y="3492303"/>
              <a:ext cx="335280" cy="523220"/>
            </a:xfrm>
            <a:prstGeom prst="rect">
              <a:avLst/>
            </a:prstGeom>
            <a:noFill/>
          </p:spPr>
          <p:txBody>
            <a:bodyPr wrap="square" rtlCol="0">
              <a:spAutoFit/>
            </a:bodyPr>
            <a:lstStyle/>
            <a:p>
              <a:pPr algn="ctr"/>
              <a:r>
                <a:rPr lang="en-US" sz="2800" b="1" dirty="0">
                  <a:solidFill>
                    <a:srgbClr val="FF0000"/>
                  </a:solidFill>
                </a:rPr>
                <a:t>r</a:t>
              </a:r>
            </a:p>
          </p:txBody>
        </p:sp>
        <p:sp>
          <p:nvSpPr>
            <p:cNvPr id="26" name="Arc 25">
              <a:extLst>
                <a:ext uri="{FF2B5EF4-FFF2-40B4-BE49-F238E27FC236}">
                  <a16:creationId xmlns:a16="http://schemas.microsoft.com/office/drawing/2014/main" id="{18E13975-9F2C-97A8-846B-023DE637B157}"/>
                </a:ext>
              </a:extLst>
            </p:cNvPr>
            <p:cNvSpPr/>
            <p:nvPr/>
          </p:nvSpPr>
          <p:spPr>
            <a:xfrm>
              <a:off x="4597400" y="3429000"/>
              <a:ext cx="1498600" cy="2086608"/>
            </a:xfrm>
            <a:prstGeom prst="arc">
              <a:avLst/>
            </a:prstGeom>
            <a:ln w="57150">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D1DF76-ED24-CD5D-5508-2808579CA9A5}"/>
                    </a:ext>
                  </a:extLst>
                </p:cNvPr>
                <p:cNvSpPr txBox="1"/>
                <p:nvPr/>
              </p:nvSpPr>
              <p:spPr>
                <a:xfrm>
                  <a:off x="5760720" y="3858280"/>
                  <a:ext cx="335280" cy="52322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1" i="1" dirty="0" smtClean="0">
                            <a:solidFill>
                              <a:srgbClr val="FF0000"/>
                            </a:solidFill>
                            <a:latin typeface="Cambria Math" panose="02040503050406030204" pitchFamily="18" charset="0"/>
                            <a:ea typeface="Cambria Math" panose="02040503050406030204" pitchFamily="18" charset="0"/>
                          </a:rPr>
                          <m:t>𝜶</m:t>
                        </m:r>
                      </m:oMath>
                    </m:oMathPara>
                  </a14:m>
                  <a:endParaRPr lang="en-US" sz="2800" b="1" dirty="0">
                    <a:solidFill>
                      <a:srgbClr val="FF0000"/>
                    </a:solidFill>
                  </a:endParaRPr>
                </a:p>
              </p:txBody>
            </p:sp>
          </mc:Choice>
          <mc:Fallback xmlns="">
            <p:sp>
              <p:nvSpPr>
                <p:cNvPr id="27" name="TextBox 26">
                  <a:extLst>
                    <a:ext uri="{FF2B5EF4-FFF2-40B4-BE49-F238E27FC236}">
                      <a16:creationId xmlns:a16="http://schemas.microsoft.com/office/drawing/2014/main" id="{6DD1DF76-ED24-CD5D-5508-2808579CA9A5}"/>
                    </a:ext>
                  </a:extLst>
                </p:cNvPr>
                <p:cNvSpPr txBox="1">
                  <a:spLocks noRot="1" noChangeAspect="1" noMove="1" noResize="1" noEditPoints="1" noAdjustHandles="1" noChangeArrowheads="1" noChangeShapeType="1" noTextEdit="1"/>
                </p:cNvSpPr>
                <p:nvPr/>
              </p:nvSpPr>
              <p:spPr>
                <a:xfrm>
                  <a:off x="5760720" y="3858280"/>
                  <a:ext cx="335280" cy="523220"/>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907976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81A3E-3D56-C164-A2FC-F2DA10375F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0EC19A9-AFBD-E6C2-C07C-A37D11F7758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the world frame, the angle of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is now at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world coordinates are thus,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expand the following using standard trigonometric sum identities: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0EC19A9-AFBD-E6C2-C07C-A37D11F7758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E58156-E687-C0DB-8460-334E2B228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F0D65F-5004-61BE-E75F-17A7F254D5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1FE1D8-A5B6-6740-5D0A-72186E8A61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8DC7A2-511D-22BD-BDE8-C065032C80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C2FE57-0C4A-BECE-CAFB-227B8903DD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A0869F-F0CC-AE4D-B16E-937B98B960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B7A72-39DE-A3D5-143A-6A5A2A599A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46B403-42C7-ED39-606B-884D2F1E1D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6213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A79B86-76EF-FA13-ECD9-5791898508F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EF1EF-52E6-7FB0-AFBC-6B376D9851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Substituting back in the location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𝑟</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𝑦</m:t>
                              </m:r>
                            </m:e>
                            <m:sub>
                              <m:r>
                                <a:rPr lang="en-US" sz="2200" i="1">
                                  <a:latin typeface="Cambria Math" panose="02040503050406030204" pitchFamily="18" charset="0"/>
                                  <a:ea typeface="Arial"/>
                                  <a:cs typeface="Arial"/>
                                  <a:sym typeface="Arial"/>
                                </a:rPr>
                                <m:t>𝑟</m:t>
                              </m:r>
                            </m:sub>
                          </m:sSub>
                        </m:e>
                      </m:d>
                      <m:r>
                        <a:rPr lang="en-US" sz="2200" i="1">
                          <a:latin typeface="Cambria Math" panose="02040503050406030204" pitchFamily="18" charset="0"/>
                          <a:ea typeface="Arial"/>
                          <a:cs typeface="Arial"/>
                          <a:sym typeface="Arial"/>
                        </a:rPr>
                        <m:t>=</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cos</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the global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thus get: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is elegantly expressed using matrix multiplications!</a:t>
                </a:r>
              </a:p>
            </p:txBody>
          </p:sp>
        </mc:Choice>
        <mc:Fallback xmlns="">
          <p:sp>
            <p:nvSpPr>
              <p:cNvPr id="118" name="Google Shape;118;p29">
                <a:extLst>
                  <a:ext uri="{FF2B5EF4-FFF2-40B4-BE49-F238E27FC236}">
                    <a16:creationId xmlns:a16="http://schemas.microsoft.com/office/drawing/2014/main" id="{87FEF1EF-52E6-7FB0-AFBC-6B376D9851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D97D2A1-F794-A63C-4C7B-83E5B6A35D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B5F628-9D9D-5E9D-58BF-65AB1EA9BB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4DAADA-42CC-6438-B643-F13AF6C395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31738-EE9E-66EA-16C7-3D482C040E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5A0E4D-22AD-1433-5819-4424B3A68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8B04-29C5-8E83-F037-77A70D9D11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34AC5D-DA2F-352E-E249-15D9A58F49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AA62FB-FF34-1297-EADD-715AE979A0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29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D19D13-E4B9-45BB-CB92-CB34C802DB5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3CEFAEE-C8AB-32F3-C659-25F3B0FA39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system of equations can be written as a 2x2 matrix </a:t>
                </a:r>
                <a14:m>
                  <m:oMath xmlns:m="http://schemas.openxmlformats.org/officeDocument/2006/math">
                    <m:sSub>
                      <m:sSubPr>
                        <m:ctrlPr>
                          <a:rPr lang="en-US" sz="220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w</m:t>
                        </m:r>
                      </m:sub>
                    </m:sSub>
                    <m:r>
                      <a:rPr lang="en-US" sz="2200" b="0" i="1" smtClean="0">
                        <a:latin typeface="Cambria Math" panose="02040503050406030204" pitchFamily="18" charset="0"/>
                        <a:cs typeface="Arial"/>
                        <a:sym typeface="Arial"/>
                      </a:rPr>
                      <m:t>=</m:t>
                    </m:r>
                    <m:r>
                      <a:rPr lang="en-US" sz="2200" b="0" i="1" smtClean="0">
                        <a:latin typeface="Cambria Math" panose="02040503050406030204" pitchFamily="18" charset="0"/>
                        <a:cs typeface="Arial"/>
                        <a:sym typeface="Arial"/>
                      </a:rPr>
                      <m:t>𝑅</m:t>
                    </m:r>
                    <m:d>
                      <m:dPr>
                        <m:ctrlPr>
                          <a:rPr lang="en-US" sz="2200" b="0" i="1" smtClean="0">
                            <a:latin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𝜑</m:t>
                        </m:r>
                      </m:e>
                    </m:d>
                    <m:sSub>
                      <m:sSubPr>
                        <m:ctrlPr>
                          <a:rPr lang="en-US" sz="2200" b="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r</m:t>
                        </m:r>
                      </m:sub>
                    </m:sSub>
                  </m:oMath>
                </a14:m>
                <a:endParaRPr lang="en-US" sz="2200" b="0" dirty="0">
                  <a:latin typeface="Atkinson Hyperlegible Next"/>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i="1" dirty="0" smtClean="0">
                                  <a:latin typeface="Cambria Math" panose="02040503050406030204" pitchFamily="18" charset="0"/>
                                  <a:ea typeface="Arial"/>
                                  <a:cs typeface="Arial"/>
                                  <a:sym typeface="Arial"/>
                                </a:rPr>
                              </m:ctrlPr>
                            </m:mP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e>
                            </m:mr>
                          </m:m>
                        </m:e>
                      </m:d>
                      <m:r>
                        <a:rPr lang="en-US" sz="2200" i="1" dirty="0" smtClean="0">
                          <a:latin typeface="Cambria Math" panose="02040503050406030204" pitchFamily="18" charset="0"/>
                          <a:ea typeface="Arial"/>
                          <a:cs typeface="Arial"/>
                          <a:sym typeface="Arial"/>
                        </a:rPr>
                        <m:t>=</m:t>
                      </m:r>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200" i="1" dirty="0" smtClean="0">
                                  <a:latin typeface="Cambria Math" panose="02040503050406030204" pitchFamily="18" charset="0"/>
                                  <a:ea typeface="Arial"/>
                                  <a:cs typeface="Arial"/>
                                  <a:sym typeface="Arial"/>
                                </a:rPr>
                              </m:ctrlPr>
                            </m:mP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
                        </m:e>
                      </m:d>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b="0" i="1" dirty="0" smtClean="0">
                                  <a:latin typeface="Cambria Math" panose="02040503050406030204" pitchFamily="18" charset="0"/>
                                  <a:ea typeface="Arial"/>
                                  <a:cs typeface="Arial"/>
                                  <a:sym typeface="Arial"/>
                                </a:rPr>
                              </m:ctrlPr>
                            </m:mPr>
                            <m:mr>
                              <m:e>
                                <m:sSub>
                                  <m:sSubPr>
                                    <m:ctrlPr>
                                      <a:rPr lang="en-US" sz="2200" b="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𝑅</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𝑅</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matrix </a:t>
                </a:r>
                <a14:m>
                  <m:oMath xmlns:m="http://schemas.openxmlformats.org/officeDocument/2006/math">
                    <m:r>
                      <m:rPr>
                        <m:sty m:val="p"/>
                      </m:rPr>
                      <a:rPr lang="en-US" sz="2200" i="1">
                        <a:latin typeface="Cambria Math" panose="02040503050406030204" pitchFamily="18" charset="0"/>
                        <a:cs typeface="Arial"/>
                        <a:sym typeface="Arial"/>
                      </a:rPr>
                      <m:t>R</m:t>
                    </m:r>
                    <m:r>
                      <a:rPr lang="en-US" sz="2200" i="1">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𝜑</m:t>
                    </m:r>
                    <m:r>
                      <a:rPr lang="en-US" sz="2200" i="1">
                        <a:latin typeface="Cambria Math" panose="02040503050406030204" pitchFamily="18" charset="0"/>
                        <a:cs typeface="Arial"/>
                        <a:sym typeface="Arial"/>
                      </a:rPr>
                      <m:t>)</m:t>
                    </m:r>
                  </m:oMath>
                </a14:m>
                <a:r>
                  <a:rPr lang="en-US" sz="2200" dirty="0">
                    <a:latin typeface="Atkinson Hyperlegible Next"/>
                    <a:ea typeface="Arial"/>
                    <a:cs typeface="Arial"/>
                    <a:sym typeface="Arial"/>
                  </a:rPr>
                  <a:t>, belongs to the Special Orthogonal Group SO(2).</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the determinant represents how much the space gets scaled after the transformation. What is the determinant of rotation matrices without doing any calculation?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should be 1, meaning it preserves the scale and area! The robot doesn’t stretch as it turns!</a:t>
                </a:r>
              </a:p>
            </p:txBody>
          </p:sp>
        </mc:Choice>
        <mc:Fallback xmlns="">
          <p:sp>
            <p:nvSpPr>
              <p:cNvPr id="118" name="Google Shape;118;p29">
                <a:extLst>
                  <a:ext uri="{FF2B5EF4-FFF2-40B4-BE49-F238E27FC236}">
                    <a16:creationId xmlns:a16="http://schemas.microsoft.com/office/drawing/2014/main" id="{D3CEFAEE-C8AB-32F3-C659-25F3B0FA39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49C0FBF-CFA2-3227-A6CC-5DA1DEE27C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D0D1AC-88E9-6B99-F6B6-FB61BA0F1A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E767F-94FA-5C74-B8F7-C9D0D45634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1106FB-3363-8585-0316-C803DCBD4E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1F083E-2DC3-AD55-FE03-2086743AE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90F9FE-87A0-76AA-08F4-8895DA2623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907236-35CD-6121-AFDA-0F4BA9D75F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709BA9-9D14-62AE-C74B-D3557CA29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114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D361C-ED36-ABE5-9819-CF32FC5357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0135AA-01F7-8991-C890-ACD802AED0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reality, a robot is both translated and rotated!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the complete transformation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𝑅</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however, make this into a single matrix operation, through Homogeneous Coordinates,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𝑊</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𝑊</m:t>
                                    </m:r>
                                  </m:sub>
                                </m:sSub>
                              </m:e>
                            </m:mr>
                            <m:mr>
                              <m:e>
                                <m:r>
                                  <a:rPr lang="en-US" sz="2200" i="1">
                                    <a:latin typeface="Cambria Math" panose="02040503050406030204" pitchFamily="18" charset="0"/>
                                    <a:cs typeface="Arial"/>
                                    <a:sym typeface="Arial"/>
                                  </a:rPr>
                                  <m:t>1</m:t>
                                </m:r>
                              </m:e>
                            </m:mr>
                          </m:m>
                        </m:e>
                      </m:d>
                      <m:r>
                        <a:rPr lang="en-US" sz="2200" i="1">
                          <a:latin typeface="Cambria Math" panose="02040503050406030204" pitchFamily="18" charset="0"/>
                          <a:cs typeface="Arial"/>
                          <a:sym typeface="Arial"/>
                        </a:rPr>
                        <m:t>=</m:t>
                      </m:r>
                      <m:d>
                        <m:dPr>
                          <m:begChr m:val="["/>
                          <m:endChr m:val="]"/>
                          <m:ctrlPr>
                            <a:rPr lang="en-US" sz="2200" i="1">
                              <a:latin typeface="Cambria Math" panose="02040503050406030204" pitchFamily="18" charset="0"/>
                              <a:cs typeface="Arial"/>
                              <a:sym typeface="Arial"/>
                            </a:rPr>
                          </m:ctrlPr>
                        </m:dPr>
                        <m:e>
                          <m:m>
                            <m:mPr>
                              <m:plcHide m:val="on"/>
                              <m:mcs>
                                <m:mc>
                                  <m:mcPr>
                                    <m:count m:val="3"/>
                                    <m:mcJc m:val="center"/>
                                  </m:mcPr>
                                </m:mc>
                              </m:mcs>
                              <m:ctrlPr>
                                <a:rPr lang="en-US" sz="2200" i="1">
                                  <a:latin typeface="Cambria Math" panose="02040503050406030204" pitchFamily="18" charset="0"/>
                                  <a:cs typeface="Arial"/>
                                  <a:sym typeface="Arial"/>
                                </a:rPr>
                              </m:ctrlPr>
                            </m:mP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r>
                                  <a:rPr lang="en-US" sz="2200" i="1">
                                    <a:latin typeface="Cambria Math" panose="02040503050406030204" pitchFamily="18" charset="0"/>
                                    <a:cs typeface="Arial"/>
                                    <a:sym typeface="Arial"/>
                                  </a:rPr>
                                  <m:t>−</m:t>
                                </m:r>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𝑥</m:t>
                                    </m:r>
                                  </m:sub>
                                </m:sSub>
                              </m:e>
                            </m:m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𝑦</m:t>
                                    </m:r>
                                  </m:sub>
                                </m:sSub>
                              </m:e>
                            </m:mr>
                            <m:mr>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1</m:t>
                                </m:r>
                              </m:e>
                            </m:mr>
                          </m:m>
                        </m:e>
                      </m:d>
                      <m:d>
                        <m:dPr>
                          <m:begChr m:val="["/>
                          <m:endChr m:val="]"/>
                          <m:ctrlPr>
                            <a:rPr lang="en-US" sz="2200" i="1">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𝑅</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𝑅</m:t>
                                    </m:r>
                                  </m:sub>
                                </m:sSub>
                              </m:e>
                            </m:mr>
                            <m:mr>
                              <m:e>
                                <m:r>
                                  <a:rPr lang="en-US" sz="2200" i="1">
                                    <a:latin typeface="Cambria Math" panose="02040503050406030204" pitchFamily="18" charset="0"/>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the standard representation used in all modern software!</a:t>
                </a:r>
              </a:p>
            </p:txBody>
          </p:sp>
        </mc:Choice>
        <mc:Fallback xmlns="">
          <p:sp>
            <p:nvSpPr>
              <p:cNvPr id="118" name="Google Shape;118;p29">
                <a:extLst>
                  <a:ext uri="{FF2B5EF4-FFF2-40B4-BE49-F238E27FC236}">
                    <a16:creationId xmlns:a16="http://schemas.microsoft.com/office/drawing/2014/main" id="{020135AA-01F7-8991-C890-ACD802AED0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66C57D-F8CC-2A5D-2826-17B2687097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5F582-E62E-1E2C-EBCA-6B81D8D329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a:t>
            </a:r>
            <a:r>
              <a:rPr i="0" b="0" lang="en-US" sz="2400" dirty="0">
                <a:solidFill>
                  <a:schemeClr val="lt1"/>
                </a:solidFill>
              </a:rPr>
              <a:t>Transformation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BF9703-75D4-5BEC-32F9-92E742B7358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ECD335-88E3-1F5C-4AF2-F154036938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5A1250-FC85-E05D-0323-3CC58487E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C8D9FF-1E65-AF12-4144-CE31AA8555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2CFDBE-369D-4997-B870-B2490CC019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64D805-6A3E-76A2-32A4-8AB02C0572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465411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03DBA8-F0EE-7A22-EECC-6CE22D8D7D9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33A86ED6-4DC7-D943-6E29-803F04E665D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Dead-Reckoning (1/9)</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54F4AD2-AB55-7796-9ABE-4F39D29A5DC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34A7D88-E360-EB16-FCA9-8E885645889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F88F421-414E-164E-B4ED-B4B462EEAA1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CF03D2F-4F72-8459-308D-0040D39D875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CE6466B-2EC0-A1C8-A879-2158D9950F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5552E20-7932-836C-C1D4-8AD0AECB2E4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42C4F67-CCF0-5AB2-F66B-FBE61AD2C32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92AB1F5-0781-1062-0241-F845D51464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CD61A3-7A16-91AA-5192-C6A9020C19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5500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8CA634-4831-01C6-8EA6-BBE5568D00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05EEDB-42F9-FAA2-1387-53D2600C92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Now that we can map local coordinates to the world, how do we track our movement?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Dead-Reckoning</a:t>
            </a:r>
            <a:r>
              <a:rPr lang="en-US" sz="2200" dirty="0">
                <a:latin typeface="Atkinson Hyperlegible Next"/>
                <a:ea typeface="Arial"/>
                <a:cs typeface="Arial"/>
                <a:sym typeface="Arial"/>
              </a:rPr>
              <a:t> (Odometry) is the process of calculating current position by integrating previously determined positions and estimated speeds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relies purely on internal sensors, primarily wheel encoders and IMUs.</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9C4E86-2059-2F53-44CE-2578DE5F22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E596FE-6AFE-8196-D13A-F814D1380D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(2/9)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FEB1D0A-0294-06D0-49F9-7559AF0030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8B7B6B-C90B-DF3C-AFC2-837D1CEA9C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04A08-FFA6-6526-4F2C-246633C4C4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209202-F3D0-595E-D216-48593FD280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680A86-620E-E794-69D6-1EDC21AE8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39B723-B1AE-0162-8BE8-E9D79EF600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954728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7596F2-2742-F064-E09C-B164BDD2A3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2688BC5-82AC-D694-7270-7824EEC16AA8}"/>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Our robot uses a differential drive system (2 independently driven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overall forward linear velocity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is the average of the two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latin typeface="Cambria Math" panose="02040503050406030204" pitchFamily="18" charset="0"/>
                          <a:ea typeface="Arial"/>
                          <a:cs typeface="Arial"/>
                          <a:sym typeface="Arial"/>
                        </a:rPr>
                        <m:t>V</m:t>
                      </m:r>
                      <m:r>
                        <a:rPr lang="en-US" sz="2200" b="0" i="1" smtClean="0">
                          <a:latin typeface="Cambria Math" panose="02040503050406030204" pitchFamily="18" charset="0"/>
                          <a:ea typeface="Arial"/>
                          <a:cs typeface="Arial"/>
                          <a:sym typeface="Arial"/>
                        </a:rPr>
                        <m:t> = </m:t>
                      </m:r>
                      <m:f>
                        <m:fPr>
                          <m:ctrlPr>
                            <a:rPr lang="en-US" sz="2200" b="0" i="1" smtClean="0">
                              <a:latin typeface="Cambria Math" panose="02040503050406030204" pitchFamily="18" charset="0"/>
                              <a:cs typeface="Arial"/>
                              <a:sym typeface="Arial"/>
                            </a:rPr>
                          </m:ctrlPr>
                        </m:fPr>
                        <m:num>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num>
                        <m:den>
                          <m:r>
                            <a:rPr lang="en-US" sz="2200" b="0" i="1" smtClean="0">
                              <a:latin typeface="Cambria Math" panose="02040503050406030204" pitchFamily="18" charset="0"/>
                              <a:cs typeface="Arial"/>
                              <a:sym typeface="Arial"/>
                            </a:rPr>
                            <m:t>2</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goes forward!</a:t>
                </a:r>
              </a:p>
            </p:txBody>
          </p:sp>
        </mc:Choice>
        <mc:Fallback xmlns="">
          <p:sp>
            <p:nvSpPr>
              <p:cNvPr id="118" name="Google Shape;118;p29">
                <a:extLst>
                  <a:ext uri="{FF2B5EF4-FFF2-40B4-BE49-F238E27FC236}">
                    <a16:creationId xmlns:a16="http://schemas.microsoft.com/office/drawing/2014/main" id="{32688BC5-82AC-D694-7270-7824EEC16AA8}"/>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70F1B9-8FBD-9378-3D6C-38D8EEF074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97B72B-0BBE-DB7C-DCAD-5AC1D4F755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B647A7-08C1-14CE-3B38-A837400BF9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4678A8-E78E-C419-E0D1-59C77137D1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48F5-308D-06B9-1B17-CC47F80F5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A83BCF-D259-CF0A-B373-B3116E973A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B970E-943C-C43E-E8FE-8CDF477D63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DFA668-60EF-A2D7-8705-3EAE377B5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F253A45E-17E9-77F6-0CF5-586594A729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2068561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A15486-6503-567B-E7AB-34A32A3439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A167ED-CA43-8D9C-F58E-9D8FF9531F0C}"/>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robot’s angular velocity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depends on the difference between the wheel speeds.</a:t>
                </a:r>
              </a:p>
              <a:p>
                <a:pPr marL="0" indent="0">
                  <a:lnSpc>
                    <a:spcPct val="100000"/>
                  </a:lnSpc>
                  <a:spcBef>
                    <a:spcPts val="0"/>
                  </a:spcBef>
                  <a:buSzPts val="3000"/>
                  <a:buNone/>
                </a:pPr>
                <a:endParaRPr lang="en-US" sz="220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b="0" i="1" smtClean="0">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rotates in place (a zero-radius turn).</a:t>
                </a:r>
              </a:p>
            </p:txBody>
          </p:sp>
        </mc:Choice>
        <mc:Fallback xmlns="">
          <p:sp>
            <p:nvSpPr>
              <p:cNvPr id="118" name="Google Shape;118;p29">
                <a:extLst>
                  <a:ext uri="{FF2B5EF4-FFF2-40B4-BE49-F238E27FC236}">
                    <a16:creationId xmlns:a16="http://schemas.microsoft.com/office/drawing/2014/main" id="{38A167ED-CA43-8D9C-F58E-9D8FF9531F0C}"/>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6F5731-9133-2A83-1490-A162C6CA0D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4AE384-93CC-E4DF-6B31-7BDE820DD8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(4/9)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CFD877-CDF0-D4BD-E60A-9067506D345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44CBA4-B734-E9CF-3559-B3AD8CAB1D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C54C6A-2C0C-84C8-770D-8E0420DB51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179F3D-CD65-66D3-B7C0-3349F801FD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17C78F-E1EA-2A01-A48C-3AF2294FC2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8EB5C8-A671-2A53-1ED6-73C6A8BF07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5981030D-0294-627F-8D3B-A114FD5891D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415644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AA458C-FDB8-0ACE-9813-541CF7D31E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76EF0D-39CE-39D6-1DD6-733B92389290}"/>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Assuming that the wheels are at contacting the ground, the wheels describe arcs in the plane in such a way that the robot always rotates around a point (the </a:t>
                </a:r>
                <a:r>
                  <a:rPr lang="en-US" sz="2200" b="1" dirty="0">
                    <a:latin typeface="Atkinson Hyperlegible Next"/>
                    <a:ea typeface="Arial"/>
                    <a:cs typeface="Arial"/>
                    <a:sym typeface="Arial"/>
                  </a:rPr>
                  <a:t>ICR </a:t>
                </a:r>
                <a:r>
                  <a:rPr lang="en-US" sz="2200" dirty="0">
                    <a:latin typeface="Atkinson Hyperlegible Next"/>
                    <a:ea typeface="Arial"/>
                    <a:cs typeface="Arial"/>
                    <a:sym typeface="Arial"/>
                  </a:rPr>
                  <a:t>refers to the instantaneous center of rotation).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rotation leads the robot to have the rotation of the vehicle to be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around the </a:t>
                </a:r>
                <a:r>
                  <a:rPr lang="en-US" sz="2200" b="1" dirty="0">
                    <a:latin typeface="Atkinson Hyperlegible Next"/>
                    <a:ea typeface="Arial"/>
                    <a:cs typeface="Arial"/>
                    <a:sym typeface="Arial"/>
                  </a:rPr>
                  <a:t>ICR</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Following the angular velocity equation </a:t>
                </a:r>
                <a14:m>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r>
                      <m:rPr>
                        <m:sty m:val="p"/>
                      </m:rPr>
                      <a:rPr lang="en-US" sz="2200" b="0" i="1" smtClean="0">
                        <a:latin typeface="Cambria Math" panose="02040503050406030204" pitchFamily="18" charset="0"/>
                        <a:ea typeface="Cambria Math" panose="02040503050406030204" pitchFamily="18" charset="0"/>
                        <a:cs typeface="Arial"/>
                        <a:sym typeface="Arial"/>
                      </a:rPr>
                      <m:t>r</m:t>
                    </m:r>
                    <m:r>
                      <a:rPr lang="en-US" sz="2200" b="0" i="1" smtClean="0">
                        <a:latin typeface="Cambria Math" panose="02040503050406030204" pitchFamily="18" charset="0"/>
                        <a:ea typeface="Cambria Math" panose="02040503050406030204" pitchFamily="18" charset="0"/>
                        <a:cs typeface="Arial"/>
                        <a:sym typeface="Arial"/>
                      </a:rPr>
                      <m:t>𝜈</m:t>
                    </m:r>
                    <m:r>
                      <a:rPr lang="en-US" sz="2200" b="0" i="1" smtClean="0">
                        <a:latin typeface="Cambria Math" panose="02040503050406030204" pitchFamily="18" charset="0"/>
                        <a:ea typeface="Cambria Math" panose="02040503050406030204" pitchFamily="18" charset="0"/>
                        <a:cs typeface="Arial"/>
                        <a:sym typeface="Arial"/>
                      </a:rPr>
                      <m:t> </m:t>
                    </m:r>
                  </m:oMath>
                </a14:m>
                <a:r>
                  <a:rPr lang="en-US" sz="2200" dirty="0">
                    <a:latin typeface="Atkinson Hyperlegible Next"/>
                    <a:ea typeface="Arial"/>
                    <a:cs typeface="Arial"/>
                    <a:sym typeface="Arial"/>
                  </a:rPr>
                  <a:t>, we have,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b="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e>
                      </m:d>
                      <m:sSub>
                        <m:sSubPr>
                          <m:ctrlPr>
                            <a:rPr lang="en-US" sz="2200" b="0" i="1" smtClean="0">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m:oMathPara>
                </a14:m>
                <a:endParaRPr lang="en-US" sz="22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d>
                        <m:dPr>
                          <m:ctrlPr>
                            <a:rPr lang="en-US" sz="2200" i="1">
                              <a:latin typeface="Cambria Math" panose="02040503050406030204" pitchFamily="18" charset="0"/>
                              <a:ea typeface="Cambria Math" panose="02040503050406030204" pitchFamily="18" charset="0"/>
                              <a:cs typeface="Arial"/>
                              <a:sym typeface="Arial"/>
                            </a:rPr>
                          </m:ctrlPr>
                        </m:dPr>
                        <m:e>
                          <m:r>
                            <a:rPr lang="en-US" sz="220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ea typeface="Cambria Math" panose="02040503050406030204" pitchFamily="18" charset="0"/>
                                  <a:cs typeface="Arial"/>
                                  <a:sym typeface="Arial"/>
                                </a:rPr>
                              </m:ctrlPr>
                            </m:fPr>
                            <m:num>
                              <m:r>
                                <m:rPr>
                                  <m:sty m:val="p"/>
                                </m:rPr>
                                <a:rPr lang="en-US" sz="2200" i="1">
                                  <a:latin typeface="Cambria Math" panose="02040503050406030204" pitchFamily="18" charset="0"/>
                                  <a:ea typeface="Cambria Math" panose="02040503050406030204" pitchFamily="18" charset="0"/>
                                  <a:cs typeface="Arial"/>
                                  <a:sym typeface="Arial"/>
                                </a:rPr>
                                <m:t>b</m:t>
                              </m:r>
                            </m:num>
                            <m:den>
                              <m:r>
                                <a:rPr lang="en-US" sz="2200" i="1">
                                  <a:latin typeface="Cambria Math" panose="02040503050406030204" pitchFamily="18" charset="0"/>
                                  <a:ea typeface="Cambria Math" panose="02040503050406030204" pitchFamily="18" charset="0"/>
                                  <a:cs typeface="Arial"/>
                                  <a:sym typeface="Arial"/>
                                </a:rPr>
                                <m:t>2</m:t>
                              </m:r>
                            </m:den>
                          </m:f>
                        </m:e>
                      </m:d>
                      <m:sSub>
                        <m:sSubPr>
                          <m:ctrlPr>
                            <a:rPr lang="en-US" sz="2200" i="1">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C76EF0D-39CE-39D6-1DD6-733B92389290}"/>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r="-193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047C59-56C9-ADF3-FB5D-C717D92C80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8FD53B-4723-ABD0-9FCF-CABC2AEF745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(5/9)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C9F23A-B72D-4ED6-16CE-1CFFC4DAFA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9FC659-2FBE-6D45-D427-4D988D2D67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1809E5-DC5A-8030-41B9-21D95E6BB0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BAE7C5-F4C5-22C4-50A7-80ACB3E5C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9E3CE9D-BA9A-F61E-A0A1-4D7E55B3D0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A05BA9-51EF-31FA-93C7-F068C56FE7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057E820A-FAFB-0518-9A2F-DF8DB1F979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12468457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13026-6ABA-1E9D-FD91-85F548236C0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C57B75-374F-1071-DAC6-B28E22E5DDB8}"/>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Solving for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and R, we get that,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i="1">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0" smtClean="0">
                          <a:latin typeface="Cambria Math" panose="02040503050406030204" pitchFamily="18" charset="0"/>
                          <a:ea typeface="Cambria Math" panose="02040503050406030204" pitchFamily="18" charset="0"/>
                          <a:cs typeface="Arial"/>
                          <a:sym typeface="Arial"/>
                        </a:rPr>
                        <m:t>R</m:t>
                      </m:r>
                      <m:r>
                        <a:rPr lang="en-US" sz="2200" i="1">
                          <a:latin typeface="Cambria Math" panose="02040503050406030204" pitchFamily="18" charset="0"/>
                          <a:ea typeface="Cambria Math" panose="02040503050406030204" pitchFamily="18" charset="0"/>
                          <a:cs typeface="Arial"/>
                          <a:sym typeface="Arial"/>
                        </a:rPr>
                        <m:t>=</m:t>
                      </m:r>
                      <m:f>
                        <m:fPr>
                          <m:ctrlPr>
                            <a:rPr lang="en-US" sz="220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m:t>
                          </m:r>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Very simple!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a:latin typeface="Cambria Math" panose="02040503050406030204" pitchFamily="18" charset="0"/>
                        <a:ea typeface="Cambria Math" panose="02040503050406030204" pitchFamily="18" charset="0"/>
                        <a:cs typeface="Arial"/>
                        <a:sym typeface="Arial"/>
                      </a:rPr>
                      <m:t>R</m:t>
                    </m:r>
                    <m:r>
                      <a:rPr lang="en-US" sz="2200" b="0" i="0" smtClean="0">
                        <a:latin typeface="Cambria Math" panose="02040503050406030204" pitchFamily="18" charset="0"/>
                        <a:ea typeface="Cambria Math" panose="02040503050406030204" pitchFamily="18" charset="0"/>
                        <a:cs typeface="Arial"/>
                        <a:sym typeface="Arial"/>
                      </a:rPr>
                      <m:t> = </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 0</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A1C57B75-374F-1071-DAC6-B28E22E5DDB8}"/>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687758-CA04-3163-CE38-B6AC64638D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F1CC9-EFE6-DAB7-FFA6-DD570FFFE5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(6/9)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A7089C-3F15-063A-06F6-26A95EC357B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61F874-C670-686C-7B21-1E745FD655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627F39-0053-02A9-6FC5-F35434AD01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02E0AB-6328-8DF2-7D09-67833D2F6D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23FD1-A272-CDDD-5538-194CF66621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59382F-689C-A388-0D11-423AC33E8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2E5442EB-5FDF-63B8-74EC-F0DEBD0C35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67429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2A523-5CFF-0ACA-94BC-DF8BADF9F3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A2C7AC-C42D-ACEC-6107-387F1EE0C0EE}"/>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Based on the calculated forward velocity from the encoders,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in lab we already calculate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ea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L</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Using forward Euler integration, we update our world </a:t>
                </a:r>
                <a14:m>
                  <m:oMath xmlns:m="http://schemas.openxmlformats.org/officeDocument/2006/math">
                    <m:r>
                      <m:rPr>
                        <m:sty m:val="p"/>
                      </m:rPr>
                      <a:rPr lang="en-US" sz="2200" b="0" i="1" smtClean="0">
                        <a:latin typeface="Cambria Math" panose="02040503050406030204" pitchFamily="18" charset="0"/>
                        <a:ea typeface="Arial"/>
                        <a:cs typeface="Arial"/>
                        <a:sym typeface="Arial"/>
                      </a:rPr>
                      <m:t>X</m:t>
                    </m:r>
                  </m:oMath>
                </a14:m>
                <a:r>
                  <a:rPr lang="en-US" sz="2200" dirty="0">
                    <a:latin typeface="Atkinson Hyperlegible Next"/>
                    <a:ea typeface="Arial"/>
                    <a:cs typeface="Arial"/>
                    <a:sym typeface="Arial"/>
                  </a:rPr>
                  <a:t> and </a:t>
                </a:r>
                <a14:m>
                  <m:oMath xmlns:m="http://schemas.openxmlformats.org/officeDocument/2006/math">
                    <m:r>
                      <m:rPr>
                        <m:sty m:val="p"/>
                      </m:rPr>
                      <a:rPr lang="en-US" sz="2200" b="0" i="1"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coordinates using our current heading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e>
                          </m:d>
                        </m:e>
                      </m:func>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smtClean="0">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i="1">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a:rPr lang="en-US" sz="2200" i="1">
                                      <a:latin typeface="Cambria Math" panose="02040503050406030204" pitchFamily="18" charset="0"/>
                                      <a:ea typeface="Arial"/>
                                      <a:cs typeface="Arial"/>
                                      <a:sym typeface="Arial"/>
                                    </a:rPr>
                                    <m:t>𝑡</m:t>
                                  </m:r>
                                </m:sub>
                              </m:sSub>
                            </m:e>
                          </m:d>
                        </m:e>
                      </m:func>
                      <m:r>
                        <a:rPr lang="en-US" sz="2200" i="1">
                          <a:latin typeface="Cambria Math" panose="02040503050406030204" pitchFamily="18" charset="0"/>
                          <a:ea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𝜔</m:t>
                          </m:r>
                        </m:e>
                        <m:sub>
                          <m:r>
                            <a:rPr lang="en-US" sz="2200" b="0" i="1" smtClean="0">
                              <a:latin typeface="Cambria Math" panose="02040503050406030204" pitchFamily="18" charset="0"/>
                              <a:ea typeface="Arial"/>
                              <a:cs typeface="Arial"/>
                              <a:sym typeface="Arial"/>
                            </a:rPr>
                            <m:t>𝑡</m:t>
                          </m:r>
                        </m:sub>
                      </m:sSub>
                      <m:r>
                        <m:rPr>
                          <m:sty m:val="p"/>
                        </m:rPr>
                        <a:rPr lang="en-US" sz="2200" b="0" i="0" smtClean="0">
                          <a:latin typeface="Cambria Math" panose="02040503050406030204" pitchFamily="18" charset="0"/>
                          <a:ea typeface="Arial"/>
                          <a:cs typeface="Arial"/>
                          <a:sym typeface="Arial"/>
                        </a:rPr>
                        <m:t>Δ</m:t>
                      </m:r>
                      <m:r>
                        <a:rPr lang="en-US" sz="2200" b="0" i="1" smtClean="0">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we go! </a:t>
                </a:r>
              </a:p>
              <a:p>
                <a:pPr marL="0" indent="0">
                  <a:lnSpc>
                    <a:spcPct val="100000"/>
                  </a:lnSpc>
                  <a:spcBef>
                    <a:spcPts val="0"/>
                  </a:spcBef>
                  <a:buSzPts val="3000"/>
                  <a:buNone/>
                </a:pPr>
                <a:r>
                  <a:rPr lang="en-US" sz="2200" dirty="0">
                    <a:latin typeface="Atkinson Hyperlegible Next"/>
                    <a:ea typeface="Arial"/>
                    <a:cs typeface="Arial"/>
                    <a:sym typeface="Arial"/>
                  </a:rPr>
                  <a:t>We now have 2 ways to get the robot’s position, integrating the </a:t>
                </a:r>
                <a:r>
                  <a:rPr lang="en-US" sz="2200" b="1" dirty="0">
                    <a:latin typeface="Atkinson Hyperlegible Next"/>
                    <a:ea typeface="Arial"/>
                    <a:cs typeface="Arial"/>
                    <a:sym typeface="Arial"/>
                  </a:rPr>
                  <a:t>IMU</a:t>
                </a:r>
                <a:r>
                  <a:rPr lang="en-US" sz="2200" dirty="0">
                    <a:latin typeface="Atkinson Hyperlegible Next"/>
                    <a:ea typeface="Arial"/>
                    <a:cs typeface="Arial"/>
                    <a:sym typeface="Arial"/>
                  </a:rPr>
                  <a:t> or integrating the </a:t>
                </a:r>
                <a:r>
                  <a:rPr lang="en-US" sz="2200" b="1" dirty="0">
                    <a:latin typeface="Atkinson Hyperlegible Next"/>
                    <a:ea typeface="Arial"/>
                    <a:cs typeface="Arial"/>
                    <a:sym typeface="Arial"/>
                  </a:rPr>
                  <a:t>wheel encoder</a:t>
                </a:r>
                <a:r>
                  <a:rPr lang="en-US" sz="2200" dirty="0">
                    <a:latin typeface="Atkinson Hyperlegible Next"/>
                    <a:ea typeface="Arial"/>
                    <a:cs typeface="Arial"/>
                    <a:sym typeface="Arial"/>
                  </a:rPr>
                  <a:t> information!</a:t>
                </a:r>
              </a:p>
            </p:txBody>
          </p:sp>
        </mc:Choice>
        <mc:Fallback xmlns="">
          <p:sp>
            <p:nvSpPr>
              <p:cNvPr id="118" name="Google Shape;118;p29">
                <a:extLst>
                  <a:ext uri="{FF2B5EF4-FFF2-40B4-BE49-F238E27FC236}">
                    <a16:creationId xmlns:a16="http://schemas.microsoft.com/office/drawing/2014/main" id="{CBA2C7AC-C42D-ACEC-6107-387F1EE0C0EE}"/>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BD52C4-FB11-1D29-BFDF-5B4E893443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9CAE51B-7AB3-0DB7-D54C-59C13FCCDF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(7/9)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32EABB-D6FA-75C0-53E7-C8751917955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734D7BA-0767-2C19-95E6-454294A6D0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982E7F-3E1F-964D-42F3-0AFE7A4109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2BD7EA-4E6F-479B-2A5D-E7CCD38B52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261583-041E-282D-A7E1-0D5DD1FA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C65B02-D03F-D72D-D15E-30F178A5C3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08DCB2E8-FF30-3015-8E18-F5DE0586C1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374676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E2CFA7-0E50-0DA3-9C6C-F5EAAC3F062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3E99BBD-50E2-2AE2-28AB-4FECBACF31EE}"/>
                  </a:ext>
                </a:extLst>
              </p:cNvPr>
              <p:cNvSpPr txBox="1">
                <a:spLocks noGrp="1"/>
              </p:cNvSpPr>
              <p:nvPr>
                <p:ph type="body" idx="1"/>
              </p:nvPr>
            </p:nvSpPr>
            <p:spPr>
              <a:xfrm>
                <a:off x="376809" y="1334279"/>
                <a:ext cx="11452008" cy="2413288"/>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multiple ways of integrating; however, we can get a slightly more accurate result depending on how we do it.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Specifically, instead of doing the Riemann sum (rectangle rule) we can do the Trapezoidal rule. In lab </a:t>
                </a:r>
                <a14:m>
                  <m:oMath xmlns:m="http://schemas.openxmlformats.org/officeDocument/2006/math">
                    <m:r>
                      <a:rPr lang="en-US" sz="2200" b="0" i="1" smtClean="0">
                        <a:latin typeface="Cambria Math" panose="02040503050406030204" pitchFamily="18" charset="0"/>
                        <a:ea typeface="Arial"/>
                        <a:cs typeface="Arial"/>
                        <a:sym typeface="Arial"/>
                      </a:rPr>
                      <m:t>𝑥</m:t>
                    </m:r>
                  </m:oMath>
                </a14:m>
                <a:r>
                  <a:rPr lang="en-US" sz="2200" dirty="0">
                    <a:latin typeface="Atkinson Hyperlegible Next"/>
                    <a:ea typeface="Arial"/>
                    <a:cs typeface="Arial"/>
                    <a:sym typeface="Arial"/>
                  </a:rPr>
                  <a:t>, represents the heading </a:t>
                </a:r>
                <a14:m>
                  <m:oMath xmlns:m="http://schemas.openxmlformats.org/officeDocument/2006/math">
                    <m:r>
                      <a:rPr lang="en-US" sz="2200" b="0" i="1"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 and </a:t>
                </a:r>
                <a14:m>
                  <m:oMath xmlns:m="http://schemas.openxmlformats.org/officeDocument/2006/math">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oMath>
                </a14:m>
                <a:r>
                  <a:rPr lang="en-US" sz="2200" dirty="0">
                    <a:latin typeface="Atkinson Hyperlegible Next"/>
                    <a:ea typeface="Arial"/>
                    <a:cs typeface="Arial"/>
                    <a:sym typeface="Arial"/>
                  </a:rPr>
                  <a:t>, represents the </a:t>
                </a:r>
                <a:r>
                  <a:rPr lang="en-US" sz="2200">
                    <a:latin typeface="Atkinson Hyperlegible Next"/>
                    <a:ea typeface="Arial"/>
                    <a:cs typeface="Arial"/>
                    <a:sym typeface="Arial"/>
                  </a:rPr>
                  <a:t>gyro reading.</a:t>
                </a: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f>
                        <m:fPr>
                          <m:ctrlPr>
                            <a:rPr lang="en-US" sz="2200" b="0" i="1" smtClean="0">
                              <a:latin typeface="Cambria Math" panose="02040503050406030204" pitchFamily="18" charset="0"/>
                              <a:cs typeface="Arial"/>
                              <a:sym typeface="Arial"/>
                            </a:rPr>
                          </m:ctrlPr>
                        </m:fPr>
                        <m:num>
                          <m:r>
                            <a:rPr lang="en-US" sz="2200" b="0" i="1" smtClean="0">
                              <a:latin typeface="Cambria Math" panose="02040503050406030204" pitchFamily="18" charset="0"/>
                              <a:cs typeface="Arial"/>
                              <a:sym typeface="Arial"/>
                            </a:rPr>
                            <m:t>1</m:t>
                          </m:r>
                        </m:num>
                        <m:den>
                          <m:r>
                            <a:rPr lang="en-US" sz="2200" b="0" i="1" smtClean="0">
                              <a:latin typeface="Cambria Math" panose="02040503050406030204" pitchFamily="18" charset="0"/>
                              <a:cs typeface="Arial"/>
                              <a:sym typeface="Arial"/>
                            </a:rPr>
                            <m:t>2</m:t>
                          </m:r>
                        </m:den>
                      </m:f>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e>
                      </m:d>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83E99BBD-50E2-2AE2-28AB-4FECBACF31EE}"/>
                  </a:ext>
                </a:extLst>
              </p:cNvPr>
              <p:cNvSpPr txBox="1">
                <a:spLocks noGrp="1" noRot="1" noChangeAspect="1" noMove="1" noResize="1" noEditPoints="1" noAdjustHandles="1" noChangeArrowheads="1" noChangeShapeType="1" noTextEdit="1"/>
              </p:cNvSpPr>
              <p:nvPr>
                <p:ph type="body" idx="1"/>
              </p:nvPr>
            </p:nvSpPr>
            <p:spPr>
              <a:xfrm>
                <a:off x="376809" y="1334279"/>
                <a:ext cx="11452008" cy="2413288"/>
              </a:xfrm>
              <a:prstGeom prst="rect">
                <a:avLst/>
              </a:prstGeom>
              <a:blipFill>
                <a:blip r:embed="rId3"/>
                <a:stretch>
                  <a:fillRect l="-692" t="-1515" r="-63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9BC3FA3-D8BE-3C94-AF83-2F21A2767F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29350-852B-449C-F745-436514C5447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(8/9)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A5C098-8DDD-CBAD-C639-8613CAFC940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05BDCA8-6771-AD90-78C7-BD08E596DC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D2B06E-29C9-31FD-12D1-C1D5047115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B62037-8D0F-1143-D983-4D433CBD24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F811A8-AB9D-001B-1B38-38732F17B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30FDC6-A020-894E-7845-E512CB765C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lot: trapezoidal-rule integration of a curve f that rises to a peak and falls. The area under it is split into shaded trapezoids of equal width p, whose tops are straight lines joining sample points on the curve. One trapezoid, S sub i, spans x sub i to x sub i plus 1, with parallel sides f of x sub i and f of x sub i plus 1. Its area is p times the quantity f of x sub i plus f of x sub i plus 1, over 2. The trapezoid tops follow the curve closely.">
            <a:extLst>
              <a:ext uri="{FF2B5EF4-FFF2-40B4-BE49-F238E27FC236}">
                <a16:creationId xmlns:a16="http://schemas.microsoft.com/office/drawing/2014/main" id="{89D0CA00-8753-DA08-F841-EF1FE694E95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95394" y="3676954"/>
            <a:ext cx="3397817" cy="2847086"/>
          </a:xfrm>
          <a:prstGeom prst="rect">
            <a:avLst/>
          </a:prstGeom>
        </p:spPr>
      </p:pic>
      <p:pic>
        <p:nvPicPr>
          <p:cNvPr id="6" name="Graphic 5" descr="Plot: the red curve y equals x cubed rises from 0 at x equals 0 to 8 at x equals 2. Blue left-Riemann rectangles of width 0.5 sit beneath it with heights 0, 0.125, 1, and 3.375, each taken from the curve's value at the left edge of its interval. The rectangles leave large gaps below the steepening curve, so the rectangle rule underestimates the integral. This error motivates using the trapezoidal rule instead.">
            <a:extLst>
              <a:ext uri="{FF2B5EF4-FFF2-40B4-BE49-F238E27FC236}">
                <a16:creationId xmlns:a16="http://schemas.microsoft.com/office/drawing/2014/main" id="{AE4E309E-FD80-C30D-E2B0-52B363B78C0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798789" y="3747908"/>
            <a:ext cx="3397816" cy="2718253"/>
          </a:xfrm>
          <a:prstGeom prst="rect">
            <a:avLst/>
          </a:prstGeom>
        </p:spPr>
      </p:pic>
    </p:spTree>
    <p:extLst>
      <p:ext uri="{BB962C8B-B14F-4D97-AF65-F5344CB8AC3E}">
        <p14:creationId xmlns:p14="http://schemas.microsoft.com/office/powerpoint/2010/main" val="13086453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51E58F-B0D3-64FE-8ECA-A61DCF5EC77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46A2FE-E7C1-B3B3-8DC0-D9BD94BBC89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Given the 2 methods of calculating the robot’s position, if we run this integration for 10 minutes, will the robot’s calculated position match its real physical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Will the IMU and the wheel encoder measurements match?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Absolutely not! Dead-reckoning is subject to unbounded accumulating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Any small measurement error is added to the previous state, meaning the error grows infinitely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known as drift. </a:t>
            </a:r>
            <a:r>
              <a:rPr lang="en-US" sz="2200" b="1" dirty="0">
                <a:latin typeface="Atkinson Hyperlegible Next"/>
                <a:ea typeface="Arial"/>
                <a:cs typeface="Arial"/>
                <a:sym typeface="Arial"/>
              </a:rPr>
              <a:t>Odometry Drift </a:t>
            </a:r>
            <a:r>
              <a:rPr lang="en-US" sz="2200" dirty="0">
                <a:latin typeface="Atkinson Hyperlegible Next"/>
                <a:ea typeface="Arial"/>
                <a:cs typeface="Arial"/>
                <a:sym typeface="Arial"/>
              </a:rPr>
              <a:t>for wheel encoders and </a:t>
            </a:r>
            <a:r>
              <a:rPr lang="en-US" sz="2200" b="1" dirty="0">
                <a:latin typeface="Atkinson Hyperlegible Next"/>
                <a:ea typeface="Arial"/>
                <a:cs typeface="Arial"/>
                <a:sym typeface="Arial"/>
              </a:rPr>
              <a:t>IMU Drift </a:t>
            </a:r>
            <a:r>
              <a:rPr lang="en-US" sz="2200" dirty="0">
                <a:latin typeface="Atkinson Hyperlegible Next"/>
                <a:ea typeface="Arial"/>
                <a:cs typeface="Arial"/>
                <a:sym typeface="Arial"/>
              </a:rPr>
              <a:t>for the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later lectures we will learn about the </a:t>
            </a:r>
            <a:r>
              <a:rPr lang="en-US" sz="2200" b="1" dirty="0">
                <a:latin typeface="Atkinson Hyperlegible Next"/>
                <a:ea typeface="Arial"/>
                <a:cs typeface="Arial"/>
                <a:sym typeface="Arial"/>
              </a:rPr>
              <a:t>Kalman Filter</a:t>
            </a:r>
            <a:r>
              <a:rPr lang="en-US" sz="2200" dirty="0">
                <a:latin typeface="Atkinson Hyperlegible Next"/>
                <a:ea typeface="Arial"/>
                <a:cs typeface="Arial"/>
                <a:sym typeface="Arial"/>
              </a:rPr>
              <a:t> to be able to </a:t>
            </a:r>
            <a:r>
              <a:rPr lang="en-US" sz="2200" b="1" dirty="0">
                <a:latin typeface="Atkinson Hyperlegible Next"/>
                <a:ea typeface="Arial"/>
                <a:cs typeface="Arial"/>
                <a:sym typeface="Arial"/>
              </a:rPr>
              <a:t>fuse</a:t>
            </a:r>
            <a:r>
              <a:rPr lang="en-US" sz="2200" dirty="0">
                <a:latin typeface="Atkinson Hyperlegible Next"/>
                <a:ea typeface="Arial"/>
                <a:cs typeface="Arial"/>
                <a:sym typeface="Arial"/>
              </a:rPr>
              <a:t> both sensors to get a more accurate measurement!</a:t>
            </a:r>
            <a:endParaRPr lang="en-US" sz="22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4C8F507-239D-C9EC-C9EB-02845847F1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215FE-B039-301D-3E61-8D4098F31C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(9/9)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CE2F3B-F0FE-C028-ACA2-31FAC3B19F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482B0C-A27E-3C2F-060D-38EFD34CB5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EDF2B-390A-8D89-CC48-B965C45253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4F9939-589D-2C2A-57F8-95382EE942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AF25A3-E8DC-0901-7582-6410FF6EA3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4A40C6-C9DF-00B3-4F34-3B7D2E65E3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9733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55DE9A2-4DDF-039E-DDAF-7A13C7FF489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E610F3D-B5AB-6389-3923-76F72CAA4B93}"/>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Errors (1/10)</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3FD5944D-11A0-0159-1787-EB384114A92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2A880CC-F404-6122-90C1-83EE02CE141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C519B51-4066-5507-542E-6DF70D43E4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BA564C6-8367-E96B-3958-0E14D3BC050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1EA9C19-F18B-EE1A-8D9D-3A88F9D567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2515B72-FE76-84E0-8C6A-55EE199121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1DE7DB-A0B0-75A1-CBED-7A9F8DC484F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40AF3A3-B001-E849-E7F3-3550D3B69F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4A8C815-0A54-93F7-5BB4-B00385F14D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43532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5BE669C-2B00-75F3-4971-C61FBC7A44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EB9E38-337B-DBD1-54F7-5D0A0A717ECB}"/>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Systematic Error:</a:t>
            </a:r>
          </a:p>
          <a:p>
            <a:pPr marL="342900">
              <a:lnSpc>
                <a:spcPct val="100000"/>
              </a:lnSpc>
              <a:spcBef>
                <a:spcPts val="0"/>
              </a:spcBef>
              <a:buSzPts val="3000"/>
            </a:pPr>
            <a:r>
              <a:rPr lang="en-US" sz="2200" dirty="0">
                <a:latin typeface="Atkinson Hyperlegible Next"/>
                <a:ea typeface="Arial"/>
                <a:cs typeface="Arial"/>
                <a:sym typeface="Arial"/>
              </a:rPr>
              <a:t>Built into the physical mechanism of the sensor</a:t>
            </a:r>
          </a:p>
          <a:p>
            <a:pPr marL="342900">
              <a:lnSpc>
                <a:spcPct val="100000"/>
              </a:lnSpc>
              <a:spcBef>
                <a:spcPts val="0"/>
              </a:spcBef>
              <a:buSzPts val="3000"/>
            </a:pPr>
            <a:r>
              <a:rPr lang="en-US" sz="2200" dirty="0">
                <a:latin typeface="Atkinson Hyperlegible Next"/>
                <a:ea typeface="Arial"/>
                <a:cs typeface="Arial"/>
                <a:sym typeface="Arial"/>
              </a:rPr>
              <a:t>Always occurs, with the same value, when we the instrument in the same way and in the same case</a:t>
            </a:r>
          </a:p>
          <a:p>
            <a:pPr marL="342900">
              <a:lnSpc>
                <a:spcPct val="100000"/>
              </a:lnSpc>
              <a:spcBef>
                <a:spcPts val="0"/>
              </a:spcBef>
              <a:buSzPts val="3000"/>
            </a:pPr>
            <a:r>
              <a:rPr lang="en-US" sz="2200" dirty="0">
                <a:latin typeface="Atkinson Hyperlegible Next"/>
                <a:ea typeface="Arial"/>
                <a:cs typeface="Arial"/>
                <a:sym typeface="Arial"/>
              </a:rPr>
              <a:t>Can often be accounted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Unequal wheel diameter</a:t>
            </a:r>
          </a:p>
          <a:p>
            <a:pPr marL="342900">
              <a:lnSpc>
                <a:spcPct val="100000"/>
              </a:lnSpc>
              <a:spcBef>
                <a:spcPts val="0"/>
              </a:spcBef>
              <a:buSzPts val="3000"/>
            </a:pPr>
            <a:r>
              <a:rPr lang="en-US" sz="2200" dirty="0">
                <a:latin typeface="Atkinson Hyperlegible Next"/>
                <a:ea typeface="Arial"/>
                <a:cs typeface="Arial"/>
                <a:sym typeface="Arial"/>
              </a:rPr>
              <a:t>Constant accelerometer bias</a:t>
            </a:r>
          </a:p>
        </p:txBody>
      </p:sp>
      <p:sp>
        <p:nvSpPr>
          <p:cNvPr id="119" name="Google Shape;119;p29">
            <a:extLst>
              <a:ext uri="{FF2B5EF4-FFF2-40B4-BE49-F238E27FC236}">
                <a16:creationId xmlns:a16="http://schemas.microsoft.com/office/drawing/2014/main" id="{3E6EB404-38A3-3078-53F7-2A622DF78E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3713E9-A7EA-D0F6-AD5F-805D75ABF2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(2/10)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087137-D673-EF1F-12EF-21120A0AC1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192D8A-BACB-65A7-1B09-C1A281B40C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0CFA20-AAF2-61D5-D03C-DA107E4AAD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91EE80-93F3-810D-3B2E-CF3B8D481E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F99E3C-1FAB-8B2F-6396-376C698966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4F2C0-3CD8-0E25-D566-2C4EC1B57C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bell-shaped probability density curve over measured value. A black dashed line marks the true value, and a red dashed line at the curve's peak (the mean measurement) sits to its right; the gap between them is labeled systematic error, a constant offset. A blue arrow from the peak out to the curve's side is labeled random error, representing the spread of measurements around their mean.">
            <a:extLst>
              <a:ext uri="{FF2B5EF4-FFF2-40B4-BE49-F238E27FC236}">
                <a16:creationId xmlns:a16="http://schemas.microsoft.com/office/drawing/2014/main" id="{D7E15BB6-082A-1B39-6E44-A4C768B729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61C32CC8-D63B-A3FD-3D08-E79B19EF3637}"/>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13992272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BEFAD-91CA-E8E7-1264-DC5CF82694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BC22F-0A0D-05F1-899A-1386CF6A242D}"/>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Random Error:</a:t>
            </a:r>
          </a:p>
          <a:p>
            <a:pPr marL="342900">
              <a:lnSpc>
                <a:spcPct val="100000"/>
              </a:lnSpc>
              <a:spcBef>
                <a:spcPts val="0"/>
              </a:spcBef>
              <a:buSzPts val="3000"/>
            </a:pPr>
            <a:r>
              <a:rPr lang="en-US" sz="2200" dirty="0">
                <a:latin typeface="Atkinson Hyperlegible Next"/>
                <a:ea typeface="Arial"/>
                <a:cs typeface="Arial"/>
                <a:sym typeface="Arial"/>
              </a:rPr>
              <a:t>Random and due to environment factors</a:t>
            </a:r>
          </a:p>
          <a:p>
            <a:pPr marL="342900">
              <a:lnSpc>
                <a:spcPct val="100000"/>
              </a:lnSpc>
              <a:spcBef>
                <a:spcPts val="0"/>
              </a:spcBef>
              <a:buSzPts val="3000"/>
            </a:pPr>
            <a:r>
              <a:rPr lang="en-US" sz="2200" dirty="0">
                <a:latin typeface="Atkinson Hyperlegible Next"/>
                <a:ea typeface="Arial"/>
                <a:cs typeface="Arial"/>
                <a:sym typeface="Arial"/>
              </a:rPr>
              <a:t>May vary from observation to another</a:t>
            </a:r>
          </a:p>
          <a:p>
            <a:pPr marL="342900">
              <a:lnSpc>
                <a:spcPct val="100000"/>
              </a:lnSpc>
              <a:spcBef>
                <a:spcPts val="0"/>
              </a:spcBef>
              <a:buSzPts val="3000"/>
            </a:pPr>
            <a:r>
              <a:rPr lang="en-US" sz="2200" dirty="0">
                <a:latin typeface="Atkinson Hyperlegible Next"/>
                <a:ea typeface="Arial"/>
                <a:cs typeface="Arial"/>
                <a:sym typeface="Arial"/>
              </a:rPr>
              <a:t>These fluctuations may be in part due to interference of the environment with the measurement process</a:t>
            </a:r>
          </a:p>
          <a:p>
            <a:pPr marL="342900">
              <a:lnSpc>
                <a:spcPct val="100000"/>
              </a:lnSpc>
              <a:spcBef>
                <a:spcPts val="0"/>
              </a:spcBef>
              <a:buSzPts val="3000"/>
            </a:pPr>
            <a:r>
              <a:rPr lang="en-US" sz="2200" dirty="0">
                <a:latin typeface="Atkinson Hyperlegible Next"/>
                <a:ea typeface="Arial"/>
                <a:cs typeface="Arial"/>
                <a:sym typeface="Arial"/>
              </a:rPr>
              <a:t>Much harder to model (often assumed to be Gaussian)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Wheel slip</a:t>
            </a:r>
          </a:p>
          <a:p>
            <a:pPr marL="342900">
              <a:lnSpc>
                <a:spcPct val="100000"/>
              </a:lnSpc>
              <a:spcBef>
                <a:spcPts val="0"/>
              </a:spcBef>
              <a:buSzPts val="3000"/>
            </a:pPr>
            <a:r>
              <a:rPr lang="en-US" sz="2200" dirty="0">
                <a:latin typeface="Atkinson Hyperlegible Next"/>
                <a:ea typeface="Arial"/>
                <a:cs typeface="Arial"/>
                <a:sym typeface="Arial"/>
              </a:rPr>
              <a:t>Loose components</a:t>
            </a:r>
          </a:p>
        </p:txBody>
      </p:sp>
      <p:sp>
        <p:nvSpPr>
          <p:cNvPr id="119" name="Google Shape;119;p29">
            <a:extLst>
              <a:ext uri="{FF2B5EF4-FFF2-40B4-BE49-F238E27FC236}">
                <a16:creationId xmlns:a16="http://schemas.microsoft.com/office/drawing/2014/main" id="{9B10AA86-5C04-976D-1D91-14FF3107E6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F0EBEC-6851-570C-6040-ACC21DBC09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(3/10)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BAFB68-3222-53BF-C007-A3E286A7E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F2D5A-DBC1-5D87-77EA-2A965CB793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C3C1EB-5B32-4D47-53E4-29E6C73943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F938CC-49DE-9D5E-D35D-64023195F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13090A-5BCC-44BA-784B-C0C3B69FF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A83F5-3BBE-B05C-F582-83391096D9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bell-shaped probability density curve over measured value. A black dashed line marks the true value, and a red dashed line at the curve's peak (the mean measurement) sits to its right; the gap between them is labeled systematic error, a constant offset. A blue arrow from the peak out to the curve's side is labeled random error, representing the spread of measurements around their mean.">
            <a:extLst>
              <a:ext uri="{FF2B5EF4-FFF2-40B4-BE49-F238E27FC236}">
                <a16:creationId xmlns:a16="http://schemas.microsoft.com/office/drawing/2014/main" id="{5AB07676-E75C-9490-A2CF-AB34E41E2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524B60A4-F0E0-4D1F-F8A9-30DA0CA75CA8}"/>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42312058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0298F2-87D7-F51C-1066-930A3A6DA04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4FABCC-163C-F0AE-8588-DCE2CD7C130D}"/>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robotics the best way to handle noise is just by adding more sensors / different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more different opinions / viewpoints you have the more likely that the majority will agree or will provide useful information to help compensate from the fault of others!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 does one calculate how much the error drift?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help combat heading drift from encoders, we use the Z-axis rate gyro from our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 </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m:rPr>
                          <m:sty m:val="p"/>
                        </m:rPr>
                        <a:rPr lang="en-US" sz="2200">
                          <a:latin typeface="Cambria Math" panose="02040503050406030204" pitchFamily="18" charset="0"/>
                          <a:ea typeface="Arial"/>
                          <a:cs typeface="Arial"/>
                          <a:sym typeface="Arial"/>
                        </a:rPr>
                        <m:t>Δ</m:t>
                      </m:r>
                      <m:r>
                        <a:rPr lang="en-US" sz="2200" i="1">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E4FABCC-163C-F0AE-8588-DCE2CD7C130D}"/>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3238-2384-43A6-8220-8542D0CD6B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BB4EEEC-EA22-B55B-1B23-3261523CE2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(4/10)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CE7D8C-AED4-C1D8-7372-9894F313FB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AA9872-DCFF-3BBB-26FB-D5233D0E51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A06728-7240-0F73-C869-ECE2E2CDFE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BCA7A4-2918-3BE4-EE20-C0DC59868B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6E17D-98E1-36E7-8B52-68C6D8E0A3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40F9E8-4330-6907-DA90-50CEC9488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64218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63740D-B40A-975C-D982-8E7FFD74015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D6B066-10FF-D37D-3D50-C7ECB17F38D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Gyroscope’s output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i="1">
                              <a:latin typeface="Cambria Math" panose="02040503050406030204" pitchFamily="18" charset="0"/>
                              <a:ea typeface="Arial"/>
                              <a:cs typeface="Arial"/>
                              <a:sym typeface="Arial"/>
                            </a:rPr>
                            <m:t>gyro</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true</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cs typeface="Arial"/>
                              <a:sym typeface="Arial"/>
                            </a:rPr>
                            <m:t>bias</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ea typeface="Cambria Math" panose="02040503050406030204" pitchFamily="18" charset="0"/>
                              <a:cs typeface="Arial"/>
                              <a:sym typeface="Arial"/>
                            </a:rPr>
                            <m:t>noise</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assume that the noise </a:t>
                </a:r>
                <a14:m>
                  <m:oMath xmlns:m="http://schemas.openxmlformats.org/officeDocument/2006/math">
                    <m:sSub>
                      <m:sSubPr>
                        <m:ctrlPr>
                          <a:rPr lang="en-US" sz="2200" i="1" smtClean="0">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ea typeface="Cambria Math" panose="02040503050406030204" pitchFamily="18" charset="0"/>
                            <a:cs typeface="Arial"/>
                            <a:sym typeface="Arial"/>
                          </a:rPr>
                          <m:t>noise</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𝒩</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0,</m:t>
                        </m:r>
                        <m:sSup>
                          <m:sSupPr>
                            <m:ctrlPr>
                              <a:rPr lang="en-US" sz="2200" b="0" i="1" smtClean="0">
                                <a:latin typeface="Cambria Math" panose="02040503050406030204" pitchFamily="18" charset="0"/>
                                <a:ea typeface="Cambria Math" panose="02040503050406030204" pitchFamily="18" charset="0"/>
                                <a:cs typeface="Arial"/>
                                <a:sym typeface="Arial"/>
                              </a:rPr>
                            </m:ctrlPr>
                          </m:sSupPr>
                          <m:e>
                            <m:r>
                              <a:rPr lang="en-US" sz="2200" b="0" i="1" smtClean="0">
                                <a:latin typeface="Cambria Math" panose="02040503050406030204" pitchFamily="18" charset="0"/>
                                <a:ea typeface="Cambria Math" panose="02040503050406030204" pitchFamily="18" charset="0"/>
                                <a:cs typeface="Arial"/>
                                <a:sym typeface="Arial"/>
                              </a:rPr>
                              <m:t>𝜎</m:t>
                            </m:r>
                          </m:e>
                          <m:sup>
                            <m:r>
                              <a:rPr lang="en-US" sz="2200" b="0" i="1" smtClean="0">
                                <a:latin typeface="Cambria Math" panose="02040503050406030204" pitchFamily="18" charset="0"/>
                                <a:ea typeface="Cambria Math" panose="02040503050406030204" pitchFamily="18" charset="0"/>
                                <a:cs typeface="Arial"/>
                                <a:sym typeface="Arial"/>
                              </a:rPr>
                              <m:t>2</m:t>
                            </m:r>
                          </m:sup>
                        </m:sSup>
                      </m:e>
                    </m:d>
                  </m:oMath>
                </a14:m>
                <a:r>
                  <a:rPr lang="en-US" sz="2200" dirty="0">
                    <a:latin typeface="Atkinson Hyperlegible Next"/>
                    <a:ea typeface="Arial"/>
                    <a:cs typeface="Arial"/>
                    <a:sym typeface="Arial"/>
                  </a:rPr>
                  <a:t>, is “White Noise”, zero mean Gaussian noise.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we integrate the bias over time we: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nary>
                        <m:naryPr>
                          <m:limLoc m:val="undOvr"/>
                          <m:subHide m:val="on"/>
                          <m:supHide m:val="on"/>
                          <m:ctrlPr>
                            <a:rPr lang="en-US" sz="2200" i="1" dirty="0" smtClean="0">
                              <a:latin typeface="Cambria Math" panose="02040503050406030204" pitchFamily="18" charset="0"/>
                              <a:cs typeface="Arial"/>
                              <a:sym typeface="Arial"/>
                            </a:rPr>
                          </m:ctrlPr>
                        </m:naryPr>
                        <m:sub/>
                        <m:sup/>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e>
                      </m:nary>
                      <m:r>
                        <a:rPr lang="en-US" sz="2200" b="0" i="1" dirty="0" smtClean="0">
                          <a:latin typeface="Cambria Math" panose="02040503050406030204" pitchFamily="18" charset="0"/>
                          <a:cs typeface="Arial"/>
                          <a:sym typeface="Arial"/>
                        </a:rPr>
                        <m:t>𝑑𝑡</m:t>
                      </m:r>
                      <m:r>
                        <a:rPr lang="en-US" sz="2200" b="0" i="1" dirty="0"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sym typeface="Arial"/>
                  </a:rPr>
                  <a:t>If the bias just 0.05 degrees / sec, how far off is our heading after 5 minutes?</a:t>
                </a:r>
              </a:p>
              <a:p>
                <a:pPr marL="0" indent="0">
                  <a:lnSpc>
                    <a:spcPct val="100000"/>
                  </a:lnSpc>
                  <a:spcBef>
                    <a:spcPts val="0"/>
                  </a:spcBef>
                  <a:buSzPts val="3000"/>
                  <a:buNone/>
                </a:pPr>
                <a:endParaRPr lang="en-US" sz="2000" b="0" i="1" dirty="0">
                  <a:latin typeface="+mj-lt"/>
                  <a:ea typeface="Cambria Math" panose="02040503050406030204" pitchFamily="18" charset="0"/>
                  <a:cs typeface="Arial"/>
                  <a:sym typeface="Arial"/>
                </a:endParaRPr>
              </a:p>
              <a:p>
                <a:pPr marL="0" indent="0" algn="ctr">
                  <a:lnSpc>
                    <a:spcPct val="100000"/>
                  </a:lnSpc>
                  <a:spcBef>
                    <a:spcPts val="0"/>
                  </a:spcBef>
                  <a:buSzPts val="3000"/>
                  <a:buNone/>
                </a:pPr>
                <a:r>
                  <a:rPr lang="en-US" sz="2000" b="1" dirty="0">
                    <a:latin typeface="+mj-lt"/>
                    <a:ea typeface="Cambria Math" panose="02040503050406030204" pitchFamily="18" charset="0"/>
                    <a:cs typeface="Arial"/>
                    <a:sym typeface="Arial"/>
                  </a:rPr>
                  <a:t>15 degrees!</a:t>
                </a:r>
              </a:p>
              <a:p>
                <a:pPr marL="0" indent="0" algn="ctr">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why we calibrate the IMU to measure and subtract </a:t>
                </a:r>
                <a:r>
                  <a:rPr lang="en-US" sz="2000" dirty="0">
                    <a:latin typeface="+mj-lt"/>
                    <a:ea typeface="Cambria Math" panose="02040503050406030204" pitchFamily="18" charset="0"/>
                    <a:cs typeface="Arial"/>
                    <a:sym typeface="Arial"/>
                  </a:rPr>
                  <a:t>the bias!</a:t>
                </a:r>
              </a:p>
            </p:txBody>
          </p:sp>
        </mc:Choice>
        <mc:Fallback xmlns="">
          <p:sp>
            <p:nvSpPr>
              <p:cNvPr id="118" name="Google Shape;118;p29">
                <a:extLst>
                  <a:ext uri="{FF2B5EF4-FFF2-40B4-BE49-F238E27FC236}">
                    <a16:creationId xmlns:a16="http://schemas.microsoft.com/office/drawing/2014/main" id="{C9D6B066-10FF-D37D-3D50-C7ECB17F38D3}"/>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3F0A10-EFFC-5323-40FD-1D1FFBF6AA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407A49-6C11-D874-6A32-3003F68BE0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(5/10)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6CA6F7-0901-3CEC-6FB0-E66228551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4DC72C-6B58-7BA7-E1A4-C710EB414F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7F213B-A91E-60C5-230B-0D87CD6E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D322F9-1A52-C598-EA3E-7C5CCB0AD8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EA3B39-C278-7651-9DBE-3B8CBD5733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5763C4-E967-CB76-B11A-580F740013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33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14EA17-22FA-3DF2-3D01-D1CD2FDCC4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55EEE2-CDC3-7698-846D-CF39C2D6695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with the bias removed we now have White Noise that remains.</a:t>
                </a:r>
              </a:p>
              <a:p>
                <a:pPr marL="0" indent="0">
                  <a:lnSpc>
                    <a:spcPct val="100000"/>
                  </a:lnSpc>
                  <a:spcBef>
                    <a:spcPts val="0"/>
                  </a:spcBef>
                  <a:buSzPts val="3000"/>
                  <a:buNone/>
                </a:pPr>
                <a:endParaRPr lang="en-US" sz="20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gyro</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true</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ea typeface="Cambria Math" panose="02040503050406030204" pitchFamily="18" charset="0"/>
                              <a:cs typeface="Arial"/>
                              <a:sym typeface="Arial"/>
                            </a:rPr>
                            <m:t>𝜖</m:t>
                          </m:r>
                        </m:e>
                        <m:sub>
                          <m:r>
                            <m:rPr>
                              <m:sty m:val="p"/>
                            </m:rPr>
                            <a:rPr lang="en-US" sz="2000" i="1">
                              <a:latin typeface="Cambria Math" panose="02040503050406030204" pitchFamily="18" charset="0"/>
                              <a:ea typeface="Cambria Math" panose="02040503050406030204" pitchFamily="18" charset="0"/>
                              <a:cs typeface="Arial"/>
                              <a:sym typeface="Arial"/>
                            </a:rPr>
                            <m:t>noise</m:t>
                          </m:r>
                        </m:sub>
                      </m:sSub>
                    </m:oMath>
                  </m:oMathPara>
                </a14:m>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Integrating </a:t>
                </a:r>
                <a:r>
                  <a:rPr lang="en-US" sz="2000" dirty="0">
                    <a:latin typeface="+mj-lt"/>
                    <a:ea typeface="Cambria Math" panose="02040503050406030204" pitchFamily="18" charset="0"/>
                    <a:cs typeface="Arial"/>
                    <a:sym typeface="Arial"/>
                  </a:rPr>
                  <a:t>white noise results in a “</a:t>
                </a:r>
                <a:r>
                  <a:rPr lang="en-US" sz="2000" b="1" dirty="0">
                    <a:latin typeface="+mj-lt"/>
                    <a:ea typeface="Cambria Math" panose="02040503050406030204" pitchFamily="18" charset="0"/>
                    <a:cs typeface="Arial"/>
                    <a:sym typeface="Arial"/>
                  </a:rPr>
                  <a:t>Random Walk</a:t>
                </a:r>
                <a:r>
                  <a:rPr lang="en-US" sz="2000" dirty="0">
                    <a:latin typeface="+mj-lt"/>
                    <a:ea typeface="Cambria Math" panose="02040503050406030204" pitchFamily="18" charset="0"/>
                    <a:cs typeface="Arial"/>
                    <a:sym typeface="Arial"/>
                  </a:rPr>
                  <a:t>” (a Wiener process in stochastic calculus).</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mean of the error over multiple “Random Walk” runs is centered at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0</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variance of the error grows linearly with time </a:t>
                </a:r>
                <a14:m>
                  <m:oMath xmlns:m="http://schemas.openxmlformats.org/officeDocument/2006/math">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b="0" i="1" dirty="0" smtClean="0">
                            <a:latin typeface="Cambria Math" panose="02040503050406030204" pitchFamily="18" charset="0"/>
                            <a:ea typeface="Cambria Math" panose="02040503050406030204" pitchFamily="18" charset="0"/>
                            <a:cs typeface="Arial"/>
                            <a:sym typeface="Arial"/>
                          </a:rPr>
                          <m:t>𝜎</m:t>
                        </m:r>
                      </m:e>
                      <m:sub>
                        <m:r>
                          <a:rPr lang="en-US" sz="2000" b="0" i="1" dirty="0" smtClean="0">
                            <a:latin typeface="Cambria Math" panose="02040503050406030204" pitchFamily="18" charset="0"/>
                            <a:ea typeface="Cambria Math" panose="02040503050406030204" pitchFamily="18" charset="0"/>
                            <a:cs typeface="Arial"/>
                            <a:sym typeface="Arial"/>
                          </a:rPr>
                          <m:t>𝜑</m:t>
                        </m:r>
                      </m:sub>
                      <m:sup>
                        <m:r>
                          <a:rPr lang="en-US" sz="2000" b="0" i="1" dirty="0" smtClean="0">
                            <a:latin typeface="Cambria Math" panose="02040503050406030204" pitchFamily="18" charset="0"/>
                            <a:ea typeface="Cambria Math" panose="02040503050406030204" pitchFamily="18" charset="0"/>
                            <a:cs typeface="Arial"/>
                            <a:sym typeface="Arial"/>
                          </a:rPr>
                          <m:t>2</m:t>
                        </m:r>
                      </m:sup>
                    </m:sSubSup>
                    <m:r>
                      <a:rPr lang="en-US" sz="2000" b="0" i="1" dirty="0" smtClean="0">
                        <a:latin typeface="Cambria Math" panose="02040503050406030204" pitchFamily="18" charset="0"/>
                        <a:ea typeface="Cambria Math" panose="02040503050406030204" pitchFamily="18" charset="0"/>
                        <a:cs typeface="Arial"/>
                        <a:sym typeface="Arial"/>
                      </a:rPr>
                      <m:t>=</m:t>
                    </m:r>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i="1" dirty="0">
                            <a:latin typeface="Cambria Math" panose="02040503050406030204" pitchFamily="18" charset="0"/>
                            <a:ea typeface="Cambria Math" panose="02040503050406030204" pitchFamily="18" charset="0"/>
                            <a:cs typeface="Arial"/>
                            <a:sym typeface="Arial"/>
                          </a:rPr>
                          <m:t>𝜎</m:t>
                        </m:r>
                      </m:e>
                      <m:sub>
                        <m:r>
                          <a:rPr lang="en-US" sz="2000" i="1" dirty="0" smtClean="0">
                            <a:latin typeface="Cambria Math" panose="02040503050406030204" pitchFamily="18" charset="0"/>
                            <a:ea typeface="Cambria Math" panose="02040503050406030204" pitchFamily="18" charset="0"/>
                            <a:cs typeface="Arial"/>
                            <a:sym typeface="Arial"/>
                          </a:rPr>
                          <m:t>𝜔</m:t>
                        </m:r>
                      </m:sub>
                      <m:sup>
                        <m:r>
                          <a:rPr lang="en-US" sz="2000" i="1" dirty="0">
                            <a:latin typeface="Cambria Math" panose="02040503050406030204" pitchFamily="18" charset="0"/>
                            <a:ea typeface="Cambria Math" panose="02040503050406030204" pitchFamily="18" charset="0"/>
                            <a:cs typeface="Arial"/>
                            <a:sym typeface="Arial"/>
                          </a:rPr>
                          <m:t>2</m:t>
                        </m:r>
                      </m:sup>
                    </m:sSubSup>
                    <m:r>
                      <m:rPr>
                        <m:sty m:val="p"/>
                      </m:rPr>
                      <a:rPr lang="en-US" sz="2000" i="0" dirty="0" smtClean="0">
                        <a:latin typeface="Cambria Math" panose="02040503050406030204" pitchFamily="18" charset="0"/>
                        <a:ea typeface="Cambria Math" panose="02040503050406030204" pitchFamily="18" charset="0"/>
                        <a:cs typeface="Arial"/>
                        <a:sym typeface="Arial"/>
                      </a:rPr>
                      <m:t>Δ</m:t>
                    </m:r>
                    <m:r>
                      <a:rPr lang="en-US" sz="2000" i="1" dirty="0" smtClean="0">
                        <a:latin typeface="Cambria Math" panose="02040503050406030204" pitchFamily="18" charset="0"/>
                        <a:ea typeface="Cambria Math" panose="02040503050406030204" pitchFamily="18" charset="0"/>
                        <a:cs typeface="Arial"/>
                        <a:sym typeface="Arial"/>
                      </a:rPr>
                      <m:t>𝑡</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standard deviation (the actual angular error) grows proportional to the square root of time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 </m:t>
                    </m:r>
                    <m:rad>
                      <m:radPr>
                        <m:degHide m:val="on"/>
                        <m:ctrlPr>
                          <a:rPr lang="en-US" sz="2000" b="0" i="1" smtClean="0">
                            <a:latin typeface="Cambria Math" panose="02040503050406030204" pitchFamily="18" charset="0"/>
                            <a:ea typeface="Cambria Math" panose="02040503050406030204" pitchFamily="18" charset="0"/>
                            <a:cs typeface="Arial"/>
                            <a:sym typeface="Arial"/>
                          </a:rPr>
                        </m:ctrlPr>
                      </m:radPr>
                      <m:deg/>
                      <m:e>
                        <m:r>
                          <m:rPr>
                            <m:sty m:val="p"/>
                          </m:rPr>
                          <a:rPr lang="en-US" sz="2000" b="0" i="1" smtClean="0">
                            <a:latin typeface="Cambria Math" panose="02040503050406030204" pitchFamily="18" charset="0"/>
                            <a:ea typeface="Cambria Math" panose="02040503050406030204" pitchFamily="18" charset="0"/>
                            <a:cs typeface="Arial"/>
                            <a:sym typeface="Arial"/>
                          </a:rPr>
                          <m:t>t</m:t>
                        </m:r>
                      </m:e>
                    </m:rad>
                  </m:oMath>
                </a14:m>
                <a:r>
                  <a:rPr lang="en-US" sz="2000" b="0" dirty="0">
                    <a:latin typeface="+mj-lt"/>
                    <a:ea typeface="Cambria Math" panose="02040503050406030204" pitchFamily="18" charset="0"/>
                    <a:cs typeface="Arial"/>
                    <a:sym typeface="Arial"/>
                  </a:rPr>
                  <a:t>. The math for proving this is very complicated, so just take it as truth!</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Thus, over long period, the gyro’s heading becomes entirely unreliable!</a:t>
                </a:r>
              </a:p>
            </p:txBody>
          </p:sp>
        </mc:Choice>
        <mc:Fallback xmlns="">
          <p:sp>
            <p:nvSpPr>
              <p:cNvPr id="118" name="Google Shape;118;p29">
                <a:extLst>
                  <a:ext uri="{FF2B5EF4-FFF2-40B4-BE49-F238E27FC236}">
                    <a16:creationId xmlns:a16="http://schemas.microsoft.com/office/drawing/2014/main" id="{3F55EEE2-CDC3-7698-846D-CF39C2D6695A}"/>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4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CCA73AD-AA1E-2D97-1917-94C9CDB200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E9989F-8446-367B-618F-9DB175E76A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(6/10)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E7F7F1A-01A7-55F0-5779-25826F9F00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1E1EBB-952C-3C2F-0907-D4E69F1197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13308A-B3D1-2B72-D5B6-B72A8F7580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B07FE0D-ED47-C4D3-E1D6-FB8D894683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89F874-F92D-A95D-E31C-7183544FF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2073D7-C169-435E-AFF0-A93F4C88DA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7670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A7F0F48-FD66-0068-0226-3C6653FA95F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9362EA-C21F-AC39-D262-FB7E55F37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10643-9872-014A-0B92-EE6B2A60F2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(7/10)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36A73D-1A13-80E5-A640-A1746D9591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170DFE-6B7C-76DE-03C6-BD9005BC38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2E760C-D6C1-3E9C-55A1-9C9AB59AD3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436059-DAF3-0389-B9F7-FCC00B3406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F9F0C8-EDDD-B2B7-55CC-FDE177E364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9F9111-220C-C228-C249-7BB180BFE2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7E1B50D1-3054-D474-FE00-026AAFAE2E96}"/>
              </a:ext>
            </a:extLst>
          </p:cNvPr>
          <p:cNvSpPr>
            <a:spLocks noGrp="1"/>
          </p:cNvSpPr>
          <p:nvPr>
            <p:ph type="body" idx="1"/>
          </p:nvPr>
        </p:nvSpPr>
        <p:spPr/>
        <p:txBody>
          <a:bodyPr/>
          <a:lstStyle/>
          <a:p>
            <a:endParaRPr lang="en-US" dirty="0"/>
          </a:p>
        </p:txBody>
      </p:sp>
      <p:pic>
        <p:nvPicPr>
          <p:cNvPr id="5" name="Graphic 4" descr="Plot titled &quot;White Noise (sigma equals 1) vs Time&quot;: dozens of simulated traces of accumulated (integrated) white noise, angle in degrees versus time from 0 to 300 seconds. All traces start at 0 and wander randomly, spreading wider over time, about plus or minus 10 degrees by 25 seconds and up to plus or minus 40 degrees by 250 to 300 seconds. This shows how summing small random errors produces unbounded drift that grows with time.">
            <a:extLst>
              <a:ext uri="{FF2B5EF4-FFF2-40B4-BE49-F238E27FC236}">
                <a16:creationId xmlns:a16="http://schemas.microsoft.com/office/drawing/2014/main" id="{51BAB843-7088-724C-E33B-5C28CB5B43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71725" y="931562"/>
            <a:ext cx="7448550" cy="5592478"/>
          </a:xfrm>
          <a:prstGeom prst="rect">
            <a:avLst/>
          </a:prstGeom>
        </p:spPr>
      </p:pic>
    </p:spTree>
    <p:extLst>
      <p:ext uri="{BB962C8B-B14F-4D97-AF65-F5344CB8AC3E}">
        <p14:creationId xmlns:p14="http://schemas.microsoft.com/office/powerpoint/2010/main" val="1491280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EB7BBF-8F98-212E-9B38-36FE45DFCD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A399D8-64C2-AE55-3A69-840F4E06BC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9A499A-632D-6A56-C2F5-1855F4F2DC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(8/10)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B2CCCD-63B6-C535-4B41-062E4AF9879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EC8CDA-780F-8BB0-B80E-D99CCB7632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BDBDA4-CB51-BA47-3436-AA41BF9E44C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BBD68F-B9D8-6300-DB49-7583D7FF6F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B3F97-F3C8-481A-6A8A-8F517BC689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D2E4EF-9215-4863-9B7F-F8EDB9C571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white noise mean versus time over 0 to 300 seconds, y axis labeled &quot;Radians (degrees).&quot; A flat line marks the expected noise mean of zero. The measured mean dips to about minus 0.1 in the first few seconds, rises to about 0.4 by 45 seconds, then wanders between roughly 0.3 and 0.6 until about 240 seconds, ending near 0.28. It never settles back to zero, showing a persistent, drifting error.">
            <a:extLst>
              <a:ext uri="{FF2B5EF4-FFF2-40B4-BE49-F238E27FC236}">
                <a16:creationId xmlns:a16="http://schemas.microsoft.com/office/drawing/2014/main" id="{315ED8E6-1A93-6BA4-35DD-15A6BF9A800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5100" y="1412985"/>
            <a:ext cx="5848350" cy="4391025"/>
          </a:xfrm>
          <a:prstGeom prst="rect">
            <a:avLst/>
          </a:prstGeom>
        </p:spPr>
      </p:pic>
      <p:pic>
        <p:nvPicPr>
          <p:cNvPr id="9" name="Graphic 8" descr="Plot: standard deviation of integrated white noise versus time, 0 to 300 seconds, with angle on the vertical axis (labeled &quot;radians (degrees)&quot;). The expected curve, sigma times the square root of t with sigma equal to 1, rises steeply at first and then more slowly, reaching about 17.3 at 300 seconds. The measured white-noise standard deviation closely tracks it, falling slightly below to about 16.5 by the end. This shows that integrated sensor noise causes error to grow with the square root of time.">
            <a:extLst>
              <a:ext uri="{FF2B5EF4-FFF2-40B4-BE49-F238E27FC236}">
                <a16:creationId xmlns:a16="http://schemas.microsoft.com/office/drawing/2014/main" id="{5EDCFAED-D88C-BF40-EBFD-F63257E520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178550" y="1412985"/>
            <a:ext cx="5848350" cy="4391025"/>
          </a:xfrm>
          <a:prstGeom prst="rect">
            <a:avLst/>
          </a:prstGeom>
        </p:spPr>
      </p:pic>
    </p:spTree>
    <p:extLst>
      <p:ext uri="{BB962C8B-B14F-4D97-AF65-F5344CB8AC3E}">
        <p14:creationId xmlns:p14="http://schemas.microsoft.com/office/powerpoint/2010/main" val="1996753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56EF7-A6A6-2EEE-0343-809D003BA8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A269514-6DAD-F5AA-6FFB-B6127160743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Encoders</a:t>
            </a:r>
            <a:r>
              <a:rPr lang="en-US" sz="2000" dirty="0">
                <a:latin typeface="+mj-lt"/>
                <a:ea typeface="Cambria Math" panose="02040503050406030204" pitchFamily="18" charset="0"/>
                <a:cs typeface="Arial"/>
                <a:sym typeface="Arial"/>
              </a:rPr>
              <a:t> are good at low speeds and measuring exact distance, but terrible at heading due to wheel slip.</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Gyroscopes</a:t>
            </a:r>
            <a:r>
              <a:rPr lang="en-US" sz="2000" dirty="0">
                <a:latin typeface="+mj-lt"/>
                <a:ea typeface="Cambria Math" panose="02040503050406030204" pitchFamily="18" charset="0"/>
                <a:cs typeface="Arial"/>
                <a:sym typeface="Arial"/>
              </a:rPr>
              <a:t> are highly accurate for rapid rotations and </a:t>
            </a:r>
            <a:r>
              <a:rPr lang="en-US" sz="2000" b="1" dirty="0">
                <a:latin typeface="+mj-lt"/>
                <a:ea typeface="Cambria Math" panose="02040503050406030204" pitchFamily="18" charset="0"/>
                <a:cs typeface="Arial"/>
                <a:sym typeface="Arial"/>
              </a:rPr>
              <a:t>immune to wheel slip</a:t>
            </a:r>
            <a:r>
              <a:rPr lang="en-US" sz="2000" dirty="0">
                <a:latin typeface="+mj-lt"/>
                <a:ea typeface="Cambria Math" panose="02040503050406030204" pitchFamily="18" charset="0"/>
                <a:cs typeface="Arial"/>
                <a:sym typeface="Arial"/>
              </a:rPr>
              <a:t>, but drift over time due to integrated noise.</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Sensor Fusion is the mathematical process of combining these complementary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algorithms like Complementary Filters or Kalman Filters to merge the data.</a:t>
            </a:r>
          </a:p>
        </p:txBody>
      </p:sp>
      <p:sp>
        <p:nvSpPr>
          <p:cNvPr id="119" name="Google Shape;119;p29">
            <a:extLst>
              <a:ext uri="{FF2B5EF4-FFF2-40B4-BE49-F238E27FC236}">
                <a16:creationId xmlns:a16="http://schemas.microsoft.com/office/drawing/2014/main" id="{D3E99706-43F5-E2CC-6110-681317CD10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37D41-05DF-EED9-C42F-2D6CCB04BE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(9/10)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F5148C3-83FA-3D56-C528-763CF889AB1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08BDAD-B6E3-ABF9-6DC7-443405D705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760EB37-479E-38C3-2C5B-4C5A086254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4E265C-005B-78DB-F324-FBFBF4223E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59F94-09E0-04AF-0EB1-3385ABF453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B3DD9B-DE85-4A97-D002-0876EB133A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73098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A8285-DC09-1ED3-C502-2D0EE0A7887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7B62C66-340C-F490-FF7C-9F3B56DFC07F}"/>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Very briefly the Complementary Filter (very simple filter) blends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filtered signal and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filtered signal.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heading, we pass the integrated Gyro data through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 (trusting it in the short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pass an absolute heading measurement (like a Magnetometer, if available) through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 (trusting it in the long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r>
                        <a:rPr lang="en-US" sz="2000" b="0" i="1" dirty="0" smtClean="0">
                          <a:latin typeface="Cambria Math" panose="02040503050406030204" pitchFamily="18" charset="0"/>
                          <a:ea typeface="Cambria Math" panose="02040503050406030204" pitchFamily="18" charset="0"/>
                          <a:cs typeface="Arial"/>
                          <a:sym typeface="Arial"/>
                        </a:rPr>
                        <m:t>𝛼</m:t>
                      </m:r>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𝜔</m:t>
                              </m:r>
                            </m:e>
                            <m:sub>
                              <m:r>
                                <a:rPr lang="en-US" sz="2000" b="0" i="1" dirty="0" smtClean="0">
                                  <a:latin typeface="Cambria Math" panose="02040503050406030204" pitchFamily="18" charset="0"/>
                                  <a:ea typeface="Cambria Math" panose="02040503050406030204" pitchFamily="18" charset="0"/>
                                  <a:cs typeface="Arial"/>
                                  <a:sym typeface="Arial"/>
                                </a:rPr>
                                <m:t>𝑔𝑦𝑟𝑜</m:t>
                              </m:r>
                            </m:sub>
                          </m:sSub>
                          <m:r>
                            <m:rPr>
                              <m:sty m:val="p"/>
                            </m:rPr>
                            <a:rPr lang="en-US" sz="2000" b="0" i="0" dirty="0" smtClean="0">
                              <a:latin typeface="Cambria Math" panose="02040503050406030204" pitchFamily="18" charset="0"/>
                              <a:ea typeface="Cambria Math" panose="02040503050406030204" pitchFamily="18" charset="0"/>
                              <a:cs typeface="Arial"/>
                              <a:sym typeface="Arial"/>
                            </a:rPr>
                            <m:t>Δ</m:t>
                          </m:r>
                          <m:r>
                            <a:rPr lang="en-US" sz="2000" b="0" i="1" dirty="0" smtClean="0">
                              <a:latin typeface="Cambria Math" panose="02040503050406030204" pitchFamily="18" charset="0"/>
                              <a:ea typeface="Cambria Math" panose="02040503050406030204" pitchFamily="18" charset="0"/>
                              <a:cs typeface="Arial"/>
                              <a:sym typeface="Arial"/>
                            </a:rPr>
                            <m:t>𝑡</m:t>
                          </m:r>
                        </m:e>
                      </m:d>
                      <m:r>
                        <a:rPr lang="en-US" sz="2000" b="0" i="1" dirty="0" smtClean="0">
                          <a:latin typeface="Cambria Math" panose="02040503050406030204" pitchFamily="18" charset="0"/>
                          <a:ea typeface="Cambria Math" panose="02040503050406030204" pitchFamily="18" charset="0"/>
                          <a:cs typeface="Arial"/>
                          <a:sym typeface="Arial"/>
                        </a:rPr>
                        <m:t>+</m:t>
                      </m:r>
                      <m:d>
                        <m:dPr>
                          <m:ctrlPr>
                            <a:rPr lang="en-US" sz="2000" b="0" i="1" dirty="0" smtClean="0">
                              <a:latin typeface="Cambria Math" panose="02040503050406030204" pitchFamily="18" charset="0"/>
                              <a:ea typeface="Cambria Math" panose="02040503050406030204" pitchFamily="18" charset="0"/>
                              <a:cs typeface="Arial"/>
                              <a:sym typeface="Arial"/>
                            </a:rPr>
                          </m:ctrlPr>
                        </m:dPr>
                        <m:e>
                          <m:r>
                            <a:rPr lang="en-US" sz="2000" b="0" i="1" dirty="0" smtClean="0">
                              <a:latin typeface="Cambria Math" panose="02040503050406030204" pitchFamily="18" charset="0"/>
                              <a:ea typeface="Cambria Math" panose="02040503050406030204" pitchFamily="18" charset="0"/>
                              <a:cs typeface="Arial"/>
                              <a:sym typeface="Arial"/>
                            </a:rPr>
                            <m:t>1−</m:t>
                          </m:r>
                          <m:r>
                            <a:rPr lang="en-US" sz="2000" b="0" i="1" dirty="0" smtClean="0">
                              <a:latin typeface="Cambria Math" panose="02040503050406030204" pitchFamily="18" charset="0"/>
                              <a:ea typeface="Cambria Math" panose="02040503050406030204" pitchFamily="18" charset="0"/>
                              <a:cs typeface="Arial"/>
                              <a:sym typeface="Arial"/>
                            </a:rPr>
                            <m:t>𝛼</m:t>
                          </m:r>
                        </m:e>
                      </m:d>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𝑚𝑎𝑔</m:t>
                              </m:r>
                            </m:sub>
                          </m:sSub>
                        </m:e>
                      </m:d>
                    </m:oMath>
                  </m:oMathPara>
                </a14:m>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Where </a:t>
                </a:r>
                <a14:m>
                  <m:oMath xmlns:m="http://schemas.openxmlformats.org/officeDocument/2006/math">
                    <m:r>
                      <a:rPr lang="en-US" sz="2000" i="1" dirty="0">
                        <a:latin typeface="Cambria Math" panose="02040503050406030204" pitchFamily="18" charset="0"/>
                        <a:ea typeface="Cambria Math" panose="02040503050406030204" pitchFamily="18" charset="0"/>
                        <a:cs typeface="Arial"/>
                        <a:sym typeface="Arial"/>
                      </a:rPr>
                      <m:t>𝛼</m:t>
                    </m:r>
                  </m:oMath>
                </a14:m>
                <a:r>
                  <a:rPr lang="en-US" sz="2000" b="0" dirty="0">
                    <a:latin typeface="+mj-lt"/>
                    <a:ea typeface="Cambria Math" panose="02040503050406030204" pitchFamily="18" charset="0"/>
                    <a:cs typeface="Arial"/>
                    <a:sym typeface="Arial"/>
                  </a:rPr>
                  <a:t> is a tuning constant close to 1 (e.g., 0.98).</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essential an </a:t>
                </a:r>
                <a:r>
                  <a:rPr lang="en-US" sz="2000" b="1" dirty="0">
                    <a:latin typeface="+mj-lt"/>
                    <a:ea typeface="Cambria Math" panose="02040503050406030204" pitchFamily="18" charset="0"/>
                    <a:cs typeface="Arial"/>
                    <a:sym typeface="Arial"/>
                  </a:rPr>
                  <a:t>exponential moving average</a:t>
                </a:r>
                <a:r>
                  <a:rPr lang="en-US" sz="2000" b="0" dirty="0">
                    <a:latin typeface="+mj-lt"/>
                    <a:ea typeface="Cambria Math" panose="02040503050406030204" pitchFamily="18" charset="0"/>
                    <a:cs typeface="Arial"/>
                    <a:sym typeface="Arial"/>
                  </a:rPr>
                  <a:t>,</a:t>
                </a:r>
              </a:p>
            </p:txBody>
          </p:sp>
        </mc:Choice>
        <mc:Fallback xmlns="">
          <p:sp>
            <p:nvSpPr>
              <p:cNvPr id="118" name="Google Shape;118;p29">
                <a:extLst>
                  <a:ext uri="{FF2B5EF4-FFF2-40B4-BE49-F238E27FC236}">
                    <a16:creationId xmlns:a16="http://schemas.microsoft.com/office/drawing/2014/main" id="{47B62C66-340C-F490-FF7C-9F3B56DFC07F}"/>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3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B87A26-8095-AF99-227F-510FB5C3B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E31207-2716-447E-2BA9-E1B9A7D251C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(10/10)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2A9982-05DB-6F73-B8EC-D09B27E42C8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9DEF0-5402-0DB2-7D7A-3DBD5AFDE8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F00F84-60E9-B614-EAC2-ED2315745D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C4F01B-EC53-802F-C922-49E25B4406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412205-CE9E-29CB-0CEC-BF3D44E90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77C12-A39B-4531-DC7D-AED77A785D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608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F40AAD7-3C70-0239-BE97-EF6B1AEBBC1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381550B-E51B-39E7-AB68-DF10E73EB82D}"/>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SLAM</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VERY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86C8F2C-3094-70B9-E5B7-0A254DCCDB7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49ED9E9-3E25-C0E2-CB1B-3FCF0628DC3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44D8AC0-C32F-A041-B910-965B57F1823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6DDEACD-1773-6FF9-7690-1230679E5BC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4695ABA-95A9-C78B-810A-C68E4452EC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926152-23DF-12CF-E52B-4C5D5F6CA9C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C32CFBC-7B48-C0B6-0953-B829AB823F6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D90CE1-8CF2-827A-46DE-1DE9B00D24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71DF5EA-F26C-A777-C778-5B0F0DF4A3A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89172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EB45AC-EA78-3764-0C90-46082F038F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2CD263-623E-E1DA-AC7D-BD304FCD99FC}"/>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Even with perfect sensor fusion of internal sensors, drift will eventually occur.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To truly fix our global position, we must look at the external world using active or passive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detect </a:t>
            </a:r>
            <a:r>
              <a:rPr lang="en-US" sz="2000" b="1" dirty="0">
                <a:latin typeface="+mj-lt"/>
                <a:ea typeface="Cambria Math" panose="02040503050406030204" pitchFamily="18" charset="0"/>
                <a:cs typeface="Arial"/>
                <a:sym typeface="Arial"/>
              </a:rPr>
              <a:t>Landmarks</a:t>
            </a:r>
            <a:r>
              <a:rPr lang="en-US" sz="2000" dirty="0">
                <a:latin typeface="+mj-lt"/>
                <a:ea typeface="Cambria Math" panose="02040503050406030204" pitchFamily="18" charset="0"/>
                <a:cs typeface="Arial"/>
                <a:sym typeface="Arial"/>
              </a:rPr>
              <a:t>: recognizable, distinct features in the environment with known coordinates.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we see a landmark, we calculate our relative distance to it and use that to instantly reset our accumulated odometry error.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you are driving / walking and you are lost what are some landmarks that you use to relocate yourself?</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Examples: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buildings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road names</a:t>
            </a:r>
          </a:p>
        </p:txBody>
      </p:sp>
      <p:sp>
        <p:nvSpPr>
          <p:cNvPr id="119" name="Google Shape;119;p29">
            <a:extLst>
              <a:ext uri="{FF2B5EF4-FFF2-40B4-BE49-F238E27FC236}">
                <a16:creationId xmlns:a16="http://schemas.microsoft.com/office/drawing/2014/main" id="{37B0DD54-FC64-0F3B-F71B-8C1058204A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D2AB1D-5CF6-B189-3F48-52DE03AEB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 (1/5)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7EE7A8-1B97-72AC-E06B-2EBD3A60E6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7044C4-B1F4-C675-0908-CB705CD61D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3C3E96-5D03-CF53-7CB2-38025197893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CCF6D3-45A9-68B5-8CDD-17CA1675D7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2EA43F-98B8-E675-26FE-19217803E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A9E4EA-919D-2DE5-13C6-78E390C58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8347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20967-0045-E533-F966-4754683C97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513AC27-5103-E9B7-BB43-E214728B8C7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2 sensors that we can use in our robot is the LiDAR and the camera.</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the camera, we can create specific tags to place in the environment as landmarks. The most common is called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If you cannot place landmarks in your environment, then it becomes much more complicated as a process: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Look at images, find pixels that represent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At the next frame match to find those previous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Calculate the 6DOF movement your camera did to achieve the landmark transform</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Calculculate the odometry</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If you perform a loop, correct any error through loop closure</a:t>
            </a:r>
          </a:p>
        </p:txBody>
      </p:sp>
      <p:sp>
        <p:nvSpPr>
          <p:cNvPr id="119" name="Google Shape;119;p29">
            <a:extLst>
              <a:ext uri="{FF2B5EF4-FFF2-40B4-BE49-F238E27FC236}">
                <a16:creationId xmlns:a16="http://schemas.microsoft.com/office/drawing/2014/main" id="{37281661-9413-8F8C-B65D-A007B4F965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42C6EE-4DE4-86E2-C13A-CA06F30AC7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 (2/5)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AE86D17-8E98-6A63-6B74-D2408714F3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F4C9FC-87B0-08FB-A25B-DA4A75C8A2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DFA5E1E-7EB5-751C-7BD1-C1810D3816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2F08FA-B9EE-CE20-0AE6-266072DD1C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C10FC1-36A0-F976-0DB8-6F992C4FC8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AA4580-E7EB-4864-2967-CE885B803F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40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A8ACF3-73D5-55D0-CFD9-1C5F043320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F6559EB-E085-7ED1-DBA5-EBF170C9C6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9A4914-5ED0-DC4A-37F7-3B2C6E997D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 (3/5)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C8F399-7B1F-2B67-C6D7-59AAD64389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5AD0B2-69C1-51AB-7871-70CC031F9A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7DF00C-6079-0A18-5CEA-A4BE451EC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9B5354-B8AA-C744-144F-8BA91C99C6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8FB027-9172-FA8F-FA88-F24C844172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59704A-6EAA-B4AD-6978-179821A836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F76EE2-92E0-0223-2826-F4330C0AA86E}"/>
              </a:ext>
            </a:extLst>
          </p:cNvPr>
          <p:cNvSpPr>
            <a:spLocks noGrp="1"/>
          </p:cNvSpPr>
          <p:nvPr>
            <p:ph type="body" idx="1"/>
          </p:nvPr>
        </p:nvSpPr>
        <p:spPr/>
        <p:txBody>
          <a:bodyPr/>
          <a:lstStyle/>
          <a:p>
            <a:endParaRPr lang="en-US" dirty="0"/>
          </a:p>
        </p:txBody>
      </p:sp>
      <p:pic>
        <p:nvPicPr>
          <p:cNvPr id="2050" name="Picture 2" descr="Comparison of two monocular SLAM runs in the same low-texture hallway. Top: point-only ORB-SLAM builds a sparse point map and a camera trajectory along three sides of a loop, then fails; its camera view of a plain corridor reads &quot;Track lost. Trying to relocalize.&quot; Bottom: PSL-SLAM, using points plus structure lines, tracks the full closed rectangular loop. Its camera view shows many detected line and point features on the walls and ceiling, with 219 keyframes, 8048 map points, and 377 matches.">
            <a:extLst>
              <a:ext uri="{FF2B5EF4-FFF2-40B4-BE49-F238E27FC236}">
                <a16:creationId xmlns:a16="http://schemas.microsoft.com/office/drawing/2014/main" id="{3FF978FE-3B23-FBD7-7C9B-C9235E17D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78762" y="961569"/>
            <a:ext cx="5127513" cy="524777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64AF9AD-162D-1E9E-9C01-61B463D08624}"/>
              </a:ext>
            </a:extLst>
          </p:cNvPr>
          <p:cNvSpPr txBox="1"/>
          <p:nvPr/>
        </p:nvSpPr>
        <p:spPr>
          <a:xfrm>
            <a:off x="6978762" y="6170559"/>
            <a:ext cx="5067300" cy="369332"/>
          </a:xfrm>
          <a:prstGeom prst="rect">
            <a:avLst/>
          </a:prstGeom>
          <a:noFill/>
        </p:spPr>
        <p:txBody>
          <a:bodyPr wrap="square">
            <a:spAutoFit/>
          </a:bodyPr>
          <a:lstStyle/>
          <a:p>
            <a:pPr algn="ctr"/>
            <a:r>
              <a:rPr lang="en-US" sz="900" dirty="0">
                <a:hlinkClick r:id="rId5"/>
              </a:rPr>
              <a:t>https://www.researchgate.net/publication/355183350_PSL-SLAM_a_monocular_SLAM_system_using_points_and_structure_lines_in_Manhattan_World</a:t>
            </a:r>
            <a:r>
              <a:rPr lang="en-US" sz="900" dirty="0"/>
              <a:t> </a:t>
            </a:r>
          </a:p>
        </p:txBody>
      </p:sp>
      <p:pic>
        <p:nvPicPr>
          <p:cNvPr id="3074" name="Picture 2" descr="Photo: about ten small white four-wheeled robots with antennas and cameras parked on a park path and lawn, each with black-and-white AprilTag markers on its sides and top. An enlarged inset shows one AprilTag, a square grid of black and white cells with a black border that cameras can detect to identify each robot and estimate its position and orientation.">
            <a:extLst>
              <a:ext uri="{FF2B5EF4-FFF2-40B4-BE49-F238E27FC236}">
                <a16:creationId xmlns:a16="http://schemas.microsoft.com/office/drawing/2014/main" id="{75E36511-A060-74B2-042C-98B852A9EF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1786841"/>
            <a:ext cx="6979146" cy="353374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CFB65907-4711-BE75-9EBD-F89FDFB51589}"/>
              </a:ext>
            </a:extLst>
          </p:cNvPr>
          <p:cNvSpPr txBox="1"/>
          <p:nvPr/>
        </p:nvSpPr>
        <p:spPr>
          <a:xfrm>
            <a:off x="1606798" y="6228302"/>
            <a:ext cx="3765550" cy="246221"/>
          </a:xfrm>
          <a:prstGeom prst="rect">
            <a:avLst/>
          </a:prstGeom>
          <a:noFill/>
        </p:spPr>
        <p:txBody>
          <a:bodyPr wrap="square">
            <a:spAutoFit/>
          </a:bodyPr>
          <a:lstStyle/>
          <a:p>
            <a:pPr algn="ctr"/>
            <a:r>
              <a:rPr lang="en-US" sz="1000" dirty="0">
                <a:hlinkClick r:id="rId7"/>
              </a:rPr>
              <a:t>https://april.eecs.umich.edu/software/apriltag</a:t>
            </a:r>
            <a:r>
              <a:rPr lang="en-US" sz="1000" dirty="0"/>
              <a:t> </a:t>
            </a:r>
          </a:p>
        </p:txBody>
      </p:sp>
    </p:spTree>
    <p:extLst>
      <p:ext uri="{BB962C8B-B14F-4D97-AF65-F5344CB8AC3E}">
        <p14:creationId xmlns:p14="http://schemas.microsoft.com/office/powerpoint/2010/main" val="12006633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8282C2-B8F7-2C7A-F07C-5EF82EFDEC3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CE1ED7-1976-2C3A-F985-18B04F2C078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What if there are no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and we don’t know the map beforehand?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t>
            </a:r>
            <a:r>
              <a:rPr lang="en-US" sz="2000" b="1" dirty="0">
                <a:latin typeface="+mj-lt"/>
                <a:ea typeface="Cambria Math" panose="02040503050406030204" pitchFamily="18" charset="0"/>
                <a:cs typeface="Arial"/>
                <a:sym typeface="Arial"/>
              </a:rPr>
              <a:t>SLAM: Simultaneous Localization and Mapping</a:t>
            </a:r>
            <a:r>
              <a:rPr lang="en-US" sz="200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rapidly spinning LiDAR generates a dense 2D point cloud.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As the robot moves, it takes a new point cloud scan and compares it to the previous scan.</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How do we align two-point clouds taken a few seconds apart?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a:t>
            </a:r>
            <a:r>
              <a:rPr lang="en-US" sz="2000" b="1" dirty="0">
                <a:latin typeface="+mj-lt"/>
                <a:ea typeface="Cambria Math" panose="02040503050406030204" pitchFamily="18" charset="0"/>
                <a:cs typeface="Arial"/>
                <a:sym typeface="Arial"/>
              </a:rPr>
              <a:t>Iterative Closest Point </a:t>
            </a:r>
            <a:r>
              <a:rPr lang="en-US" sz="2000" dirty="0">
                <a:latin typeface="+mj-lt"/>
                <a:ea typeface="Cambria Math" panose="02040503050406030204" pitchFamily="18" charset="0"/>
                <a:cs typeface="Arial"/>
                <a:sym typeface="Arial"/>
              </a:rPr>
              <a:t>(ICP) algorithm rotates and translates the new scan until it best overlaps with the old scan.</a:t>
            </a: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required rotation and translation to make them match is exactly how much the robot moved.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This provides highly accurate odometry without relying on wheel friction!</a:t>
            </a:r>
          </a:p>
        </p:txBody>
      </p:sp>
      <p:sp>
        <p:nvSpPr>
          <p:cNvPr id="119" name="Google Shape;119;p29">
            <a:extLst>
              <a:ext uri="{FF2B5EF4-FFF2-40B4-BE49-F238E27FC236}">
                <a16:creationId xmlns:a16="http://schemas.microsoft.com/office/drawing/2014/main" id="{3D2CBD79-B09D-4A1A-D424-198FE3FCF82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1CF9B9-16B9-FD6A-65BB-39BA1BC53D4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 (4/5)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A74EE3-353C-BFEB-02A1-EB2ADA66BB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DBA326-B5E5-2C59-1228-C66D18D7C7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534A93-68BD-813E-749E-0067982419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32EEC3-8BF1-8EEE-86F6-1FC36B036F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F00C73-C1E8-9FBB-D56F-9D11722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2CF559-1ACB-C91F-F963-7AFB3AB911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6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402C20-D953-7C0C-D93B-860DAD41BE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86DAF9B-3B5F-D59E-B260-648DB1D97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7B7ACA-492A-FE25-9EF8-B9DADD8094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 (5/5)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335854-BF20-4E4F-D021-B1F0B24AAD0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6A320B-E0AF-7459-5905-3E723742E5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5D5065-1E47-71C0-FB3B-D7D0402DE4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48CC38-4904-8F30-D988-04467539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35E5C1-F08F-6552-9591-AC3C2BDB49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1CCFAA-C4F6-1B3E-8241-1AF794E32A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17BFE57B-5E75-7438-0A86-EE797C3EFD47}"/>
              </a:ext>
            </a:extLst>
          </p:cNvPr>
          <p:cNvSpPr>
            <a:spLocks noGrp="1"/>
          </p:cNvSpPr>
          <p:nvPr>
            <p:ph type="body" idx="1"/>
          </p:nvPr>
        </p:nvSpPr>
        <p:spPr/>
        <p:txBody>
          <a:bodyPr/>
          <a:lstStyle/>
          <a:p>
            <a:endParaRPr lang="en-US"/>
          </a:p>
        </p:txBody>
      </p:sp>
      <p:pic>
        <p:nvPicPr>
          <p:cNvPr id="4098" name="Picture 2" descr="Two side-by-side panels comparing point-to-point and point-to-plane Iterative Closest Point (ICP) scan matching on the Stanford bunny point cloud, both at iteration 0. In each, a red source scan and a blue target scan of the bunny are offset and rotated relative to each other, showing the initial misalignment that ICP iteratively corrects; the starting misalignment is identical in both panels.">
            <a:extLst>
              <a:ext uri="{FF2B5EF4-FFF2-40B4-BE49-F238E27FC236}">
                <a16:creationId xmlns:a16="http://schemas.microsoft.com/office/drawing/2014/main" id="{38F2D035-EEDF-B5B1-7F00-156C87F5E5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07672" y="1344132"/>
            <a:ext cx="6555753" cy="416973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6B1B59-D863-F10E-30F1-E16A89DDD63E}"/>
              </a:ext>
            </a:extLst>
          </p:cNvPr>
          <p:cNvSpPr txBox="1"/>
          <p:nvPr/>
        </p:nvSpPr>
        <p:spPr>
          <a:xfrm>
            <a:off x="3048000" y="6184228"/>
            <a:ext cx="6096000" cy="246221"/>
          </a:xfrm>
          <a:prstGeom prst="rect">
            <a:avLst/>
          </a:prstGeom>
          <a:noFill/>
        </p:spPr>
        <p:txBody>
          <a:bodyPr wrap="square">
            <a:spAutoFit/>
          </a:bodyPr>
          <a:lstStyle/>
          <a:p>
            <a:pPr algn="ctr"/>
            <a:r>
              <a:rPr lang="en-US" sz="1000" dirty="0">
                <a:hlinkClick r:id="rId5"/>
              </a:rPr>
              <a:t>https://learnopencv.com/iterative-closest-point-icp-explained/</a:t>
            </a:r>
            <a:r>
              <a:rPr lang="en-US" sz="1000" dirty="0"/>
              <a:t> </a:t>
            </a:r>
          </a:p>
        </p:txBody>
      </p:sp>
      <p:pic>
        <p:nvPicPr>
          <p:cNvPr id="7" name="Picture 6" descr="Plot: iterative closest point (ICP) alignment at iteration 0, mean error not yet computed. Red source points A, the set to be moved, trace one sine-wave period from (0, 0) up to about 1 near x = 1.4, down to about minus 1 near x = 4.9, and back to 0 at x = 6.3. Blue target points B form the same wave shape, rotated counterclockwise and shifted up and right, running from about (2.1, 0.3) to (7.6, 3.2). ICP must find the rotation and translation that align A onto B.">
            <a:extLst>
              <a:ext uri="{FF2B5EF4-FFF2-40B4-BE49-F238E27FC236}">
                <a16:creationId xmlns:a16="http://schemas.microsoft.com/office/drawing/2014/main" id="{749C5622-0D26-7FC2-2E63-53E62FF28A68}"/>
              </a:ext>
            </a:extLst>
          </p:cNvPr>
          <p:cNvPicPr>
            <a:picLocks noChangeAspect="1"/>
          </p:cNvPicPr>
          <p:nvPr/>
        </p:nvPicPr>
        <p:blipFill>
          <a:blip r:embed="rId6"/>
          <a:stretch>
            <a:fillRect/>
          </a:stretch>
        </p:blipFill>
        <p:spPr>
          <a:xfrm>
            <a:off x="28575" y="1347554"/>
            <a:ext cx="5550522" cy="4162892"/>
          </a:xfrm>
          <a:prstGeom prst="rect">
            <a:avLst/>
          </a:prstGeom>
        </p:spPr>
      </p:pic>
    </p:spTree>
    <p:extLst>
      <p:ext uri="{BB962C8B-B14F-4D97-AF65-F5344CB8AC3E}">
        <p14:creationId xmlns:p14="http://schemas.microsoft.com/office/powerpoint/2010/main" val="17041984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1097</TotalTime>
  <Words>2885</Words>
  <Application>Microsoft Office PowerPoint</Application>
  <PresentationFormat>Widescreen</PresentationFormat>
  <Paragraphs>447</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227</cp:revision>
  <dcterms:created xsi:type="dcterms:W3CDTF">2019-01-14T22:06:33Z</dcterms:created>
  <dcterms:modified xsi:type="dcterms:W3CDTF">2026-03-11T20:15:22Z</dcterms:modified>
  <dc:title>SE 423 Lecture 15: Coordinate Transforms &amp; Dead-reckoning</dc:title>
</cp:coreProperties>
</file>