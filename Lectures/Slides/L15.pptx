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9"/>
  </p:notesMasterIdLst>
  <p:sldIdLst>
    <p:sldId id="256" r:id="rId2"/>
    <p:sldId id="417" r:id="rId3"/>
    <p:sldId id="413" r:id="rId4"/>
    <p:sldId id="272" r:id="rId5"/>
    <p:sldId id="258" r:id="rId6"/>
    <p:sldId id="418" r:id="rId7"/>
    <p:sldId id="419" r:id="rId8"/>
    <p:sldId id="431" r:id="rId9"/>
    <p:sldId id="420" r:id="rId10"/>
    <p:sldId id="422" r:id="rId11"/>
    <p:sldId id="421" r:id="rId12"/>
    <p:sldId id="423" r:id="rId13"/>
    <p:sldId id="424" r:id="rId14"/>
    <p:sldId id="425" r:id="rId15"/>
    <p:sldId id="426" r:id="rId16"/>
    <p:sldId id="427" r:id="rId17"/>
    <p:sldId id="428" r:id="rId18"/>
    <p:sldId id="429" r:id="rId19"/>
    <p:sldId id="430" r:id="rId20"/>
    <p:sldId id="432" r:id="rId21"/>
    <p:sldId id="433" r:id="rId22"/>
    <p:sldId id="434" r:id="rId23"/>
    <p:sldId id="435" r:id="rId24"/>
    <p:sldId id="259" r:id="rId25"/>
    <p:sldId id="260" r:id="rId26"/>
    <p:sldId id="261" r:id="rId27"/>
    <p:sldId id="262" r:id="rId28"/>
    <p:sldId id="263" r:id="rId29"/>
    <p:sldId id="264" r:id="rId30"/>
    <p:sldId id="265" r:id="rId31"/>
    <p:sldId id="266" r:id="rId32"/>
    <p:sldId id="267" r:id="rId33"/>
    <p:sldId id="268" r:id="rId34"/>
    <p:sldId id="269" r:id="rId35"/>
    <p:sldId id="257" r:id="rId36"/>
    <p:sldId id="271" r:id="rId37"/>
    <p:sldId id="270" r:id="rId3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0"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B53992-DBCC-1A47-D509-2283B20A38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6DA2EB-93A5-88B8-DC24-FDB0D7C203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478B48-83E8-4F87-AFC3-6B61F37266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061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2299D0-F2DF-2356-8F5D-682A0BE7C9F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BFF871-D58C-A13F-05E6-8187B1841C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A7B009-B8C1-1542-E4CE-DCB5DF2C63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28028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BDCF605-DB66-3DD8-A8A0-6D35958FA67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02E670-274B-DC92-6DB4-BFE4DE6C15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11C997B-FB9B-774B-A490-29210A94FA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665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B651D49-3479-47FA-7613-7F7702EE7D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4F75C1-2CF2-34C0-628E-6E9C6FAAEE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DA9332-2978-2177-38B5-199FC4B4F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8860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F33BE4-7944-0CAC-5025-FDDEFA89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3DD3F6-0220-7B32-EFA0-6D346AE14DB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49740B-1434-96E0-9676-BA411739A3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87787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5A1C2D-BECA-E00E-F164-FF942FFBD53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31F6D0-06BD-901E-DF0D-C74E488C3F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DDECD3-ECE8-3672-CFE4-E18B766A61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07305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021E94-44B8-042C-6B56-F12EBC032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B3D157-37C5-4682-E55E-3DA940A373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B970C-19F6-D507-BC57-D1ED575003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24680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CAC9A3-7125-FD97-0CA4-A355EEE39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19C0B7-7AE7-11C0-74B4-E0B94DFEA5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42D5B97-F6BA-0D23-7160-3CB1F275915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715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87C942-D3CF-1804-8160-A38896B35D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FE11EB-6697-2CB2-9EAF-C7E6F2392D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544C7C4-01B9-E1A6-5D43-A05FE36ED2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13407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004C50-F47E-3B80-F9D3-3739D7D6B5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4E0809-82D7-C156-383F-518AE8E408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71A57EE-2D5E-F334-A42F-B62547745A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36539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64C2C3-87F7-1595-A01A-6F364F1F8A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F55EC0-3655-24FE-F888-BD002EFC09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FBF68B-B41F-C902-C4E0-EB730111C2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019078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332CC8-A2C1-CE72-3B84-DEFCEA9495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CAC600-6939-5063-9D45-2AC087D7FF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BF6BC-389E-B6CA-CB50-D93BE7AE30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64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8BF7BF-60B9-DA48-4BBA-5AE075B789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52BEC4-864E-8F7F-A658-A7B016F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18C965-0CD5-C9CE-69E8-F3852ECC9E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6120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99F037-8C12-8E40-3C8A-7B9469DE6E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F04FE2-FC42-93C3-5D44-30170411F5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5C32F6B-4D61-6B49-5521-323F0FA5AA7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735204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8477EE1-B993-CD06-EEBA-78F4E3E996A7}"/>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DDE1DD-0E78-2BFA-2A76-8DED2AF53B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D793B7F-E5AF-6B99-0CD5-C800BF336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5071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501867-95D6-B00D-B73A-61ADCE518A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56DAAE-3D4D-31C8-FB91-1907718A15A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A39EDE-9C73-1A82-E878-714DAFCE79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461698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0165D6-2B0F-CB6D-C842-2A2FF9492C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026F1C-4C24-07F8-27C2-86F7FD232D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DF6B970-ADAE-795C-7359-E1A3A3509F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44517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BCA9D6-B738-6212-9801-A17EA0F7D7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EC23B1-F7A4-CD59-51F9-9B142FEFE7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A8222C-089B-B207-19A5-D181061FD2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37960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www.frontiersin.org/journals/robotics-and-ai/articles/10.3389/frobt.2025.1671673/full" TargetMode="External"/><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hyperlink" Target="https://en.wikipedia.org/wiki/Differential_wheeled_robot"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15: Coordinate Transforms &amp; Dead-reckoning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March 11</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Sensors have noise, including the IMUs, what happens when you compute the position from the IMU?</a:t>
            </a:r>
          </a:p>
          <a:p>
            <a:pPr marL="285750" indent="-285750">
              <a:lnSpc>
                <a:spcPct val="100000"/>
              </a:lnSpc>
              <a:spcBef>
                <a:spcPts val="0"/>
              </a:spcBef>
              <a:buSzPts val="3000"/>
            </a:pPr>
            <a:r>
              <a:rPr lang="en-US" sz="2400" dirty="0">
                <a:latin typeface="Arial"/>
                <a:ea typeface="Arial"/>
                <a:cs typeface="Arial"/>
                <a:sym typeface="Arial"/>
              </a:rPr>
              <a:t>Why would one use a LiDAR or such a sensor for navigation?</a:t>
            </a:r>
          </a:p>
          <a:p>
            <a:pPr marL="285750" indent="-285750">
              <a:lnSpc>
                <a:spcPct val="100000"/>
              </a:lnSpc>
              <a:spcBef>
                <a:spcPts val="0"/>
              </a:spcBef>
              <a:buSzPts val="3000"/>
            </a:pPr>
            <a:r>
              <a:rPr lang="en-US" sz="2400" dirty="0">
                <a:latin typeface="Arial"/>
                <a:ea typeface="Arial"/>
                <a:cs typeface="Arial"/>
                <a:sym typeface="Arial"/>
              </a:rPr>
              <a:t>Stand up and with your partner and:</a:t>
            </a:r>
          </a:p>
          <a:p>
            <a:pPr marL="742950" lvl="1" indent="-285750">
              <a:lnSpc>
                <a:spcPct val="100000"/>
              </a:lnSpc>
              <a:spcBef>
                <a:spcPts val="0"/>
              </a:spcBef>
              <a:buSzPts val="3000"/>
            </a:pPr>
            <a:r>
              <a:rPr lang="en-US" sz="2000" dirty="0">
                <a:latin typeface="Arial"/>
                <a:ea typeface="Arial"/>
                <a:cs typeface="Arial"/>
                <a:sym typeface="Arial"/>
              </a:rPr>
              <a:t>Agree on a target position and a starting point</a:t>
            </a:r>
          </a:p>
          <a:p>
            <a:pPr marL="742950" lvl="1" indent="-285750">
              <a:lnSpc>
                <a:spcPct val="100000"/>
              </a:lnSpc>
              <a:spcBef>
                <a:spcPts val="0"/>
              </a:spcBef>
              <a:buSzPts val="3000"/>
            </a:pPr>
            <a:r>
              <a:rPr lang="en-US" sz="2000" dirty="0">
                <a:latin typeface="Arial"/>
                <a:ea typeface="Arial"/>
                <a:cs typeface="Arial"/>
                <a:sym typeface="Arial"/>
              </a:rPr>
              <a:t>Discuss ways how one would go from point A to B as accurately as possible with their eyes closed.</a:t>
            </a:r>
          </a:p>
          <a:p>
            <a:pPr marL="742950" lvl="1" indent="-285750">
              <a:lnSpc>
                <a:spcPct val="100000"/>
              </a:lnSpc>
              <a:spcBef>
                <a:spcPts val="0"/>
              </a:spcBef>
              <a:buSzPts val="3000"/>
            </a:pPr>
            <a:r>
              <a:rPr lang="en-US" sz="2000" dirty="0">
                <a:latin typeface="Arial"/>
                <a:ea typeface="Arial"/>
                <a:cs typeface="Arial"/>
                <a:sym typeface="Arial"/>
              </a:rPr>
              <a:t>One of you closes your eyes (the partner should keep the other safe during the activity) and performs the strategy to try to get from point A to B. The other partner should not provide information during that time (Dead-Reckoning).</a:t>
            </a:r>
          </a:p>
          <a:p>
            <a:pPr marL="742950" lvl="1" indent="-285750">
              <a:lnSpc>
                <a:spcPct val="100000"/>
              </a:lnSpc>
              <a:spcBef>
                <a:spcPts val="0"/>
              </a:spcBef>
              <a:buSzPts val="3000"/>
            </a:pPr>
            <a:r>
              <a:rPr lang="en-US" sz="2000" dirty="0">
                <a:latin typeface="Arial"/>
                <a:ea typeface="Arial"/>
                <a:cs typeface="Arial"/>
                <a:sym typeface="Arial"/>
              </a:rPr>
              <a:t>Now redo the task but now your partner can only tell you distance to the target as well (type IR sensor).</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Spring Break next week, no 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4"/>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Localization</a:t>
            </a:r>
            <a:endParaRPr dirty="0"/>
          </a:p>
          <a:p>
            <a:pPr marL="0" marR="0" lvl="0" indent="0" algn="ctr" rtl="0">
              <a:lnSpc>
                <a:spcPct val="100000"/>
              </a:lnSpc>
              <a:spcBef>
                <a:spcPts val="0"/>
              </a:spcBef>
              <a:spcAft>
                <a:spcPts val="0"/>
              </a:spcAft>
              <a:buClr>
                <a:srgbClr val="000000"/>
              </a:buClr>
              <a:buSzPts val="1800"/>
              <a:buFont typeface="Arial"/>
              <a:buNone/>
            </a:pPr>
            <a:endParaRPr sz="1800" b="1" i="0" u="none" strike="noStrike" cap="none" dirty="0">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dirty="0">
                <a:solidFill>
                  <a:srgbClr val="15264B"/>
                </a:solidFill>
                <a:latin typeface="Arial"/>
                <a:ea typeface="Arial"/>
                <a:cs typeface="Arial"/>
                <a:sym typeface="Arial"/>
              </a:rPr>
              <a:t>(A brief introduction.)</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D54E6D-ADE0-FF7B-8B3B-FBB787005E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34F85F-14ED-8196-483A-A9B0CBE868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now have sensors to figure out where obstacles are. We have sensors to figure out the internal state of the robot.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 also know how to make a robot drive straight or follow a wall using feedback control.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if we ask the robot to “go to coordinates (5, 5) on the map,” how does it know where it currently is?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the fundamental question of </a:t>
            </a:r>
            <a:r>
              <a:rPr lang="en-US" sz="2400" b="1" dirty="0">
                <a:latin typeface="Arial"/>
                <a:ea typeface="Arial"/>
                <a:cs typeface="Arial"/>
                <a:sym typeface="Arial"/>
              </a:rPr>
              <a:t>Localization</a:t>
            </a:r>
            <a:r>
              <a:rPr lang="en-US" sz="24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13215573-5A7C-3A19-B5FC-59A2DAECE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2BE7C5-E357-C849-95D1-A8AFC2B878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3909E4A-4D7E-B978-3B33-F09D062D44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4271AA3-DDA8-8911-F3E0-99DCC109A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8E6136-75ED-E9E8-7811-4C19C9302C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E3BB8A-CC27-EE8F-6806-F3A5029472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81700D1-F08F-06B9-193E-676EC039D7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C927B8-E359-2078-0EE4-ADC57931A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6B0AB0-4051-A09B-7311-A4F931BA9B5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A21696-5A9A-3401-67CD-214B116713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To solve localization, we need to understand that the world is not perfect and not a single sensor gives the exact solution.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first estimate movement using internal sensors (Dead-Reckoning).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a problem with just using internal sensors?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internal sensors drift and accumulate errors!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Think of this as walking blind and relying on just counting your steps as you did at the beginning of the lecture.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Finally, we use external sensors (LiDAR, Cameras) to look at landmarks and correct these errors (SLAM)</a:t>
            </a:r>
          </a:p>
        </p:txBody>
      </p:sp>
      <p:sp>
        <p:nvSpPr>
          <p:cNvPr id="119" name="Google Shape;119;p29">
            <a:extLst>
              <a:ext uri="{FF2B5EF4-FFF2-40B4-BE49-F238E27FC236}">
                <a16:creationId xmlns:a16="http://schemas.microsoft.com/office/drawing/2014/main" id="{EB1C9771-CEDB-F231-50E7-056ABA96B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844BD46-26EE-7A92-2F40-585E66379FA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9C415F-6234-A563-9685-6C58F007F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01D358-E660-5A3A-79D7-E72117E7D0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D20787-DE13-FFAB-59C4-53CB0535AE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E81C41-95EC-5910-AE81-9E9E0016E9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CB493-F98D-DEB8-5A08-571961CCE9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2CB86-A719-5322-78B8-CD4308B7CD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8143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F4750B5-B14A-01C9-2B88-F206A73A34D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6D4F231-FAC7-950C-5B45-988055DD235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Coordinate Transformation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2E38B49-2E3A-FDD3-E87E-670AC8567A9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D84C68B-3657-9A09-BA27-13DFBD4178B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5955F79-2034-08CB-A687-A865D40FE7A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17795A85-70CE-C4BB-770A-9D34F3334B4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4D5F0B-0552-CD63-B00C-A9C2A0CD86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1B59352F-72AC-C977-FC71-D1436D4ABDC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0FE4BDD-F9D0-96A9-034F-99CDC779B4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C43F291-FBED-C820-8FD0-BF27F8527BF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EA57A2F-DF5A-9E87-A66E-340D67185C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19365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D68A14-2D43-55A7-F8C0-E002E2C62A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3FD844-676E-2C29-2373-9E0220DF013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robot experiences the world from its own perspective, which we call the </a:t>
            </a:r>
            <a:r>
              <a:rPr lang="en-US" sz="2200" b="1" dirty="0">
                <a:latin typeface="Arial"/>
                <a:ea typeface="Arial"/>
                <a:cs typeface="Arial"/>
                <a:sym typeface="Arial"/>
              </a:rPr>
              <a:t>Local Frame </a:t>
            </a:r>
            <a:r>
              <a:rPr lang="en-US" sz="2200" dirty="0">
                <a:latin typeface="Arial"/>
                <a:ea typeface="Arial"/>
                <a:cs typeface="Arial"/>
                <a:sym typeface="Arial"/>
              </a:rPr>
              <a:t>(or Body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map or the room exists in a fixed, global reference frame, called the </a:t>
            </a:r>
            <a:r>
              <a:rPr lang="en-US" sz="2200" b="1" dirty="0">
                <a:latin typeface="Arial"/>
                <a:ea typeface="Arial"/>
                <a:cs typeface="Arial"/>
                <a:sym typeface="Arial"/>
              </a:rPr>
              <a:t>Global / World Frame</a:t>
            </a:r>
            <a:r>
              <a:rPr lang="en-US" sz="2200" dirty="0">
                <a:latin typeface="Arial"/>
                <a:ea typeface="Arial"/>
                <a:cs typeface="Arial"/>
                <a:sym typeface="Arial"/>
              </a:rPr>
              <a:t> (or Inertial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driving a car, your local reference frame is your point of view inside the car, only you have that viewpoint, and the global reference is the shared viewpoint, which is provided by the GPS map.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Each of the sensors view its information in its own Local Frame; however, to navigate a room, we must translate the local sensor data into the global map!</a:t>
            </a:r>
          </a:p>
        </p:txBody>
      </p:sp>
      <p:sp>
        <p:nvSpPr>
          <p:cNvPr id="119" name="Google Shape;119;p29">
            <a:extLst>
              <a:ext uri="{FF2B5EF4-FFF2-40B4-BE49-F238E27FC236}">
                <a16:creationId xmlns:a16="http://schemas.microsoft.com/office/drawing/2014/main" id="{311CB4E9-9255-9A87-DA02-4531EC6F08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87E6F-1A16-5B7F-0DBD-EBB05D4C03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44F908-2DC1-FD6A-B6DD-0AE2DF0578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58C51D-5F5B-C5C1-7E3B-4E7961D336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A28F24-8ED6-D3C4-9D30-E11CE6FE4A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31BB56-3D10-4E51-1059-7704B1202A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D18472-15CC-951B-22D9-2D16BE443B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7BAC9-1191-2046-BCDC-AE807074BC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560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D5CD33-FBA4-E607-F00C-CE9B0B73E31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BD59CC6-7569-F8D1-B339-8E469DAB4A90}"/>
                  </a:ext>
                </a:extLst>
              </p:cNvPr>
              <p:cNvSpPr txBox="1">
                <a:spLocks noGrp="1"/>
              </p:cNvSpPr>
              <p:nvPr>
                <p:ph type="body" idx="1"/>
              </p:nvPr>
            </p:nvSpPr>
            <p:spPr>
              <a:xfrm>
                <a:off x="376809" y="1334279"/>
                <a:ext cx="584989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local frames of each of the sensors can be of different positions and orientation than the robot’s </a:t>
                </a:r>
                <a:r>
                  <a:rPr lang="en-US" sz="2200" b="1" dirty="0">
                    <a:latin typeface="Arial"/>
                    <a:ea typeface="Arial"/>
                    <a:cs typeface="Arial"/>
                    <a:sym typeface="Arial"/>
                  </a:rPr>
                  <a:t>body frame</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t>
                </a:r>
                <a:r>
                  <a:rPr lang="en-US" sz="2200" b="1" dirty="0">
                    <a:latin typeface="Arial"/>
                    <a:ea typeface="Arial"/>
                    <a:cs typeface="Arial"/>
                    <a:sym typeface="Arial"/>
                  </a:rPr>
                  <a:t>body frame</a:t>
                </a:r>
                <a:r>
                  <a:rPr lang="en-US" sz="2200" dirty="0">
                    <a:latin typeface="Arial"/>
                    <a:ea typeface="Arial"/>
                    <a:cs typeface="Arial"/>
                    <a:sym typeface="Arial"/>
                  </a:rPr>
                  <a:t> is typically the frame where you define the </a:t>
                </a:r>
                <a14:m>
                  <m:oMath xmlns:m="http://schemas.openxmlformats.org/officeDocument/2006/math">
                    <m:r>
                      <a:rPr lang="en-US" sz="2200" b="0" i="0" smtClean="0">
                        <a:latin typeface="Cambria Math" panose="02040503050406030204" pitchFamily="18" charset="0"/>
                        <a:ea typeface="Cambria Math" panose="02040503050406030204" pitchFamily="18" charset="0"/>
                        <a:cs typeface="Arial"/>
                        <a:sym typeface="Arial"/>
                      </a:rPr>
                      <m:t>(</m:t>
                    </m:r>
                    <m:r>
                      <m:rPr>
                        <m:sty m:val="p"/>
                      </m:rPr>
                      <a:rPr lang="en-US" sz="2200" b="0" i="0" smtClean="0">
                        <a:latin typeface="Cambria Math" panose="02040503050406030204" pitchFamily="18" charset="0"/>
                        <a:ea typeface="Cambria Math" panose="02040503050406030204" pitchFamily="18" charset="0"/>
                        <a:cs typeface="Arial"/>
                        <a:sym typeface="Arial"/>
                      </a:rPr>
                      <m:t>x</m:t>
                    </m:r>
                    <m:r>
                      <a:rPr lang="en-US" sz="2200" b="0" i="1" smtClean="0">
                        <a:latin typeface="Cambria Math" panose="02040503050406030204" pitchFamily="18" charset="0"/>
                        <a:ea typeface="Cambria Math" panose="02040503050406030204" pitchFamily="18" charset="0"/>
                        <a:cs typeface="Arial"/>
                        <a:sym typeface="Arial"/>
                      </a:rPr>
                      <m:t>, </m:t>
                    </m:r>
                    <m:r>
                      <m:rPr>
                        <m:sty m:val="p"/>
                      </m:rPr>
                      <a:rPr lang="en-US" sz="2200" b="0" i="1" smtClean="0">
                        <a:latin typeface="Cambria Math" panose="02040503050406030204" pitchFamily="18" charset="0"/>
                        <a:ea typeface="Cambria Math" panose="02040503050406030204" pitchFamily="18" charset="0"/>
                        <a:cs typeface="Arial"/>
                        <a:sym typeface="Arial"/>
                      </a:rPr>
                      <m:t>y</m:t>
                    </m:r>
                    <m:r>
                      <a:rPr lang="en-US" sz="2200" b="0" i="1" smtClean="0">
                        <a:latin typeface="Cambria Math" panose="02040503050406030204" pitchFamily="18" charset="0"/>
                        <a:ea typeface="Cambria Math" panose="02040503050406030204" pitchFamily="18" charset="0"/>
                        <a:cs typeface="Arial"/>
                        <a:sym typeface="Arial"/>
                      </a:rPr>
                      <m:t>, </m:t>
                    </m:r>
                    <m:r>
                      <a:rPr lang="en-US" sz="2200" i="1" smtClean="0">
                        <a:latin typeface="Cambria Math" panose="02040503050406030204" pitchFamily="18" charset="0"/>
                        <a:ea typeface="Cambria Math" panose="02040503050406030204" pitchFamily="18" charset="0"/>
                        <a:cs typeface="Arial"/>
                        <a:sym typeface="Arial"/>
                      </a:rPr>
                      <m:t>𝜃</m:t>
                    </m:r>
                    <m:r>
                      <a:rPr lang="en-US" sz="2200" b="0" i="1" smtClean="0">
                        <a:latin typeface="Cambria Math" panose="02040503050406030204" pitchFamily="18" charset="0"/>
                        <a:ea typeface="Cambria Math" panose="02040503050406030204" pitchFamily="18" charset="0"/>
                        <a:cs typeface="Arial"/>
                        <a:sym typeface="Arial"/>
                      </a:rPr>
                      <m:t>)</m:t>
                    </m:r>
                  </m:oMath>
                </a14:m>
                <a:r>
                  <a:rPr lang="en-US" sz="2200" dirty="0">
                    <a:latin typeface="Arial"/>
                    <a:ea typeface="Arial"/>
                    <a:cs typeface="Arial"/>
                    <a:sym typeface="Arial"/>
                  </a:rPr>
                  <a:t> of the robot.</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So, we need to translate the sensor frames to the body frame, and then the body frame to the global frame.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to the right moves “forward 1 meter”, does its local x coordinate increase or it’s y? What about it’s world x, y coordinates?</a:t>
                </a:r>
              </a:p>
            </p:txBody>
          </p:sp>
        </mc:Choice>
        <mc:Fallback>
          <p:sp>
            <p:nvSpPr>
              <p:cNvPr id="118" name="Google Shape;118;p29">
                <a:extLst>
                  <a:ext uri="{FF2B5EF4-FFF2-40B4-BE49-F238E27FC236}">
                    <a16:creationId xmlns:a16="http://schemas.microsoft.com/office/drawing/2014/main" id="{9BD59CC6-7569-F8D1-B339-8E469DAB4A90}"/>
                  </a:ext>
                </a:extLst>
              </p:cNvPr>
              <p:cNvSpPr txBox="1">
                <a:spLocks noGrp="1" noRot="1" noChangeAspect="1" noMove="1" noResize="1" noEditPoints="1" noAdjustHandles="1" noChangeArrowheads="1" noChangeShapeType="1" noTextEdit="1"/>
              </p:cNvSpPr>
              <p:nvPr>
                <p:ph type="body" idx="1"/>
              </p:nvPr>
            </p:nvSpPr>
            <p:spPr>
              <a:xfrm>
                <a:off x="376809" y="1334279"/>
                <a:ext cx="5849892" cy="4821102"/>
              </a:xfrm>
              <a:prstGeom prst="rect">
                <a:avLst/>
              </a:prstGeom>
              <a:blipFill>
                <a:blip r:embed="rId3"/>
                <a:stretch>
                  <a:fillRect l="-1356" t="-759" r="-2398" b="-189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87ECFB-4495-249A-40BA-0241CD197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20AD81-C680-622A-A674-17B52CFBC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E6BBCA4-CFCB-DA91-9B41-79074E15B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8624EF-6C6D-92FE-D024-BBB996549B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7E90F5-76C0-896B-E43F-E5F1FCF11E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D82D89-6AC9-3A75-EBED-5C3049E2B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169CED0-53AD-DEF9-1671-4E93DE5248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50A90D-323B-E878-049D-26D4F411BC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Picture 6">
            <a:extLst>
              <a:ext uri="{FF2B5EF4-FFF2-40B4-BE49-F238E27FC236}">
                <a16:creationId xmlns:a16="http://schemas.microsoft.com/office/drawing/2014/main" id="{B09C676A-C7CC-590E-E845-C95E05865DD4}"/>
              </a:ext>
            </a:extLst>
          </p:cNvPr>
          <p:cNvPicPr>
            <a:picLocks noChangeAspect="1"/>
          </p:cNvPicPr>
          <p:nvPr/>
        </p:nvPicPr>
        <p:blipFill>
          <a:blip r:embed="rId5"/>
          <a:stretch>
            <a:fillRect/>
          </a:stretch>
        </p:blipFill>
        <p:spPr>
          <a:xfrm>
            <a:off x="6226701" y="1651719"/>
            <a:ext cx="5965299" cy="3846662"/>
          </a:xfrm>
          <a:prstGeom prst="rect">
            <a:avLst/>
          </a:prstGeom>
        </p:spPr>
      </p:pic>
      <p:sp>
        <p:nvSpPr>
          <p:cNvPr id="9" name="TextBox 8">
            <a:extLst>
              <a:ext uri="{FF2B5EF4-FFF2-40B4-BE49-F238E27FC236}">
                <a16:creationId xmlns:a16="http://schemas.microsoft.com/office/drawing/2014/main" id="{EF53D97B-B5D7-BF27-4A42-A1F5ECA4416E}"/>
              </a:ext>
            </a:extLst>
          </p:cNvPr>
          <p:cNvSpPr txBox="1"/>
          <p:nvPr/>
        </p:nvSpPr>
        <p:spPr>
          <a:xfrm>
            <a:off x="6588338" y="5603472"/>
            <a:ext cx="5353050" cy="246221"/>
          </a:xfrm>
          <a:prstGeom prst="rect">
            <a:avLst/>
          </a:prstGeom>
          <a:noFill/>
        </p:spPr>
        <p:txBody>
          <a:bodyPr wrap="square">
            <a:spAutoFit/>
          </a:bodyPr>
          <a:lstStyle/>
          <a:p>
            <a:pPr algn="ctr"/>
            <a:r>
              <a:rPr lang="en-US" sz="1000" dirty="0">
                <a:hlinkClick r:id="rId6"/>
              </a:rPr>
              <a:t>https://www.frontiersin.org/journals/robotics-and-ai/articles/10.3389/frobt.2025.1671673/full</a:t>
            </a:r>
            <a:r>
              <a:rPr lang="en-US" sz="1000" dirty="0"/>
              <a:t> </a:t>
            </a:r>
          </a:p>
        </p:txBody>
      </p:sp>
    </p:spTree>
    <p:extLst>
      <p:ext uri="{BB962C8B-B14F-4D97-AF65-F5344CB8AC3E}">
        <p14:creationId xmlns:p14="http://schemas.microsoft.com/office/powerpoint/2010/main" val="2534883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8F7FA4-F548-74E2-0628-F61D456ACFC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91564308-C01B-3265-8F48-407500B31E86}"/>
                  </a:ext>
                </a:extLst>
              </p:cNvPr>
              <p:cNvSpPr txBox="1">
                <a:spLocks noGrp="1"/>
              </p:cNvSpPr>
              <p:nvPr>
                <p:ph type="body" idx="1"/>
              </p:nvPr>
            </p:nvSpPr>
            <p:spPr>
              <a:xfrm>
                <a:off x="376809" y="1334279"/>
                <a:ext cx="597065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World Frame </a:t>
                </a:r>
                <a:r>
                  <a:rPr lang="en-US" sz="2200" dirty="0">
                    <a:latin typeface="Arial"/>
                    <a:ea typeface="Arial"/>
                    <a:cs typeface="Arial"/>
                    <a:sym typeface="Arial"/>
                  </a:rPr>
                  <a:t>be defined by axes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X</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Y</m:t>
                    </m:r>
                  </m:oMath>
                </a14:m>
                <a:r>
                  <a:rPr lang="en-US" sz="2200" dirty="0">
                    <a:latin typeface="Arial"/>
                    <a:ea typeface="Arial"/>
                    <a:cs typeface="Arial"/>
                    <a:sym typeface="Arial"/>
                  </a:rPr>
                  <a:t> with origin </a:t>
                </a:r>
                <a14:m>
                  <m:oMath xmlns:m="http://schemas.openxmlformats.org/officeDocument/2006/math">
                    <m:r>
                      <m:rPr>
                        <m:sty m:val="p"/>
                      </m:rPr>
                      <a:rPr lang="en-US" sz="2200" b="0" i="1" dirty="0" smtClean="0">
                        <a:latin typeface="Cambria Math" panose="02040503050406030204" pitchFamily="18" charset="0"/>
                        <a:ea typeface="Arial"/>
                        <a:cs typeface="Arial"/>
                        <a:sym typeface="Arial"/>
                      </a:rPr>
                      <m:t>O</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the </a:t>
                </a:r>
                <a:r>
                  <a:rPr lang="en-US" sz="2200" b="1" dirty="0">
                    <a:latin typeface="Arial"/>
                    <a:ea typeface="Arial"/>
                    <a:cs typeface="Arial"/>
                    <a:sym typeface="Arial"/>
                  </a:rPr>
                  <a:t>Body Frame </a:t>
                </a:r>
                <a:r>
                  <a:rPr lang="en-US" sz="2200" dirty="0">
                    <a:latin typeface="Arial"/>
                    <a:ea typeface="Arial"/>
                    <a:cs typeface="Arial"/>
                    <a:sym typeface="Arial"/>
                  </a:rPr>
                  <a:t>be defined by axes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𝑋</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forward) and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𝑌</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 (pointing left) with origin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𝑂</m:t>
                        </m:r>
                      </m:e>
                      <m:sub>
                        <m:r>
                          <a:rPr lang="en-US" sz="2200" i="1" dirty="0" smtClean="0">
                            <a:latin typeface="Cambria Math" panose="02040503050406030204" pitchFamily="18" charset="0"/>
                            <a:ea typeface="Arial"/>
                            <a:cs typeface="Arial"/>
                            <a:sym typeface="Arial"/>
                          </a:rPr>
                          <m:t>𝐵</m:t>
                        </m:r>
                      </m:sub>
                    </m:sSub>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pose in the world is defined by its position and it’s heading angle.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𝑝</m:t>
                      </m:r>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𝜃</m:t>
                          </m:r>
                        </m:e>
                      </m:d>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91564308-C01B-3265-8F48-407500B31E86}"/>
                  </a:ext>
                </a:extLst>
              </p:cNvPr>
              <p:cNvSpPr txBox="1">
                <a:spLocks noGrp="1" noRot="1" noChangeAspect="1" noMove="1" noResize="1" noEditPoints="1" noAdjustHandles="1" noChangeArrowheads="1" noChangeShapeType="1" noTextEdit="1"/>
              </p:cNvSpPr>
              <p:nvPr>
                <p:ph type="body" idx="1"/>
              </p:nvPr>
            </p:nvSpPr>
            <p:spPr>
              <a:xfrm>
                <a:off x="376809" y="1334279"/>
                <a:ext cx="5970651" cy="4821102"/>
              </a:xfrm>
              <a:prstGeom prst="rect">
                <a:avLst/>
              </a:prstGeom>
              <a:blipFill>
                <a:blip r:embed="rId3"/>
                <a:stretch>
                  <a:fillRect l="-132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7B17B77-EFCB-B07C-6B3E-77C7461953A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0D28FD7-4978-E5ED-7F8D-57889B5F84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B5F77DB-0C03-D850-1132-AB3E9EF3E4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895157-E85B-3373-ABEC-3F96A0B3DF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2CEFC3-26C7-0E1C-3C98-2F715F469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21548D-DD99-A7E1-6B5F-6FB7164D92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1B026BE-F922-29E2-8125-9DC50A8F3D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1173063-51F2-6EE4-485D-76EC01E38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B01BA914-F748-37D2-7034-19DF3A5F11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7460" y="906290"/>
            <a:ext cx="5373498" cy="5373498"/>
          </a:xfrm>
          <a:prstGeom prst="rect">
            <a:avLst/>
          </a:prstGeom>
        </p:spPr>
      </p:pic>
      <p:sp>
        <p:nvSpPr>
          <p:cNvPr id="5" name="TextBox 4">
            <a:extLst>
              <a:ext uri="{FF2B5EF4-FFF2-40B4-BE49-F238E27FC236}">
                <a16:creationId xmlns:a16="http://schemas.microsoft.com/office/drawing/2014/main" id="{CA17C04D-6741-0831-1652-246378C3FBE8}"/>
              </a:ext>
            </a:extLst>
          </p:cNvPr>
          <p:cNvSpPr txBox="1"/>
          <p:nvPr/>
        </p:nvSpPr>
        <p:spPr>
          <a:xfrm>
            <a:off x="7384479" y="6277819"/>
            <a:ext cx="3299459" cy="246221"/>
          </a:xfrm>
          <a:prstGeom prst="rect">
            <a:avLst/>
          </a:prstGeom>
          <a:noFill/>
        </p:spPr>
        <p:txBody>
          <a:bodyPr wrap="square">
            <a:spAutoFit/>
          </a:bodyPr>
          <a:lstStyle/>
          <a:p>
            <a:pPr algn="ctr"/>
            <a:r>
              <a:rPr lang="en-US" sz="1000" dirty="0">
                <a:hlinkClick r:id="rId7"/>
              </a:rPr>
              <a:t>https://en.wikipedia.org/wiki/Differential_wheeled_robot</a:t>
            </a:r>
            <a:r>
              <a:rPr lang="en-US" sz="1000" dirty="0"/>
              <a:t> </a:t>
            </a:r>
          </a:p>
        </p:txBody>
      </p:sp>
    </p:spTree>
    <p:extLst>
      <p:ext uri="{BB962C8B-B14F-4D97-AF65-F5344CB8AC3E}">
        <p14:creationId xmlns:p14="http://schemas.microsoft.com/office/powerpoint/2010/main" val="4032399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E8A154-AC74-35C1-3F62-BF4ECDA82F3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FE8C429-6DB1-3359-08A6-437C1380A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the robot’s heading </a:t>
                </a:r>
                <a14:m>
                  <m:oMath xmlns:m="http://schemas.openxmlformats.org/officeDocument/2006/math">
                    <m:r>
                      <a:rPr lang="en-US" sz="2200" i="1" dirty="0" smtClean="0">
                        <a:latin typeface="Cambria Math" panose="02040503050406030204" pitchFamily="18" charset="0"/>
                        <a:ea typeface="Arial"/>
                        <a:cs typeface="Arial"/>
                        <a:sym typeface="Arial"/>
                      </a:rPr>
                      <m:t>𝜃</m:t>
                    </m:r>
                    <m:r>
                      <a:rPr lang="en-US" sz="2200" i="1" dirty="0" smtClean="0">
                        <a:latin typeface="Cambria Math" panose="02040503050406030204" pitchFamily="18" charset="0"/>
                        <a:ea typeface="Arial"/>
                        <a:cs typeface="Arial"/>
                        <a:sym typeface="Arial"/>
                      </a:rPr>
                      <m:t>= 0</m:t>
                    </m:r>
                  </m:oMath>
                </a14:m>
                <a:r>
                  <a:rPr lang="en-US" sz="2200" dirty="0">
                    <a:latin typeface="Arial"/>
                    <a:ea typeface="Arial"/>
                    <a:cs typeface="Arial"/>
                    <a:sym typeface="Arial"/>
                  </a:rPr>
                  <a:t>, its axes are perfectly aligned with the world axes.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moving from the robot frame to the world frame is simply a vector addition!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the robot is at world coordinates </a:t>
                </a:r>
                <a14:m>
                  <m:oMath xmlns:m="http://schemas.openxmlformats.org/officeDocument/2006/math">
                    <m:r>
                      <m:rPr>
                        <m:sty m:val="p"/>
                      </m:rPr>
                      <a:rPr lang="en-US" sz="2200" b="0" i="0" dirty="0" smtClean="0">
                        <a:latin typeface="Cambria Math" panose="02040503050406030204" pitchFamily="18" charset="0"/>
                        <a:ea typeface="Arial"/>
                        <a:cs typeface="Arial"/>
                        <a:sym typeface="Arial"/>
                      </a:rPr>
                      <m:t>T</m:t>
                    </m:r>
                    <m:r>
                      <a:rPr lang="en-US" sz="2200" b="0" i="0" dirty="0" smtClean="0">
                        <a:latin typeface="Cambria Math" panose="02040503050406030204" pitchFamily="18" charset="0"/>
                        <a:ea typeface="Arial"/>
                        <a:cs typeface="Arial"/>
                        <a:sym typeface="Arial"/>
                      </a:rPr>
                      <m:t> = </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a14:m>
                <a:r>
                  <a:rPr lang="en-US" sz="2200" dirty="0">
                    <a:latin typeface="Arial"/>
                    <a:ea typeface="Arial"/>
                    <a:cs typeface="Arial"/>
                    <a:sym typeface="Arial"/>
                  </a:rPr>
                  <a:t>, a point </a:t>
                </a:r>
                <a14:m>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e>
                    </m:d>
                  </m:oMath>
                </a14:m>
                <a:r>
                  <a:rPr lang="en-US" sz="2200" dirty="0">
                    <a:latin typeface="Arial"/>
                    <a:ea typeface="Arial"/>
                    <a:cs typeface="Arial"/>
                    <a:sym typeface="Arial"/>
                  </a:rPr>
                  <a:t> in the robot frame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𝑥</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𝑥</m:t>
                          </m:r>
                          <m:r>
                            <a:rPr lang="en-US" sz="2200" i="1" dirty="0" smtClean="0">
                              <a:latin typeface="Cambria Math" panose="02040503050406030204" pitchFamily="18" charset="0"/>
                              <a:ea typeface="Arial"/>
                              <a:cs typeface="Arial"/>
                              <a:sym typeface="Arial"/>
                            </a:rPr>
                            <m:t>,</m:t>
                          </m:r>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𝑦</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𝑦</m:t>
                          </m:r>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the world frame. In vector math, this is represented as: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𝑃</m:t>
                          </m:r>
                        </m:e>
                        <m:sub>
                          <m:r>
                            <a:rPr lang="en-US" sz="2200" i="1" dirty="0" smtClean="0">
                              <a:latin typeface="Cambria Math" panose="02040503050406030204" pitchFamily="18" charset="0"/>
                              <a:ea typeface="Arial"/>
                              <a:cs typeface="Arial"/>
                              <a:sym typeface="Arial"/>
                            </a:rPr>
                            <m:t>𝑅</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Translation is linear and simple; however, robot also rotate.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1FE8C429-6DB1-3359-08A6-437C1380A5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C648B22-4C8A-850E-9587-A1590E4518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0B33C5-0225-FBE9-0908-901ED49E9D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C15EB2-7579-6C29-F6F7-B64D04FEE3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90D5DF-B320-4FDB-D9FB-2FA72D34B2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B0321E-1AF6-31FA-3CB3-08866A7578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19A7F9-C906-D65A-6614-000B07D3D3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ABDE9-C9F2-0B62-868F-083C8BEB5A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F8F44F-83E4-8FA9-AB0A-E4FF934520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04776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23D0E7-A089-75A4-9164-B7EC38D463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826FE40-7422-2C5B-E2F3-79825B7343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660EFA5-ABBD-8C82-F8B2-DFD888A442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BFA23-E630-2125-C665-9F89AC6E15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47AD65-BCD5-502E-A5E1-AB8464363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894D45-370F-1CBC-D425-121EEC5B05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DCACAB-A035-59E2-CB7F-440B651FC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58007C-7062-4319-7E96-933E98DE90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FA883B-820E-A7D2-8378-770B243B64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8" name="Group 17">
            <a:extLst>
              <a:ext uri="{FF2B5EF4-FFF2-40B4-BE49-F238E27FC236}">
                <a16:creationId xmlns:a16="http://schemas.microsoft.com/office/drawing/2014/main" id="{5F751BDC-B070-4E06-803F-F7D670B67D61}"/>
              </a:ext>
            </a:extLst>
          </p:cNvPr>
          <p:cNvGrpSpPr/>
          <p:nvPr/>
        </p:nvGrpSpPr>
        <p:grpSpPr>
          <a:xfrm>
            <a:off x="3409251" y="1150542"/>
            <a:ext cx="5373498" cy="5373498"/>
            <a:chOff x="3145074" y="1150542"/>
            <a:chExt cx="5373498" cy="5373498"/>
          </a:xfrm>
        </p:grpSpPr>
        <p:pic>
          <p:nvPicPr>
            <p:cNvPr id="4" name="Graphic 3">
              <a:extLst>
                <a:ext uri="{FF2B5EF4-FFF2-40B4-BE49-F238E27FC236}">
                  <a16:creationId xmlns:a16="http://schemas.microsoft.com/office/drawing/2014/main" id="{D2324FFB-0CF5-F03C-B042-14E9646FD156}"/>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145074" y="1150542"/>
              <a:ext cx="5373498" cy="5373498"/>
            </a:xfrm>
            <a:prstGeom prst="rect">
              <a:avLst/>
            </a:prstGeom>
          </p:spPr>
        </p:pic>
        <p:cxnSp>
          <p:nvCxnSpPr>
            <p:cNvPr id="6" name="Straight Arrow Connector 5">
              <a:extLst>
                <a:ext uri="{FF2B5EF4-FFF2-40B4-BE49-F238E27FC236}">
                  <a16:creationId xmlns:a16="http://schemas.microsoft.com/office/drawing/2014/main" id="{551523CE-1BC1-05ED-CF5F-F26E9E2DB367}"/>
                </a:ext>
              </a:extLst>
            </p:cNvPr>
            <p:cNvCxnSpPr/>
            <p:nvPr/>
          </p:nvCxnSpPr>
          <p:spPr>
            <a:xfrm flipV="1">
              <a:off x="3543300" y="4183380"/>
              <a:ext cx="2552700" cy="189738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514D51C-6E7B-4880-6E2D-ECB9AA151E1A}"/>
                </a:ext>
              </a:extLst>
            </p:cNvPr>
            <p:cNvSpPr txBox="1"/>
            <p:nvPr/>
          </p:nvSpPr>
          <p:spPr>
            <a:xfrm>
              <a:off x="4583430" y="4639330"/>
              <a:ext cx="335280" cy="523220"/>
            </a:xfrm>
            <a:prstGeom prst="rect">
              <a:avLst/>
            </a:prstGeom>
            <a:noFill/>
          </p:spPr>
          <p:txBody>
            <a:bodyPr wrap="square" rtlCol="0">
              <a:spAutoFit/>
            </a:bodyPr>
            <a:lstStyle/>
            <a:p>
              <a:pPr algn="ctr"/>
              <a:r>
                <a:rPr lang="en-US" sz="2800" b="1" dirty="0">
                  <a:solidFill>
                    <a:srgbClr val="FF0000"/>
                  </a:solidFill>
                </a:rPr>
                <a:t>T</a:t>
              </a:r>
            </a:p>
          </p:txBody>
        </p:sp>
        <p:cxnSp>
          <p:nvCxnSpPr>
            <p:cNvPr id="8" name="Straight Arrow Connector 7">
              <a:extLst>
                <a:ext uri="{FF2B5EF4-FFF2-40B4-BE49-F238E27FC236}">
                  <a16:creationId xmlns:a16="http://schemas.microsoft.com/office/drawing/2014/main" id="{BB651C9E-B1E4-5597-C4F4-DFF98447751D}"/>
                </a:ext>
              </a:extLst>
            </p:cNvPr>
            <p:cNvCxnSpPr>
              <a:cxnSpLocks/>
            </p:cNvCxnSpPr>
            <p:nvPr/>
          </p:nvCxnSpPr>
          <p:spPr>
            <a:xfrm>
              <a:off x="6030936" y="4183039"/>
              <a:ext cx="954578" cy="0"/>
            </a:xfrm>
            <a:prstGeom prst="straightConnector1">
              <a:avLst/>
            </a:prstGeom>
            <a:ln w="5715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83A95D-4753-CD5C-B982-8098E5269963}"/>
                </a:ext>
              </a:extLst>
            </p:cNvPr>
            <p:cNvSpPr txBox="1"/>
            <p:nvPr/>
          </p:nvSpPr>
          <p:spPr>
            <a:xfrm>
              <a:off x="6344473" y="3602036"/>
              <a:ext cx="609052" cy="523220"/>
            </a:xfrm>
            <a:prstGeom prst="rect">
              <a:avLst/>
            </a:prstGeom>
            <a:noFill/>
          </p:spPr>
          <p:txBody>
            <a:bodyPr wrap="square" rtlCol="0">
              <a:spAutoFit/>
            </a:bodyPr>
            <a:lstStyle/>
            <a:p>
              <a:pPr algn="ctr"/>
              <a:r>
                <a:rPr lang="en-US" sz="2800" b="1" dirty="0" err="1">
                  <a:solidFill>
                    <a:srgbClr val="FF0000"/>
                  </a:solidFill>
                </a:rPr>
                <a:t>P</a:t>
              </a:r>
              <a:r>
                <a:rPr lang="en-US" sz="2800" b="1" baseline="-25000" dirty="0" err="1">
                  <a:solidFill>
                    <a:srgbClr val="FF0000"/>
                  </a:solidFill>
                </a:rPr>
                <a:t>r</a:t>
              </a:r>
              <a:endParaRPr lang="en-US" sz="2800" b="1" dirty="0">
                <a:solidFill>
                  <a:srgbClr val="FF0000"/>
                </a:solidFill>
              </a:endParaRPr>
            </a:p>
          </p:txBody>
        </p:sp>
        <p:cxnSp>
          <p:nvCxnSpPr>
            <p:cNvPr id="12" name="Straight Arrow Connector 11">
              <a:extLst>
                <a:ext uri="{FF2B5EF4-FFF2-40B4-BE49-F238E27FC236}">
                  <a16:creationId xmlns:a16="http://schemas.microsoft.com/office/drawing/2014/main" id="{1F53EEDE-9C6A-1C4C-67A2-6599B0F78B9D}"/>
                </a:ext>
              </a:extLst>
            </p:cNvPr>
            <p:cNvCxnSpPr>
              <a:cxnSpLocks/>
            </p:cNvCxnSpPr>
            <p:nvPr/>
          </p:nvCxnSpPr>
          <p:spPr>
            <a:xfrm flipV="1">
              <a:off x="3543300" y="4244340"/>
              <a:ext cx="3410225" cy="183642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73FC0BC-1231-9DF3-339A-15D422721845}"/>
                </a:ext>
              </a:extLst>
            </p:cNvPr>
            <p:cNvSpPr txBox="1"/>
            <p:nvPr/>
          </p:nvSpPr>
          <p:spPr>
            <a:xfrm>
              <a:off x="5248412" y="5054279"/>
              <a:ext cx="609052" cy="523220"/>
            </a:xfrm>
            <a:prstGeom prst="rect">
              <a:avLst/>
            </a:prstGeom>
            <a:noFill/>
          </p:spPr>
          <p:txBody>
            <a:bodyPr wrap="square" rtlCol="0">
              <a:spAutoFit/>
            </a:bodyPr>
            <a:lstStyle/>
            <a:p>
              <a:pPr algn="ctr"/>
              <a:r>
                <a:rPr lang="en-US" sz="2800" b="1" dirty="0">
                  <a:solidFill>
                    <a:srgbClr val="FF0000"/>
                  </a:solidFill>
                </a:rPr>
                <a:t>P</a:t>
              </a:r>
              <a:r>
                <a:rPr lang="en-US" sz="2800" b="1" baseline="-25000" dirty="0">
                  <a:solidFill>
                    <a:srgbClr val="FF0000"/>
                  </a:solidFill>
                </a:rPr>
                <a:t>w</a:t>
              </a:r>
              <a:endParaRPr lang="en-US" sz="2800" b="1" dirty="0">
                <a:solidFill>
                  <a:srgbClr val="FF0000"/>
                </a:solidFill>
              </a:endParaRPr>
            </a:p>
          </p:txBody>
        </p:sp>
      </p:grpSp>
    </p:spTree>
    <p:extLst>
      <p:ext uri="{BB962C8B-B14F-4D97-AF65-F5344CB8AC3E}">
        <p14:creationId xmlns:p14="http://schemas.microsoft.com/office/powerpoint/2010/main" val="42078189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5C7DE8-314F-0DB5-8E86-BDD53E860AC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6A47D07-6F84-A133-8D6D-0C151E6B66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Suppose the robot frame is at the world origin but rotated by and angle </a:t>
                </a:r>
                <a14:m>
                  <m:oMath xmlns:m="http://schemas.openxmlformats.org/officeDocument/2006/math">
                    <m:r>
                      <a:rPr lang="en-US" sz="2200" b="0" i="1" dirty="0" smtClean="0">
                        <a:latin typeface="Cambria Math" panose="02040503050406030204" pitchFamily="18" charset="0"/>
                        <a:ea typeface="Arial"/>
                        <a:cs typeface="Arial"/>
                        <a:sym typeface="Arial"/>
                      </a:rPr>
                      <m:t>𝜑</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want to map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from the rotated frame to the fixed frame.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Let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have polar coordinates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Cambria Math" panose="02040503050406030204" pitchFamily="18" charset="0"/>
                            <a:cs typeface="Arial"/>
                            <a:sym typeface="Arial"/>
                          </a:rPr>
                          <m:t>𝛼</m:t>
                        </m:r>
                      </m:e>
                    </m:d>
                  </m:oMath>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Therefore,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smtClean="0">
                              <a:latin typeface="Cambria Math" panose="02040503050406030204" pitchFamily="18" charset="0"/>
                              <a:ea typeface="Arial"/>
                              <a:cs typeface="Arial"/>
                              <a:sym typeface="Arial"/>
                            </a:rPr>
                          </m:ctrlPr>
                        </m:dPr>
                        <m:e>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𝑥</m:t>
                              </m:r>
                            </m:e>
                            <m:sub>
                              <m:r>
                                <a:rPr lang="en-US" sz="2200" i="1" smtClean="0">
                                  <a:latin typeface="Cambria Math" panose="02040503050406030204" pitchFamily="18" charset="0"/>
                                  <a:ea typeface="Arial"/>
                                  <a:cs typeface="Arial"/>
                                  <a:sym typeface="Arial"/>
                                </a:rPr>
                                <m:t>𝑟</m:t>
                              </m:r>
                            </m:sub>
                          </m:sSub>
                          <m:r>
                            <a:rPr lang="en-US" sz="2200" i="1" smtClean="0">
                              <a:latin typeface="Cambria Math" panose="02040503050406030204" pitchFamily="18" charset="0"/>
                              <a:ea typeface="Arial"/>
                              <a:cs typeface="Arial"/>
                              <a:sym typeface="Arial"/>
                            </a:rPr>
                            <m:t>,</m:t>
                          </m:r>
                          <m:sSub>
                            <m:sSubPr>
                              <m:ctrlPr>
                                <a:rPr lang="en-US" sz="2200" i="1" smtClean="0">
                                  <a:latin typeface="Cambria Math" panose="02040503050406030204" pitchFamily="18" charset="0"/>
                                  <a:ea typeface="Arial"/>
                                  <a:cs typeface="Arial"/>
                                  <a:sym typeface="Arial"/>
                                </a:rPr>
                              </m:ctrlPr>
                            </m:sSubPr>
                            <m:e>
                              <m:r>
                                <a:rPr lang="en-US" sz="2200" i="1" smtClean="0">
                                  <a:latin typeface="Cambria Math" panose="02040503050406030204" pitchFamily="18" charset="0"/>
                                  <a:ea typeface="Arial"/>
                                  <a:cs typeface="Arial"/>
                                  <a:sym typeface="Arial"/>
                                </a:rPr>
                                <m:t>𝑦</m:t>
                              </m:r>
                            </m:e>
                            <m:sub>
                              <m:r>
                                <a:rPr lang="en-US" sz="2200" i="1" smtClean="0">
                                  <a:latin typeface="Cambria Math" panose="02040503050406030204" pitchFamily="18" charset="0"/>
                                  <a:ea typeface="Arial"/>
                                  <a:cs typeface="Arial"/>
                                  <a:sym typeface="Arial"/>
                                </a:rPr>
                                <m:t>𝑟</m:t>
                              </m:r>
                            </m:sub>
                          </m:sSub>
                        </m:e>
                      </m:d>
                      <m:r>
                        <a:rPr lang="en-US" sz="2200" i="1" smtClean="0">
                          <a:latin typeface="Cambria Math" panose="02040503050406030204" pitchFamily="18" charset="0"/>
                          <a:ea typeface="Arial"/>
                          <a:cs typeface="Arial"/>
                          <a:sym typeface="Arial"/>
                        </a:rPr>
                        <m:t>=</m:t>
                      </m:r>
                      <m:d>
                        <m:dPr>
                          <m:ctrlPr>
                            <a:rPr lang="en-US" sz="2200" i="1" smtClean="0">
                              <a:latin typeface="Cambria Math" panose="02040503050406030204" pitchFamily="18" charset="0"/>
                              <a:ea typeface="Arial"/>
                              <a:cs typeface="Arial"/>
                              <a:sym typeface="Arial"/>
                            </a:rPr>
                          </m:ctrlPr>
                        </m:dPr>
                        <m:e>
                          <m:r>
                            <a:rPr lang="en-US" sz="2200" i="1" smtClean="0">
                              <a:latin typeface="Cambria Math" panose="02040503050406030204" pitchFamily="18" charset="0"/>
                              <a:ea typeface="Arial"/>
                              <a:cs typeface="Arial"/>
                              <a:sym typeface="Arial"/>
                            </a:rPr>
                            <m:t>𝑟</m:t>
                          </m:r>
                          <m:func>
                            <m:funcPr>
                              <m:ctrlPr>
                                <a:rPr lang="en-US" sz="2200" i="1" smtClean="0">
                                  <a:latin typeface="Cambria Math" panose="02040503050406030204" pitchFamily="18" charset="0"/>
                                  <a:ea typeface="Arial"/>
                                  <a:cs typeface="Arial"/>
                                  <a:sym typeface="Arial"/>
                                </a:rPr>
                              </m:ctrlPr>
                            </m:funcPr>
                            <m:fName>
                              <m:r>
                                <m:rPr>
                                  <m:sty m:val="p"/>
                                </m:rPr>
                                <a:rPr lang="en-US" sz="2200" i="0" smtClean="0">
                                  <a:latin typeface="Cambria Math" panose="02040503050406030204" pitchFamily="18" charset="0"/>
                                  <a:ea typeface="Arial"/>
                                  <a:cs typeface="Arial"/>
                                  <a:sym typeface="Arial"/>
                                </a:rPr>
                                <m:t>cos</m:t>
                              </m:r>
                            </m:fName>
                            <m:e>
                              <m:d>
                                <m:dPr>
                                  <m:ctrlPr>
                                    <a:rPr lang="en-US" sz="220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smtClean="0">
                              <a:latin typeface="Cambria Math" panose="02040503050406030204" pitchFamily="18" charset="0"/>
                              <a:ea typeface="Arial"/>
                              <a:cs typeface="Arial"/>
                              <a:sym typeface="Arial"/>
                            </a:rPr>
                            <m:t>,</m:t>
                          </m:r>
                          <m:r>
                            <a:rPr lang="en-US" sz="2200" i="1" smtClean="0">
                              <a:latin typeface="Cambria Math" panose="02040503050406030204" pitchFamily="18" charset="0"/>
                              <a:ea typeface="Arial"/>
                              <a:cs typeface="Arial"/>
                              <a:sym typeface="Arial"/>
                            </a:rPr>
                            <m:t>𝑟</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d>
                                <m:dPr>
                                  <m:ctrlPr>
                                    <a:rPr lang="en-US" sz="2200" b="0" i="1" smtClean="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46A47D07-6F84-A133-8D6D-0C151E6B66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842C1AC-5D0C-3A76-450C-3E588E2667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0FE1C3-C537-E5D9-D47C-056FAAD1A9D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6FA607-B34C-992F-C6D1-B410F67BF6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3AD0D2C-5813-CB1A-5D4E-EC745974E2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3EE0C5-CE02-242B-83CB-68C3208D7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F1C51F-4B83-02A9-40A7-23DB12DD08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D4CEF0-0C0A-C03F-A2A9-DA24FD61CD0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3121A2-9B41-35EC-9169-F7214FC028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38886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892C1B-92BF-003C-3EF9-8A7ED9DF1D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5C8D38-99A7-8356-97D9-07F33A6E15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61346E-6CF8-8D98-A005-416B122769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Translation (Shifting)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EC33ED-7158-4F69-413E-0D1C07BC5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C85C74-FD2B-E893-CE8B-F988748FB9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879E27-5D19-8048-5032-039BC33934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F494A4-56B2-46CD-BBF8-65F2A2777E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5E8381-537D-B47E-7841-ACA562186C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BE326-D393-7BE0-9B3B-90A885BB11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28" name="Group 27">
            <a:extLst>
              <a:ext uri="{FF2B5EF4-FFF2-40B4-BE49-F238E27FC236}">
                <a16:creationId xmlns:a16="http://schemas.microsoft.com/office/drawing/2014/main" id="{316B47BB-D91F-47C6-B481-40ADD75831E6}"/>
              </a:ext>
            </a:extLst>
          </p:cNvPr>
          <p:cNvGrpSpPr/>
          <p:nvPr/>
        </p:nvGrpSpPr>
        <p:grpSpPr>
          <a:xfrm>
            <a:off x="3730942" y="1303743"/>
            <a:ext cx="4730115" cy="4785116"/>
            <a:chOff x="3322320" y="1223172"/>
            <a:chExt cx="4730115" cy="4785116"/>
          </a:xfrm>
        </p:grpSpPr>
        <p:pic>
          <p:nvPicPr>
            <p:cNvPr id="9" name="Graphic 8">
              <a:extLst>
                <a:ext uri="{FF2B5EF4-FFF2-40B4-BE49-F238E27FC236}">
                  <a16:creationId xmlns:a16="http://schemas.microsoft.com/office/drawing/2014/main" id="{6CD07C2B-9CCD-5838-F433-5C2EBF3516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322320" y="1223172"/>
              <a:ext cx="4730115" cy="4785116"/>
            </a:xfrm>
            <a:prstGeom prst="rect">
              <a:avLst/>
            </a:prstGeom>
          </p:spPr>
        </p:pic>
        <p:cxnSp>
          <p:nvCxnSpPr>
            <p:cNvPr id="14" name="Straight Arrow Connector 13">
              <a:extLst>
                <a:ext uri="{FF2B5EF4-FFF2-40B4-BE49-F238E27FC236}">
                  <a16:creationId xmlns:a16="http://schemas.microsoft.com/office/drawing/2014/main" id="{7654EE0D-8A73-08A3-EC61-6FD9221B5F1D}"/>
                </a:ext>
              </a:extLst>
            </p:cNvPr>
            <p:cNvCxnSpPr>
              <a:cxnSpLocks/>
            </p:cNvCxnSpPr>
            <p:nvPr/>
          </p:nvCxnSpPr>
          <p:spPr>
            <a:xfrm flipV="1">
              <a:off x="4597400" y="3322113"/>
              <a:ext cx="787400" cy="1059387"/>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9B4AA9F-BC45-FBD2-24CC-A75631C95223}"/>
                </a:ext>
              </a:extLst>
            </p:cNvPr>
            <p:cNvSpPr txBox="1"/>
            <p:nvPr/>
          </p:nvSpPr>
          <p:spPr>
            <a:xfrm>
              <a:off x="4655820" y="3492303"/>
              <a:ext cx="335280" cy="523220"/>
            </a:xfrm>
            <a:prstGeom prst="rect">
              <a:avLst/>
            </a:prstGeom>
            <a:noFill/>
          </p:spPr>
          <p:txBody>
            <a:bodyPr wrap="square" rtlCol="0">
              <a:spAutoFit/>
            </a:bodyPr>
            <a:lstStyle/>
            <a:p>
              <a:pPr algn="ctr"/>
              <a:r>
                <a:rPr lang="en-US" sz="2800" b="1" dirty="0">
                  <a:solidFill>
                    <a:srgbClr val="FF0000"/>
                  </a:solidFill>
                </a:rPr>
                <a:t>r</a:t>
              </a:r>
            </a:p>
          </p:txBody>
        </p:sp>
        <p:sp>
          <p:nvSpPr>
            <p:cNvPr id="26" name="Arc 25">
              <a:extLst>
                <a:ext uri="{FF2B5EF4-FFF2-40B4-BE49-F238E27FC236}">
                  <a16:creationId xmlns:a16="http://schemas.microsoft.com/office/drawing/2014/main" id="{18E13975-9F2C-97A8-846B-023DE637B157}"/>
                </a:ext>
              </a:extLst>
            </p:cNvPr>
            <p:cNvSpPr/>
            <p:nvPr/>
          </p:nvSpPr>
          <p:spPr>
            <a:xfrm>
              <a:off x="4597400" y="3429000"/>
              <a:ext cx="1498600" cy="2086608"/>
            </a:xfrm>
            <a:prstGeom prst="arc">
              <a:avLst/>
            </a:prstGeom>
            <a:ln w="57150">
              <a:solidFill>
                <a:srgbClr val="FF0000"/>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6DD1DF76-ED24-CD5D-5508-2808579CA9A5}"/>
                    </a:ext>
                  </a:extLst>
                </p:cNvPr>
                <p:cNvSpPr txBox="1"/>
                <p:nvPr/>
              </p:nvSpPr>
              <p:spPr>
                <a:xfrm>
                  <a:off x="5760720" y="3858280"/>
                  <a:ext cx="335280" cy="523220"/>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1" i="1" dirty="0" smtClean="0">
                            <a:solidFill>
                              <a:srgbClr val="FF0000"/>
                            </a:solidFill>
                            <a:latin typeface="Cambria Math" panose="02040503050406030204" pitchFamily="18" charset="0"/>
                            <a:ea typeface="Cambria Math" panose="02040503050406030204" pitchFamily="18" charset="0"/>
                          </a:rPr>
                          <m:t>𝜶</m:t>
                        </m:r>
                      </m:oMath>
                    </m:oMathPara>
                  </a14:m>
                  <a:endParaRPr lang="en-US" sz="2800" b="1" dirty="0">
                    <a:solidFill>
                      <a:srgbClr val="FF0000"/>
                    </a:solidFill>
                  </a:endParaRPr>
                </a:p>
              </p:txBody>
            </p:sp>
          </mc:Choice>
          <mc:Fallback>
            <p:sp>
              <p:nvSpPr>
                <p:cNvPr id="27" name="TextBox 26">
                  <a:extLst>
                    <a:ext uri="{FF2B5EF4-FFF2-40B4-BE49-F238E27FC236}">
                      <a16:creationId xmlns:a16="http://schemas.microsoft.com/office/drawing/2014/main" id="{6DD1DF76-ED24-CD5D-5508-2808579CA9A5}"/>
                    </a:ext>
                  </a:extLst>
                </p:cNvPr>
                <p:cNvSpPr txBox="1">
                  <a:spLocks noRot="1" noChangeAspect="1" noMove="1" noResize="1" noEditPoints="1" noAdjustHandles="1" noChangeArrowheads="1" noChangeShapeType="1" noTextEdit="1"/>
                </p:cNvSpPr>
                <p:nvPr/>
              </p:nvSpPr>
              <p:spPr>
                <a:xfrm>
                  <a:off x="5760720" y="3858280"/>
                  <a:ext cx="335280" cy="523220"/>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907976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81A3E-3D56-C164-A2FC-F2DA10375F7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C0EC19A9-AFBD-E6C2-C07C-A37D11F7758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the world frame, the angle of point </a:t>
                </a:r>
                <a14:m>
                  <m:oMath xmlns:m="http://schemas.openxmlformats.org/officeDocument/2006/math">
                    <m:r>
                      <m:rPr>
                        <m:sty m:val="p"/>
                      </m:rPr>
                      <a:rPr lang="en-US" sz="2200" i="1">
                        <a:latin typeface="Cambria Math" panose="02040503050406030204" pitchFamily="18" charset="0"/>
                        <a:ea typeface="Arial"/>
                        <a:cs typeface="Arial"/>
                        <a:sym typeface="Arial"/>
                      </a:rPr>
                      <m:t>P</m:t>
                    </m:r>
                  </m:oMath>
                </a14:m>
                <a:r>
                  <a:rPr lang="en-US" sz="2200" dirty="0">
                    <a:latin typeface="Arial"/>
                    <a:ea typeface="Arial"/>
                    <a:cs typeface="Arial"/>
                    <a:sym typeface="Arial"/>
                  </a:rPr>
                  <a:t> is now at </a:t>
                </a:r>
                <a14:m>
                  <m:oMath xmlns:m="http://schemas.openxmlformats.org/officeDocument/2006/math">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world coordinates are thus,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expand the following using standard trigonometric sum identities: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𝑟</m:t>
                      </m:r>
                      <m:d>
                        <m:dPr>
                          <m:ctrlPr>
                            <a:rPr lang="en-US" sz="2200" i="1" dirty="0" smtClean="0">
                              <a:latin typeface="Cambria Math" panose="02040503050406030204" pitchFamily="18" charset="0"/>
                              <a:ea typeface="Arial"/>
                              <a:cs typeface="Arial"/>
                              <a:sym typeface="Arial"/>
                            </a:rPr>
                          </m:ctrlPr>
                        </m:dP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𝛼</m:t>
                                  </m:r>
                                </m:e>
                              </m:d>
                            </m:e>
                          </m:func>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C0EC19A9-AFBD-E6C2-C07C-A37D11F7758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E58156-E687-C0DB-8460-334E2B228A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F0D65F-5004-61BE-E75F-17A7F254D5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1FE1D8-A5B6-6740-5D0A-72186E8A619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8DC7A2-511D-22BD-BDE8-C065032C80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C2FE57-0C4A-BECE-CAFB-227B8903DD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A0869F-F0CC-AE4D-B16E-937B98B960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B7A72-39DE-A3D5-143A-6A5A2A599A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46B403-42C7-ED39-606B-884D2F1E1D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62131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A79B86-76EF-FA13-ECD9-5791898508F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7FEF1EF-52E6-7FB0-AFBC-6B376D9851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Substituting back in the location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ctrlPr>
                            <a:rPr lang="en-US" sz="2200" i="1">
                              <a:latin typeface="Cambria Math" panose="02040503050406030204" pitchFamily="18" charset="0"/>
                              <a:ea typeface="Arial"/>
                              <a:cs typeface="Arial"/>
                              <a:sym typeface="Arial"/>
                            </a:rPr>
                          </m:ctrlPr>
                        </m:dPr>
                        <m:e>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𝑥</m:t>
                              </m:r>
                            </m:e>
                            <m:sub>
                              <m:r>
                                <a:rPr lang="en-US" sz="2200" i="1">
                                  <a:latin typeface="Cambria Math" panose="02040503050406030204" pitchFamily="18" charset="0"/>
                                  <a:ea typeface="Arial"/>
                                  <a:cs typeface="Arial"/>
                                  <a:sym typeface="Arial"/>
                                </a:rPr>
                                <m:t>𝑟</m:t>
                              </m:r>
                            </m:sub>
                          </m:sSub>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𝑦</m:t>
                              </m:r>
                            </m:e>
                            <m:sub>
                              <m:r>
                                <a:rPr lang="en-US" sz="2200" i="1">
                                  <a:latin typeface="Cambria Math" panose="02040503050406030204" pitchFamily="18" charset="0"/>
                                  <a:ea typeface="Arial"/>
                                  <a:cs typeface="Arial"/>
                                  <a:sym typeface="Arial"/>
                                </a:rPr>
                                <m:t>𝑟</m:t>
                              </m:r>
                            </m:sub>
                          </m:sSub>
                        </m:e>
                      </m:d>
                      <m:r>
                        <a:rPr lang="en-US" sz="2200" i="1">
                          <a:latin typeface="Cambria Math" panose="02040503050406030204" pitchFamily="18" charset="0"/>
                          <a:ea typeface="Arial"/>
                          <a:cs typeface="Arial"/>
                          <a:sym typeface="Arial"/>
                        </a:rPr>
                        <m:t>=</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cos</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𝑟</m:t>
                          </m:r>
                          <m:func>
                            <m:funcPr>
                              <m:ctrlPr>
                                <a:rPr lang="en-US" sz="2200" i="1">
                                  <a:latin typeface="Cambria Math" panose="02040503050406030204" pitchFamily="18" charset="0"/>
                                  <a:ea typeface="Arial"/>
                                  <a:cs typeface="Arial"/>
                                  <a:sym typeface="Arial"/>
                                </a:rPr>
                              </m:ctrlPr>
                            </m:funcPr>
                            <m:fName>
                              <m:r>
                                <m:rPr>
                                  <m:sty m:val="p"/>
                                </m:rPr>
                                <a:rPr lang="en-US" sz="2200">
                                  <a:latin typeface="Cambria Math" panose="02040503050406030204" pitchFamily="18" charset="0"/>
                                  <a:ea typeface="Arial"/>
                                  <a:cs typeface="Arial"/>
                                  <a:sym typeface="Arial"/>
                                </a:rPr>
                                <m:t>sin</m:t>
                              </m:r>
                            </m:fName>
                            <m:e>
                              <m:d>
                                <m:dPr>
                                  <m:ctrlPr>
                                    <a:rPr lang="en-US" sz="2200" i="1">
                                      <a:latin typeface="Cambria Math" panose="02040503050406030204" pitchFamily="18" charset="0"/>
                                      <a:ea typeface="Arial"/>
                                      <a:cs typeface="Arial"/>
                                      <a:sym typeface="Arial"/>
                                    </a:rPr>
                                  </m:ctrlPr>
                                </m:dPr>
                                <m:e>
                                  <m:r>
                                    <a:rPr lang="en-US" sz="2200" i="1" dirty="0">
                                      <a:latin typeface="Cambria Math" panose="02040503050406030204" pitchFamily="18" charset="0"/>
                                      <a:ea typeface="Cambria Math" panose="02040503050406030204" pitchFamily="18" charset="0"/>
                                      <a:cs typeface="Arial"/>
                                      <a:sym typeface="Arial"/>
                                    </a:rPr>
                                    <m:t>𝛼</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the global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r>
                        <a:rPr lang="en-US" sz="2200" i="1" dirty="0">
                          <a:latin typeface="Cambria Math" panose="02040503050406030204" pitchFamily="18" charset="0"/>
                          <a:ea typeface="Arial"/>
                          <a:cs typeface="Arial"/>
                          <a:sym typeface="Arial"/>
                        </a:rPr>
                        <m:t>𝑟</m:t>
                      </m:r>
                      <m:d>
                        <m:dPr>
                          <m:ctrlPr>
                            <a:rPr lang="en-US" sz="2200" i="1" dirty="0">
                              <a:latin typeface="Cambria Math" panose="02040503050406030204" pitchFamily="18" charset="0"/>
                              <a:ea typeface="Arial"/>
                              <a:cs typeface="Arial"/>
                              <a:sym typeface="Arial"/>
                            </a:rPr>
                          </m:ctrlPr>
                        </m:dPr>
                        <m:e>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cos</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𝛼</m:t>
                                  </m:r>
                                </m:e>
                              </m:d>
                            </m:e>
                          </m:func>
                          <m:func>
                            <m:funcPr>
                              <m:ctrlPr>
                                <a:rPr lang="en-US" sz="2200" i="1" dirty="0">
                                  <a:latin typeface="Cambria Math" panose="02040503050406030204" pitchFamily="18" charset="0"/>
                                  <a:ea typeface="Arial"/>
                                  <a:cs typeface="Arial"/>
                                  <a:sym typeface="Arial"/>
                                </a:rPr>
                              </m:ctrlPr>
                            </m:funcPr>
                            <m:fName>
                              <m:r>
                                <m:rPr>
                                  <m:sty m:val="p"/>
                                </m:rPr>
                                <a:rPr lang="en-US" sz="2200" dirty="0">
                                  <a:latin typeface="Cambria Math" panose="02040503050406030204" pitchFamily="18" charset="0"/>
                                  <a:ea typeface="Arial"/>
                                  <a:cs typeface="Arial"/>
                                  <a:sym typeface="Arial"/>
                                </a:rPr>
                                <m:t>sin</m:t>
                              </m:r>
                            </m:fName>
                            <m:e>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𝜑</m:t>
                                  </m:r>
                                </m:e>
                              </m:d>
                            </m:e>
                          </m:func>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thus get: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𝑊</m:t>
                          </m:r>
                        </m:sub>
                      </m:sSub>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𝑥</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r>
                        <a:rPr lang="en-US" sz="2200" i="1" dirty="0">
                          <a:latin typeface="Cambria Math" panose="02040503050406030204" pitchFamily="18" charset="0"/>
                          <a:ea typeface="Arial"/>
                          <a:cs typeface="Arial"/>
                          <a:sym typeface="Arial"/>
                        </a:rPr>
                        <m:t>+</m:t>
                      </m:r>
                      <m:sSub>
                        <m:sSubPr>
                          <m:ctrlPr>
                            <a:rPr lang="en-US" sz="2200" i="1" dirty="0">
                              <a:latin typeface="Cambria Math" panose="02040503050406030204" pitchFamily="18" charset="0"/>
                              <a:ea typeface="Arial"/>
                              <a:cs typeface="Arial"/>
                              <a:sym typeface="Arial"/>
                            </a:rPr>
                          </m:ctrlPr>
                        </m:sSubPr>
                        <m:e>
                          <m:r>
                            <a:rPr lang="en-US" sz="2200" i="1" dirty="0">
                              <a:latin typeface="Cambria Math" panose="02040503050406030204" pitchFamily="18" charset="0"/>
                              <a:ea typeface="Arial"/>
                              <a:cs typeface="Arial"/>
                              <a:sym typeface="Arial"/>
                            </a:rPr>
                            <m:t>𝑦</m:t>
                          </m:r>
                        </m:e>
                        <m:sub>
                          <m:r>
                            <a:rPr lang="en-US" sz="2200" i="1" dirty="0">
                              <a:latin typeface="Cambria Math" panose="02040503050406030204" pitchFamily="18" charset="0"/>
                              <a:ea typeface="Arial"/>
                              <a:cs typeface="Arial"/>
                              <a:sym typeface="Arial"/>
                            </a:rPr>
                            <m:t>𝑅</m:t>
                          </m:r>
                        </m:sub>
                      </m:sSub>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is elegantly expressed using matrix multiplications!</a:t>
                </a:r>
              </a:p>
            </p:txBody>
          </p:sp>
        </mc:Choice>
        <mc:Fallback>
          <p:sp>
            <p:nvSpPr>
              <p:cNvPr id="118" name="Google Shape;118;p29">
                <a:extLst>
                  <a:ext uri="{FF2B5EF4-FFF2-40B4-BE49-F238E27FC236}">
                    <a16:creationId xmlns:a16="http://schemas.microsoft.com/office/drawing/2014/main" id="{87FEF1EF-52E6-7FB0-AFBC-6B376D9851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D97D2A1-F794-A63C-4C7B-83E5B6A35D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B5F628-9D9D-5E9D-58BF-65AB1EA9BB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4DAADA-42CC-6438-B643-F13AF6C395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B31738-EE9E-66EA-16C7-3D482C040E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5A0E4D-22AD-1433-5819-4424B3A68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2C8B04-29C5-8E83-F037-77A70D9D11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34AC5D-DA2F-352E-E249-15D9A58F49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AA62FB-FF34-1297-EADD-715AE979A0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292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D19D13-E4B9-45BB-CB92-CB34C802DB5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3CEFAEE-C8AB-32F3-C659-25F3B0FA39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system of equations can be written as a 2x2 matrix </a:t>
                </a:r>
                <a14:m>
                  <m:oMath xmlns:m="http://schemas.openxmlformats.org/officeDocument/2006/math">
                    <m:sSub>
                      <m:sSubPr>
                        <m:ctrlPr>
                          <a:rPr lang="en-US" sz="220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w</m:t>
                        </m:r>
                      </m:sub>
                    </m:sSub>
                    <m:r>
                      <a:rPr lang="en-US" sz="2200" b="0" i="1" smtClean="0">
                        <a:latin typeface="Cambria Math" panose="02040503050406030204" pitchFamily="18" charset="0"/>
                        <a:cs typeface="Arial"/>
                        <a:sym typeface="Arial"/>
                      </a:rPr>
                      <m:t>=</m:t>
                    </m:r>
                    <m:r>
                      <a:rPr lang="en-US" sz="2200" b="0" i="1" smtClean="0">
                        <a:latin typeface="Cambria Math" panose="02040503050406030204" pitchFamily="18" charset="0"/>
                        <a:cs typeface="Arial"/>
                        <a:sym typeface="Arial"/>
                      </a:rPr>
                      <m:t>𝑅</m:t>
                    </m:r>
                    <m:d>
                      <m:dPr>
                        <m:ctrlPr>
                          <a:rPr lang="en-US" sz="2200" b="0" i="1" smtClean="0">
                            <a:latin typeface="Cambria Math" panose="02040503050406030204" pitchFamily="18" charset="0"/>
                            <a:cs typeface="Arial"/>
                            <a:sym typeface="Arial"/>
                          </a:rPr>
                        </m:ctrlPr>
                      </m:dPr>
                      <m:e>
                        <m:r>
                          <a:rPr lang="en-US" sz="2200" b="0" i="1" smtClean="0">
                            <a:latin typeface="Cambria Math" panose="02040503050406030204" pitchFamily="18" charset="0"/>
                            <a:ea typeface="Cambria Math" panose="02040503050406030204" pitchFamily="18" charset="0"/>
                            <a:cs typeface="Arial"/>
                            <a:sym typeface="Arial"/>
                          </a:rPr>
                          <m:t>𝜑</m:t>
                        </m:r>
                      </m:e>
                    </m:d>
                    <m:sSub>
                      <m:sSubPr>
                        <m:ctrlPr>
                          <a:rPr lang="en-US" sz="2200" b="0" i="1" smtClean="0">
                            <a:latin typeface="Cambria Math" panose="02040503050406030204" pitchFamily="18" charset="0"/>
                            <a:cs typeface="Arial"/>
                            <a:sym typeface="Arial"/>
                          </a:rPr>
                        </m:ctrlPr>
                      </m:sSubPr>
                      <m:e>
                        <m:r>
                          <m:rPr>
                            <m:sty m:val="p"/>
                          </m:rPr>
                          <a:rPr lang="en-US" sz="2200" b="0" i="1" smtClean="0">
                            <a:latin typeface="Cambria Math" panose="02040503050406030204" pitchFamily="18" charset="0"/>
                            <a:cs typeface="Arial"/>
                            <a:sym typeface="Arial"/>
                          </a:rPr>
                          <m:t>P</m:t>
                        </m:r>
                      </m:e>
                      <m:sub>
                        <m:r>
                          <m:rPr>
                            <m:sty m:val="p"/>
                          </m:rPr>
                          <a:rPr lang="en-US" sz="2200" b="0" i="1" smtClean="0">
                            <a:latin typeface="Cambria Math" panose="02040503050406030204" pitchFamily="18" charset="0"/>
                            <a:cs typeface="Arial"/>
                            <a:sym typeface="Arial"/>
                          </a:rPr>
                          <m:t>r</m:t>
                        </m:r>
                      </m:sub>
                    </m:sSub>
                  </m:oMath>
                </a14:m>
                <a:endParaRPr lang="en-US" sz="2200" b="0" dirty="0">
                  <a:latin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i="1" dirty="0" smtClean="0">
                                  <a:latin typeface="Cambria Math" panose="02040503050406030204" pitchFamily="18" charset="0"/>
                                  <a:ea typeface="Arial"/>
                                  <a:cs typeface="Arial"/>
                                  <a:sym typeface="Arial"/>
                                </a:rPr>
                              </m:ctrlPr>
                            </m:mP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𝑊</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𝑊</m:t>
                                    </m:r>
                                  </m:sub>
                                </m:sSub>
                              </m:e>
                            </m:mr>
                          </m:m>
                        </m:e>
                      </m:d>
                      <m:r>
                        <a:rPr lang="en-US" sz="2200" i="1" dirty="0" smtClean="0">
                          <a:latin typeface="Cambria Math" panose="02040503050406030204" pitchFamily="18" charset="0"/>
                          <a:ea typeface="Arial"/>
                          <a:cs typeface="Arial"/>
                          <a:sym typeface="Arial"/>
                        </a:rPr>
                        <m:t>=</m:t>
                      </m:r>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200" i="1" dirty="0" smtClean="0">
                                  <a:latin typeface="Cambria Math" panose="02040503050406030204" pitchFamily="18" charset="0"/>
                                  <a:ea typeface="Arial"/>
                                  <a:cs typeface="Arial"/>
                                  <a:sym typeface="Arial"/>
                                </a:rPr>
                              </m:ctrlPr>
                            </m:mP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r>
                                  <a:rPr lang="en-US" sz="2200" i="1" dirty="0" smtClean="0">
                                    <a:latin typeface="Cambria Math" panose="02040503050406030204" pitchFamily="18" charset="0"/>
                                    <a:ea typeface="Arial"/>
                                    <a:cs typeface="Arial"/>
                                    <a:sym typeface="Arial"/>
                                  </a:rPr>
                                  <m:t>−</m:t>
                                </m:r>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r>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sin</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e>
                                <m:func>
                                  <m:funcPr>
                                    <m:ctrlPr>
                                      <a:rPr lang="en-US" sz="2200" i="1" dirty="0" smtClean="0">
                                        <a:latin typeface="Cambria Math" panose="02040503050406030204" pitchFamily="18" charset="0"/>
                                        <a:ea typeface="Arial"/>
                                        <a:cs typeface="Arial"/>
                                        <a:sym typeface="Arial"/>
                                      </a:rPr>
                                    </m:ctrlPr>
                                  </m:funcPr>
                                  <m:fName>
                                    <m:r>
                                      <m:rPr>
                                        <m:sty m:val="p"/>
                                      </m:rPr>
                                      <a:rPr lang="en-US" sz="2200" i="0" dirty="0" smtClean="0">
                                        <a:latin typeface="Cambria Math" panose="02040503050406030204" pitchFamily="18" charset="0"/>
                                        <a:ea typeface="Arial"/>
                                        <a:cs typeface="Arial"/>
                                        <a:sym typeface="Arial"/>
                                      </a:rPr>
                                      <m:t>cos</m:t>
                                    </m:r>
                                  </m:fName>
                                  <m:e>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e>
                                </m:func>
                              </m:e>
                            </m:mr>
                          </m:m>
                        </m:e>
                      </m:d>
                      <m:d>
                        <m:dPr>
                          <m:begChr m:val="["/>
                          <m:endChr m:val="]"/>
                          <m:ctrlPr>
                            <a:rPr lang="en-US" sz="2200" b="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200" b="0" i="1" dirty="0" smtClean="0">
                                  <a:latin typeface="Cambria Math" panose="02040503050406030204" pitchFamily="18" charset="0"/>
                                  <a:ea typeface="Arial"/>
                                  <a:cs typeface="Arial"/>
                                  <a:sym typeface="Arial"/>
                                </a:rPr>
                              </m:ctrlPr>
                            </m:mPr>
                            <m:mr>
                              <m:e>
                                <m:sSub>
                                  <m:sSubPr>
                                    <m:ctrlPr>
                                      <a:rPr lang="en-US" sz="2200" b="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𝑥</m:t>
                                    </m:r>
                                  </m:e>
                                  <m:sub>
                                    <m:r>
                                      <a:rPr lang="en-US" sz="2200" i="1" dirty="0" smtClean="0">
                                        <a:latin typeface="Cambria Math" panose="02040503050406030204" pitchFamily="18" charset="0"/>
                                        <a:ea typeface="Arial"/>
                                        <a:cs typeface="Arial"/>
                                        <a:sym typeface="Arial"/>
                                      </a:rPr>
                                      <m:t>𝑅</m:t>
                                    </m:r>
                                  </m:sub>
                                </m:sSub>
                              </m:e>
                            </m:mr>
                            <m:mr>
                              <m:e>
                                <m:sSub>
                                  <m:sSubPr>
                                    <m:ctrlPr>
                                      <a:rPr lang="en-US" sz="2200" i="1" dirty="0" smtClean="0">
                                        <a:latin typeface="Cambria Math" panose="02040503050406030204" pitchFamily="18" charset="0"/>
                                        <a:ea typeface="Arial"/>
                                        <a:cs typeface="Arial"/>
                                        <a:sym typeface="Arial"/>
                                      </a:rPr>
                                    </m:ctrlPr>
                                  </m:sSubPr>
                                  <m:e>
                                    <m:r>
                                      <a:rPr lang="en-US" sz="2200" i="1" dirty="0" smtClean="0">
                                        <a:latin typeface="Cambria Math" panose="02040503050406030204" pitchFamily="18" charset="0"/>
                                        <a:ea typeface="Arial"/>
                                        <a:cs typeface="Arial"/>
                                        <a:sym typeface="Arial"/>
                                      </a:rPr>
                                      <m:t>𝑦</m:t>
                                    </m:r>
                                  </m:e>
                                  <m:sub>
                                    <m:r>
                                      <a:rPr lang="en-US" sz="2200" i="1" dirty="0" smtClean="0">
                                        <a:latin typeface="Cambria Math" panose="02040503050406030204" pitchFamily="18" charset="0"/>
                                        <a:ea typeface="Arial"/>
                                        <a:cs typeface="Arial"/>
                                        <a:sym typeface="Arial"/>
                                      </a:rPr>
                                      <m:t>𝑅</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matrix </a:t>
                </a:r>
                <a14:m>
                  <m:oMath xmlns:m="http://schemas.openxmlformats.org/officeDocument/2006/math">
                    <m:r>
                      <m:rPr>
                        <m:sty m:val="p"/>
                      </m:rPr>
                      <a:rPr lang="en-US" sz="2200" i="1">
                        <a:latin typeface="Cambria Math" panose="02040503050406030204" pitchFamily="18" charset="0"/>
                        <a:cs typeface="Arial"/>
                        <a:sym typeface="Arial"/>
                      </a:rPr>
                      <m:t>R</m:t>
                    </m:r>
                    <m:r>
                      <a:rPr lang="en-US" sz="2200" i="1">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𝜑</m:t>
                    </m:r>
                    <m:r>
                      <a:rPr lang="en-US" sz="2200" i="1">
                        <a:latin typeface="Cambria Math" panose="02040503050406030204" pitchFamily="18" charset="0"/>
                        <a:cs typeface="Arial"/>
                        <a:sym typeface="Arial"/>
                      </a:rPr>
                      <m:t>)</m:t>
                    </m:r>
                  </m:oMath>
                </a14:m>
                <a:r>
                  <a:rPr lang="en-US" sz="2200" dirty="0">
                    <a:latin typeface="Arial"/>
                    <a:ea typeface="Arial"/>
                    <a:cs typeface="Arial"/>
                    <a:sym typeface="Arial"/>
                  </a:rPr>
                  <a:t>, belongs to the Special Orthogonal Group SO(2).</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the determinant represents how much the space gets scaled after the transformation. What is the determinant of rotation matrices without doing any calculation?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should be 1, meaning it preserves the scale and area! The robot doesn’t stretch as it turns!</a:t>
                </a:r>
              </a:p>
            </p:txBody>
          </p:sp>
        </mc:Choice>
        <mc:Fallback>
          <p:sp>
            <p:nvSpPr>
              <p:cNvPr id="118" name="Google Shape;118;p29">
                <a:extLst>
                  <a:ext uri="{FF2B5EF4-FFF2-40B4-BE49-F238E27FC236}">
                    <a16:creationId xmlns:a16="http://schemas.microsoft.com/office/drawing/2014/main" id="{D3CEFAEE-C8AB-32F3-C659-25F3B0FA39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49C0FBF-CFA2-3227-A6CC-5DA1DEE27C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D0D1AC-88E9-6B99-F6B6-FB61BA0F1A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2D Rotation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4E767F-94FA-5C74-B8F7-C9D0D45634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D1106FB-3363-8585-0316-C803DCBD4E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1F083E-2DC3-AD55-FE03-2086743AE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90F9FE-87A0-76AA-08F4-8895DA2623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907236-35CD-6121-AFDA-0F4BA9D75F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709BA9-9D14-62AE-C74B-D3557CA29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1145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D361C-ED36-ABE5-9819-CF32FC53572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20135AA-01F7-8991-C890-ACD802AED0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In reality, a robot is both translated and rotated!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Thus, the complete transformation is: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i="1" dirty="0"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𝑤</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𝑅</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𝜑</m:t>
                          </m:r>
                        </m:e>
                      </m:d>
                      <m:sSub>
                        <m:sSubPr>
                          <m:ctrlPr>
                            <a:rPr lang="en-US" sz="2200" i="1" dirty="0" err="1" smtClean="0">
                              <a:latin typeface="Cambria Math" panose="02040503050406030204" pitchFamily="18" charset="0"/>
                              <a:ea typeface="Arial"/>
                              <a:cs typeface="Arial"/>
                              <a:sym typeface="Arial"/>
                            </a:rPr>
                          </m:ctrlPr>
                        </m:sSubPr>
                        <m:e>
                          <m:r>
                            <a:rPr lang="en-US" sz="2200" i="1" dirty="0" err="1" smtClean="0">
                              <a:latin typeface="Cambria Math" panose="02040503050406030204" pitchFamily="18" charset="0"/>
                              <a:ea typeface="Arial"/>
                              <a:cs typeface="Arial"/>
                              <a:sym typeface="Arial"/>
                            </a:rPr>
                            <m:t>𝑃</m:t>
                          </m:r>
                        </m:e>
                        <m:sub>
                          <m:r>
                            <a:rPr lang="en-US" sz="2200" i="1" dirty="0" err="1" smtClean="0">
                              <a:latin typeface="Cambria Math" panose="02040503050406030204" pitchFamily="18" charset="0"/>
                              <a:ea typeface="Arial"/>
                              <a:cs typeface="Arial"/>
                              <a:sym typeface="Arial"/>
                            </a:rPr>
                            <m:t>𝑟</m:t>
                          </m:r>
                        </m:sub>
                      </m:sSub>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𝑇</m:t>
                      </m:r>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however, make this into a single matrix operation, through Homogeneous Coordinates,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200" i="1" smtClean="0">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𝑊</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𝑊</m:t>
                                    </m:r>
                                  </m:sub>
                                </m:sSub>
                              </m:e>
                            </m:mr>
                            <m:mr>
                              <m:e>
                                <m:r>
                                  <a:rPr lang="en-US" sz="2200" i="1">
                                    <a:latin typeface="Cambria Math" panose="02040503050406030204" pitchFamily="18" charset="0"/>
                                    <a:cs typeface="Arial"/>
                                    <a:sym typeface="Arial"/>
                                  </a:rPr>
                                  <m:t>1</m:t>
                                </m:r>
                              </m:e>
                            </m:mr>
                          </m:m>
                        </m:e>
                      </m:d>
                      <m:r>
                        <a:rPr lang="en-US" sz="2200" i="1">
                          <a:latin typeface="Cambria Math" panose="02040503050406030204" pitchFamily="18" charset="0"/>
                          <a:cs typeface="Arial"/>
                          <a:sym typeface="Arial"/>
                        </a:rPr>
                        <m:t>=</m:t>
                      </m:r>
                      <m:d>
                        <m:dPr>
                          <m:begChr m:val="["/>
                          <m:endChr m:val="]"/>
                          <m:ctrlPr>
                            <a:rPr lang="en-US" sz="2200" i="1">
                              <a:latin typeface="Cambria Math" panose="02040503050406030204" pitchFamily="18" charset="0"/>
                              <a:cs typeface="Arial"/>
                              <a:sym typeface="Arial"/>
                            </a:rPr>
                          </m:ctrlPr>
                        </m:dPr>
                        <m:e>
                          <m:m>
                            <m:mPr>
                              <m:plcHide m:val="on"/>
                              <m:mcs>
                                <m:mc>
                                  <m:mcPr>
                                    <m:count m:val="3"/>
                                    <m:mcJc m:val="center"/>
                                  </m:mcPr>
                                </m:mc>
                              </m:mcs>
                              <m:ctrlPr>
                                <a:rPr lang="en-US" sz="2200" i="1">
                                  <a:latin typeface="Cambria Math" panose="02040503050406030204" pitchFamily="18" charset="0"/>
                                  <a:cs typeface="Arial"/>
                                  <a:sym typeface="Arial"/>
                                </a:rPr>
                              </m:ctrlPr>
                            </m:mP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r>
                                  <a:rPr lang="en-US" sz="2200" i="1">
                                    <a:latin typeface="Cambria Math" panose="02040503050406030204" pitchFamily="18" charset="0"/>
                                    <a:cs typeface="Arial"/>
                                    <a:sym typeface="Arial"/>
                                  </a:rPr>
                                  <m:t>−</m:t>
                                </m:r>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𝑥</m:t>
                                    </m:r>
                                  </m:sub>
                                </m:sSub>
                              </m:e>
                            </m:mr>
                            <m:mr>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sin</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func>
                                  <m:funcPr>
                                    <m:ctrlPr>
                                      <a:rPr lang="en-US" sz="2200" i="1">
                                        <a:latin typeface="Cambria Math" panose="02040503050406030204" pitchFamily="18" charset="0"/>
                                        <a:cs typeface="Arial"/>
                                        <a:sym typeface="Arial"/>
                                      </a:rPr>
                                    </m:ctrlPr>
                                  </m:funcPr>
                                  <m:fName>
                                    <m:r>
                                      <m:rPr>
                                        <m:sty m:val="p"/>
                                      </m:rPr>
                                      <a:rPr lang="en-US" sz="2200" i="0">
                                        <a:latin typeface="Cambria Math" panose="02040503050406030204" pitchFamily="18" charset="0"/>
                                        <a:cs typeface="Arial"/>
                                        <a:sym typeface="Arial"/>
                                      </a:rPr>
                                      <m:t>cos</m:t>
                                    </m:r>
                                  </m:fName>
                                  <m:e>
                                    <m:d>
                                      <m:dPr>
                                        <m:ctrlPr>
                                          <a:rPr lang="en-US" sz="2200" i="1">
                                            <a:latin typeface="Cambria Math" panose="02040503050406030204" pitchFamily="18" charset="0"/>
                                            <a:cs typeface="Arial"/>
                                            <a:sym typeface="Arial"/>
                                          </a:rPr>
                                        </m:ctrlPr>
                                      </m:dPr>
                                      <m:e>
                                        <m:r>
                                          <a:rPr lang="en-US" sz="2200" i="1">
                                            <a:latin typeface="Cambria Math" panose="02040503050406030204" pitchFamily="18" charset="0"/>
                                            <a:cs typeface="Arial"/>
                                            <a:sym typeface="Arial"/>
                                          </a:rPr>
                                          <m:t>𝜃</m:t>
                                        </m:r>
                                      </m:e>
                                    </m:d>
                                  </m:e>
                                </m:func>
                              </m:e>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𝑡</m:t>
                                    </m:r>
                                  </m:e>
                                  <m:sub>
                                    <m:r>
                                      <a:rPr lang="en-US" sz="2200" i="1">
                                        <a:latin typeface="Cambria Math" panose="02040503050406030204" pitchFamily="18" charset="0"/>
                                        <a:cs typeface="Arial"/>
                                        <a:sym typeface="Arial"/>
                                      </a:rPr>
                                      <m:t>𝑦</m:t>
                                    </m:r>
                                  </m:sub>
                                </m:sSub>
                              </m:e>
                            </m:mr>
                            <m:mr>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0</m:t>
                                </m:r>
                              </m:e>
                              <m:e>
                                <m:r>
                                  <a:rPr lang="en-US" sz="2200" i="1">
                                    <a:latin typeface="Cambria Math" panose="02040503050406030204" pitchFamily="18" charset="0"/>
                                    <a:cs typeface="Arial"/>
                                    <a:sym typeface="Arial"/>
                                  </a:rPr>
                                  <m:t>1</m:t>
                                </m:r>
                              </m:e>
                            </m:mr>
                          </m:m>
                        </m:e>
                      </m:d>
                      <m:d>
                        <m:dPr>
                          <m:begChr m:val="["/>
                          <m:endChr m:val="]"/>
                          <m:ctrlPr>
                            <a:rPr lang="en-US" sz="2200" i="1">
                              <a:latin typeface="Cambria Math" panose="02040503050406030204" pitchFamily="18" charset="0"/>
                              <a:cs typeface="Arial"/>
                              <a:sym typeface="Arial"/>
                            </a:rPr>
                          </m:ctrlPr>
                        </m:dPr>
                        <m:e>
                          <m:m>
                            <m:mPr>
                              <m:plcHide m:val="on"/>
                              <m:mcs>
                                <m:mc>
                                  <m:mcPr>
                                    <m:count m:val="1"/>
                                    <m:mcJc m:val="center"/>
                                  </m:mcPr>
                                </m:mc>
                              </m:mcs>
                              <m:ctrlPr>
                                <a:rPr lang="en-US" sz="2200" i="1">
                                  <a:latin typeface="Cambria Math" panose="02040503050406030204" pitchFamily="18" charset="0"/>
                                  <a:cs typeface="Arial"/>
                                  <a:sym typeface="Arial"/>
                                </a:rPr>
                              </m:ctrlPr>
                            </m:mP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𝑥</m:t>
                                    </m:r>
                                  </m:e>
                                  <m:sub>
                                    <m:r>
                                      <a:rPr lang="en-US" sz="2200" i="1">
                                        <a:latin typeface="Cambria Math" panose="02040503050406030204" pitchFamily="18" charset="0"/>
                                        <a:cs typeface="Arial"/>
                                        <a:sym typeface="Arial"/>
                                      </a:rPr>
                                      <m:t>𝑅</m:t>
                                    </m:r>
                                  </m:sub>
                                </m:sSub>
                              </m:e>
                            </m:mr>
                            <m:mr>
                              <m:e>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cs typeface="Arial"/>
                                        <a:sym typeface="Arial"/>
                                      </a:rPr>
                                      <m:t>𝑦</m:t>
                                    </m:r>
                                  </m:e>
                                  <m:sub>
                                    <m:r>
                                      <a:rPr lang="en-US" sz="2200" i="1">
                                        <a:latin typeface="Cambria Math" panose="02040503050406030204" pitchFamily="18" charset="0"/>
                                        <a:cs typeface="Arial"/>
                                        <a:sym typeface="Arial"/>
                                      </a:rPr>
                                      <m:t>𝑅</m:t>
                                    </m:r>
                                  </m:sub>
                                </m:sSub>
                              </m:e>
                            </m:mr>
                            <m:mr>
                              <m:e>
                                <m:r>
                                  <a:rPr lang="en-US" sz="2200" i="1">
                                    <a:latin typeface="Cambria Math" panose="02040503050406030204" pitchFamily="18" charset="0"/>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the standard representation used in all modern software!</a:t>
                </a:r>
              </a:p>
            </p:txBody>
          </p:sp>
        </mc:Choice>
        <mc:Fallback>
          <p:sp>
            <p:nvSpPr>
              <p:cNvPr id="118" name="Google Shape;118;p29">
                <a:extLst>
                  <a:ext uri="{FF2B5EF4-FFF2-40B4-BE49-F238E27FC236}">
                    <a16:creationId xmlns:a16="http://schemas.microsoft.com/office/drawing/2014/main" id="{020135AA-01F7-8991-C890-ACD802AED0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66C57D-F8CC-2A5D-2826-17B2687097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5F582-E62E-1E2C-EBCA-6B81D8D32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Localization – </a:t>
            </a:r>
            <a:r>
              <a:rPr lang="en-US" sz="2400" dirty="0">
                <a:solidFill>
                  <a:schemeClr val="lt1"/>
                </a:solidFill>
              </a:rPr>
              <a:t>Transformation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BF9703-75D4-5BEC-32F9-92E742B7358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ECD335-88E3-1F5C-4AF2-F154036938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5A1250-FC85-E05D-0323-3CC58487E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C8D9FF-1E65-AF12-4144-CE31AA8555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2CFDBE-369D-4997-B870-B2490CC019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64D805-6A3E-76A2-32A4-8AB02C0572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465411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03DBA8-F0EE-7A22-EECC-6CE22D8D7D9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33A86ED6-4DC7-D943-6E29-803F04E665D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Dead-Reckoning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54F4AD2-AB55-7796-9ABE-4F39D29A5DCB}"/>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34A7D88-E360-EB16-FCA9-8E885645889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F88F421-414E-164E-B4ED-B4B462EEAA1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CF03D2F-4F72-8459-308D-0040D39D875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CE6466B-2EC0-A1C8-A879-2158D9950F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5552E20-7932-836C-C1D4-8AD0AECB2E4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42C4F67-CCF0-5AB2-F66B-FBE61AD2C32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92AB1F5-0781-1062-0241-F845D51464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CD61A3-7A16-91AA-5192-C6A9020C19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5500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8CA634-4831-01C6-8EA6-BBE5568D003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05EEDB-42F9-FAA2-1387-53D2600C92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Now that we can map local coordinates to the world, how do we track our movement?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Dead-Reckoning</a:t>
            </a:r>
            <a:r>
              <a:rPr lang="en-US" sz="2200" dirty="0">
                <a:latin typeface="Arial"/>
                <a:ea typeface="Arial"/>
                <a:cs typeface="Arial"/>
                <a:sym typeface="Arial"/>
              </a:rPr>
              <a:t> (Odometry) is the process of calculating current position by integrating previously determined positions and estimated speeds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It relies purely on internal sensors, primarily wheel encoders and IMUs.</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9C4E86-2059-2F53-44CE-2578DE5F22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E596FE-6AFE-8196-D13A-F814D1380D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FEB1D0A-0294-06D0-49F9-7559AF0030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8B7B6B-C90B-DF3C-AFC2-837D1CEA9C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04A08-FFA6-6526-4F2C-246633C4C4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209202-F3D0-595E-D216-48593FD280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680A86-620E-E794-69D6-1EDC21AE8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39B723-B1AE-0162-8BE8-E9D79EF600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954728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7596F2-2742-F064-E09C-B164BDD2A38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2688BC5-82AC-D694-7270-7824EEC16AA8}"/>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Our robot uses a differential drive system (2 independently driven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robot’s overall forward linear velocity </a:t>
                </a:r>
                <a14:m>
                  <m:oMath xmlns:m="http://schemas.openxmlformats.org/officeDocument/2006/math">
                    <m:r>
                      <m:rPr>
                        <m:sty m:val="p"/>
                      </m:rPr>
                      <a:rPr lang="en-US" sz="2200" b="0" i="1" smtClean="0">
                        <a:latin typeface="Cambria Math" panose="02040503050406030204" pitchFamily="18" charset="0"/>
                        <a:ea typeface="Arial"/>
                        <a:cs typeface="Arial"/>
                        <a:sym typeface="Arial"/>
                      </a:rPr>
                      <m:t>V</m:t>
                    </m:r>
                  </m:oMath>
                </a14:m>
                <a:r>
                  <a:rPr lang="en-US" sz="2200" dirty="0">
                    <a:latin typeface="Arial"/>
                    <a:ea typeface="Arial"/>
                    <a:cs typeface="Arial"/>
                    <a:sym typeface="Arial"/>
                  </a:rPr>
                  <a:t> is the average of the two wheels: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200" b="0" i="1" smtClean="0">
                          <a:latin typeface="Cambria Math" panose="02040503050406030204" pitchFamily="18" charset="0"/>
                          <a:ea typeface="Arial"/>
                          <a:cs typeface="Arial"/>
                          <a:sym typeface="Arial"/>
                        </a:rPr>
                        <m:t>V</m:t>
                      </m:r>
                      <m:r>
                        <a:rPr lang="en-US" sz="2200" b="0" i="1" smtClean="0">
                          <a:latin typeface="Cambria Math" panose="02040503050406030204" pitchFamily="18" charset="0"/>
                          <a:ea typeface="Arial"/>
                          <a:cs typeface="Arial"/>
                          <a:sym typeface="Arial"/>
                        </a:rPr>
                        <m:t> = </m:t>
                      </m:r>
                      <m:f>
                        <m:fPr>
                          <m:ctrlPr>
                            <a:rPr lang="en-US" sz="2200" b="0" i="1" smtClean="0">
                              <a:latin typeface="Cambria Math" panose="02040503050406030204" pitchFamily="18" charset="0"/>
                              <a:cs typeface="Arial"/>
                              <a:sym typeface="Arial"/>
                            </a:rPr>
                          </m:ctrlPr>
                        </m:fPr>
                        <m:num>
                          <m:sSub>
                            <m:sSubPr>
                              <m:ctrlPr>
                                <a:rPr lang="en-US" sz="2200" b="0" i="1" smtClean="0">
                                  <a:latin typeface="Cambria Math" panose="02040503050406030204" pitchFamily="18" charset="0"/>
                                  <a:cs typeface="Arial"/>
                                  <a:sym typeface="Arial"/>
                                </a:rPr>
                              </m:ctrlPr>
                            </m:sSubPr>
                            <m:e>
                              <m:r>
                                <a:rPr lang="en-US" sz="2200" b="0" i="1" smtClean="0">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num>
                        <m:den>
                          <m:r>
                            <a:rPr lang="en-US" sz="2200" b="0" i="1" smtClean="0">
                              <a:latin typeface="Cambria Math" panose="02040503050406030204" pitchFamily="18" charset="0"/>
                              <a:cs typeface="Arial"/>
                              <a:sym typeface="Arial"/>
                            </a:rPr>
                            <m:t>2</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b="0" i="1" smtClean="0">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goes forward!</a:t>
                </a:r>
              </a:p>
            </p:txBody>
          </p:sp>
        </mc:Choice>
        <mc:Fallback>
          <p:sp>
            <p:nvSpPr>
              <p:cNvPr id="118" name="Google Shape;118;p29">
                <a:extLst>
                  <a:ext uri="{FF2B5EF4-FFF2-40B4-BE49-F238E27FC236}">
                    <a16:creationId xmlns:a16="http://schemas.microsoft.com/office/drawing/2014/main" id="{32688BC5-82AC-D694-7270-7824EEC16AA8}"/>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70F1B9-8FBD-9378-3D6C-38D8EEF074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197B72B-0BBE-DB7C-DCAD-5AC1D4F75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B647A7-08C1-14CE-3B38-A837400BF9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4678A8-E78E-C419-E0D1-59C77137D1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48F5-308D-06B9-1B17-CC47F80F5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A83BCF-D259-CF0A-B373-B3116E973A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B970E-943C-C43E-E8FE-8CDF477D63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DFA668-60EF-A2D7-8705-3EAE377B5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F253A45E-17E9-77F6-0CF5-586594A729A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2068561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A15486-6503-567B-E7AB-34A32A3439B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8A167ED-CA43-8D9C-F58E-9D8FF9531F0C}"/>
                  </a:ext>
                </a:extLst>
              </p:cNvPr>
              <p:cNvSpPr txBox="1">
                <a:spLocks noGrp="1"/>
              </p:cNvSpPr>
              <p:nvPr>
                <p:ph type="body" idx="1"/>
              </p:nvPr>
            </p:nvSpPr>
            <p:spPr>
              <a:xfrm>
                <a:off x="376809" y="1334279"/>
                <a:ext cx="5578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robot’s angular velocity </a:t>
                </a:r>
                <a14:m>
                  <m:oMath xmlns:m="http://schemas.openxmlformats.org/officeDocument/2006/math">
                    <m:r>
                      <a:rPr lang="en-US" sz="2200" i="1" smtClean="0">
                        <a:latin typeface="Cambria Math" panose="02040503050406030204" pitchFamily="18" charset="0"/>
                        <a:ea typeface="Cambria Math" panose="02040503050406030204" pitchFamily="18" charset="0"/>
                        <a:cs typeface="Arial"/>
                        <a:sym typeface="Arial"/>
                      </a:rPr>
                      <m:t>𝜔</m:t>
                    </m:r>
                  </m:oMath>
                </a14:m>
                <a:r>
                  <a:rPr lang="en-US" sz="2200" dirty="0">
                    <a:latin typeface="Arial"/>
                    <a:ea typeface="Arial"/>
                    <a:cs typeface="Arial"/>
                    <a:sym typeface="Arial"/>
                  </a:rPr>
                  <a:t> depends on the difference between the wheel speeds.</a:t>
                </a:r>
              </a:p>
              <a:p>
                <a:pPr marL="0" indent="0">
                  <a:lnSpc>
                    <a:spcPct val="100000"/>
                  </a:lnSpc>
                  <a:spcBef>
                    <a:spcPts val="0"/>
                  </a:spcBef>
                  <a:buSzPts val="3000"/>
                  <a:buNone/>
                </a:pPr>
                <a:endParaRPr lang="en-US" sz="2200" i="1" dirty="0">
                  <a:latin typeface="Cambria Math" panose="02040503050406030204" pitchFamily="18" charset="0"/>
                  <a:ea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cs typeface="Arial"/>
                          <a:sym typeface="Arial"/>
                        </a:rPr>
                        <m:t>𝜔</m:t>
                      </m:r>
                      <m:r>
                        <a:rPr lang="en-US" sz="2200" b="0" i="1" smtClean="0">
                          <a:latin typeface="Cambria Math" panose="02040503050406030204" pitchFamily="18" charset="0"/>
                          <a:ea typeface="Cambria Math" panose="02040503050406030204" pitchFamily="18" charset="0"/>
                          <a:cs typeface="Arial"/>
                          <a:sym typeface="Arial"/>
                        </a:rPr>
                        <m:t>=</m:t>
                      </m:r>
                      <m:f>
                        <m:fPr>
                          <m:ctrlPr>
                            <a:rPr lang="en-US" sz="2200" i="1">
                              <a:latin typeface="Cambria Math" panose="02040503050406030204" pitchFamily="18" charset="0"/>
                              <a:cs typeface="Arial"/>
                              <a:sym typeface="Arial"/>
                            </a:rPr>
                          </m:ctrlPr>
                        </m:fPr>
                        <m:num>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b="0" i="1" smtClean="0">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num>
                        <m:den>
                          <m:r>
                            <m:rPr>
                              <m:sty m:val="p"/>
                            </m:rPr>
                            <a:rPr lang="en-US" sz="2200" b="0" i="1" smtClean="0">
                              <a:latin typeface="Cambria Math" panose="02040503050406030204" pitchFamily="18" charset="0"/>
                              <a:cs typeface="Arial"/>
                              <a:sym typeface="Arial"/>
                            </a:rPr>
                            <m:t>L</m:t>
                          </m:r>
                        </m:den>
                      </m:f>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a:t>
                </a:r>
                <a14:m>
                  <m:oMath xmlns:m="http://schemas.openxmlformats.org/officeDocument/2006/math">
                    <m:sSub>
                      <m:sSubPr>
                        <m:ctrlPr>
                          <a:rPr lang="en-US" sz="2200" i="1">
                            <a:latin typeface="Cambria Math" panose="02040503050406030204" pitchFamily="18" charset="0"/>
                            <a:cs typeface="Arial"/>
                            <a:sym typeface="Arial"/>
                          </a:rPr>
                        </m:ctrlPr>
                      </m:sSubPr>
                      <m:e>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cs typeface="Arial"/>
                            <a:sym typeface="Arial"/>
                          </a:rPr>
                          <m:t>L</m:t>
                        </m:r>
                      </m:sub>
                    </m:sSub>
                    <m:r>
                      <a:rPr lang="en-US" sz="2200" i="1">
                        <a:latin typeface="Cambria Math" panose="02040503050406030204" pitchFamily="18" charset="0"/>
                        <a:cs typeface="Arial"/>
                        <a:sym typeface="Arial"/>
                      </a:rPr>
                      <m:t> =</m:t>
                    </m:r>
                    <m:sSub>
                      <m:sSubPr>
                        <m:ctrlPr>
                          <a:rPr lang="en-US" sz="2200" i="1">
                            <a:latin typeface="Cambria Math" panose="02040503050406030204" pitchFamily="18" charset="0"/>
                            <a:cs typeface="Arial"/>
                            <a:sym typeface="Arial"/>
                          </a:rPr>
                        </m:ctrlPr>
                      </m:sSubPr>
                      <m:e>
                        <m:r>
                          <a:rPr lang="en-US" sz="2200" b="0" i="1" smtClean="0">
                            <a:latin typeface="Cambria Math" panose="02040503050406030204" pitchFamily="18" charset="0"/>
                            <a:cs typeface="Arial"/>
                            <a:sym typeface="Arial"/>
                          </a:rPr>
                          <m:t>-</m:t>
                        </m:r>
                        <m:r>
                          <a:rPr lang="en-US" sz="2200" i="1">
                            <a:latin typeface="Cambria Math" panose="02040503050406030204" pitchFamily="18" charset="0"/>
                            <a:ea typeface="Cambria Math" panose="02040503050406030204" pitchFamily="18" charset="0"/>
                            <a:cs typeface="Arial"/>
                            <a:sym typeface="Arial"/>
                          </a:rPr>
                          <m:t>𝜈</m:t>
                        </m:r>
                      </m:e>
                      <m:sub>
                        <m:r>
                          <m:rPr>
                            <m:sty m:val="p"/>
                          </m:rPr>
                          <a:rPr lang="en-US" sz="2200" i="1">
                            <a:latin typeface="Cambria Math" panose="02040503050406030204" pitchFamily="18" charset="0"/>
                            <a:ea typeface="Cambria Math" panose="02040503050406030204" pitchFamily="18" charset="0"/>
                            <a:cs typeface="Arial"/>
                            <a:sym typeface="Arial"/>
                          </a:rPr>
                          <m:t>R</m:t>
                        </m:r>
                      </m:sub>
                    </m:sSub>
                  </m:oMath>
                </a14:m>
                <a:r>
                  <a:rPr lang="en-US" sz="2200" dirty="0">
                    <a:latin typeface="Arial"/>
                    <a:ea typeface="Arial"/>
                    <a:cs typeface="Arial"/>
                    <a:sym typeface="Arial"/>
                  </a:rPr>
                  <a:t>, what is the robot doing?</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robot rotates in place (a zero-radius turn).</a:t>
                </a:r>
              </a:p>
            </p:txBody>
          </p:sp>
        </mc:Choice>
        <mc:Fallback>
          <p:sp>
            <p:nvSpPr>
              <p:cNvPr id="118" name="Google Shape;118;p29">
                <a:extLst>
                  <a:ext uri="{FF2B5EF4-FFF2-40B4-BE49-F238E27FC236}">
                    <a16:creationId xmlns:a16="http://schemas.microsoft.com/office/drawing/2014/main" id="{38A167ED-CA43-8D9C-F58E-9D8FF9531F0C}"/>
                  </a:ext>
                </a:extLst>
              </p:cNvPr>
              <p:cNvSpPr txBox="1">
                <a:spLocks noGrp="1" noRot="1" noChangeAspect="1" noMove="1" noResize="1" noEditPoints="1" noAdjustHandles="1" noChangeArrowheads="1" noChangeShapeType="1" noTextEdit="1"/>
              </p:cNvSpPr>
              <p:nvPr>
                <p:ph type="body" idx="1"/>
              </p:nvPr>
            </p:nvSpPr>
            <p:spPr>
              <a:xfrm>
                <a:off x="376809" y="1334279"/>
                <a:ext cx="5578977" cy="4821102"/>
              </a:xfrm>
              <a:prstGeom prst="rect">
                <a:avLst/>
              </a:prstGeom>
              <a:blipFill>
                <a:blip r:embed="rId3"/>
                <a:stretch>
                  <a:fillRect l="-1421" t="-759"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6F5731-9133-2A83-1490-A162C6CA0D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4AE384-93CC-E4DF-6B31-7BDE820DD8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Dead-Reckoning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CFD877-CDF0-D4BD-E60A-9067506D345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D44CBA4-B734-E9CF-3559-B3AD8CAB1D0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C54C6A-2C0C-84C8-770D-8E0420DB51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179F3D-CD65-66D3-B7C0-3349F801FD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17C78F-E1EA-2A01-A48C-3AF2294FC2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8EB5C8-A671-2A53-1ED6-73C6A8BF07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5981030D-0294-627F-8D3B-A114FD5891D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41335" y="1170007"/>
            <a:ext cx="5151828" cy="5151828"/>
          </a:xfrm>
          <a:prstGeom prst="rect">
            <a:avLst/>
          </a:prstGeom>
        </p:spPr>
      </p:pic>
    </p:spTree>
    <p:extLst>
      <p:ext uri="{BB962C8B-B14F-4D97-AF65-F5344CB8AC3E}">
        <p14:creationId xmlns:p14="http://schemas.microsoft.com/office/powerpoint/2010/main" val="4156444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654</TotalTime>
  <Words>2362</Words>
  <Application>Microsoft Office PowerPoint</Application>
  <PresentationFormat>Widescreen</PresentationFormat>
  <Paragraphs>335</Paragraphs>
  <Slides>37</Slides>
  <Notes>37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37</vt:i4>
      </vt:variant>
    </vt:vector>
  </HeadingPairs>
  <TitlesOfParts>
    <vt:vector size="42" baseType="lpstr">
      <vt:lpstr>Arial</vt:lpstr>
      <vt:lpstr>Calibri</vt:lpstr>
      <vt:lpstr>Cambria Math</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105</cp:revision>
  <dcterms:created xsi:type="dcterms:W3CDTF">2019-01-14T22:06:33Z</dcterms:created>
  <dcterms:modified xsi:type="dcterms:W3CDTF">2026-03-10T08:57:09Z</dcterms:modified>
</cp:coreProperties>
</file>