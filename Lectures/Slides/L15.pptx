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7"/>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39" r:id="rId28"/>
    <p:sldId id="440" r:id="rId29"/>
    <p:sldId id="441" r:id="rId30"/>
    <p:sldId id="442" r:id="rId31"/>
    <p:sldId id="443" r:id="rId32"/>
    <p:sldId id="259" r:id="rId33"/>
    <p:sldId id="260" r:id="rId34"/>
    <p:sldId id="261" r:id="rId35"/>
    <p:sldId id="262" r:id="rId36"/>
    <p:sldId id="263" r:id="rId37"/>
    <p:sldId id="264" r:id="rId38"/>
    <p:sldId id="265" r:id="rId39"/>
    <p:sldId id="266" r:id="rId40"/>
    <p:sldId id="267" r:id="rId41"/>
    <p:sldId id="268" r:id="rId42"/>
    <p:sldId id="269" r:id="rId43"/>
    <p:sldId id="257" r:id="rId44"/>
    <p:sldId id="271" r:id="rId45"/>
    <p:sldId id="270" r:id="rId4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15: Coordinate Transforms &amp; Dead-reckoning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11</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rial"/>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rial"/>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rial"/>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rial"/>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Spring Break next week, no 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Localization</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the fundamental question of </a:t>
            </a:r>
            <a:r>
              <a:rPr lang="en-US" sz="2400" b="1" dirty="0">
                <a:latin typeface="Arial"/>
                <a:ea typeface="Arial"/>
                <a:cs typeface="Arial"/>
                <a:sym typeface="Arial"/>
              </a:rPr>
              <a:t>Localization</a:t>
            </a:r>
            <a:r>
              <a:rPr lang="en-US" sz="24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Coordinate Transformation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robot experiences the world from its own perspective, which we call the </a:t>
            </a:r>
            <a:r>
              <a:rPr lang="en-US" sz="2200" b="1" dirty="0">
                <a:latin typeface="Arial"/>
                <a:ea typeface="Arial"/>
                <a:cs typeface="Arial"/>
                <a:sym typeface="Arial"/>
              </a:rPr>
              <a:t>Local Frame </a:t>
            </a:r>
            <a:r>
              <a:rPr lang="en-US" sz="2200" dirty="0">
                <a:latin typeface="Arial"/>
                <a:ea typeface="Arial"/>
                <a:cs typeface="Arial"/>
                <a:sym typeface="Arial"/>
              </a:rPr>
              <a:t>(or Body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map or the room exists in a fixed, global reference frame, called the </a:t>
            </a:r>
            <a:r>
              <a:rPr lang="en-US" sz="2200" b="1" dirty="0">
                <a:latin typeface="Arial"/>
                <a:ea typeface="Arial"/>
                <a:cs typeface="Arial"/>
                <a:sym typeface="Arial"/>
              </a:rPr>
              <a:t>Global / World Frame</a:t>
            </a:r>
            <a:r>
              <a:rPr lang="en-US" sz="2200" dirty="0">
                <a:latin typeface="Arial"/>
                <a:ea typeface="Arial"/>
                <a:cs typeface="Arial"/>
                <a:sym typeface="Arial"/>
              </a:rPr>
              <a:t> (or Inertial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local frames of each of the sensors can be of different positions and orientation than the robot’s </a:t>
                </a:r>
                <a:r>
                  <a:rPr lang="en-US" sz="2200" b="1" dirty="0">
                    <a:latin typeface="Arial"/>
                    <a:ea typeface="Arial"/>
                    <a:cs typeface="Arial"/>
                    <a:sym typeface="Arial"/>
                  </a:rPr>
                  <a:t>body frame</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t>
                </a:r>
                <a:r>
                  <a:rPr lang="en-US" sz="2200" b="1" dirty="0">
                    <a:latin typeface="Arial"/>
                    <a:ea typeface="Arial"/>
                    <a:cs typeface="Arial"/>
                    <a:sym typeface="Arial"/>
                  </a:rPr>
                  <a:t>body frame</a:t>
                </a:r>
                <a:r>
                  <a:rPr lang="en-US" sz="2200" dirty="0">
                    <a:latin typeface="Arial"/>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of the robot.</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World Frame </a:t>
                </a:r>
                <a:r>
                  <a:rPr lang="en-US" sz="2200" dirty="0">
                    <a:latin typeface="Arial"/>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Body Frame </a:t>
                </a:r>
                <a:r>
                  <a:rPr lang="en-US" sz="2200" dirty="0">
                    <a:latin typeface="Arial"/>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rial"/>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rial"/>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rial"/>
                    <a:ea typeface="Arial"/>
                    <a:cs typeface="Arial"/>
                    <a:sym typeface="Arial"/>
                  </a:rPr>
                  <a:t> in the robot frame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from the rotated frame to the fixed frame.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Therefore,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world coordinates are thus,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rial"/>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the complete transformation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a:t>
            </a:r>
            <a:r>
              <a:rPr lang="en-US" sz="2400" dirty="0">
                <a:solidFill>
                  <a:schemeClr val="lt1"/>
                </a:solidFill>
              </a:rPr>
              <a:t>Transformation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Dead-Reckoning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Dead-Reckoning</a:t>
            </a:r>
            <a:r>
              <a:rPr lang="en-US" sz="2200" dirty="0">
                <a:latin typeface="Arial"/>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is the average of the two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rotates in place (a zero-radius turn).</a:t>
                </a:r>
              </a:p>
            </p:txBody>
          </p:sp>
        </mc:Choice>
        <mc:Fallback>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Assuming that the wheels are at contacting the ground, the wheels describe arcs in the plane in such a way that the robot always rotates around a point (the </a:t>
                </a:r>
                <a:r>
                  <a:rPr lang="en-US" sz="2200" b="1" dirty="0">
                    <a:latin typeface="Arial"/>
                    <a:ea typeface="Arial"/>
                    <a:cs typeface="Arial"/>
                    <a:sym typeface="Arial"/>
                  </a:rPr>
                  <a:t>ICR </a:t>
                </a:r>
                <a:r>
                  <a:rPr lang="en-US" sz="2200" dirty="0">
                    <a:latin typeface="Arial"/>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around the </a:t>
                </a:r>
                <a:r>
                  <a:rPr lang="en-US" sz="2200" b="1" dirty="0">
                    <a:latin typeface="Arial"/>
                    <a:ea typeface="Arial"/>
                    <a:cs typeface="Arial"/>
                    <a:sym typeface="Arial"/>
                  </a:rPr>
                  <a:t>ICR</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rial"/>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and R, we get that,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Very simple!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what is the robot doing?</a:t>
                </a: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rial"/>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we go! </a:t>
                </a:r>
              </a:p>
              <a:p>
                <a:pPr marL="0" indent="0">
                  <a:lnSpc>
                    <a:spcPct val="100000"/>
                  </a:lnSpc>
                  <a:spcBef>
                    <a:spcPts val="0"/>
                  </a:spcBef>
                  <a:buSzPts val="3000"/>
                  <a:buNone/>
                </a:pPr>
                <a:r>
                  <a:rPr lang="en-US" sz="2200" dirty="0">
                    <a:latin typeface="Arial"/>
                    <a:ea typeface="Arial"/>
                    <a:cs typeface="Arial"/>
                    <a:sym typeface="Arial"/>
                  </a:rPr>
                  <a:t>We now have 2 ways to get the robot’s position, integrating the </a:t>
                </a:r>
                <a:r>
                  <a:rPr lang="en-US" sz="2200" b="1" dirty="0">
                    <a:latin typeface="Arial"/>
                    <a:ea typeface="Arial"/>
                    <a:cs typeface="Arial"/>
                    <a:sym typeface="Arial"/>
                  </a:rPr>
                  <a:t>IMU</a:t>
                </a:r>
                <a:r>
                  <a:rPr lang="en-US" sz="2200" dirty="0">
                    <a:latin typeface="Arial"/>
                    <a:ea typeface="Arial"/>
                    <a:cs typeface="Arial"/>
                    <a:sym typeface="Arial"/>
                  </a:rPr>
                  <a:t> or integrating the </a:t>
                </a:r>
                <a:r>
                  <a:rPr lang="en-US" sz="2200" b="1" dirty="0">
                    <a:latin typeface="Arial"/>
                    <a:ea typeface="Arial"/>
                    <a:cs typeface="Arial"/>
                    <a:sym typeface="Arial"/>
                  </a:rPr>
                  <a:t>wheel encoder</a:t>
                </a:r>
                <a:r>
                  <a:rPr lang="en-US" sz="2200" dirty="0">
                    <a:latin typeface="Arial"/>
                    <a:ea typeface="Arial"/>
                    <a:cs typeface="Arial"/>
                    <a:sym typeface="Arial"/>
                  </a:rPr>
                  <a:t> information!</a:t>
                </a:r>
              </a:p>
            </p:txBody>
          </p:sp>
        </mc:Choice>
        <mc:Fallback>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known as drift. </a:t>
            </a:r>
            <a:r>
              <a:rPr lang="en-US" sz="2200" b="1" dirty="0">
                <a:latin typeface="Arial"/>
                <a:ea typeface="Arial"/>
                <a:cs typeface="Arial"/>
                <a:sym typeface="Arial"/>
              </a:rPr>
              <a:t>Odometry Drift </a:t>
            </a:r>
            <a:r>
              <a:rPr lang="en-US" sz="2200" dirty="0">
                <a:latin typeface="Arial"/>
                <a:ea typeface="Arial"/>
                <a:cs typeface="Arial"/>
                <a:sym typeface="Arial"/>
              </a:rPr>
              <a:t>for wheel encoders and </a:t>
            </a:r>
            <a:r>
              <a:rPr lang="en-US" sz="2200" b="1" dirty="0">
                <a:latin typeface="Arial"/>
                <a:ea typeface="Arial"/>
                <a:cs typeface="Arial"/>
                <a:sym typeface="Arial"/>
              </a:rPr>
              <a:t>IMU Drift </a:t>
            </a:r>
            <a:r>
              <a:rPr lang="en-US" sz="2200" dirty="0">
                <a:latin typeface="Arial"/>
                <a:ea typeface="Arial"/>
                <a:cs typeface="Arial"/>
                <a:sym typeface="Arial"/>
              </a:rPr>
              <a:t>for the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later lectures we will learn about the </a:t>
            </a:r>
            <a:r>
              <a:rPr lang="en-US" sz="2200" b="1" dirty="0">
                <a:latin typeface="Arial"/>
                <a:ea typeface="Arial"/>
                <a:cs typeface="Arial"/>
                <a:sym typeface="Arial"/>
              </a:rPr>
              <a:t>Kalman Filter</a:t>
            </a:r>
            <a:r>
              <a:rPr lang="en-US" sz="2200" dirty="0">
                <a:latin typeface="Arial"/>
                <a:ea typeface="Arial"/>
                <a:cs typeface="Arial"/>
                <a:sym typeface="Arial"/>
              </a:rPr>
              <a:t> to be able to </a:t>
            </a:r>
            <a:r>
              <a:rPr lang="en-US" sz="2200" b="1" dirty="0">
                <a:latin typeface="Arial"/>
                <a:ea typeface="Arial"/>
                <a:cs typeface="Arial"/>
                <a:sym typeface="Arial"/>
              </a:rPr>
              <a:t>fuse</a:t>
            </a:r>
            <a:r>
              <a:rPr lang="en-US" sz="2200" dirty="0">
                <a:latin typeface="Arial"/>
                <a:ea typeface="Arial"/>
                <a:cs typeface="Arial"/>
                <a:sym typeface="Arial"/>
              </a:rPr>
              <a:t> both sensors to get a more accurate measurement!</a:t>
            </a:r>
            <a:endParaRPr lang="en-US" sz="22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Errors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Systematic Error:</a:t>
            </a:r>
          </a:p>
          <a:p>
            <a:pPr marL="342900">
              <a:lnSpc>
                <a:spcPct val="100000"/>
              </a:lnSpc>
              <a:spcBef>
                <a:spcPts val="0"/>
              </a:spcBef>
              <a:buSzPts val="3000"/>
            </a:pPr>
            <a:r>
              <a:rPr lang="en-US" sz="2200" dirty="0">
                <a:latin typeface="Arial"/>
                <a:ea typeface="Arial"/>
                <a:cs typeface="Arial"/>
                <a:sym typeface="Arial"/>
              </a:rPr>
              <a:t>Built into the physical mechanism of the sensor</a:t>
            </a:r>
          </a:p>
          <a:p>
            <a:pPr marL="342900">
              <a:lnSpc>
                <a:spcPct val="100000"/>
              </a:lnSpc>
              <a:spcBef>
                <a:spcPts val="0"/>
              </a:spcBef>
              <a:buSzPts val="3000"/>
            </a:pPr>
            <a:r>
              <a:rPr lang="en-US" sz="2200" dirty="0">
                <a:latin typeface="Arial"/>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rial"/>
                <a:ea typeface="Arial"/>
                <a:cs typeface="Arial"/>
                <a:sym typeface="Arial"/>
              </a:rPr>
              <a:t>Can often be accounted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Unequal wheel diameter</a:t>
            </a:r>
          </a:p>
          <a:p>
            <a:pPr marL="342900">
              <a:lnSpc>
                <a:spcPct val="100000"/>
              </a:lnSpc>
              <a:spcBef>
                <a:spcPts val="0"/>
              </a:spcBef>
              <a:buSzPts val="3000"/>
            </a:pPr>
            <a:r>
              <a:rPr lang="en-US" sz="2200" dirty="0">
                <a:latin typeface="Arial"/>
                <a:ea typeface="Arial"/>
                <a:cs typeface="Arial"/>
                <a:sym typeface="Arial"/>
              </a:rPr>
              <a:t>Constant accelerometer bias</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Random Error:</a:t>
            </a:r>
          </a:p>
          <a:p>
            <a:pPr marL="342900">
              <a:lnSpc>
                <a:spcPct val="100000"/>
              </a:lnSpc>
              <a:spcBef>
                <a:spcPts val="0"/>
              </a:spcBef>
              <a:buSzPts val="3000"/>
            </a:pPr>
            <a:r>
              <a:rPr lang="en-US" sz="2200" dirty="0">
                <a:latin typeface="Arial"/>
                <a:ea typeface="Arial"/>
                <a:cs typeface="Arial"/>
                <a:sym typeface="Arial"/>
              </a:rPr>
              <a:t>Random and due to environment factors</a:t>
            </a:r>
          </a:p>
          <a:p>
            <a:pPr marL="342900">
              <a:lnSpc>
                <a:spcPct val="100000"/>
              </a:lnSpc>
              <a:spcBef>
                <a:spcPts val="0"/>
              </a:spcBef>
              <a:buSzPts val="3000"/>
            </a:pPr>
            <a:r>
              <a:rPr lang="en-US" sz="2200" dirty="0">
                <a:latin typeface="Arial"/>
                <a:ea typeface="Arial"/>
                <a:cs typeface="Arial"/>
                <a:sym typeface="Arial"/>
              </a:rPr>
              <a:t>May vary from observation to another</a:t>
            </a:r>
          </a:p>
          <a:p>
            <a:pPr marL="342900">
              <a:lnSpc>
                <a:spcPct val="100000"/>
              </a:lnSpc>
              <a:spcBef>
                <a:spcPts val="0"/>
              </a:spcBef>
              <a:buSzPts val="3000"/>
            </a:pPr>
            <a:r>
              <a:rPr lang="en-US" sz="2200" dirty="0">
                <a:latin typeface="Arial"/>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rial"/>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Wheel slip</a:t>
            </a:r>
          </a:p>
          <a:p>
            <a:pPr marL="342900">
              <a:lnSpc>
                <a:spcPct val="100000"/>
              </a:lnSpc>
              <a:spcBef>
                <a:spcPts val="0"/>
              </a:spcBef>
              <a:buSzPts val="3000"/>
            </a:pPr>
            <a:r>
              <a:rPr lang="en-US" sz="2200" dirty="0">
                <a:latin typeface="Arial"/>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 does one calculate how much </a:t>
            </a:r>
            <a:r>
              <a:rPr lang="en-US" sz="2200">
                <a:latin typeface="Arial"/>
                <a:ea typeface="Arial"/>
                <a:cs typeface="Arial"/>
                <a:sym typeface="Arial"/>
              </a:rPr>
              <a:t>the error drift?</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CE7D8C-AED4-C1D8-7372-9894F313FBC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939</TotalTime>
  <Words>2885</Words>
  <Application>Microsoft Office PowerPoint</Application>
  <PresentationFormat>Widescreen</PresentationFormat>
  <Paragraphs>422</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Calibri</vt:lpstr>
      <vt:lpstr>Cambria Math</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147</cp:revision>
  <dcterms:created xsi:type="dcterms:W3CDTF">2019-01-14T22:06:33Z</dcterms:created>
  <dcterms:modified xsi:type="dcterms:W3CDTF">2026-03-11T03:56:32Z</dcterms:modified>
</cp:coreProperties>
</file>