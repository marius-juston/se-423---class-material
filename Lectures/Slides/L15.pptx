
<file path=[Content_Types].xml><?xml version="1.0" encoding="utf-8"?>
<Types xmlns="http://schemas.openxmlformats.org/package/2006/content-types">
  <Default Extension="gif" ContentType="image/gif"/>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48" r:id="rId1"/>
  </p:sldMasterIdLst>
  <p:notesMasterIdLst>
    <p:notesMasterId r:id="rId47"/>
  </p:notesMasterIdLst>
  <p:sldIdLst>
    <p:sldId id="256" r:id="rId2"/>
    <p:sldId id="417" r:id="rId3"/>
    <p:sldId id="413" r:id="rId4"/>
    <p:sldId id="272" r:id="rId5"/>
    <p:sldId id="258" r:id="rId6"/>
    <p:sldId id="418" r:id="rId7"/>
    <p:sldId id="419" r:id="rId8"/>
    <p:sldId id="431" r:id="rId9"/>
    <p:sldId id="420" r:id="rId10"/>
    <p:sldId id="422" r:id="rId11"/>
    <p:sldId id="421" r:id="rId12"/>
    <p:sldId id="423" r:id="rId13"/>
    <p:sldId id="424" r:id="rId14"/>
    <p:sldId id="425" r:id="rId15"/>
    <p:sldId id="426" r:id="rId16"/>
    <p:sldId id="427" r:id="rId17"/>
    <p:sldId id="428" r:id="rId18"/>
    <p:sldId id="429" r:id="rId19"/>
    <p:sldId id="430" r:id="rId20"/>
    <p:sldId id="432" r:id="rId21"/>
    <p:sldId id="433" r:id="rId22"/>
    <p:sldId id="434" r:id="rId23"/>
    <p:sldId id="435" r:id="rId24"/>
    <p:sldId id="437" r:id="rId25"/>
    <p:sldId id="436" r:id="rId26"/>
    <p:sldId id="438" r:id="rId27"/>
    <p:sldId id="439" r:id="rId28"/>
    <p:sldId id="440" r:id="rId29"/>
    <p:sldId id="441" r:id="rId30"/>
    <p:sldId id="442" r:id="rId31"/>
    <p:sldId id="443" r:id="rId32"/>
    <p:sldId id="445" r:id="rId33"/>
    <p:sldId id="447" r:id="rId34"/>
    <p:sldId id="444" r:id="rId35"/>
    <p:sldId id="448" r:id="rId36"/>
    <p:sldId id="449" r:id="rId37"/>
    <p:sldId id="450" r:id="rId38"/>
    <p:sldId id="453" r:id="rId39"/>
    <p:sldId id="452" r:id="rId40"/>
    <p:sldId id="454" r:id="rId41"/>
    <p:sldId id="455" r:id="rId42"/>
    <p:sldId id="456" r:id="rId43"/>
    <p:sldId id="457" r:id="rId44"/>
    <p:sldId id="271" r:id="rId45"/>
    <p:sldId id="270" r:id="rId46"/>
  </p:sldIdLst>
  <p:sldSz cx="12192000" cy="6858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 uri="http://customooxmlschemas.google.com/">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r:id="rId48" roundtripDataSignature="AMtx7mjKkk5wOoQj6sDPPETbbKgHU96Dzg=="/>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50" d="100"/>
          <a:sy n="150" d="100"/>
        </p:scale>
        <p:origin x="654" y="13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notesMaster" Target="notesMasters/notesMaster1.xml"/><Relationship Id="rId50" Type="http://schemas.openxmlformats.org/officeDocument/2006/relationships/viewProps" Target="view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customschemas.google.com/relationships/presentationmetadata" Target="metadata"/><Relationship Id="rId8" Type="http://schemas.openxmlformats.org/officeDocument/2006/relationships/slide" Target="slides/slide7.xml"/><Relationship Id="rId51" Type="http://schemas.openxmlformats.org/officeDocument/2006/relationships/theme" Target="theme/theme1.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L="914400" marR="0" lvl="1"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2pPr>
            <a:lvl3pPr marL="1371600" marR="0" lvl="2"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3pPr>
            <a:lvl4pPr marL="1828800" marR="0" lvl="3"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4pPr>
            <a:lvl5pPr marL="2286000" marR="0" lvl="4"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5pPr>
            <a:lvl6pPr marL="2743200" marR="0" lvl="5"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6pPr>
            <a:lvl7pPr marL="3200400" marR="0" lvl="6"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7pPr>
            <a:lvl8pPr marL="3657600" marR="0" lvl="7"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8pPr>
            <a:lvl9pPr marL="4114800" marR="0" lvl="8"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Arial"/>
              <a:buNone/>
            </a:pPr>
            <a:fld id="{00000000-1234-1234-1234-123412341234}" type="slidenum">
              <a:rPr lang="en-US" sz="1200" b="0" i="0" u="none" strike="noStrike" cap="none">
                <a:solidFill>
                  <a:schemeClr val="dk1"/>
                </a:solidFill>
                <a:latin typeface="Calibri"/>
                <a:ea typeface="Calibri"/>
                <a:cs typeface="Calibri"/>
                <a:sym typeface="Calibri"/>
              </a:rPr>
              <a:t>‹#›</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8"/>
        <p:cNvGrpSpPr/>
        <p:nvPr/>
      </p:nvGrpSpPr>
      <p:grpSpPr>
        <a:xfrm>
          <a:off x="0" y="0"/>
          <a:ext cx="0" cy="0"/>
          <a:chOff x="0" y="0"/>
          <a:chExt cx="0" cy="0"/>
        </a:xfrm>
      </p:grpSpPr>
      <p:sp>
        <p:nvSpPr>
          <p:cNvPr id="79" name="Google Shape;79;p26: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0" name="Google Shape;80;p26: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CE7E3B5-49B9-1887-BB3D-532FE9FF859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15B324B9-F340-1116-1318-88A50BDE8BC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F0993868-158A-56AF-D3A1-6FFF7658AE6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25405439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F004519-0EAD-FA0D-DE7A-BBED69225C0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9E58F23-9AF7-DB67-E863-18BBB13641E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3C79A737-144F-41FB-6FD9-A9EBE11C950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0771917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AF9ED5EC-765E-DDD7-332B-8A00B0540F98}"/>
            </a:ext>
          </a:extLst>
        </p:cNvPr>
        <p:cNvGrpSpPr/>
        <p:nvPr/>
      </p:nvGrpSpPr>
      <p:grpSpPr>
        <a:xfrm>
          <a:off x="0" y="0"/>
          <a:ext cx="0" cy="0"/>
          <a:chOff x="0" y="0"/>
          <a:chExt cx="0" cy="0"/>
        </a:xfrm>
      </p:grpSpPr>
      <p:sp>
        <p:nvSpPr>
          <p:cNvPr id="86" name="Google Shape;86;p27:notes">
            <a:extLst>
              <a:ext uri="{FF2B5EF4-FFF2-40B4-BE49-F238E27FC236}">
                <a16:creationId xmlns:a16="http://schemas.microsoft.com/office/drawing/2014/main" id="{5154540A-10BF-B029-D910-A380E44E1A04}"/>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p27:notes">
            <a:extLst>
              <a:ext uri="{FF2B5EF4-FFF2-40B4-BE49-F238E27FC236}">
                <a16:creationId xmlns:a16="http://schemas.microsoft.com/office/drawing/2014/main" id="{D65677FB-0014-3040-C794-160B4CD86AA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02538161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p:cNvGrpSpPr/>
        <p:nvPr/>
      </p:nvGrpSpPr>
      <p:grpSpPr>
        <a:xfrm>
          <a:off x="0" y="0"/>
          <a:ext cx="0" cy="0"/>
          <a:chOff x="0" y="0"/>
          <a:chExt cx="0" cy="0"/>
        </a:xfrm>
      </p:grpSpPr>
      <p:sp>
        <p:nvSpPr>
          <p:cNvPr id="101" name="Google Shape;101;p2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B6B53992-DBCC-1A47-D509-2283B20A380E}"/>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A6DA2EB-93A5-88B8-DC24-FDB0D7C2031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32478B48-83E8-4F87-AFC3-6B61F37266C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682061559"/>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5A2299D0-F2DF-2356-8F5D-682A0BE7C9F6}"/>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4BFF871-D58C-A13F-05E6-8187B1841C3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AEA7B009-B8C1-1542-E4CE-DCB5DF2C635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58280282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EBDCF605-DB66-3DD8-A8A0-6D35958FA67B}"/>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7302E670-274B-DC92-6DB4-BFE4DE6C1593}"/>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a:extLst>
              <a:ext uri="{FF2B5EF4-FFF2-40B4-BE49-F238E27FC236}">
                <a16:creationId xmlns:a16="http://schemas.microsoft.com/office/drawing/2014/main" id="{B11C997B-FB9B-774B-A490-29210A94FAB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0966583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B651D49-3479-47FA-7613-7F7702EE7D9E}"/>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14F75C1-2CF2-34C0-628E-6E9C6FAAEE1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27DA9332-2978-2177-38B5-199FC4B4FC7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98860686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AF33BE4-7944-0CAC-5025-FDDEFA8910C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33DD3F6-0220-7B32-EFA0-6D346AE14DB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C49740B-1434-96E0-9676-BA411739A35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008778789"/>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C5A1C2D-BECA-E00E-F164-FF942FFBD53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831F6D0-06BD-901E-DF0D-C74E488C3F1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78DDECD3-ECE8-3672-CFE4-E18B766A612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620730534"/>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D021E94-44B8-042C-6B56-F12EBC032727}"/>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9FB3D157-37C5-4682-E55E-3DA940A373F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08CB970C-19F6-D507-BC57-D1ED575003A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892468095"/>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6CAC9A3-7125-FD97-0CA4-A355EEE39CA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319C0B7-7AE7-11C0-74B4-E0B94DFEA512}"/>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D42D5B97-F6BA-0D23-7160-3CB1F275915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3797158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987C942-D3CF-1804-8160-A38896B35DA5}"/>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EFE11EB-6697-2CB2-9EAF-C7E6F2392D3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5544C7C4-01B9-E1A6-5D43-A05FE36ED2F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42134079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2004C50-F47E-3B80-F9D3-3739D7D6B5A6}"/>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D4E0809-82D7-C156-383F-518AE8E4086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E71A57EE-2D5E-F334-A42F-B62547745AD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313653904"/>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064C2C3-87F7-1595-A01A-6F364F1F8A8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DF55EC0-3655-24FE-F888-BD002EFC09B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B5FBF68B-B41F-C902-C4E0-EB730111C29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601907852"/>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D332CC8-A2C1-CE72-3B84-DEFCEA9495C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F4CAC600-6939-5063-9D45-2AC087D7FF8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B70BF6BC-389E-B6CA-CB50-D93BE7AE307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196432833"/>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F8BF7BF-60B9-DA48-4BBA-5AE075B7891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C52BEC4-864E-8F7F-A658-A7B016F230F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AF18C965-0CD5-C9CE-69E8-F3852ECC9E3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306120414"/>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999F037-8C12-8E40-3C8A-7B9469DE6EA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4CF04FE2-FC42-93C3-5D44-30170411F5E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65C32F6B-4D61-6B49-5521-323F0FA5AA74}"/>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973520460"/>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D8477EE1-B993-CD06-EEBA-78F4E3E996A7}"/>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73DDE1DD-0E78-2BFA-2A76-8DED2AF53B0C}"/>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a:extLst>
              <a:ext uri="{FF2B5EF4-FFF2-40B4-BE49-F238E27FC236}">
                <a16:creationId xmlns:a16="http://schemas.microsoft.com/office/drawing/2014/main" id="{DD793B7F-E5AF-6B99-0CD5-C800BF33616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57507124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2501867-95D6-B00D-B73A-61ADCE518AF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856DAAE-3D4D-31C8-FB91-1907718A15A0}"/>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46A39EDE-9C73-1A82-E878-714DAFCE793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314616989"/>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50165D6-2B0F-CB6D-C842-2A2FF9492CC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A4026F1C-4C24-07F8-27C2-86F7FD232D9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0DF6B970-ADAE-795C-7359-E1A3A3509FA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784451719"/>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51BCA9D6-B738-6212-9801-A17EA0F7D727}"/>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CEC23B1-F7A4-CD59-51F9-9B142FEFE72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1EA8222C-089B-B207-19A5-D181061FD24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99379602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FDFC25D6-F64E-F7E8-7EF1-3D44F16ED86A}"/>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4153428-DA95-9E30-E05C-D3596A229AC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147BDBCA-A110-5052-2B7B-FC61B3E5AE9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22233335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17FD0AD-19F7-20B6-BA4F-7E3AAC382C2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AAE6DE1-5D24-0B2E-7458-EDC1FF5CC4C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220D2DC7-DEA1-7039-7FA0-68E49DB85C7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360951442"/>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DF7D257-51B6-449D-D309-A44A8C94CF65}"/>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1B16CDF0-DC3E-FDA5-4F24-CFF74589135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6FD72445-7521-A8A2-A874-E396361A840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835443078"/>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C4B48CB-5C0F-03DE-F40A-08B17A02EBC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1663EDC-AF68-787D-7D9D-3E906F44B5C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1C147F73-9515-16E8-9473-45D5A2CF1E7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804727745"/>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B71A3041-965F-B8AF-4344-9285AC280A9B}"/>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3B1803F9-CCE5-8947-EB0A-D44E1D61DF64}"/>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a:extLst>
              <a:ext uri="{FF2B5EF4-FFF2-40B4-BE49-F238E27FC236}">
                <a16:creationId xmlns:a16="http://schemas.microsoft.com/office/drawing/2014/main" id="{6F6543B3-BB15-6911-9334-5DD954C2364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79842054"/>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5C28518-8438-CF4E-817F-4B7ED567B4F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4248EAA-70A3-52A4-ACAF-EB10715B7174}"/>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0A2E4230-B6A7-901E-BA7D-5E85C8C5A16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101868706"/>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E3CC5AD-2C8B-6CD3-3B0F-E22C5A50A82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DBE3EB9-8751-82E7-7BCC-CBA885B13962}"/>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47E28E4B-E391-46A0-FCF6-EEE337283E7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547629627"/>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922E025-D59A-768B-8EF2-4E6891E706F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8087AD0-D746-1DB3-AFCB-C3B298F1B36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30831774-8FB6-D3C9-F4E1-8AEF2ECE0ED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716259674"/>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F6E2D6C-ADDD-7919-8B01-F2430F6C1A9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443FE519-7DBE-3B61-21CD-B3B0C226BB7D}"/>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5DE5B633-BC28-01CE-8413-F37070E0505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935488793"/>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5C7ECC29-CFF4-8ABF-C915-3169F433EBB7}"/>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402B0F87-E6CF-D7A1-40B9-495F1091764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AAAB015F-7BBC-E4B3-1037-CA3DAE9E89C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234772113"/>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3444B803-FB2A-FE28-C110-D02F02F3A90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AD9D84A-304A-E55E-9324-85274DFA518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86BB618D-94FA-58A9-4155-F121609E529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8500424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D6B2225-C0B2-56EA-3045-806081BC79B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CA1C512-4501-0D1D-A2AA-3AEE7779B13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3C4BDA5A-BCA5-4965-0EEA-A9AB0F4BB39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430789662"/>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641BC26-EB58-4C22-AF95-3E749992E4F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F13548C-5DB0-865E-C740-34E11AC2AD1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3D382200-C9EB-25C0-9161-F002EF39078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87636643"/>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F2E8F99-4EF5-8C1C-B8FB-DC0D9E9D452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5A67404-F6AF-3E18-349F-311E3E7B2CB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125FD715-7DE0-1C44-D1A0-F523F617501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498349059"/>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DE18440F-1056-DAFA-176A-D26254D36010}"/>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5BD88BCB-8134-07CA-DB5D-25E76AF8BDA3}"/>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a:extLst>
              <a:ext uri="{FF2B5EF4-FFF2-40B4-BE49-F238E27FC236}">
                <a16:creationId xmlns:a16="http://schemas.microsoft.com/office/drawing/2014/main" id="{12EAE820-72DD-88C2-F9F9-F6BD94102FE4}"/>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594064249"/>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458109F-86CB-C8B2-DBD1-6B4C043A939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B1227C0-9987-B6FE-943E-025894408204}"/>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8ED54106-1EA5-D09F-5297-4E5F9FA4D4E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79013582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FB4C103-FD70-DC24-3807-8A9F53C17976}"/>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1C65B16-AED5-042F-9941-627D2421E51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60C881E0-573D-D8BA-0B4E-6AAC9475B20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756763192"/>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5C82AC7-8202-F2C9-A3D9-B5D987B1AAD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2B8A00E-83B2-E80F-3506-85A7613BD93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73B61B05-1962-E37D-BC7D-A1342290053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808188732"/>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B5D9D9EA-5589-19AF-E262-E2F2F623AF1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4399A02-E788-A483-A486-8A6EB9147EA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31C2689D-70E1-4B17-76A2-B86E57C8819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606783692"/>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51FFF0E-C97C-278C-3F77-3CC6B4049BD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A5001F4-2420-5D75-35F6-B8AF968F118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A098A410-8313-E2B4-8AEA-70E986C0E9E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660100147"/>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0">
          <a:extLst>
            <a:ext uri="{FF2B5EF4-FFF2-40B4-BE49-F238E27FC236}">
              <a16:creationId xmlns:a16="http://schemas.microsoft.com/office/drawing/2014/main" id="{ED6D95D0-49C4-BE65-6DB0-A8408AD9A1A2}"/>
            </a:ext>
          </a:extLst>
        </p:cNvPr>
        <p:cNvGrpSpPr/>
        <p:nvPr/>
      </p:nvGrpSpPr>
      <p:grpSpPr>
        <a:xfrm>
          <a:off x="0" y="0"/>
          <a:ext cx="0" cy="0"/>
          <a:chOff x="0" y="0"/>
          <a:chExt cx="0" cy="0"/>
        </a:xfrm>
      </p:grpSpPr>
      <p:sp>
        <p:nvSpPr>
          <p:cNvPr id="261" name="Google Shape;261;p37:notes">
            <a:extLst>
              <a:ext uri="{FF2B5EF4-FFF2-40B4-BE49-F238E27FC236}">
                <a16:creationId xmlns:a16="http://schemas.microsoft.com/office/drawing/2014/main" id="{D5BF9D20-A937-E031-5ACD-4B566F245A56}"/>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62" name="Google Shape;262;p37:notes">
            <a:extLst>
              <a:ext uri="{FF2B5EF4-FFF2-40B4-BE49-F238E27FC236}">
                <a16:creationId xmlns:a16="http://schemas.microsoft.com/office/drawing/2014/main" id="{1666A96F-D523-1F0C-00D5-14D5F35E2C2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8882365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p:cNvGrpSpPr/>
        <p:nvPr/>
      </p:nvGrpSpPr>
      <p:grpSpPr>
        <a:xfrm>
          <a:off x="0" y="0"/>
          <a:ext cx="0" cy="0"/>
          <a:chOff x="0" y="0"/>
          <a:chExt cx="0" cy="0"/>
        </a:xfrm>
      </p:grpSpPr>
      <p:sp>
        <p:nvSpPr>
          <p:cNvPr id="272" name="Google Shape;272;p3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3" name="Google Shape;273;p3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15"/>
        <p:cNvGrpSpPr/>
        <p:nvPr/>
      </p:nvGrpSpPr>
      <p:grpSpPr>
        <a:xfrm>
          <a:off x="0" y="0"/>
          <a:ext cx="0" cy="0"/>
          <a:chOff x="0" y="0"/>
          <a:chExt cx="0" cy="0"/>
        </a:xfrm>
      </p:grpSpPr>
      <p:sp>
        <p:nvSpPr>
          <p:cNvPr id="16" name="Google Shape;16;p2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7" name="Google Shape;17;p2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8" name="Google Shape;18;p2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19"/>
        <p:cNvGrpSpPr/>
        <p:nvPr/>
      </p:nvGrpSpPr>
      <p:grpSpPr>
        <a:xfrm>
          <a:off x="0" y="0"/>
          <a:ext cx="0" cy="0"/>
          <a:chOff x="0" y="0"/>
          <a:chExt cx="0" cy="0"/>
        </a:xfrm>
      </p:grpSpPr>
      <p:sp>
        <p:nvSpPr>
          <p:cNvPr id="20" name="Google Shape;20;p16"/>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1" name="Google Shape;21;p16"/>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22" name="Google Shape;22;p16"/>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3" name="Google Shape;23;p16"/>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4" name="Google Shape;24;p1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5"/>
        <p:cNvGrpSpPr/>
        <p:nvPr/>
      </p:nvGrpSpPr>
      <p:grpSpPr>
        <a:xfrm>
          <a:off x="0" y="0"/>
          <a:ext cx="0" cy="0"/>
          <a:chOff x="0" y="0"/>
          <a:chExt cx="0" cy="0"/>
        </a:xfrm>
      </p:grpSpPr>
      <p:sp>
        <p:nvSpPr>
          <p:cNvPr id="26" name="Google Shape;26;p17"/>
          <p:cNvSpPr txBox="1">
            <a:spLocks noGrp="1"/>
          </p:cNvSpPr>
          <p:nvPr>
            <p:ph type="title"/>
          </p:nvPr>
        </p:nvSpPr>
        <p:spPr>
          <a:xfrm>
            <a:off x="831850" y="1709738"/>
            <a:ext cx="10515600" cy="2852737"/>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6000"/>
              <a:buFont typeface="Calibri"/>
              <a:buNone/>
              <a:defRPr sz="60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7" name="Google Shape;27;p17"/>
          <p:cNvSpPr txBox="1">
            <a:spLocks noGrp="1"/>
          </p:cNvSpPr>
          <p:nvPr>
            <p:ph type="body" idx="1"/>
          </p:nvPr>
        </p:nvSpPr>
        <p:spPr>
          <a:xfrm>
            <a:off x="831850" y="4589463"/>
            <a:ext cx="10515600" cy="1500187"/>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rgbClr val="888888"/>
              </a:buClr>
              <a:buSzPts val="2400"/>
              <a:buNone/>
              <a:defRPr sz="2400">
                <a:solidFill>
                  <a:srgbClr val="888888"/>
                </a:solidFill>
              </a:defRPr>
            </a:lvl1pPr>
            <a:lvl2pPr marL="914400" lvl="1" indent="-228600" algn="l">
              <a:lnSpc>
                <a:spcPct val="90000"/>
              </a:lnSpc>
              <a:spcBef>
                <a:spcPts val="500"/>
              </a:spcBef>
              <a:spcAft>
                <a:spcPts val="0"/>
              </a:spcAft>
              <a:buClr>
                <a:srgbClr val="888888"/>
              </a:buClr>
              <a:buSzPts val="2000"/>
              <a:buNone/>
              <a:defRPr sz="2000">
                <a:solidFill>
                  <a:srgbClr val="888888"/>
                </a:solidFill>
              </a:defRPr>
            </a:lvl2pPr>
            <a:lvl3pPr marL="1371600" lvl="2" indent="-228600" algn="l">
              <a:lnSpc>
                <a:spcPct val="90000"/>
              </a:lnSpc>
              <a:spcBef>
                <a:spcPts val="500"/>
              </a:spcBef>
              <a:spcAft>
                <a:spcPts val="0"/>
              </a:spcAft>
              <a:buClr>
                <a:srgbClr val="888888"/>
              </a:buClr>
              <a:buSzPts val="1800"/>
              <a:buNone/>
              <a:defRPr sz="1800">
                <a:solidFill>
                  <a:srgbClr val="888888"/>
                </a:solidFill>
              </a:defRPr>
            </a:lvl3pPr>
            <a:lvl4pPr marL="1828800" lvl="3" indent="-228600" algn="l">
              <a:lnSpc>
                <a:spcPct val="90000"/>
              </a:lnSpc>
              <a:spcBef>
                <a:spcPts val="500"/>
              </a:spcBef>
              <a:spcAft>
                <a:spcPts val="0"/>
              </a:spcAft>
              <a:buClr>
                <a:srgbClr val="888888"/>
              </a:buClr>
              <a:buSzPts val="1600"/>
              <a:buNone/>
              <a:defRPr sz="1600">
                <a:solidFill>
                  <a:srgbClr val="888888"/>
                </a:solidFill>
              </a:defRPr>
            </a:lvl4pPr>
            <a:lvl5pPr marL="2286000" lvl="4" indent="-228600" algn="l">
              <a:lnSpc>
                <a:spcPct val="90000"/>
              </a:lnSpc>
              <a:spcBef>
                <a:spcPts val="500"/>
              </a:spcBef>
              <a:spcAft>
                <a:spcPts val="0"/>
              </a:spcAft>
              <a:buClr>
                <a:srgbClr val="888888"/>
              </a:buClr>
              <a:buSzPts val="1600"/>
              <a:buNone/>
              <a:defRPr sz="1600">
                <a:solidFill>
                  <a:srgbClr val="888888"/>
                </a:solidFill>
              </a:defRPr>
            </a:lvl5pPr>
            <a:lvl6pPr marL="2743200" lvl="5" indent="-228600" algn="l">
              <a:lnSpc>
                <a:spcPct val="90000"/>
              </a:lnSpc>
              <a:spcBef>
                <a:spcPts val="500"/>
              </a:spcBef>
              <a:spcAft>
                <a:spcPts val="0"/>
              </a:spcAft>
              <a:buClr>
                <a:srgbClr val="888888"/>
              </a:buClr>
              <a:buSzPts val="1600"/>
              <a:buNone/>
              <a:defRPr sz="1600">
                <a:solidFill>
                  <a:srgbClr val="888888"/>
                </a:solidFill>
              </a:defRPr>
            </a:lvl6pPr>
            <a:lvl7pPr marL="3200400" lvl="6" indent="-228600" algn="l">
              <a:lnSpc>
                <a:spcPct val="90000"/>
              </a:lnSpc>
              <a:spcBef>
                <a:spcPts val="500"/>
              </a:spcBef>
              <a:spcAft>
                <a:spcPts val="0"/>
              </a:spcAft>
              <a:buClr>
                <a:srgbClr val="888888"/>
              </a:buClr>
              <a:buSzPts val="1600"/>
              <a:buNone/>
              <a:defRPr sz="1600">
                <a:solidFill>
                  <a:srgbClr val="888888"/>
                </a:solidFill>
              </a:defRPr>
            </a:lvl7pPr>
            <a:lvl8pPr marL="3657600" lvl="7" indent="-228600" algn="l">
              <a:lnSpc>
                <a:spcPct val="90000"/>
              </a:lnSpc>
              <a:spcBef>
                <a:spcPts val="500"/>
              </a:spcBef>
              <a:spcAft>
                <a:spcPts val="0"/>
              </a:spcAft>
              <a:buClr>
                <a:srgbClr val="888888"/>
              </a:buClr>
              <a:buSzPts val="1600"/>
              <a:buNone/>
              <a:defRPr sz="1600">
                <a:solidFill>
                  <a:srgbClr val="888888"/>
                </a:solidFill>
              </a:defRPr>
            </a:lvl8pPr>
            <a:lvl9pPr marL="4114800" lvl="8" indent="-228600" algn="l">
              <a:lnSpc>
                <a:spcPct val="90000"/>
              </a:lnSpc>
              <a:spcBef>
                <a:spcPts val="500"/>
              </a:spcBef>
              <a:spcAft>
                <a:spcPts val="0"/>
              </a:spcAft>
              <a:buClr>
                <a:srgbClr val="888888"/>
              </a:buClr>
              <a:buSzPts val="1600"/>
              <a:buNone/>
              <a:defRPr sz="1600">
                <a:solidFill>
                  <a:srgbClr val="888888"/>
                </a:solidFill>
              </a:defRPr>
            </a:lvl9pPr>
          </a:lstStyle>
          <a:p>
            <a:endParaRPr/>
          </a:p>
        </p:txBody>
      </p:sp>
      <p:sp>
        <p:nvSpPr>
          <p:cNvPr id="28" name="Google Shape;28;p17"/>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9" name="Google Shape;29;p17"/>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0" name="Google Shape;30;p1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31"/>
        <p:cNvGrpSpPr/>
        <p:nvPr/>
      </p:nvGrpSpPr>
      <p:grpSpPr>
        <a:xfrm>
          <a:off x="0" y="0"/>
          <a:ext cx="0" cy="0"/>
          <a:chOff x="0" y="0"/>
          <a:chExt cx="0" cy="0"/>
        </a:xfrm>
      </p:grpSpPr>
      <p:sp>
        <p:nvSpPr>
          <p:cNvPr id="32" name="Google Shape;32;p18"/>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3" name="Google Shape;33;p18"/>
          <p:cNvSpPr txBox="1">
            <a:spLocks noGrp="1"/>
          </p:cNvSpPr>
          <p:nvPr>
            <p:ph type="body" idx="1"/>
          </p:nvPr>
        </p:nvSpPr>
        <p:spPr>
          <a:xfrm>
            <a:off x="838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4" name="Google Shape;34;p18"/>
          <p:cNvSpPr txBox="1">
            <a:spLocks noGrp="1"/>
          </p:cNvSpPr>
          <p:nvPr>
            <p:ph type="body" idx="2"/>
          </p:nvPr>
        </p:nvSpPr>
        <p:spPr>
          <a:xfrm>
            <a:off x="6172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5" name="Google Shape;35;p18"/>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6" name="Google Shape;36;p18"/>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7" name="Google Shape;37;p1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38"/>
        <p:cNvGrpSpPr/>
        <p:nvPr/>
      </p:nvGrpSpPr>
      <p:grpSpPr>
        <a:xfrm>
          <a:off x="0" y="0"/>
          <a:ext cx="0" cy="0"/>
          <a:chOff x="0" y="0"/>
          <a:chExt cx="0" cy="0"/>
        </a:xfrm>
      </p:grpSpPr>
      <p:sp>
        <p:nvSpPr>
          <p:cNvPr id="39" name="Google Shape;39;p19"/>
          <p:cNvSpPr txBox="1">
            <a:spLocks noGrp="1"/>
          </p:cNvSpPr>
          <p:nvPr>
            <p:ph type="title"/>
          </p:nvPr>
        </p:nvSpPr>
        <p:spPr>
          <a:xfrm>
            <a:off x="839788"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0" name="Google Shape;40;p19"/>
          <p:cNvSpPr txBox="1">
            <a:spLocks noGrp="1"/>
          </p:cNvSpPr>
          <p:nvPr>
            <p:ph type="body" idx="1"/>
          </p:nvPr>
        </p:nvSpPr>
        <p:spPr>
          <a:xfrm>
            <a:off x="839788" y="1681163"/>
            <a:ext cx="5157787"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1" name="Google Shape;41;p19"/>
          <p:cNvSpPr txBox="1">
            <a:spLocks noGrp="1"/>
          </p:cNvSpPr>
          <p:nvPr>
            <p:ph type="body" idx="2"/>
          </p:nvPr>
        </p:nvSpPr>
        <p:spPr>
          <a:xfrm>
            <a:off x="839788" y="2505075"/>
            <a:ext cx="5157787"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2" name="Google Shape;42;p19"/>
          <p:cNvSpPr txBox="1">
            <a:spLocks noGrp="1"/>
          </p:cNvSpPr>
          <p:nvPr>
            <p:ph type="body" idx="3"/>
          </p:nvPr>
        </p:nvSpPr>
        <p:spPr>
          <a:xfrm>
            <a:off x="6172200" y="1681163"/>
            <a:ext cx="5183188"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3" name="Google Shape;43;p19"/>
          <p:cNvSpPr txBox="1">
            <a:spLocks noGrp="1"/>
          </p:cNvSpPr>
          <p:nvPr>
            <p:ph type="body" idx="4"/>
          </p:nvPr>
        </p:nvSpPr>
        <p:spPr>
          <a:xfrm>
            <a:off x="6172200" y="2505075"/>
            <a:ext cx="5183188"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4" name="Google Shape;44;p19"/>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5" name="Google Shape;45;p19"/>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6" name="Google Shape;46;p1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7"/>
        <p:cNvGrpSpPr/>
        <p:nvPr/>
      </p:nvGrpSpPr>
      <p:grpSpPr>
        <a:xfrm>
          <a:off x="0" y="0"/>
          <a:ext cx="0" cy="0"/>
          <a:chOff x="0" y="0"/>
          <a:chExt cx="0" cy="0"/>
        </a:xfrm>
      </p:grpSpPr>
      <p:sp>
        <p:nvSpPr>
          <p:cNvPr id="48" name="Google Shape;48;p20"/>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9" name="Google Shape;49;p20"/>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0" name="Google Shape;50;p20"/>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1" name="Google Shape;51;p2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2"/>
        <p:cNvGrpSpPr/>
        <p:nvPr/>
      </p:nvGrpSpPr>
      <p:grpSpPr>
        <a:xfrm>
          <a:off x="0" y="0"/>
          <a:ext cx="0" cy="0"/>
          <a:chOff x="0" y="0"/>
          <a:chExt cx="0" cy="0"/>
        </a:xfrm>
      </p:grpSpPr>
      <p:sp>
        <p:nvSpPr>
          <p:cNvPr id="53" name="Google Shape;53;p22"/>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4" name="Google Shape;54;p22"/>
          <p:cNvSpPr txBox="1">
            <a:spLocks noGrp="1"/>
          </p:cNvSpPr>
          <p:nvPr>
            <p:ph type="body" idx="1"/>
          </p:nvPr>
        </p:nvSpPr>
        <p:spPr>
          <a:xfrm>
            <a:off x="5183188" y="987425"/>
            <a:ext cx="6172200" cy="4873625"/>
          </a:xfrm>
          <a:prstGeom prst="rect">
            <a:avLst/>
          </a:prstGeom>
          <a:noFill/>
          <a:ln>
            <a:noFill/>
          </a:ln>
        </p:spPr>
        <p:txBody>
          <a:bodyPr spcFirstLastPara="1" wrap="square" lIns="91425" tIns="45700" rIns="91425" bIns="45700" anchor="t" anchorCtr="0">
            <a:normAutofit/>
          </a:bodyPr>
          <a:lstStyle>
            <a:lvl1pPr marL="457200" lvl="0" indent="-431800" algn="l">
              <a:lnSpc>
                <a:spcPct val="90000"/>
              </a:lnSpc>
              <a:spcBef>
                <a:spcPts val="1000"/>
              </a:spcBef>
              <a:spcAft>
                <a:spcPts val="0"/>
              </a:spcAft>
              <a:buClr>
                <a:schemeClr val="dk1"/>
              </a:buClr>
              <a:buSzPts val="3200"/>
              <a:buChar char="•"/>
              <a:defRPr sz="3200"/>
            </a:lvl1pPr>
            <a:lvl2pPr marL="914400" lvl="1" indent="-406400" algn="l">
              <a:lnSpc>
                <a:spcPct val="90000"/>
              </a:lnSpc>
              <a:spcBef>
                <a:spcPts val="500"/>
              </a:spcBef>
              <a:spcAft>
                <a:spcPts val="0"/>
              </a:spcAft>
              <a:buClr>
                <a:schemeClr val="dk1"/>
              </a:buClr>
              <a:buSzPts val="2800"/>
              <a:buChar char="•"/>
              <a:defRPr sz="2800"/>
            </a:lvl2pPr>
            <a:lvl3pPr marL="1371600" lvl="2" indent="-381000" algn="l">
              <a:lnSpc>
                <a:spcPct val="90000"/>
              </a:lnSpc>
              <a:spcBef>
                <a:spcPts val="500"/>
              </a:spcBef>
              <a:spcAft>
                <a:spcPts val="0"/>
              </a:spcAft>
              <a:buClr>
                <a:schemeClr val="dk1"/>
              </a:buClr>
              <a:buSzPts val="2400"/>
              <a:buChar char="•"/>
              <a:defRPr sz="2400"/>
            </a:lvl3pPr>
            <a:lvl4pPr marL="1828800" lvl="3" indent="-355600" algn="l">
              <a:lnSpc>
                <a:spcPct val="90000"/>
              </a:lnSpc>
              <a:spcBef>
                <a:spcPts val="500"/>
              </a:spcBef>
              <a:spcAft>
                <a:spcPts val="0"/>
              </a:spcAft>
              <a:buClr>
                <a:schemeClr val="dk1"/>
              </a:buClr>
              <a:buSzPts val="2000"/>
              <a:buChar char="•"/>
              <a:defRPr sz="2000"/>
            </a:lvl4pPr>
            <a:lvl5pPr marL="2286000" lvl="4" indent="-355600" algn="l">
              <a:lnSpc>
                <a:spcPct val="90000"/>
              </a:lnSpc>
              <a:spcBef>
                <a:spcPts val="500"/>
              </a:spcBef>
              <a:spcAft>
                <a:spcPts val="0"/>
              </a:spcAft>
              <a:buClr>
                <a:schemeClr val="dk1"/>
              </a:buClr>
              <a:buSzPts val="2000"/>
              <a:buChar char="•"/>
              <a:defRPr sz="2000"/>
            </a:lvl5pPr>
            <a:lvl6pPr marL="2743200" lvl="5" indent="-355600" algn="l">
              <a:lnSpc>
                <a:spcPct val="90000"/>
              </a:lnSpc>
              <a:spcBef>
                <a:spcPts val="500"/>
              </a:spcBef>
              <a:spcAft>
                <a:spcPts val="0"/>
              </a:spcAft>
              <a:buClr>
                <a:schemeClr val="dk1"/>
              </a:buClr>
              <a:buSzPts val="2000"/>
              <a:buChar char="•"/>
              <a:defRPr sz="2000"/>
            </a:lvl6pPr>
            <a:lvl7pPr marL="3200400" lvl="6" indent="-355600" algn="l">
              <a:lnSpc>
                <a:spcPct val="90000"/>
              </a:lnSpc>
              <a:spcBef>
                <a:spcPts val="500"/>
              </a:spcBef>
              <a:spcAft>
                <a:spcPts val="0"/>
              </a:spcAft>
              <a:buClr>
                <a:schemeClr val="dk1"/>
              </a:buClr>
              <a:buSzPts val="2000"/>
              <a:buChar char="•"/>
              <a:defRPr sz="2000"/>
            </a:lvl7pPr>
            <a:lvl8pPr marL="3657600" lvl="7" indent="-355600" algn="l">
              <a:lnSpc>
                <a:spcPct val="90000"/>
              </a:lnSpc>
              <a:spcBef>
                <a:spcPts val="500"/>
              </a:spcBef>
              <a:spcAft>
                <a:spcPts val="0"/>
              </a:spcAft>
              <a:buClr>
                <a:schemeClr val="dk1"/>
              </a:buClr>
              <a:buSzPts val="2000"/>
              <a:buChar char="•"/>
              <a:defRPr sz="2000"/>
            </a:lvl8pPr>
            <a:lvl9pPr marL="4114800" lvl="8" indent="-355600" algn="l">
              <a:lnSpc>
                <a:spcPct val="90000"/>
              </a:lnSpc>
              <a:spcBef>
                <a:spcPts val="500"/>
              </a:spcBef>
              <a:spcAft>
                <a:spcPts val="0"/>
              </a:spcAft>
              <a:buClr>
                <a:schemeClr val="dk1"/>
              </a:buClr>
              <a:buSzPts val="2000"/>
              <a:buChar char="•"/>
              <a:defRPr sz="2000"/>
            </a:lvl9pPr>
          </a:lstStyle>
          <a:p>
            <a:endParaRPr/>
          </a:p>
        </p:txBody>
      </p:sp>
      <p:sp>
        <p:nvSpPr>
          <p:cNvPr id="55" name="Google Shape;55;p22"/>
          <p:cNvSpPr txBox="1">
            <a:spLocks noGrp="1"/>
          </p:cNvSpPr>
          <p:nvPr>
            <p:ph type="body" idx="2"/>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56" name="Google Shape;56;p22"/>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7" name="Google Shape;57;p22"/>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8" name="Google Shape;58;p2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59"/>
        <p:cNvGrpSpPr/>
        <p:nvPr/>
      </p:nvGrpSpPr>
      <p:grpSpPr>
        <a:xfrm>
          <a:off x="0" y="0"/>
          <a:ext cx="0" cy="0"/>
          <a:chOff x="0" y="0"/>
          <a:chExt cx="0" cy="0"/>
        </a:xfrm>
      </p:grpSpPr>
      <p:sp>
        <p:nvSpPr>
          <p:cNvPr id="60" name="Google Shape;60;p23"/>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1" name="Google Shape;61;p23"/>
          <p:cNvSpPr>
            <a:spLocks noGrp="1"/>
          </p:cNvSpPr>
          <p:nvPr>
            <p:ph type="pic" idx="2"/>
          </p:nvPr>
        </p:nvSpPr>
        <p:spPr>
          <a:xfrm>
            <a:off x="5183188" y="987425"/>
            <a:ext cx="6172200" cy="4873625"/>
          </a:xfrm>
          <a:prstGeom prst="rect">
            <a:avLst/>
          </a:prstGeom>
          <a:noFill/>
          <a:ln>
            <a:noFill/>
          </a:ln>
        </p:spPr>
      </p:sp>
      <p:sp>
        <p:nvSpPr>
          <p:cNvPr id="62" name="Google Shape;62;p23"/>
          <p:cNvSpPr txBox="1">
            <a:spLocks noGrp="1"/>
          </p:cNvSpPr>
          <p:nvPr>
            <p:ph type="body" idx="1"/>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63" name="Google Shape;63;p23"/>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4" name="Google Shape;64;p23"/>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5" name="Google Shape;65;p2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66"/>
        <p:cNvGrpSpPr/>
        <p:nvPr/>
      </p:nvGrpSpPr>
      <p:grpSpPr>
        <a:xfrm>
          <a:off x="0" y="0"/>
          <a:ext cx="0" cy="0"/>
          <a:chOff x="0" y="0"/>
          <a:chExt cx="0" cy="0"/>
        </a:xfrm>
      </p:grpSpPr>
      <p:sp>
        <p:nvSpPr>
          <p:cNvPr id="67" name="Google Shape;67;p24"/>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8" name="Google Shape;68;p24"/>
          <p:cNvSpPr txBox="1">
            <a:spLocks noGrp="1"/>
          </p:cNvSpPr>
          <p:nvPr>
            <p:ph type="body" idx="1"/>
          </p:nvPr>
        </p:nvSpPr>
        <p:spPr>
          <a:xfrm rot="5400000">
            <a:off x="3920331" y="-1256506"/>
            <a:ext cx="4351338" cy="105156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69" name="Google Shape;69;p2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0" name="Google Shape;70;p2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1" name="Google Shape;71;p2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2"/>
        <p:cNvGrpSpPr/>
        <p:nvPr/>
      </p:nvGrpSpPr>
      <p:grpSpPr>
        <a:xfrm>
          <a:off x="0" y="0"/>
          <a:ext cx="0" cy="0"/>
          <a:chOff x="0" y="0"/>
          <a:chExt cx="0" cy="0"/>
        </a:xfrm>
      </p:grpSpPr>
      <p:sp>
        <p:nvSpPr>
          <p:cNvPr id="73" name="Google Shape;73;p25"/>
          <p:cNvSpPr txBox="1">
            <a:spLocks noGrp="1"/>
          </p:cNvSpPr>
          <p:nvPr>
            <p:ph type="title"/>
          </p:nvPr>
        </p:nvSpPr>
        <p:spPr>
          <a:xfrm rot="5400000">
            <a:off x="7133431" y="1956594"/>
            <a:ext cx="5811838" cy="26289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4" name="Google Shape;74;p25"/>
          <p:cNvSpPr txBox="1">
            <a:spLocks noGrp="1"/>
          </p:cNvSpPr>
          <p:nvPr>
            <p:ph type="body" idx="1"/>
          </p:nvPr>
        </p:nvSpPr>
        <p:spPr>
          <a:xfrm rot="5400000">
            <a:off x="1799431" y="-596106"/>
            <a:ext cx="5811838" cy="77343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5" name="Google Shape;75;p25"/>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6" name="Google Shape;76;p25"/>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7" name="Google Shape;77;p2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14"/>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endParaRPr/>
          </a:p>
        </p:txBody>
      </p:sp>
      <p:sp>
        <p:nvSpPr>
          <p:cNvPr id="11" name="Google Shape;11;p14"/>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12" name="Google Shape;12;p1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13" name="Google Shape;13;p1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marR="0" lvl="0" algn="ctr"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14" name="Google Shape;14;p1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hyperlink" Target="https://marius-juston.github.io/SE-423---Class-Material/Homeworks/HW3.pdf" TargetMode="External"/><Relationship Id="rId2" Type="http://schemas.openxmlformats.org/officeDocument/2006/relationships/notesSlide" Target="../notesSlides/notesSlide3.xml"/><Relationship Id="rId1" Type="http://schemas.openxmlformats.org/officeDocument/2006/relationships/slideLayout" Target="../slideLayouts/slideLayout2.xml"/><Relationship Id="rId5" Type="http://schemas.openxmlformats.org/officeDocument/2006/relationships/image" Target="../media/image3.png"/><Relationship Id="rId4" Type="http://schemas.openxmlformats.org/officeDocument/2006/relationships/hyperlink" Target="https://marius-juston.github.io/SE-423---Class-Material/Homeworks/HW4.pdf" TargetMode="External"/></Relationships>
</file>

<file path=ppt/slides/_rels/slide4.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4.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5.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5.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8.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0.xml"/><Relationship Id="rId1" Type="http://schemas.openxmlformats.org/officeDocument/2006/relationships/slideLayout" Target="../slideLayouts/slideLayout2.xml"/><Relationship Id="rId6" Type="http://schemas.openxmlformats.org/officeDocument/2006/relationships/hyperlink" Target="https://www.frontiersin.org/journals/robotics-and-ai/articles/10.3389/frobt.2025.1671673/full" TargetMode="External"/><Relationship Id="rId5" Type="http://schemas.openxmlformats.org/officeDocument/2006/relationships/image" Target="../media/image8.png"/><Relationship Id="rId4" Type="http://schemas.openxmlformats.org/officeDocument/2006/relationships/image" Target="../media/image3.png"/></Relationships>
</file>

<file path=ppt/slides/_rels/slide11.xml.rels><?xml version="1.0" encoding="UTF-8" standalone="yes"?>
<Relationships xmlns="http://schemas.openxmlformats.org/package/2006/relationships"><Relationship Id="rId3" Type="http://schemas.openxmlformats.org/officeDocument/2006/relationships/image" Target="../media/image9.png"/><Relationship Id="rId7" Type="http://schemas.openxmlformats.org/officeDocument/2006/relationships/hyperlink" Target="https://en.wikipedia.org/wiki/Differential_wheeled_robot" TargetMode="External"/><Relationship Id="rId2" Type="http://schemas.openxmlformats.org/officeDocument/2006/relationships/notesSlide" Target="../notesSlides/notesSlide11.xml"/><Relationship Id="rId1" Type="http://schemas.openxmlformats.org/officeDocument/2006/relationships/slideLayout" Target="../slideLayouts/slideLayout2.xml"/><Relationship Id="rId6" Type="http://schemas.openxmlformats.org/officeDocument/2006/relationships/image" Target="../media/image11.svg"/><Relationship Id="rId5" Type="http://schemas.openxmlformats.org/officeDocument/2006/relationships/image" Target="../media/image10.png"/><Relationship Id="rId4" Type="http://schemas.openxmlformats.org/officeDocument/2006/relationships/image" Target="../media/image3.png"/></Relationships>
</file>

<file path=ppt/slides/_rels/slide12.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2.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3.xml"/><Relationship Id="rId1" Type="http://schemas.openxmlformats.org/officeDocument/2006/relationships/slideLayout" Target="../slideLayouts/slideLayout2.xml"/><Relationship Id="rId5" Type="http://schemas.openxmlformats.org/officeDocument/2006/relationships/image" Target="../media/image14.svg"/><Relationship Id="rId4" Type="http://schemas.openxmlformats.org/officeDocument/2006/relationships/image" Target="../media/image13.png"/></Relationships>
</file>

<file path=ppt/slides/_rels/slide14.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4.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5.xml"/><Relationship Id="rId1" Type="http://schemas.openxmlformats.org/officeDocument/2006/relationships/slideLayout" Target="../slideLayouts/slideLayout2.xml"/><Relationship Id="rId6" Type="http://schemas.openxmlformats.org/officeDocument/2006/relationships/image" Target="../media/image18.png"/><Relationship Id="rId5" Type="http://schemas.openxmlformats.org/officeDocument/2006/relationships/image" Target="../media/image17.svg"/><Relationship Id="rId4" Type="http://schemas.openxmlformats.org/officeDocument/2006/relationships/image" Target="../media/image16.png"/></Relationships>
</file>

<file path=ppt/slides/_rels/slide16.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6.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7.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7.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8.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18.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9.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19.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20.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20.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2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22.xml"/><Relationship Id="rId1" Type="http://schemas.openxmlformats.org/officeDocument/2006/relationships/slideLayout" Target="../slideLayouts/slideLayout2.xml"/><Relationship Id="rId6" Type="http://schemas.openxmlformats.org/officeDocument/2006/relationships/image" Target="../media/image11.svg"/><Relationship Id="rId5" Type="http://schemas.openxmlformats.org/officeDocument/2006/relationships/image" Target="../media/image10.png"/><Relationship Id="rId4" Type="http://schemas.openxmlformats.org/officeDocument/2006/relationships/image" Target="../media/image3.png"/></Relationships>
</file>

<file path=ppt/slides/_rels/slide23.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23.xml"/><Relationship Id="rId1" Type="http://schemas.openxmlformats.org/officeDocument/2006/relationships/slideLayout" Target="../slideLayouts/slideLayout2.xml"/><Relationship Id="rId6" Type="http://schemas.openxmlformats.org/officeDocument/2006/relationships/image" Target="../media/image11.svg"/><Relationship Id="rId5" Type="http://schemas.openxmlformats.org/officeDocument/2006/relationships/image" Target="../media/image10.png"/><Relationship Id="rId4" Type="http://schemas.openxmlformats.org/officeDocument/2006/relationships/image" Target="../media/image3.png"/></Relationships>
</file>

<file path=ppt/slides/_rels/slide24.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24.xml"/><Relationship Id="rId1" Type="http://schemas.openxmlformats.org/officeDocument/2006/relationships/slideLayout" Target="../slideLayouts/slideLayout2.xml"/><Relationship Id="rId6" Type="http://schemas.openxmlformats.org/officeDocument/2006/relationships/image" Target="../media/image11.svg"/><Relationship Id="rId5" Type="http://schemas.openxmlformats.org/officeDocument/2006/relationships/image" Target="../media/image10.png"/><Relationship Id="rId4" Type="http://schemas.openxmlformats.org/officeDocument/2006/relationships/image" Target="../media/image3.png"/></Relationships>
</file>

<file path=ppt/slides/_rels/slide25.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25.xml"/><Relationship Id="rId1" Type="http://schemas.openxmlformats.org/officeDocument/2006/relationships/slideLayout" Target="../slideLayouts/slideLayout2.xml"/><Relationship Id="rId6" Type="http://schemas.openxmlformats.org/officeDocument/2006/relationships/image" Target="../media/image11.svg"/><Relationship Id="rId5" Type="http://schemas.openxmlformats.org/officeDocument/2006/relationships/image" Target="../media/image10.png"/><Relationship Id="rId4" Type="http://schemas.openxmlformats.org/officeDocument/2006/relationships/image" Target="../media/image3.png"/></Relationships>
</file>

<file path=ppt/slides/_rels/slide26.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26.xml"/><Relationship Id="rId1" Type="http://schemas.openxmlformats.org/officeDocument/2006/relationships/slideLayout" Target="../slideLayouts/slideLayout2.xml"/><Relationship Id="rId6" Type="http://schemas.openxmlformats.org/officeDocument/2006/relationships/image" Target="../media/image11.svg"/><Relationship Id="rId5" Type="http://schemas.openxmlformats.org/officeDocument/2006/relationships/image" Target="../media/image10.png"/><Relationship Id="rId4" Type="http://schemas.openxmlformats.org/officeDocument/2006/relationships/image" Target="../media/image3.png"/></Relationships>
</file>

<file path=ppt/slides/_rels/slide2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28.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2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9.xml"/><Relationship Id="rId1" Type="http://schemas.openxmlformats.org/officeDocument/2006/relationships/slideLayout" Target="../slideLayouts/slideLayout2.xml"/><Relationship Id="rId6" Type="http://schemas.openxmlformats.org/officeDocument/2006/relationships/hyperlink" Target="https://en.wikipedia.org/wiki/Observational_error" TargetMode="External"/><Relationship Id="rId5" Type="http://schemas.openxmlformats.org/officeDocument/2006/relationships/image" Target="../media/image29.svg"/><Relationship Id="rId4" Type="http://schemas.openxmlformats.org/officeDocument/2006/relationships/image" Target="../media/image28.png"/></Relationships>
</file>

<file path=ppt/slides/_rels/slide3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0.xml"/><Relationship Id="rId1" Type="http://schemas.openxmlformats.org/officeDocument/2006/relationships/slideLayout" Target="../slideLayouts/slideLayout2.xml"/><Relationship Id="rId6" Type="http://schemas.openxmlformats.org/officeDocument/2006/relationships/hyperlink" Target="https://en.wikipedia.org/wiki/Observational_error" TargetMode="External"/><Relationship Id="rId5" Type="http://schemas.openxmlformats.org/officeDocument/2006/relationships/image" Target="../media/image29.svg"/><Relationship Id="rId4" Type="http://schemas.openxmlformats.org/officeDocument/2006/relationships/image" Target="../media/image28.png"/></Relationships>
</file>

<file path=ppt/slides/_rels/slide31.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31.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32.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32.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33.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33.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3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4.xml"/><Relationship Id="rId1" Type="http://schemas.openxmlformats.org/officeDocument/2006/relationships/slideLayout" Target="../slideLayouts/slideLayout2.xml"/><Relationship Id="rId5" Type="http://schemas.openxmlformats.org/officeDocument/2006/relationships/image" Target="../media/image34.svg"/><Relationship Id="rId4" Type="http://schemas.openxmlformats.org/officeDocument/2006/relationships/image" Target="../media/image33.png"/></Relationships>
</file>

<file path=ppt/slides/_rels/slide35.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image" Target="../media/image38.svg"/><Relationship Id="rId2" Type="http://schemas.openxmlformats.org/officeDocument/2006/relationships/notesSlide" Target="../notesSlides/notesSlide35.xml"/><Relationship Id="rId1" Type="http://schemas.openxmlformats.org/officeDocument/2006/relationships/slideLayout" Target="../slideLayouts/slideLayout2.xml"/><Relationship Id="rId6" Type="http://schemas.openxmlformats.org/officeDocument/2006/relationships/image" Target="../media/image37.png"/><Relationship Id="rId5" Type="http://schemas.openxmlformats.org/officeDocument/2006/relationships/image" Target="../media/image36.svg"/><Relationship Id="rId4" Type="http://schemas.openxmlformats.org/officeDocument/2006/relationships/image" Target="../media/image35.png"/></Relationships>
</file>

<file path=ppt/slides/_rels/slide3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37.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38.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38.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3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hyperlink" Target="https://april.eecs.umich.edu/software/apriltag" TargetMode="External"/><Relationship Id="rId2" Type="http://schemas.openxmlformats.org/officeDocument/2006/relationships/notesSlide" Target="../notesSlides/notesSlide41.xml"/><Relationship Id="rId1" Type="http://schemas.openxmlformats.org/officeDocument/2006/relationships/slideLayout" Target="../slideLayouts/slideLayout2.xml"/><Relationship Id="rId6" Type="http://schemas.openxmlformats.org/officeDocument/2006/relationships/image" Target="../media/image41.jpeg"/><Relationship Id="rId5" Type="http://schemas.openxmlformats.org/officeDocument/2006/relationships/hyperlink" Target="https://www.researchgate.net/publication/355183350_PSL-SLAM_a_monocular_SLAM_system_using_points_and_structure_lines_in_Manhattan_World" TargetMode="External"/><Relationship Id="rId4" Type="http://schemas.openxmlformats.org/officeDocument/2006/relationships/image" Target="../media/image40.png"/></Relationships>
</file>

<file path=ppt/slides/_rels/slide4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3.xml"/><Relationship Id="rId1" Type="http://schemas.openxmlformats.org/officeDocument/2006/relationships/slideLayout" Target="../slideLayouts/slideLayout2.xml"/><Relationship Id="rId6" Type="http://schemas.openxmlformats.org/officeDocument/2006/relationships/image" Target="../media/image43.gif"/><Relationship Id="rId5" Type="http://schemas.openxmlformats.org/officeDocument/2006/relationships/hyperlink" Target="https://learnopencv.com/iterative-closest-point-icp-explained/" TargetMode="External"/><Relationship Id="rId4" Type="http://schemas.openxmlformats.org/officeDocument/2006/relationships/image" Target="../media/image42.gif"/></Relationships>
</file>

<file path=ppt/slides/_rels/slide44.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44.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45.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45.xml"/><Relationship Id="rId1" Type="http://schemas.openxmlformats.org/officeDocument/2006/relationships/slideLayout" Target="../slideLayouts/slideLayout1.xml"/><Relationship Id="rId4" Type="http://schemas.openxmlformats.org/officeDocument/2006/relationships/image" Target="../media/image44.png"/></Relationships>
</file>

<file path=ppt/slides/slide1.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1"/>
        <p:cNvGrpSpPr/>
        <p:nvPr/>
      </p:nvGrpSpPr>
      <p:grpSpPr>
        <a:xfrm>
          <a:off x="0" y="0"/>
          <a:ext cx="0" cy="0"/>
          <a:chOff x="0" y="0"/>
          <a:chExt cx="0" cy="0"/>
        </a:xfrm>
      </p:grpSpPr>
      <p:sp>
        <p:nvSpPr>
          <p:cNvPr id="82" name="Google Shape;82;p26"/>
          <p:cNvSpPr txBox="1"/>
          <p:nvPr/>
        </p:nvSpPr>
        <p:spPr>
          <a:xfrm>
            <a:off x="1134035" y="2553964"/>
            <a:ext cx="9924000" cy="2723782"/>
          </a:xfrm>
          <a:prstGeom prst="rect">
            <a:avLst/>
          </a:prstGeom>
          <a:noFill/>
          <a:ln>
            <a:noFill/>
          </a:ln>
        </p:spPr>
        <p:txBody>
          <a:bodyPr spcFirstLastPara="1" wrap="square" lIns="91425" tIns="45700" rIns="91425" bIns="45700" anchor="t" anchorCtr="0">
            <a:spAutoFit/>
          </a:bodyPr>
          <a:lstStyle/>
          <a:p>
            <a:pPr lvl="0" algn="ctr">
              <a:spcBef>
                <a:spcPts val="600"/>
              </a:spcBef>
              <a:buSzPts val="4500"/>
            </a:pPr>
            <a:r>
              <a:rPr lang="en-US" sz="4500" b="1" dirty="0">
                <a:solidFill>
                  <a:schemeClr val="lt1"/>
                </a:solidFill>
              </a:rPr>
              <a:t>SE 423: Introduction to Mechatronics</a:t>
            </a:r>
            <a:endParaRPr lang="en-US" sz="4500" dirty="0"/>
          </a:p>
          <a:p>
            <a:pPr marL="0" marR="0" lvl="0" indent="0" algn="ctr" rtl="0">
              <a:lnSpc>
                <a:spcPct val="100000"/>
              </a:lnSpc>
              <a:spcBef>
                <a:spcPts val="600"/>
              </a:spcBef>
              <a:spcAft>
                <a:spcPts val="0"/>
              </a:spcAft>
              <a:buNone/>
            </a:pPr>
            <a:r>
              <a:rPr lang="en-US" sz="2500" dirty="0">
                <a:solidFill>
                  <a:schemeClr val="lt1"/>
                </a:solidFill>
              </a:rPr>
              <a:t>Lecture 15: Coordinate Transforms &amp; Dead-reckoning</a:t>
            </a:r>
            <a:endParaRPr dirty="0"/>
          </a:p>
          <a:p>
            <a:pPr marL="0" marR="0" lvl="0" indent="0" algn="ctr" rtl="0">
              <a:lnSpc>
                <a:spcPct val="100000"/>
              </a:lnSpc>
              <a:spcBef>
                <a:spcPts val="600"/>
              </a:spcBef>
              <a:spcAft>
                <a:spcPts val="0"/>
              </a:spcAft>
              <a:buNone/>
            </a:pPr>
            <a:endParaRPr sz="1800" b="0" i="0" u="none" strike="noStrike" cap="none" dirty="0">
              <a:solidFill>
                <a:schemeClr val="lt1"/>
              </a:solidFill>
              <a:latin typeface="Arial"/>
              <a:ea typeface="Arial"/>
              <a:cs typeface="Arial"/>
              <a:sym typeface="Arial"/>
            </a:endParaRPr>
          </a:p>
          <a:p>
            <a:pPr marL="0" marR="0" lvl="0" indent="0" algn="ctr" rtl="0">
              <a:lnSpc>
                <a:spcPct val="100000"/>
              </a:lnSpc>
              <a:spcBef>
                <a:spcPts val="600"/>
              </a:spcBef>
              <a:spcAft>
                <a:spcPts val="0"/>
              </a:spcAft>
              <a:buNone/>
            </a:pPr>
            <a:r>
              <a:rPr lang="en-US" sz="1800" b="0" i="0" u="none" strike="noStrike" cap="none" dirty="0">
                <a:solidFill>
                  <a:schemeClr val="lt1"/>
                </a:solidFill>
                <a:latin typeface="Arial"/>
                <a:ea typeface="Arial"/>
                <a:cs typeface="Arial"/>
                <a:sym typeface="Arial"/>
              </a:rPr>
              <a:t>Marius Juston</a:t>
            </a:r>
            <a:endParaRPr sz="1800" b="0" i="0" u="none" strike="noStrike" cap="none" dirty="0">
              <a:solidFill>
                <a:srgbClr val="000000"/>
              </a:solidFill>
              <a:latin typeface="Arial"/>
              <a:ea typeface="Arial"/>
              <a:cs typeface="Arial"/>
              <a:sym typeface="Arial"/>
            </a:endParaRPr>
          </a:p>
        </p:txBody>
      </p:sp>
      <p:sp>
        <p:nvSpPr>
          <p:cNvPr id="83" name="Google Shape;83;p26"/>
          <p:cNvSpPr txBox="1"/>
          <p:nvPr/>
        </p:nvSpPr>
        <p:spPr>
          <a:xfrm>
            <a:off x="3922059" y="5413888"/>
            <a:ext cx="4347882" cy="369291"/>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dirty="0">
                <a:solidFill>
                  <a:schemeClr val="lt1"/>
                </a:solidFill>
                <a:latin typeface="Arial"/>
                <a:ea typeface="Arial"/>
                <a:cs typeface="Arial"/>
                <a:sym typeface="Arial"/>
              </a:rPr>
              <a:t>Wednesday, March 11</a:t>
            </a:r>
            <a:r>
              <a:rPr lang="en-US" sz="1800" b="0" i="0" u="none" strike="noStrike" cap="none" baseline="30000" dirty="0">
                <a:solidFill>
                  <a:schemeClr val="lt1"/>
                </a:solidFill>
                <a:latin typeface="Arial"/>
                <a:ea typeface="Arial"/>
                <a:cs typeface="Arial"/>
                <a:sym typeface="Arial"/>
              </a:rPr>
              <a:t>th</a:t>
            </a:r>
            <a:r>
              <a:rPr lang="en-US" sz="1800" b="0" i="0" u="none" strike="noStrike" cap="none" dirty="0">
                <a:solidFill>
                  <a:schemeClr val="lt1"/>
                </a:solidFill>
                <a:latin typeface="Arial"/>
                <a:ea typeface="Arial"/>
                <a:cs typeface="Arial"/>
                <a:sym typeface="Arial"/>
              </a:rPr>
              <a:t>, 2026</a:t>
            </a:r>
            <a:endParaRPr sz="1800" b="0" i="0" u="none" strike="noStrike" cap="none" dirty="0">
              <a:solidFill>
                <a:schemeClr val="lt1"/>
              </a:solidFill>
              <a:latin typeface="Arial"/>
              <a:ea typeface="Arial"/>
              <a:cs typeface="Arial"/>
              <a:sym typeface="Arial"/>
            </a:endParaRPr>
          </a:p>
        </p:txBody>
      </p:sp>
      <p:pic>
        <p:nvPicPr>
          <p:cNvPr id="84" name="Google Shape;84;p26"/>
          <p:cNvPicPr preferRelativeResize="0"/>
          <p:nvPr/>
        </p:nvPicPr>
        <p:blipFill rotWithShape="1">
          <a:blip r:embed="rId4">
            <a:alphaModFix/>
          </a:blip>
          <a:srcRect/>
          <a:stretch/>
        </p:blipFill>
        <p:spPr>
          <a:xfrm>
            <a:off x="4641007" y="1004743"/>
            <a:ext cx="2909982" cy="754664"/>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787707C-0AB4-57C3-5639-B4BEF4389386}"/>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E7EA1A55-2BAC-C6A5-ABC3-168138F62B6C}"/>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solidFill>
                  <a:schemeClr val="dk1"/>
                </a:solidFill>
                <a:latin typeface="Arial"/>
                <a:ea typeface="Arial"/>
                <a:cs typeface="Arial"/>
                <a:sym typeface="Arial"/>
              </a:rPr>
              <a:t>Talk to the person next to you and answer these questions.</a:t>
            </a:r>
          </a:p>
          <a:p>
            <a:pPr marL="285750" indent="-285750">
              <a:lnSpc>
                <a:spcPct val="100000"/>
              </a:lnSpc>
              <a:spcBef>
                <a:spcPts val="0"/>
              </a:spcBef>
              <a:buSzPts val="3000"/>
            </a:pPr>
            <a:endParaRPr lang="en-US" sz="2400" dirty="0">
              <a:latin typeface="Arial"/>
              <a:ea typeface="Arial"/>
              <a:cs typeface="Arial"/>
              <a:sym typeface="Arial"/>
            </a:endParaRPr>
          </a:p>
          <a:p>
            <a:pPr marL="285750" indent="-285750">
              <a:lnSpc>
                <a:spcPct val="100000"/>
              </a:lnSpc>
              <a:spcBef>
                <a:spcPts val="0"/>
              </a:spcBef>
              <a:buSzPts val="3000"/>
            </a:pPr>
            <a:r>
              <a:rPr lang="en-US" sz="2400" dirty="0">
                <a:latin typeface="Arial"/>
                <a:ea typeface="Arial"/>
                <a:cs typeface="Arial"/>
                <a:sym typeface="Arial"/>
              </a:rPr>
              <a:t>Stand up and with your partner and:</a:t>
            </a:r>
          </a:p>
          <a:p>
            <a:pPr lvl="1" indent="-457200">
              <a:lnSpc>
                <a:spcPct val="100000"/>
              </a:lnSpc>
              <a:spcBef>
                <a:spcPts val="0"/>
              </a:spcBef>
              <a:buSzPts val="3000"/>
              <a:buFont typeface="+mj-lt"/>
              <a:buAutoNum type="arabicPeriod"/>
            </a:pPr>
            <a:r>
              <a:rPr lang="en-US" dirty="0">
                <a:latin typeface="Arial"/>
                <a:ea typeface="Arial"/>
                <a:cs typeface="Arial"/>
                <a:sym typeface="Arial"/>
              </a:rPr>
              <a:t>Agree on a starting position and a target position</a:t>
            </a:r>
          </a:p>
          <a:p>
            <a:pPr lvl="1" indent="-457200">
              <a:lnSpc>
                <a:spcPct val="100000"/>
              </a:lnSpc>
              <a:spcBef>
                <a:spcPts val="0"/>
              </a:spcBef>
              <a:buSzPts val="3000"/>
              <a:buFont typeface="+mj-lt"/>
              <a:buAutoNum type="arabicPeriod"/>
            </a:pPr>
            <a:r>
              <a:rPr lang="en-US" dirty="0">
                <a:latin typeface="Arial"/>
                <a:ea typeface="Arial"/>
                <a:cs typeface="Arial"/>
                <a:sym typeface="Arial"/>
              </a:rPr>
              <a:t>Discuss ways how one would go from point A to B as accurately as possible with their eyes closed.</a:t>
            </a:r>
          </a:p>
          <a:p>
            <a:pPr lvl="1" indent="-457200">
              <a:lnSpc>
                <a:spcPct val="100000"/>
              </a:lnSpc>
              <a:spcBef>
                <a:spcPts val="0"/>
              </a:spcBef>
              <a:buSzPts val="3000"/>
              <a:buFont typeface="+mj-lt"/>
              <a:buAutoNum type="arabicPeriod"/>
            </a:pPr>
            <a:r>
              <a:rPr lang="en-US" dirty="0">
                <a:latin typeface="Arial"/>
                <a:ea typeface="Arial"/>
                <a:cs typeface="Arial"/>
                <a:sym typeface="Arial"/>
              </a:rPr>
              <a:t>One of you closes your eyes (the partner should keep the other safe during the activity) and performs the strategy to try to get from point A to B. The other partner should not provide information during that time (Dead-Reckoning).</a:t>
            </a:r>
          </a:p>
          <a:p>
            <a:pPr lvl="1" indent="-457200">
              <a:lnSpc>
                <a:spcPct val="100000"/>
              </a:lnSpc>
              <a:spcBef>
                <a:spcPts val="0"/>
              </a:spcBef>
              <a:buSzPts val="3000"/>
              <a:buFont typeface="+mj-lt"/>
              <a:buAutoNum type="arabicPeriod"/>
            </a:pPr>
            <a:r>
              <a:rPr lang="en-US" dirty="0">
                <a:latin typeface="Arial"/>
                <a:ea typeface="Arial"/>
                <a:cs typeface="Arial"/>
                <a:sym typeface="Arial"/>
              </a:rPr>
              <a:t>Now redo the task but now your partner can only tell you distance to the target as well (type IR sensor).</a:t>
            </a:r>
          </a:p>
        </p:txBody>
      </p:sp>
      <p:sp>
        <p:nvSpPr>
          <p:cNvPr id="119" name="Google Shape;119;p29">
            <a:extLst>
              <a:ext uri="{FF2B5EF4-FFF2-40B4-BE49-F238E27FC236}">
                <a16:creationId xmlns:a16="http://schemas.microsoft.com/office/drawing/2014/main" id="{AADDCC56-907C-FD39-6E34-87042D08FA2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C941C760-8B23-A46D-5C4A-981290CB9EBC}"/>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Review – 5-minute partner discussion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C1984774-B7FA-53FC-ECBE-3FFBD377F556}"/>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52648EA-0120-942E-FA7D-98B9C25F4F3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9187DBB9-03BE-10E2-9B63-400A9675CEA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3B542CF-2028-95AA-CCEF-91A8D02AD17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3141631-F3ED-2759-4D92-932A85BC40E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4D9BF8E-CB10-CAD2-7648-4939A5B564E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70208083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75841FD-D14E-77AC-760B-C98E4D88C8D9}"/>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A3B12240-FBE7-C432-98A9-C2883C24C714}"/>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1800" b="1" dirty="0">
                <a:solidFill>
                  <a:srgbClr val="E84B36"/>
                </a:solidFill>
                <a:latin typeface="Arial"/>
                <a:ea typeface="Arial"/>
                <a:cs typeface="Arial"/>
                <a:sym typeface="Arial"/>
              </a:rPr>
              <a:t>Spring Break next week, no office hours!</a:t>
            </a:r>
            <a:endParaRPr lang="en-US" sz="2600" b="1" dirty="0">
              <a:solidFill>
                <a:srgbClr val="E84B36"/>
              </a:solidFill>
              <a:latin typeface="Arial"/>
              <a:ea typeface="Arial"/>
              <a:cs typeface="Arial"/>
              <a:sym typeface="Arial"/>
            </a:endParaRPr>
          </a:p>
          <a:p>
            <a:pPr marL="285750" indent="-285750">
              <a:lnSpc>
                <a:spcPct val="100000"/>
              </a:lnSpc>
              <a:spcBef>
                <a:spcPts val="0"/>
              </a:spcBef>
              <a:buSzPts val="3000"/>
            </a:pPr>
            <a:endParaRPr lang="en-US" sz="1800" b="1" dirty="0">
              <a:latin typeface="Arial"/>
              <a:ea typeface="Arial"/>
              <a:cs typeface="Arial"/>
              <a:sym typeface="Arial"/>
            </a:endParaRPr>
          </a:p>
          <a:p>
            <a:pPr marL="285750" indent="-285750">
              <a:lnSpc>
                <a:spcPct val="100000"/>
              </a:lnSpc>
              <a:spcBef>
                <a:spcPts val="0"/>
              </a:spcBef>
              <a:buSzPts val="3000"/>
            </a:pPr>
            <a:endParaRPr lang="en-US" sz="1800" b="1" dirty="0">
              <a:latin typeface="Arial"/>
              <a:ea typeface="Arial"/>
              <a:cs typeface="Arial"/>
              <a:sym typeface="Arial"/>
            </a:endParaRPr>
          </a:p>
          <a:p>
            <a:pPr marL="0" indent="0">
              <a:lnSpc>
                <a:spcPct val="100000"/>
              </a:lnSpc>
              <a:spcBef>
                <a:spcPts val="0"/>
              </a:spcBef>
              <a:buSzPts val="3000"/>
              <a:buNone/>
            </a:pPr>
            <a:r>
              <a:rPr lang="en-US" sz="1800" b="1" dirty="0">
                <a:solidFill>
                  <a:srgbClr val="E84B36"/>
                </a:solidFill>
                <a:latin typeface="Arial"/>
                <a:ea typeface="Arial"/>
                <a:cs typeface="Arial"/>
                <a:sym typeface="Arial"/>
              </a:rPr>
              <a:t>Lab: </a:t>
            </a:r>
            <a:r>
              <a:rPr lang="en-US" sz="1800" dirty="0">
                <a:latin typeface="Arial"/>
                <a:ea typeface="Arial"/>
                <a:cs typeface="Arial"/>
                <a:sym typeface="Arial"/>
              </a:rPr>
              <a:t>Starting Lab 5 this week. This a 1-week lab!</a:t>
            </a:r>
            <a:endParaRPr lang="en-US" sz="1800" dirty="0">
              <a:solidFill>
                <a:srgbClr val="E84B36"/>
              </a:solidFill>
              <a:latin typeface="Arial"/>
              <a:ea typeface="Arial"/>
              <a:cs typeface="Arial"/>
              <a:sym typeface="Arial"/>
            </a:endParaRPr>
          </a:p>
          <a:p>
            <a:pPr marL="0" indent="0">
              <a:lnSpc>
                <a:spcPct val="100000"/>
              </a:lnSpc>
              <a:spcBef>
                <a:spcPts val="0"/>
              </a:spcBef>
              <a:buSzPts val="3000"/>
              <a:buNone/>
            </a:pPr>
            <a:endParaRPr lang="en-US" sz="1800" b="1" dirty="0">
              <a:solidFill>
                <a:srgbClr val="E84B36"/>
              </a:solidFill>
              <a:latin typeface="Arial"/>
              <a:ea typeface="Arial"/>
              <a:cs typeface="Arial"/>
              <a:sym typeface="Arial"/>
            </a:endParaRPr>
          </a:p>
          <a:p>
            <a:pPr marL="0" indent="0">
              <a:lnSpc>
                <a:spcPct val="100000"/>
              </a:lnSpc>
              <a:spcBef>
                <a:spcPts val="0"/>
              </a:spcBef>
              <a:buSzPts val="3000"/>
              <a:buNone/>
            </a:pPr>
            <a:r>
              <a:rPr lang="en-US" sz="1800" b="1" dirty="0" err="1">
                <a:solidFill>
                  <a:srgbClr val="E84B36"/>
                </a:solidFill>
                <a:latin typeface="Arial"/>
                <a:ea typeface="Arial"/>
                <a:cs typeface="Arial"/>
                <a:sym typeface="Arial"/>
              </a:rPr>
              <a:t>Homeworks</a:t>
            </a:r>
            <a:r>
              <a:rPr lang="en-US" sz="1800" b="1" dirty="0">
                <a:solidFill>
                  <a:srgbClr val="E84B36"/>
                </a:solidFill>
                <a:latin typeface="Arial"/>
                <a:ea typeface="Arial"/>
                <a:cs typeface="Arial"/>
                <a:sym typeface="Arial"/>
              </a:rPr>
              <a:t>:</a:t>
            </a:r>
          </a:p>
          <a:p>
            <a:pPr marL="285750" indent="-285750">
              <a:lnSpc>
                <a:spcPct val="100000"/>
              </a:lnSpc>
              <a:spcBef>
                <a:spcPts val="0"/>
              </a:spcBef>
              <a:buSzPts val="3000"/>
            </a:pPr>
            <a:r>
              <a:rPr lang="en-US" sz="1800" dirty="0">
                <a:latin typeface="Arial"/>
                <a:ea typeface="Arial"/>
                <a:cs typeface="Arial"/>
                <a:sym typeface="Arial"/>
              </a:rPr>
              <a:t>Check-offs for </a:t>
            </a:r>
            <a:r>
              <a:rPr lang="en-US" sz="1800" dirty="0">
                <a:latin typeface="Arial"/>
                <a:ea typeface="Arial"/>
                <a:cs typeface="Arial"/>
                <a:sym typeface="Arial"/>
                <a:hlinkClick r:id="rId3"/>
              </a:rPr>
              <a:t>homework 3 </a:t>
            </a:r>
            <a:r>
              <a:rPr lang="en-US" sz="1800" dirty="0">
                <a:latin typeface="Arial"/>
                <a:ea typeface="Arial"/>
                <a:cs typeface="Arial"/>
                <a:sym typeface="Arial"/>
              </a:rPr>
              <a:t>Ex 5 are due </a:t>
            </a:r>
            <a:r>
              <a:rPr lang="en-US" sz="1800" b="1" dirty="0">
                <a:latin typeface="Arial"/>
                <a:ea typeface="Arial"/>
                <a:cs typeface="Arial"/>
                <a:sym typeface="Arial"/>
              </a:rPr>
              <a:t>March 24, 5PM (The end of office hours)</a:t>
            </a:r>
          </a:p>
          <a:p>
            <a:pPr marL="742950" lvl="1" indent="-285750">
              <a:lnSpc>
                <a:spcPct val="100000"/>
              </a:lnSpc>
              <a:spcBef>
                <a:spcPts val="0"/>
              </a:spcBef>
              <a:buSzPts val="3000"/>
            </a:pPr>
            <a:r>
              <a:rPr lang="en-US" sz="1800" dirty="0">
                <a:latin typeface="Arial"/>
                <a:ea typeface="Arial"/>
                <a:cs typeface="Arial"/>
                <a:sym typeface="Arial"/>
              </a:rPr>
              <a:t>This is a long homework, so </a:t>
            </a:r>
            <a:r>
              <a:rPr lang="en-US" sz="1800" b="1" dirty="0">
                <a:latin typeface="Arial"/>
                <a:ea typeface="Arial"/>
                <a:cs typeface="Arial"/>
                <a:sym typeface="Arial"/>
              </a:rPr>
              <a:t>DO NOT </a:t>
            </a:r>
            <a:r>
              <a:rPr lang="en-US" sz="1800" dirty="0">
                <a:latin typeface="Arial"/>
                <a:ea typeface="Arial"/>
                <a:cs typeface="Arial"/>
                <a:sym typeface="Arial"/>
              </a:rPr>
              <a:t>expect to work </a:t>
            </a:r>
            <a:r>
              <a:rPr lang="en-US" sz="1800">
                <a:latin typeface="Arial"/>
                <a:ea typeface="Arial"/>
                <a:cs typeface="Arial"/>
                <a:sym typeface="Arial"/>
              </a:rPr>
              <a:t>on and finish </a:t>
            </a:r>
            <a:r>
              <a:rPr lang="en-US" sz="1800" dirty="0">
                <a:latin typeface="Arial"/>
                <a:ea typeface="Arial"/>
                <a:cs typeface="Arial"/>
                <a:sym typeface="Arial"/>
              </a:rPr>
              <a:t>it during the Tuesday office hours time!</a:t>
            </a:r>
          </a:p>
          <a:p>
            <a:pPr marL="285750" indent="-285750">
              <a:lnSpc>
                <a:spcPct val="100000"/>
              </a:lnSpc>
              <a:spcBef>
                <a:spcPts val="0"/>
              </a:spcBef>
              <a:buSzPts val="3000"/>
            </a:pPr>
            <a:r>
              <a:rPr lang="en-US" sz="1800" dirty="0">
                <a:latin typeface="Arial"/>
                <a:ea typeface="Arial"/>
                <a:cs typeface="Arial"/>
                <a:sym typeface="Arial"/>
              </a:rPr>
              <a:t>Answers and code submissions for </a:t>
            </a:r>
            <a:r>
              <a:rPr lang="en-US" sz="1800" dirty="0">
                <a:latin typeface="Arial"/>
                <a:ea typeface="Arial"/>
                <a:cs typeface="Arial"/>
                <a:sym typeface="Arial"/>
                <a:hlinkClick r:id="rId3"/>
              </a:rPr>
              <a:t>homework 3</a:t>
            </a:r>
            <a:r>
              <a:rPr lang="en-US" sz="1800" dirty="0">
                <a:latin typeface="Arial"/>
                <a:ea typeface="Arial"/>
                <a:cs typeface="Arial"/>
                <a:sym typeface="Arial"/>
              </a:rPr>
              <a:t> are due </a:t>
            </a:r>
            <a:r>
              <a:rPr lang="en-US" sz="1800" b="1" dirty="0">
                <a:latin typeface="Arial"/>
                <a:ea typeface="Arial"/>
                <a:cs typeface="Arial"/>
                <a:sym typeface="Arial"/>
              </a:rPr>
              <a:t>March 25, 9AM</a:t>
            </a:r>
          </a:p>
          <a:p>
            <a:pPr marL="285750" indent="-285750">
              <a:lnSpc>
                <a:spcPct val="100000"/>
              </a:lnSpc>
              <a:spcBef>
                <a:spcPts val="0"/>
              </a:spcBef>
              <a:buSzPts val="3000"/>
            </a:pPr>
            <a:r>
              <a:rPr lang="en-US" sz="1800" dirty="0">
                <a:latin typeface="Arial"/>
                <a:ea typeface="Arial"/>
                <a:cs typeface="Arial"/>
                <a:sym typeface="Arial"/>
              </a:rPr>
              <a:t>Check-offs for </a:t>
            </a:r>
            <a:r>
              <a:rPr lang="en-US" sz="1800" dirty="0">
                <a:latin typeface="Arial"/>
                <a:ea typeface="Arial"/>
                <a:cs typeface="Arial"/>
                <a:sym typeface="Arial"/>
                <a:hlinkClick r:id="rId4"/>
              </a:rPr>
              <a:t>homework 4</a:t>
            </a:r>
            <a:r>
              <a:rPr lang="en-US" sz="1800" dirty="0">
                <a:latin typeface="Arial"/>
                <a:ea typeface="Arial"/>
                <a:cs typeface="Arial"/>
                <a:sym typeface="Arial"/>
              </a:rPr>
              <a:t> Ex 2 and 3 are due </a:t>
            </a:r>
            <a:r>
              <a:rPr lang="en-US" sz="1800" b="1" dirty="0">
                <a:latin typeface="Arial"/>
                <a:ea typeface="Arial"/>
                <a:cs typeface="Arial"/>
                <a:sym typeface="Arial"/>
              </a:rPr>
              <a:t>March 31, 5PM (The end of office hours)</a:t>
            </a:r>
            <a:endParaRPr lang="en-US" sz="1800" dirty="0">
              <a:latin typeface="Arial"/>
              <a:ea typeface="Arial"/>
              <a:cs typeface="Arial"/>
              <a:sym typeface="Arial"/>
            </a:endParaRPr>
          </a:p>
          <a:p>
            <a:pPr marL="285750" indent="-285750">
              <a:lnSpc>
                <a:spcPct val="100000"/>
              </a:lnSpc>
              <a:spcBef>
                <a:spcPts val="0"/>
              </a:spcBef>
              <a:buSzPts val="3000"/>
            </a:pPr>
            <a:endParaRPr lang="en-US" sz="1800" b="1" dirty="0">
              <a:latin typeface="Arial"/>
              <a:ea typeface="Arial"/>
              <a:cs typeface="Arial"/>
              <a:sym typeface="Arial"/>
            </a:endParaRPr>
          </a:p>
        </p:txBody>
      </p:sp>
      <p:sp>
        <p:nvSpPr>
          <p:cNvPr id="119" name="Google Shape;119;p29">
            <a:extLst>
              <a:ext uri="{FF2B5EF4-FFF2-40B4-BE49-F238E27FC236}">
                <a16:creationId xmlns:a16="http://schemas.microsoft.com/office/drawing/2014/main" id="{28F4DC60-5615-4235-EF8F-749635053A2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C7341C0B-3353-6FAC-59B6-1BC184B1DEE7}"/>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Reminders</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25A7A3C5-2C94-DFDE-B6CE-1AA71BB909D6}"/>
              </a:ext>
            </a:extLst>
          </p:cNvPr>
          <p:cNvPicPr preferRelativeResize="0"/>
          <p:nvPr/>
        </p:nvPicPr>
        <p:blipFill rotWithShape="1">
          <a:blip r:embed="rId5">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31F53DB-DB9B-6876-2739-ED5A2DD2AF6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656C000-32C7-7004-5110-9F4CDD9B502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CD0378D-0FED-2133-BE9C-D95394C460C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1170382-A03B-CBAF-126E-BC0414D20EC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38B4CC3-ADE6-376F-FF48-9094A8F0ECD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83281291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a:extLst>
            <a:ext uri="{FF2B5EF4-FFF2-40B4-BE49-F238E27FC236}">
              <a16:creationId xmlns:a16="http://schemas.microsoft.com/office/drawing/2014/main" id="{8AF3B574-1FB7-47D8-7C3B-2D8B80C1B71E}"/>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018C368B-FE2D-5B17-BE43-7465482AEBFA}"/>
              </a:ext>
            </a:extLst>
          </p:cNvPr>
          <p:cNvGrpSpPr/>
          <p:nvPr/>
        </p:nvGrpSpPr>
        <p:grpSpPr>
          <a:xfrm>
            <a:off x="1441528" y="2296815"/>
            <a:ext cx="9308941" cy="2264370"/>
            <a:chOff x="1441528" y="1491040"/>
            <a:chExt cx="9308941" cy="2264370"/>
          </a:xfrm>
        </p:grpSpPr>
        <p:sp>
          <p:nvSpPr>
            <p:cNvPr id="89" name="Google Shape;89;p27">
              <a:extLst>
                <a:ext uri="{FF2B5EF4-FFF2-40B4-BE49-F238E27FC236}">
                  <a16:creationId xmlns:a16="http://schemas.microsoft.com/office/drawing/2014/main" id="{BCBC3FB6-47F6-7775-CB52-E1D0141B8A3F}"/>
                </a:ext>
              </a:extLst>
            </p:cNvPr>
            <p:cNvSpPr txBox="1"/>
            <p:nvPr/>
          </p:nvSpPr>
          <p:spPr>
            <a:xfrm>
              <a:off x="2206906" y="1491040"/>
              <a:ext cx="7778187" cy="1015663"/>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6000"/>
                <a:buFont typeface="Arial"/>
                <a:buNone/>
              </a:pPr>
              <a:r>
                <a:rPr lang="en-US" sz="6000" b="1" i="0" u="none" strike="noStrike" cap="none" dirty="0">
                  <a:solidFill>
                    <a:schemeClr val="lt1"/>
                  </a:solidFill>
                  <a:latin typeface="Arial"/>
                  <a:ea typeface="Arial"/>
                  <a:cs typeface="Arial"/>
                  <a:sym typeface="Arial"/>
                </a:rPr>
                <a:t>Questions?</a:t>
              </a:r>
              <a:endParaRPr sz="1400" b="0" i="0" u="none" strike="noStrike" cap="none" dirty="0">
                <a:solidFill>
                  <a:srgbClr val="000000"/>
                </a:solidFill>
                <a:latin typeface="Arial"/>
                <a:ea typeface="Arial"/>
                <a:cs typeface="Arial"/>
                <a:sym typeface="Arial"/>
              </a:endParaRPr>
            </a:p>
          </p:txBody>
        </p:sp>
        <p:sp>
          <p:nvSpPr>
            <p:cNvPr id="90" name="Google Shape;90;p27">
              <a:extLst>
                <a:ext uri="{FF2B5EF4-FFF2-40B4-BE49-F238E27FC236}">
                  <a16:creationId xmlns:a16="http://schemas.microsoft.com/office/drawing/2014/main" id="{D56A7593-AC73-7040-DB5D-E69F313BBDE7}"/>
                </a:ext>
              </a:extLst>
            </p:cNvPr>
            <p:cNvSpPr txBox="1"/>
            <p:nvPr/>
          </p:nvSpPr>
          <p:spPr>
            <a:xfrm>
              <a:off x="1441528" y="3232230"/>
              <a:ext cx="9308941" cy="523180"/>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2800"/>
                <a:buFont typeface="Arial"/>
                <a:buNone/>
              </a:pPr>
              <a:r>
                <a:rPr lang="en-US" sz="2800" b="0" i="0" u="none" strike="noStrike" cap="none" dirty="0">
                  <a:solidFill>
                    <a:schemeClr val="lt1"/>
                  </a:solidFill>
                  <a:latin typeface="Arial"/>
                  <a:ea typeface="Arial"/>
                  <a:cs typeface="Arial"/>
                  <a:sym typeface="Arial"/>
                </a:rPr>
                <a:t>Homework, Lab, LabVIEW?</a:t>
              </a:r>
              <a:endParaRPr sz="1800" b="0" i="0" u="none" strike="noStrike" cap="none" dirty="0">
                <a:solidFill>
                  <a:schemeClr val="lt1"/>
                </a:solidFill>
                <a:latin typeface="Arial"/>
                <a:ea typeface="Arial"/>
                <a:cs typeface="Arial"/>
                <a:sym typeface="Arial"/>
              </a:endParaRPr>
            </a:p>
          </p:txBody>
        </p:sp>
        <p:cxnSp>
          <p:nvCxnSpPr>
            <p:cNvPr id="92" name="Google Shape;92;p27">
              <a:extLst>
                <a:ext uri="{FF2B5EF4-FFF2-40B4-BE49-F238E27FC236}">
                  <a16:creationId xmlns:a16="http://schemas.microsoft.com/office/drawing/2014/main" id="{BFE751B6-CF4D-273E-D560-6B4D883779FC}"/>
                </a:ext>
              </a:extLst>
            </p:cNvPr>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a:extLst>
                <a:ext uri="{FF2B5EF4-FFF2-40B4-BE49-F238E27FC236}">
                  <a16:creationId xmlns:a16="http://schemas.microsoft.com/office/drawing/2014/main" id="{A7768501-64BD-D022-44D2-3CA620B502C6}"/>
                </a:ext>
              </a:extLst>
            </p:cNvPr>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pic>
        <p:nvPicPr>
          <p:cNvPr id="94" name="Google Shape;94;p27">
            <a:extLst>
              <a:ext uri="{FF2B5EF4-FFF2-40B4-BE49-F238E27FC236}">
                <a16:creationId xmlns:a16="http://schemas.microsoft.com/office/drawing/2014/main" id="{19915C55-6271-9B95-62A4-D901C77AA9DE}"/>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a:extLst>
              <a:ext uri="{FF2B5EF4-FFF2-40B4-BE49-F238E27FC236}">
                <a16:creationId xmlns:a16="http://schemas.microsoft.com/office/drawing/2014/main" id="{96534BB9-415B-75C5-14DF-605417B1EA0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rial"/>
                <a:ea typeface="Arial"/>
                <a:cs typeface="Arial"/>
                <a:sym typeface="Arial"/>
              </a:rPr>
              <a:t>GRAINGER ENGINEERING</a:t>
            </a:r>
            <a:endParaRPr/>
          </a:p>
        </p:txBody>
      </p:sp>
      <p:sp>
        <p:nvSpPr>
          <p:cNvPr id="96" name="Google Shape;96;p27">
            <a:extLst>
              <a:ext uri="{FF2B5EF4-FFF2-40B4-BE49-F238E27FC236}">
                <a16:creationId xmlns:a16="http://schemas.microsoft.com/office/drawing/2014/main" id="{A8493C96-336F-E402-218B-5C13C8F047B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a:extLst>
              <a:ext uri="{FF2B5EF4-FFF2-40B4-BE49-F238E27FC236}">
                <a16:creationId xmlns:a16="http://schemas.microsoft.com/office/drawing/2014/main" id="{33C3076B-D3BE-042B-369B-996B00F03F2C}"/>
              </a:ext>
            </a:extLst>
          </p:cNvPr>
          <p:cNvGrpSpPr/>
          <p:nvPr/>
        </p:nvGrpSpPr>
        <p:grpSpPr>
          <a:xfrm>
            <a:off x="4066674" y="6601537"/>
            <a:ext cx="5233412" cy="70446"/>
            <a:chOff x="4033424" y="6601537"/>
            <a:chExt cx="5233412" cy="70446"/>
          </a:xfrm>
        </p:grpSpPr>
        <p:cxnSp>
          <p:nvCxnSpPr>
            <p:cNvPr id="98" name="Google Shape;98;p27">
              <a:extLst>
                <a:ext uri="{FF2B5EF4-FFF2-40B4-BE49-F238E27FC236}">
                  <a16:creationId xmlns:a16="http://schemas.microsoft.com/office/drawing/2014/main" id="{A886A22C-18CA-ADCE-8A13-5D51F5F174D3}"/>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a:extLst>
                <a:ext uri="{FF2B5EF4-FFF2-40B4-BE49-F238E27FC236}">
                  <a16:creationId xmlns:a16="http://schemas.microsoft.com/office/drawing/2014/main" id="{F5546652-0DF2-2B1B-5CB6-25C023D4F23A}"/>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rial"/>
                <a:ea typeface="Arial"/>
                <a:cs typeface="Arial"/>
                <a:sym typeface="Arial"/>
              </a:endParaRPr>
            </a:p>
          </p:txBody>
        </p:sp>
      </p:grpSp>
    </p:spTree>
    <p:extLst>
      <p:ext uri="{BB962C8B-B14F-4D97-AF65-F5344CB8AC3E}">
        <p14:creationId xmlns:p14="http://schemas.microsoft.com/office/powerpoint/2010/main" val="213065661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p:cNvGrpSpPr/>
        <p:nvPr/>
      </p:nvGrpSpPr>
      <p:grpSpPr>
        <a:xfrm>
          <a:off x="0" y="0"/>
          <a:ext cx="0" cy="0"/>
          <a:chOff x="0" y="0"/>
          <a:chExt cx="0" cy="0"/>
        </a:xfrm>
      </p:grpSpPr>
      <p:sp>
        <p:nvSpPr>
          <p:cNvPr id="104" name="Google Shape;104;p28"/>
          <p:cNvSpPr txBox="1"/>
          <p:nvPr/>
        </p:nvSpPr>
        <p:spPr>
          <a:xfrm>
            <a:off x="1295400" y="2948490"/>
            <a:ext cx="9601200" cy="1338788"/>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rial"/>
                <a:ea typeface="Arial"/>
                <a:cs typeface="Arial"/>
                <a:sym typeface="Arial"/>
              </a:rPr>
              <a:t>Localization</a:t>
            </a:r>
            <a:endParaRPr dirty="0"/>
          </a:p>
          <a:p>
            <a:pPr marL="0" marR="0" lvl="0" indent="0" algn="ctr" rtl="0">
              <a:lnSpc>
                <a:spcPct val="100000"/>
              </a:lnSpc>
              <a:spcBef>
                <a:spcPts val="0"/>
              </a:spcBef>
              <a:spcAft>
                <a:spcPts val="0"/>
              </a:spcAft>
              <a:buClr>
                <a:srgbClr val="000000"/>
              </a:buClr>
              <a:buSzPts val="1800"/>
              <a:buFont typeface="Arial"/>
              <a:buNone/>
            </a:pPr>
            <a:endParaRPr sz="1800" b="1" i="0" u="none" strike="noStrike" cap="none" dirty="0">
              <a:solidFill>
                <a:srgbClr val="15264B"/>
              </a:solidFill>
              <a:latin typeface="Arial"/>
              <a:ea typeface="Arial"/>
              <a:cs typeface="Arial"/>
              <a:sym typeface="Arial"/>
            </a:endParaRPr>
          </a:p>
          <a:p>
            <a:pPr marL="0" marR="0" lvl="0" indent="0" algn="ctr" rtl="0">
              <a:lnSpc>
                <a:spcPct val="100000"/>
              </a:lnSpc>
              <a:spcBef>
                <a:spcPts val="0"/>
              </a:spcBef>
              <a:spcAft>
                <a:spcPts val="0"/>
              </a:spcAft>
              <a:buNone/>
            </a:pPr>
            <a:r>
              <a:rPr lang="en-US" sz="1800" b="0" i="0" u="none" strike="noStrike" cap="none" dirty="0">
                <a:solidFill>
                  <a:srgbClr val="15264B"/>
                </a:solidFill>
                <a:latin typeface="Arial"/>
                <a:ea typeface="Arial"/>
                <a:cs typeface="Arial"/>
                <a:sym typeface="Arial"/>
              </a:rPr>
              <a:t>(A brief introduction.)</a:t>
            </a:r>
            <a:endParaRPr sz="1800" b="0" i="0" u="none" strike="noStrike" cap="none" dirty="0">
              <a:solidFill>
                <a:srgbClr val="15264B"/>
              </a:solidFill>
              <a:latin typeface="Arial"/>
              <a:ea typeface="Arial"/>
              <a:cs typeface="Arial"/>
              <a:sym typeface="Arial"/>
            </a:endParaRPr>
          </a:p>
        </p:txBody>
      </p:sp>
      <p:grpSp>
        <p:nvGrpSpPr>
          <p:cNvPr id="105" name="Google Shape;105;p28"/>
          <p:cNvGrpSpPr/>
          <p:nvPr/>
        </p:nvGrpSpPr>
        <p:grpSpPr>
          <a:xfrm>
            <a:off x="3943790" y="2676939"/>
            <a:ext cx="3861740" cy="322845"/>
            <a:chOff x="3943790" y="2676939"/>
            <a:chExt cx="3861740" cy="322845"/>
          </a:xfrm>
        </p:grpSpPr>
        <p:cxnSp>
          <p:nvCxnSpPr>
            <p:cNvPr id="106" name="Google Shape;106;p28"/>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10" name="Google Shape;110;p28"/>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p:cNvGrpSpPr/>
          <p:nvPr/>
        </p:nvGrpSpPr>
        <p:grpSpPr>
          <a:xfrm>
            <a:off x="4066674" y="6601537"/>
            <a:ext cx="5233412" cy="70446"/>
            <a:chOff x="4033424" y="6601537"/>
            <a:chExt cx="5233412" cy="70446"/>
          </a:xfrm>
        </p:grpSpPr>
        <p:cxnSp>
          <p:nvCxnSpPr>
            <p:cNvPr id="112" name="Google Shape;112;p28"/>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ED54E6D-ADE0-FF7B-8B3B-FBB787005EE6}"/>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6D34F85F-14ED-8196-483A-A9B0CBE868EA}"/>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latin typeface="Arial"/>
                <a:ea typeface="Arial"/>
                <a:cs typeface="Arial"/>
                <a:sym typeface="Arial"/>
              </a:rPr>
              <a:t>We now have sensors to figure out where obstacles are. We have sensors to figure out the internal state of the robot.</a:t>
            </a: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r>
              <a:rPr lang="en-US" sz="2400" dirty="0">
                <a:latin typeface="Arial"/>
                <a:ea typeface="Arial"/>
                <a:cs typeface="Arial"/>
                <a:sym typeface="Arial"/>
              </a:rPr>
              <a:t>We also know how to make a robot drive straight or follow a wall using feedback control.</a:t>
            </a: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r>
              <a:rPr lang="en-US" sz="2400" dirty="0">
                <a:latin typeface="Arial"/>
                <a:ea typeface="Arial"/>
                <a:cs typeface="Arial"/>
                <a:sym typeface="Arial"/>
              </a:rPr>
              <a:t>However, if we ask the robot to “go to coordinates (5, 5) on the map,” how does it know where it currently is?</a:t>
            </a: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r>
              <a:rPr lang="en-US" sz="2400" dirty="0">
                <a:latin typeface="Arial"/>
                <a:ea typeface="Arial"/>
                <a:cs typeface="Arial"/>
                <a:sym typeface="Arial"/>
              </a:rPr>
              <a:t>This is the fundamental question of </a:t>
            </a:r>
            <a:r>
              <a:rPr lang="en-US" sz="2400" b="1" dirty="0">
                <a:latin typeface="Arial"/>
                <a:ea typeface="Arial"/>
                <a:cs typeface="Arial"/>
                <a:sym typeface="Arial"/>
              </a:rPr>
              <a:t>Localization</a:t>
            </a:r>
            <a:r>
              <a:rPr lang="en-US" sz="2400" dirty="0">
                <a:latin typeface="Arial"/>
                <a:ea typeface="Arial"/>
                <a:cs typeface="Arial"/>
                <a:sym typeface="Arial"/>
              </a:rPr>
              <a:t>!</a:t>
            </a:r>
          </a:p>
        </p:txBody>
      </p:sp>
      <p:sp>
        <p:nvSpPr>
          <p:cNvPr id="119" name="Google Shape;119;p29">
            <a:extLst>
              <a:ext uri="{FF2B5EF4-FFF2-40B4-BE49-F238E27FC236}">
                <a16:creationId xmlns:a16="http://schemas.microsoft.com/office/drawing/2014/main" id="{13215573-5A7C-3A19-B5FC-59A2DAECEAF5}"/>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0C2BE7C5-E357-C849-95D1-A8AFC2B878C9}"/>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Localization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B3909E4A-4D7E-B978-3B33-F09D062D4431}"/>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84271AA3-DDA8-8911-F3E0-99DCC109ACD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598E6136-75ED-E9E8-7811-4C19C9302C3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EE3BB8A-CC27-EE8F-6806-F3A502947280}"/>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F81700D1-F08F-06B9-193E-676EC039D7F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EC927B8-E359-2078-0EE4-ADC57931A99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04358546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5E6B0AB0-4051-A09B-7311-A4F931BA9B55}"/>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76A21696-5A9A-3401-67CD-214B1167131F}"/>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rial"/>
                <a:ea typeface="Arial"/>
                <a:cs typeface="Arial"/>
                <a:sym typeface="Arial"/>
              </a:rPr>
              <a:t>To solve localization, we need to understand that the world is not perfect and not a single sensor gives the exact solution.</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We first estimate movement using internal sensors (Dead-Reckoning).</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What is a problem with just using internal sensors?</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The internal sensors drift and accumulate errors!</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Think of this as walking blind and relying on just counting your steps as you did at the beginning of the lecture.</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Finally, we use external sensors (LiDAR, Cameras) to look at landmarks and correct these errors (SLAM)</a:t>
            </a:r>
          </a:p>
        </p:txBody>
      </p:sp>
      <p:sp>
        <p:nvSpPr>
          <p:cNvPr id="119" name="Google Shape;119;p29">
            <a:extLst>
              <a:ext uri="{FF2B5EF4-FFF2-40B4-BE49-F238E27FC236}">
                <a16:creationId xmlns:a16="http://schemas.microsoft.com/office/drawing/2014/main" id="{EB1C9771-CEDB-F231-50E7-056ABA96B1F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E844BD46-26EE-7A92-2F40-585E66379FA8}"/>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Localization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1E9C415F-6234-A563-9685-6C58F007F7C1}"/>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701D358-E660-5A3A-79D7-E72117E7D03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5D20787-DE13-FFAB-59C4-53CB0535AEE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6E81C41-95EC-5910-AE81-9E9E0016E96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EDCB493-F98D-DEB8-5A08-571961CCE91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5C2CB86-A719-5322-78B8-CD4308B7CD8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27814373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8.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EF4750B5-B14A-01C9-2B88-F206A73A34D9}"/>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86D4F231-FAC7-950C-5B45-988055DD235B}"/>
              </a:ext>
            </a:extLst>
          </p:cNvPr>
          <p:cNvSpPr txBox="1"/>
          <p:nvPr/>
        </p:nvSpPr>
        <p:spPr>
          <a:xfrm>
            <a:off x="1295400" y="3225489"/>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rial"/>
                <a:ea typeface="Arial"/>
                <a:cs typeface="Arial"/>
                <a:sym typeface="Arial"/>
              </a:rPr>
              <a:t>Coordinate Transformation</a:t>
            </a:r>
            <a:endParaRPr sz="1800" b="0" i="0" u="none" strike="noStrike" cap="none" dirty="0">
              <a:solidFill>
                <a:srgbClr val="15264B"/>
              </a:solidFill>
              <a:latin typeface="Arial"/>
              <a:ea typeface="Arial"/>
              <a:cs typeface="Arial"/>
              <a:sym typeface="Arial"/>
            </a:endParaRPr>
          </a:p>
        </p:txBody>
      </p:sp>
      <p:grpSp>
        <p:nvGrpSpPr>
          <p:cNvPr id="105" name="Google Shape;105;p28">
            <a:extLst>
              <a:ext uri="{FF2B5EF4-FFF2-40B4-BE49-F238E27FC236}">
                <a16:creationId xmlns:a16="http://schemas.microsoft.com/office/drawing/2014/main" id="{62E38B49-2E3A-FDD3-E87E-670AC8567A97}"/>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CD84C68B-3657-9A09-BA27-13DFBD4178B5}"/>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05955F79-2034-08CB-A687-A865D40FE7A3}"/>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FF2B5EF4-FFF2-40B4-BE49-F238E27FC236}">
                <a16:creationId xmlns:a16="http://schemas.microsoft.com/office/drawing/2014/main" id="{17795A85-70CE-C4BB-770A-9D34F3334B4C}"/>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404D5F0B-0552-CD63-B00C-A9C2A0CD868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1B59352F-72AC-C977-FC71-D1436D4ABDC6}"/>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60FE4BDD-F9D0-96A9-034F-99CDC779B4B2}"/>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5C43F291-FBED-C820-8FD0-BF27F8527BF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EEA57A2F-DF5A-9E87-A66E-340D67185CE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211936522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6D68A14-2D43-55A7-F8C0-E002E2C62A8A}"/>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7C3FD844-676E-2C29-2373-9E0220DF0132}"/>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rial"/>
                <a:ea typeface="Arial"/>
                <a:cs typeface="Arial"/>
                <a:sym typeface="Arial"/>
              </a:rPr>
              <a:t>A robot experiences the world from its own perspective, which we call the </a:t>
            </a:r>
            <a:r>
              <a:rPr lang="en-US" sz="2200" b="1" dirty="0">
                <a:latin typeface="Arial"/>
                <a:ea typeface="Arial"/>
                <a:cs typeface="Arial"/>
                <a:sym typeface="Arial"/>
              </a:rPr>
              <a:t>Local Frame </a:t>
            </a:r>
            <a:r>
              <a:rPr lang="en-US" sz="2200" dirty="0">
                <a:latin typeface="Arial"/>
                <a:ea typeface="Arial"/>
                <a:cs typeface="Arial"/>
                <a:sym typeface="Arial"/>
              </a:rPr>
              <a:t>(or Body Frame).</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The map or the room exists in a fixed, global reference frame, called the </a:t>
            </a:r>
            <a:r>
              <a:rPr lang="en-US" sz="2200" b="1" dirty="0">
                <a:latin typeface="Arial"/>
                <a:ea typeface="Arial"/>
                <a:cs typeface="Arial"/>
                <a:sym typeface="Arial"/>
              </a:rPr>
              <a:t>Global / World Frame</a:t>
            </a:r>
            <a:r>
              <a:rPr lang="en-US" sz="2200" dirty="0">
                <a:latin typeface="Arial"/>
                <a:ea typeface="Arial"/>
                <a:cs typeface="Arial"/>
                <a:sym typeface="Arial"/>
              </a:rPr>
              <a:t> (or Inertial Frame).</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When driving a car, your local reference frame is your point of view inside the car, only you have that viewpoint, and the global reference is the shared viewpoint, which is provided by the GPS map.</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Each of the sensors view its information in its own Local Frame; however, to navigate a room, we must translate the local sensor data into the global map!</a:t>
            </a:r>
          </a:p>
        </p:txBody>
      </p:sp>
      <p:sp>
        <p:nvSpPr>
          <p:cNvPr id="119" name="Google Shape;119;p29">
            <a:extLst>
              <a:ext uri="{FF2B5EF4-FFF2-40B4-BE49-F238E27FC236}">
                <a16:creationId xmlns:a16="http://schemas.microsoft.com/office/drawing/2014/main" id="{311CB4E9-9255-9A87-DA02-4531EC6F087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1A387E6F-1A16-5B7F-0DBD-EBB05D4C03BC}"/>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Localization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4144F908-2DC1-FD6A-B6DD-0AE2DF057832}"/>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A58C51D-5F5B-C5C1-7E3B-4E7961D336E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EA28F24-8ED6-D3C4-9D30-E11CE6FE4A5E}"/>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B31BB56-3D10-4E51-1059-7704B1202A7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0D18472-15CC-951B-22D9-2D16BE443B9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7F7BAC9-1191-2046-BCDC-AE807074BCAC}"/>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28560629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CD5CD33-FBA4-E607-F00C-CE9B0B73E311}"/>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9BD59CC6-7569-F8D1-B339-8E469DAB4A90}"/>
                  </a:ext>
                </a:extLst>
              </p:cNvPr>
              <p:cNvSpPr txBox="1">
                <a:spLocks noGrp="1"/>
              </p:cNvSpPr>
              <p:nvPr>
                <p:ph type="body" idx="1"/>
              </p:nvPr>
            </p:nvSpPr>
            <p:spPr>
              <a:xfrm>
                <a:off x="376809" y="1334279"/>
                <a:ext cx="5849892"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rial"/>
                    <a:ea typeface="Arial"/>
                    <a:cs typeface="Arial"/>
                    <a:sym typeface="Arial"/>
                  </a:rPr>
                  <a:t>The local frames of each of the sensors can be of different positions and orientation than the robot’s </a:t>
                </a:r>
                <a:r>
                  <a:rPr lang="en-US" sz="2200" b="1" dirty="0">
                    <a:latin typeface="Arial"/>
                    <a:ea typeface="Arial"/>
                    <a:cs typeface="Arial"/>
                    <a:sym typeface="Arial"/>
                  </a:rPr>
                  <a:t>body frame</a:t>
                </a:r>
                <a:r>
                  <a:rPr lang="en-US" sz="2200" dirty="0">
                    <a:latin typeface="Arial"/>
                    <a:ea typeface="Arial"/>
                    <a:cs typeface="Arial"/>
                    <a:sym typeface="Arial"/>
                  </a:rPr>
                  <a:t>.</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The </a:t>
                </a:r>
                <a:r>
                  <a:rPr lang="en-US" sz="2200" b="1" dirty="0">
                    <a:latin typeface="Arial"/>
                    <a:ea typeface="Arial"/>
                    <a:cs typeface="Arial"/>
                    <a:sym typeface="Arial"/>
                  </a:rPr>
                  <a:t>body frame</a:t>
                </a:r>
                <a:r>
                  <a:rPr lang="en-US" sz="2200" dirty="0">
                    <a:latin typeface="Arial"/>
                    <a:ea typeface="Arial"/>
                    <a:cs typeface="Arial"/>
                    <a:sym typeface="Arial"/>
                  </a:rPr>
                  <a:t> is typically the frame where you define the </a:t>
                </a:r>
                <a14:m>
                  <m:oMath xmlns:m="http://schemas.openxmlformats.org/officeDocument/2006/math">
                    <m:r>
                      <a:rPr lang="en-US" sz="2200" b="0" i="0" smtClean="0">
                        <a:latin typeface="Cambria Math" panose="02040503050406030204" pitchFamily="18" charset="0"/>
                        <a:ea typeface="Cambria Math" panose="02040503050406030204" pitchFamily="18" charset="0"/>
                        <a:cs typeface="Arial"/>
                        <a:sym typeface="Arial"/>
                      </a:rPr>
                      <m:t>(</m:t>
                    </m:r>
                    <m:r>
                      <m:rPr>
                        <m:sty m:val="p"/>
                      </m:rPr>
                      <a:rPr lang="en-US" sz="2200" b="0" i="0" smtClean="0">
                        <a:latin typeface="Cambria Math" panose="02040503050406030204" pitchFamily="18" charset="0"/>
                        <a:ea typeface="Cambria Math" panose="02040503050406030204" pitchFamily="18" charset="0"/>
                        <a:cs typeface="Arial"/>
                        <a:sym typeface="Arial"/>
                      </a:rPr>
                      <m:t>x</m:t>
                    </m:r>
                    <m:r>
                      <a:rPr lang="en-US" sz="2200" b="0" i="1" smtClean="0">
                        <a:latin typeface="Cambria Math" panose="02040503050406030204" pitchFamily="18" charset="0"/>
                        <a:ea typeface="Cambria Math" panose="02040503050406030204" pitchFamily="18" charset="0"/>
                        <a:cs typeface="Arial"/>
                        <a:sym typeface="Arial"/>
                      </a:rPr>
                      <m:t>, </m:t>
                    </m:r>
                    <m:r>
                      <m:rPr>
                        <m:sty m:val="p"/>
                      </m:rPr>
                      <a:rPr lang="en-US" sz="2200" b="0" i="1" smtClean="0">
                        <a:latin typeface="Cambria Math" panose="02040503050406030204" pitchFamily="18" charset="0"/>
                        <a:ea typeface="Cambria Math" panose="02040503050406030204" pitchFamily="18" charset="0"/>
                        <a:cs typeface="Arial"/>
                        <a:sym typeface="Arial"/>
                      </a:rPr>
                      <m:t>y</m:t>
                    </m:r>
                    <m:r>
                      <a:rPr lang="en-US" sz="2200" b="0" i="1" smtClean="0">
                        <a:latin typeface="Cambria Math" panose="02040503050406030204" pitchFamily="18" charset="0"/>
                        <a:ea typeface="Cambria Math" panose="02040503050406030204" pitchFamily="18" charset="0"/>
                        <a:cs typeface="Arial"/>
                        <a:sym typeface="Arial"/>
                      </a:rPr>
                      <m:t>, </m:t>
                    </m:r>
                    <m:r>
                      <a:rPr lang="en-US" sz="2200" i="1" smtClean="0">
                        <a:latin typeface="Cambria Math" panose="02040503050406030204" pitchFamily="18" charset="0"/>
                        <a:ea typeface="Cambria Math" panose="02040503050406030204" pitchFamily="18" charset="0"/>
                        <a:cs typeface="Arial"/>
                        <a:sym typeface="Arial"/>
                      </a:rPr>
                      <m:t>𝜃</m:t>
                    </m:r>
                    <m:r>
                      <a:rPr lang="en-US" sz="2200" b="0" i="1" smtClean="0">
                        <a:latin typeface="Cambria Math" panose="02040503050406030204" pitchFamily="18" charset="0"/>
                        <a:ea typeface="Cambria Math" panose="02040503050406030204" pitchFamily="18" charset="0"/>
                        <a:cs typeface="Arial"/>
                        <a:sym typeface="Arial"/>
                      </a:rPr>
                      <m:t>)</m:t>
                    </m:r>
                  </m:oMath>
                </a14:m>
                <a:r>
                  <a:rPr lang="en-US" sz="2200" dirty="0">
                    <a:latin typeface="Arial"/>
                    <a:ea typeface="Arial"/>
                    <a:cs typeface="Arial"/>
                    <a:sym typeface="Arial"/>
                  </a:rPr>
                  <a:t> of the robot.</a:t>
                </a:r>
              </a:p>
              <a:p>
                <a:pPr marL="0" indent="0">
                  <a:lnSpc>
                    <a:spcPct val="100000"/>
                  </a:lnSpc>
                  <a:spcBef>
                    <a:spcPts val="0"/>
                  </a:spcBef>
                  <a:buSzPts val="3000"/>
                  <a:buNone/>
                </a:pPr>
                <a:endParaRPr lang="en-US" sz="2200" b="1"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So, we need to translate the sensor frames to the body frame, and then the body frame to the global frame.</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If the robot to the right moves “forward 1 meter”, does its local x coordinate increase or it’s y? What about it’s world x, y coordinates?</a:t>
                </a:r>
              </a:p>
            </p:txBody>
          </p:sp>
        </mc:Choice>
        <mc:Fallback xmlns="">
          <p:sp>
            <p:nvSpPr>
              <p:cNvPr id="118" name="Google Shape;118;p29">
                <a:extLst>
                  <a:ext uri="{FF2B5EF4-FFF2-40B4-BE49-F238E27FC236}">
                    <a16:creationId xmlns:a16="http://schemas.microsoft.com/office/drawing/2014/main" id="{9BD59CC6-7569-F8D1-B339-8E469DAB4A90}"/>
                  </a:ext>
                </a:extLst>
              </p:cNvPr>
              <p:cNvSpPr txBox="1">
                <a:spLocks noGrp="1" noRot="1" noChangeAspect="1" noMove="1" noResize="1" noEditPoints="1" noAdjustHandles="1" noChangeArrowheads="1" noChangeShapeType="1" noTextEdit="1"/>
              </p:cNvSpPr>
              <p:nvPr>
                <p:ph type="body" idx="1"/>
              </p:nvPr>
            </p:nvSpPr>
            <p:spPr>
              <a:xfrm>
                <a:off x="376809" y="1334279"/>
                <a:ext cx="5849892" cy="4821102"/>
              </a:xfrm>
              <a:prstGeom prst="rect">
                <a:avLst/>
              </a:prstGeom>
              <a:blipFill>
                <a:blip r:embed="rId3"/>
                <a:stretch>
                  <a:fillRect l="-1356" t="-759" r="-2398" b="-1896"/>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A987ECFB-4495-249A-40BA-0241CD1976B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7120AD81-C680-622A-A674-17B52CFBCB31}"/>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Localization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3E6BBCA4-CFCB-DA91-9B41-79074E15B72F}"/>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D8624EF-6C6D-92FE-D024-BBB996549BD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5F7E90F5-76C0-896B-E43F-E5F1FCF11E7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0D82D89-6AC9-3A75-EBED-5C3049E2BF1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169CED0-53AD-DEF9-1671-4E93DE52481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D50A90D-323B-E878-049D-26D4F411BC9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7" name="Picture 6">
            <a:extLst>
              <a:ext uri="{FF2B5EF4-FFF2-40B4-BE49-F238E27FC236}">
                <a16:creationId xmlns:a16="http://schemas.microsoft.com/office/drawing/2014/main" id="{B09C676A-C7CC-590E-E845-C95E05865DD4}"/>
              </a:ext>
            </a:extLst>
          </p:cNvPr>
          <p:cNvPicPr>
            <a:picLocks noChangeAspect="1"/>
          </p:cNvPicPr>
          <p:nvPr/>
        </p:nvPicPr>
        <p:blipFill>
          <a:blip r:embed="rId5"/>
          <a:stretch>
            <a:fillRect/>
          </a:stretch>
        </p:blipFill>
        <p:spPr>
          <a:xfrm>
            <a:off x="6226701" y="1651719"/>
            <a:ext cx="5965299" cy="3846662"/>
          </a:xfrm>
          <a:prstGeom prst="rect">
            <a:avLst/>
          </a:prstGeom>
        </p:spPr>
      </p:pic>
      <p:sp>
        <p:nvSpPr>
          <p:cNvPr id="9" name="TextBox 8">
            <a:extLst>
              <a:ext uri="{FF2B5EF4-FFF2-40B4-BE49-F238E27FC236}">
                <a16:creationId xmlns:a16="http://schemas.microsoft.com/office/drawing/2014/main" id="{EF53D97B-B5D7-BF27-4A42-A1F5ECA4416E}"/>
              </a:ext>
            </a:extLst>
          </p:cNvPr>
          <p:cNvSpPr txBox="1"/>
          <p:nvPr/>
        </p:nvSpPr>
        <p:spPr>
          <a:xfrm>
            <a:off x="6588338" y="5603472"/>
            <a:ext cx="5353050" cy="246221"/>
          </a:xfrm>
          <a:prstGeom prst="rect">
            <a:avLst/>
          </a:prstGeom>
          <a:noFill/>
        </p:spPr>
        <p:txBody>
          <a:bodyPr wrap="square">
            <a:spAutoFit/>
          </a:bodyPr>
          <a:lstStyle/>
          <a:p>
            <a:pPr algn="ctr"/>
            <a:r>
              <a:rPr lang="en-US" sz="1000" dirty="0">
                <a:hlinkClick r:id="rId6"/>
              </a:rPr>
              <a:t>https://www.frontiersin.org/journals/robotics-and-ai/articles/10.3389/frobt.2025.1671673/full</a:t>
            </a:r>
            <a:r>
              <a:rPr lang="en-US" sz="1000" dirty="0"/>
              <a:t> </a:t>
            </a:r>
          </a:p>
        </p:txBody>
      </p:sp>
    </p:spTree>
    <p:extLst>
      <p:ext uri="{BB962C8B-B14F-4D97-AF65-F5344CB8AC3E}">
        <p14:creationId xmlns:p14="http://schemas.microsoft.com/office/powerpoint/2010/main" val="253488368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28F7FA4-F548-74E2-0628-F61D456ACFC6}"/>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91564308-C01B-3265-8F48-407500B31E86}"/>
                  </a:ext>
                </a:extLst>
              </p:cNvPr>
              <p:cNvSpPr txBox="1">
                <a:spLocks noGrp="1"/>
              </p:cNvSpPr>
              <p:nvPr>
                <p:ph type="body" idx="1"/>
              </p:nvPr>
            </p:nvSpPr>
            <p:spPr>
              <a:xfrm>
                <a:off x="376809" y="1334279"/>
                <a:ext cx="597065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rial"/>
                    <a:ea typeface="Arial"/>
                    <a:cs typeface="Arial"/>
                    <a:sym typeface="Arial"/>
                  </a:rPr>
                  <a:t>Let the </a:t>
                </a:r>
                <a:r>
                  <a:rPr lang="en-US" sz="2200" b="1" dirty="0">
                    <a:latin typeface="Arial"/>
                    <a:ea typeface="Arial"/>
                    <a:cs typeface="Arial"/>
                    <a:sym typeface="Arial"/>
                  </a:rPr>
                  <a:t>World Frame </a:t>
                </a:r>
                <a:r>
                  <a:rPr lang="en-US" sz="2200" dirty="0">
                    <a:latin typeface="Arial"/>
                    <a:ea typeface="Arial"/>
                    <a:cs typeface="Arial"/>
                    <a:sym typeface="Arial"/>
                  </a:rPr>
                  <a:t>be defined by axes </a:t>
                </a:r>
                <a14:m>
                  <m:oMath xmlns:m="http://schemas.openxmlformats.org/officeDocument/2006/math">
                    <m:r>
                      <m:rPr>
                        <m:sty m:val="p"/>
                      </m:rPr>
                      <a:rPr lang="en-US" sz="2200" b="0" i="1" dirty="0" smtClean="0">
                        <a:latin typeface="Cambria Math" panose="02040503050406030204" pitchFamily="18" charset="0"/>
                        <a:ea typeface="Arial"/>
                        <a:cs typeface="Arial"/>
                        <a:sym typeface="Arial"/>
                      </a:rPr>
                      <m:t>X</m:t>
                    </m:r>
                    <m:r>
                      <a:rPr lang="en-US" sz="2200" i="1" dirty="0" smtClean="0">
                        <a:latin typeface="Cambria Math" panose="02040503050406030204" pitchFamily="18" charset="0"/>
                        <a:ea typeface="Arial"/>
                        <a:cs typeface="Arial"/>
                        <a:sym typeface="Arial"/>
                      </a:rPr>
                      <m:t>,</m:t>
                    </m:r>
                    <m:r>
                      <m:rPr>
                        <m:sty m:val="p"/>
                      </m:rPr>
                      <a:rPr lang="en-US" sz="2200" b="0" i="1" dirty="0" smtClean="0">
                        <a:latin typeface="Cambria Math" panose="02040503050406030204" pitchFamily="18" charset="0"/>
                        <a:ea typeface="Arial"/>
                        <a:cs typeface="Arial"/>
                        <a:sym typeface="Arial"/>
                      </a:rPr>
                      <m:t>Y</m:t>
                    </m:r>
                  </m:oMath>
                </a14:m>
                <a:r>
                  <a:rPr lang="en-US" sz="2200" dirty="0">
                    <a:latin typeface="Arial"/>
                    <a:ea typeface="Arial"/>
                    <a:cs typeface="Arial"/>
                    <a:sym typeface="Arial"/>
                  </a:rPr>
                  <a:t> with origin </a:t>
                </a:r>
                <a14:m>
                  <m:oMath xmlns:m="http://schemas.openxmlformats.org/officeDocument/2006/math">
                    <m:r>
                      <m:rPr>
                        <m:sty m:val="p"/>
                      </m:rPr>
                      <a:rPr lang="en-US" sz="2200" b="0" i="1" dirty="0" smtClean="0">
                        <a:latin typeface="Cambria Math" panose="02040503050406030204" pitchFamily="18" charset="0"/>
                        <a:ea typeface="Arial"/>
                        <a:cs typeface="Arial"/>
                        <a:sym typeface="Arial"/>
                      </a:rPr>
                      <m:t>O</m:t>
                    </m:r>
                  </m:oMath>
                </a14:m>
                <a:r>
                  <a:rPr lang="en-US" sz="2200" dirty="0">
                    <a:latin typeface="Arial"/>
                    <a:ea typeface="Arial"/>
                    <a:cs typeface="Arial"/>
                    <a:sym typeface="Arial"/>
                  </a:rPr>
                  <a:t>.</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Let the </a:t>
                </a:r>
                <a:r>
                  <a:rPr lang="en-US" sz="2200" b="1" dirty="0">
                    <a:latin typeface="Arial"/>
                    <a:ea typeface="Arial"/>
                    <a:cs typeface="Arial"/>
                    <a:sym typeface="Arial"/>
                  </a:rPr>
                  <a:t>Body Frame </a:t>
                </a:r>
                <a:r>
                  <a:rPr lang="en-US" sz="2200" dirty="0">
                    <a:latin typeface="Arial"/>
                    <a:ea typeface="Arial"/>
                    <a:cs typeface="Arial"/>
                    <a:sym typeface="Arial"/>
                  </a:rPr>
                  <a:t>be defined by axes </a:t>
                </a:r>
                <a14:m>
                  <m:oMath xmlns:m="http://schemas.openxmlformats.org/officeDocument/2006/math">
                    <m:sSub>
                      <m:sSubPr>
                        <m:ctrlPr>
                          <a:rPr lang="en-US" sz="2200" i="1" dirty="0" smtClean="0">
                            <a:latin typeface="Cambria Math" panose="02040503050406030204" pitchFamily="18" charset="0"/>
                            <a:ea typeface="Arial"/>
                            <a:cs typeface="Arial"/>
                            <a:sym typeface="Arial"/>
                          </a:rPr>
                        </m:ctrlPr>
                      </m:sSubPr>
                      <m:e>
                        <m:r>
                          <a:rPr lang="en-US" sz="2200" i="1" dirty="0" smtClean="0">
                            <a:latin typeface="Cambria Math" panose="02040503050406030204" pitchFamily="18" charset="0"/>
                            <a:ea typeface="Arial"/>
                            <a:cs typeface="Arial"/>
                            <a:sym typeface="Arial"/>
                          </a:rPr>
                          <m:t>𝑋</m:t>
                        </m:r>
                      </m:e>
                      <m:sub>
                        <m:r>
                          <a:rPr lang="en-US" sz="2200" i="1" dirty="0" smtClean="0">
                            <a:latin typeface="Cambria Math" panose="02040503050406030204" pitchFamily="18" charset="0"/>
                            <a:ea typeface="Arial"/>
                            <a:cs typeface="Arial"/>
                            <a:sym typeface="Arial"/>
                          </a:rPr>
                          <m:t>𝐵</m:t>
                        </m:r>
                      </m:sub>
                    </m:sSub>
                  </m:oMath>
                </a14:m>
                <a:r>
                  <a:rPr lang="en-US" sz="2200" dirty="0">
                    <a:latin typeface="Arial"/>
                    <a:ea typeface="Arial"/>
                    <a:cs typeface="Arial"/>
                    <a:sym typeface="Arial"/>
                  </a:rPr>
                  <a:t> (pointing forward) and </a:t>
                </a:r>
                <a14:m>
                  <m:oMath xmlns:m="http://schemas.openxmlformats.org/officeDocument/2006/math">
                    <m:sSub>
                      <m:sSubPr>
                        <m:ctrlPr>
                          <a:rPr lang="en-US" sz="2200" i="1" dirty="0" smtClean="0">
                            <a:latin typeface="Cambria Math" panose="02040503050406030204" pitchFamily="18" charset="0"/>
                            <a:ea typeface="Arial"/>
                            <a:cs typeface="Arial"/>
                            <a:sym typeface="Arial"/>
                          </a:rPr>
                        </m:ctrlPr>
                      </m:sSubPr>
                      <m:e>
                        <m:r>
                          <a:rPr lang="en-US" sz="2200" i="1" dirty="0" smtClean="0">
                            <a:latin typeface="Cambria Math" panose="02040503050406030204" pitchFamily="18" charset="0"/>
                            <a:ea typeface="Arial"/>
                            <a:cs typeface="Arial"/>
                            <a:sym typeface="Arial"/>
                          </a:rPr>
                          <m:t>𝑌</m:t>
                        </m:r>
                      </m:e>
                      <m:sub>
                        <m:r>
                          <a:rPr lang="en-US" sz="2200" i="1" dirty="0" smtClean="0">
                            <a:latin typeface="Cambria Math" panose="02040503050406030204" pitchFamily="18" charset="0"/>
                            <a:ea typeface="Arial"/>
                            <a:cs typeface="Arial"/>
                            <a:sym typeface="Arial"/>
                          </a:rPr>
                          <m:t>𝐵</m:t>
                        </m:r>
                      </m:sub>
                    </m:sSub>
                  </m:oMath>
                </a14:m>
                <a:r>
                  <a:rPr lang="en-US" sz="2200" dirty="0">
                    <a:latin typeface="Arial"/>
                    <a:ea typeface="Arial"/>
                    <a:cs typeface="Arial"/>
                    <a:sym typeface="Arial"/>
                  </a:rPr>
                  <a:t> (pointing left) with origin </a:t>
                </a:r>
                <a14:m>
                  <m:oMath xmlns:m="http://schemas.openxmlformats.org/officeDocument/2006/math">
                    <m:sSub>
                      <m:sSubPr>
                        <m:ctrlPr>
                          <a:rPr lang="en-US" sz="2200" i="1" dirty="0" smtClean="0">
                            <a:latin typeface="Cambria Math" panose="02040503050406030204" pitchFamily="18" charset="0"/>
                            <a:ea typeface="Arial"/>
                            <a:cs typeface="Arial"/>
                            <a:sym typeface="Arial"/>
                          </a:rPr>
                        </m:ctrlPr>
                      </m:sSubPr>
                      <m:e>
                        <m:r>
                          <a:rPr lang="en-US" sz="2200" i="1" dirty="0" smtClean="0">
                            <a:latin typeface="Cambria Math" panose="02040503050406030204" pitchFamily="18" charset="0"/>
                            <a:ea typeface="Arial"/>
                            <a:cs typeface="Arial"/>
                            <a:sym typeface="Arial"/>
                          </a:rPr>
                          <m:t>𝑂</m:t>
                        </m:r>
                      </m:e>
                      <m:sub>
                        <m:r>
                          <a:rPr lang="en-US" sz="2200" i="1" dirty="0" smtClean="0">
                            <a:latin typeface="Cambria Math" panose="02040503050406030204" pitchFamily="18" charset="0"/>
                            <a:ea typeface="Arial"/>
                            <a:cs typeface="Arial"/>
                            <a:sym typeface="Arial"/>
                          </a:rPr>
                          <m:t>𝐵</m:t>
                        </m:r>
                      </m:sub>
                    </m:sSub>
                  </m:oMath>
                </a14:m>
                <a:r>
                  <a:rPr lang="en-US" sz="2200" dirty="0">
                    <a:latin typeface="Arial"/>
                    <a:ea typeface="Arial"/>
                    <a:cs typeface="Arial"/>
                    <a:sym typeface="Arial"/>
                  </a:rPr>
                  <a:t>.</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The robot’s pose in the world is defined by its position and it’s heading angle.</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200" i="1" dirty="0" smtClean="0">
                          <a:latin typeface="Cambria Math" panose="02040503050406030204" pitchFamily="18" charset="0"/>
                          <a:ea typeface="Arial"/>
                          <a:cs typeface="Arial"/>
                          <a:sym typeface="Arial"/>
                        </a:rPr>
                        <m:t>𝑝</m:t>
                      </m:r>
                      <m:r>
                        <a:rPr lang="en-US" sz="2200" i="1" dirty="0" smtClean="0">
                          <a:latin typeface="Cambria Math" panose="02040503050406030204" pitchFamily="18" charset="0"/>
                          <a:ea typeface="Arial"/>
                          <a:cs typeface="Arial"/>
                          <a:sym typeface="Arial"/>
                        </a:rPr>
                        <m:t>=</m:t>
                      </m:r>
                      <m:d>
                        <m:dPr>
                          <m:ctrlPr>
                            <a:rPr lang="en-US" sz="2200" i="1" dirty="0" smtClean="0">
                              <a:latin typeface="Cambria Math" panose="02040503050406030204" pitchFamily="18" charset="0"/>
                              <a:ea typeface="Arial"/>
                              <a:cs typeface="Arial"/>
                              <a:sym typeface="Arial"/>
                            </a:rPr>
                          </m:ctrlPr>
                        </m:dPr>
                        <m:e>
                          <m:r>
                            <a:rPr lang="en-US" sz="2200" i="1" dirty="0" smtClean="0">
                              <a:latin typeface="Cambria Math" panose="02040503050406030204" pitchFamily="18" charset="0"/>
                              <a:ea typeface="Arial"/>
                              <a:cs typeface="Arial"/>
                              <a:sym typeface="Arial"/>
                            </a:rPr>
                            <m:t>𝑥</m:t>
                          </m:r>
                          <m:r>
                            <a:rPr lang="en-US" sz="2200" i="1" dirty="0" smtClean="0">
                              <a:latin typeface="Cambria Math" panose="02040503050406030204" pitchFamily="18" charset="0"/>
                              <a:ea typeface="Arial"/>
                              <a:cs typeface="Arial"/>
                              <a:sym typeface="Arial"/>
                            </a:rPr>
                            <m:t>,</m:t>
                          </m:r>
                          <m:r>
                            <a:rPr lang="en-US" sz="2200" i="1" dirty="0" smtClean="0">
                              <a:latin typeface="Cambria Math" panose="02040503050406030204" pitchFamily="18" charset="0"/>
                              <a:ea typeface="Arial"/>
                              <a:cs typeface="Arial"/>
                              <a:sym typeface="Arial"/>
                            </a:rPr>
                            <m:t>𝑦</m:t>
                          </m:r>
                          <m:r>
                            <a:rPr lang="en-US" sz="2200" i="1" dirty="0" smtClean="0">
                              <a:latin typeface="Cambria Math" panose="02040503050406030204" pitchFamily="18" charset="0"/>
                              <a:ea typeface="Arial"/>
                              <a:cs typeface="Arial"/>
                              <a:sym typeface="Arial"/>
                            </a:rPr>
                            <m:t>,</m:t>
                          </m:r>
                          <m:r>
                            <a:rPr lang="en-US" sz="2200" i="1" dirty="0" smtClean="0">
                              <a:latin typeface="Cambria Math" panose="02040503050406030204" pitchFamily="18" charset="0"/>
                              <a:ea typeface="Arial"/>
                              <a:cs typeface="Arial"/>
                              <a:sym typeface="Arial"/>
                            </a:rPr>
                            <m:t>𝜃</m:t>
                          </m:r>
                        </m:e>
                      </m:d>
                    </m:oMath>
                  </m:oMathPara>
                </a14:m>
                <a:endParaRPr lang="en-US" sz="2200" dirty="0">
                  <a:latin typeface="Arial"/>
                  <a:ea typeface="Arial"/>
                  <a:cs typeface="Arial"/>
                  <a:sym typeface="Arial"/>
                </a:endParaRPr>
              </a:p>
            </p:txBody>
          </p:sp>
        </mc:Choice>
        <mc:Fallback xmlns="">
          <p:sp>
            <p:nvSpPr>
              <p:cNvPr id="118" name="Google Shape;118;p29">
                <a:extLst>
                  <a:ext uri="{FF2B5EF4-FFF2-40B4-BE49-F238E27FC236}">
                    <a16:creationId xmlns:a16="http://schemas.microsoft.com/office/drawing/2014/main" id="{91564308-C01B-3265-8F48-407500B31E86}"/>
                  </a:ext>
                </a:extLst>
              </p:cNvPr>
              <p:cNvSpPr txBox="1">
                <a:spLocks noGrp="1" noRot="1" noChangeAspect="1" noMove="1" noResize="1" noEditPoints="1" noAdjustHandles="1" noChangeArrowheads="1" noChangeShapeType="1" noTextEdit="1"/>
              </p:cNvSpPr>
              <p:nvPr>
                <p:ph type="body" idx="1"/>
              </p:nvPr>
            </p:nvSpPr>
            <p:spPr>
              <a:xfrm>
                <a:off x="376809" y="1334279"/>
                <a:ext cx="5970651" cy="4821102"/>
              </a:xfrm>
              <a:prstGeom prst="rect">
                <a:avLst/>
              </a:prstGeom>
              <a:blipFill>
                <a:blip r:embed="rId3"/>
                <a:stretch>
                  <a:fillRect l="-1328" t="-759"/>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D7B17B77-EFCB-B07C-6B3E-77C7461953A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40D28FD7-4978-E5ED-7F8D-57889B5F8427}"/>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Localization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5B5F77DB-0C03-D850-1132-AB3E9EF3E4D6}"/>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9895157-E85B-3373-ABEC-3F96A0B3DF5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72CEFC3-26C7-0E1C-3C98-2F715F46905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A021548D-DD99-A7E1-6B5F-6FB7164D92A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1B026BE-F922-29E2-8125-9DC50A8F3D6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1173063-51F2-6EE4-485D-76EC01E3869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3" name="Graphic 2">
            <a:extLst>
              <a:ext uri="{FF2B5EF4-FFF2-40B4-BE49-F238E27FC236}">
                <a16:creationId xmlns:a16="http://schemas.microsoft.com/office/drawing/2014/main" id="{B01BA914-F748-37D2-7034-19DF3A5F1142}"/>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6347460" y="906290"/>
            <a:ext cx="5373498" cy="5373498"/>
          </a:xfrm>
          <a:prstGeom prst="rect">
            <a:avLst/>
          </a:prstGeom>
        </p:spPr>
      </p:pic>
      <p:sp>
        <p:nvSpPr>
          <p:cNvPr id="5" name="TextBox 4">
            <a:extLst>
              <a:ext uri="{FF2B5EF4-FFF2-40B4-BE49-F238E27FC236}">
                <a16:creationId xmlns:a16="http://schemas.microsoft.com/office/drawing/2014/main" id="{CA17C04D-6741-0831-1652-246378C3FBE8}"/>
              </a:ext>
            </a:extLst>
          </p:cNvPr>
          <p:cNvSpPr txBox="1"/>
          <p:nvPr/>
        </p:nvSpPr>
        <p:spPr>
          <a:xfrm>
            <a:off x="7384479" y="6277819"/>
            <a:ext cx="3299459" cy="246221"/>
          </a:xfrm>
          <a:prstGeom prst="rect">
            <a:avLst/>
          </a:prstGeom>
          <a:noFill/>
        </p:spPr>
        <p:txBody>
          <a:bodyPr wrap="square">
            <a:spAutoFit/>
          </a:bodyPr>
          <a:lstStyle/>
          <a:p>
            <a:pPr algn="ctr"/>
            <a:r>
              <a:rPr lang="en-US" sz="1000" dirty="0">
                <a:hlinkClick r:id="rId7"/>
              </a:rPr>
              <a:t>https://en.wikipedia.org/wiki/Differential_wheeled_robot</a:t>
            </a:r>
            <a:r>
              <a:rPr lang="en-US" sz="1000" dirty="0"/>
              <a:t> </a:t>
            </a:r>
          </a:p>
        </p:txBody>
      </p:sp>
    </p:spTree>
    <p:extLst>
      <p:ext uri="{BB962C8B-B14F-4D97-AF65-F5344CB8AC3E}">
        <p14:creationId xmlns:p14="http://schemas.microsoft.com/office/powerpoint/2010/main" val="403239900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9E8A154-AC74-35C1-3F62-BF4ECDA82F3E}"/>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1FE8C429-6DB1-3359-08A6-437C1380A523}"/>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rial"/>
                    <a:ea typeface="Arial"/>
                    <a:cs typeface="Arial"/>
                    <a:sym typeface="Arial"/>
                  </a:rPr>
                  <a:t>If the robot’s heading </a:t>
                </a:r>
                <a14:m>
                  <m:oMath xmlns:m="http://schemas.openxmlformats.org/officeDocument/2006/math">
                    <m:r>
                      <a:rPr lang="en-US" sz="2200" i="1" dirty="0" smtClean="0">
                        <a:latin typeface="Cambria Math" panose="02040503050406030204" pitchFamily="18" charset="0"/>
                        <a:ea typeface="Arial"/>
                        <a:cs typeface="Arial"/>
                        <a:sym typeface="Arial"/>
                      </a:rPr>
                      <m:t>𝜃</m:t>
                    </m:r>
                    <m:r>
                      <a:rPr lang="en-US" sz="2200" i="1" dirty="0" smtClean="0">
                        <a:latin typeface="Cambria Math" panose="02040503050406030204" pitchFamily="18" charset="0"/>
                        <a:ea typeface="Arial"/>
                        <a:cs typeface="Arial"/>
                        <a:sym typeface="Arial"/>
                      </a:rPr>
                      <m:t>= 0</m:t>
                    </m:r>
                  </m:oMath>
                </a14:m>
                <a:r>
                  <a:rPr lang="en-US" sz="2200" dirty="0">
                    <a:latin typeface="Arial"/>
                    <a:ea typeface="Arial"/>
                    <a:cs typeface="Arial"/>
                    <a:sym typeface="Arial"/>
                  </a:rPr>
                  <a:t>, its axes are perfectly aligned with the world axes.</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Thus, moving from the robot frame to the world frame is simply a vector addition!</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If the robot is at world coordinates </a:t>
                </a:r>
                <a14:m>
                  <m:oMath xmlns:m="http://schemas.openxmlformats.org/officeDocument/2006/math">
                    <m:r>
                      <m:rPr>
                        <m:sty m:val="p"/>
                      </m:rPr>
                      <a:rPr lang="en-US" sz="2200" b="0" i="0" dirty="0" smtClean="0">
                        <a:latin typeface="Cambria Math" panose="02040503050406030204" pitchFamily="18" charset="0"/>
                        <a:ea typeface="Arial"/>
                        <a:cs typeface="Arial"/>
                        <a:sym typeface="Arial"/>
                      </a:rPr>
                      <m:t>T</m:t>
                    </m:r>
                    <m:r>
                      <a:rPr lang="en-US" sz="2200" b="0" i="0" dirty="0" smtClean="0">
                        <a:latin typeface="Cambria Math" panose="02040503050406030204" pitchFamily="18" charset="0"/>
                        <a:ea typeface="Arial"/>
                        <a:cs typeface="Arial"/>
                        <a:sym typeface="Arial"/>
                      </a:rPr>
                      <m:t> = </m:t>
                    </m:r>
                    <m:d>
                      <m:dPr>
                        <m:ctrlPr>
                          <a:rPr lang="en-US" sz="2200" i="1" dirty="0" smtClean="0">
                            <a:latin typeface="Cambria Math" panose="02040503050406030204" pitchFamily="18" charset="0"/>
                            <a:ea typeface="Arial"/>
                            <a:cs typeface="Arial"/>
                            <a:sym typeface="Arial"/>
                          </a:rPr>
                        </m:ctrlPr>
                      </m:dPr>
                      <m:e>
                        <m:r>
                          <a:rPr lang="en-US" sz="2200" i="1" dirty="0" smtClean="0">
                            <a:latin typeface="Cambria Math" panose="02040503050406030204" pitchFamily="18" charset="0"/>
                            <a:ea typeface="Arial"/>
                            <a:cs typeface="Arial"/>
                            <a:sym typeface="Arial"/>
                          </a:rPr>
                          <m:t>𝑥</m:t>
                        </m:r>
                        <m:r>
                          <a:rPr lang="en-US" sz="2200" i="1" dirty="0" smtClean="0">
                            <a:latin typeface="Cambria Math" panose="02040503050406030204" pitchFamily="18" charset="0"/>
                            <a:ea typeface="Arial"/>
                            <a:cs typeface="Arial"/>
                            <a:sym typeface="Arial"/>
                          </a:rPr>
                          <m:t>,</m:t>
                        </m:r>
                        <m:r>
                          <a:rPr lang="en-US" sz="2200" i="1" dirty="0" smtClean="0">
                            <a:latin typeface="Cambria Math" panose="02040503050406030204" pitchFamily="18" charset="0"/>
                            <a:ea typeface="Arial"/>
                            <a:cs typeface="Arial"/>
                            <a:sym typeface="Arial"/>
                          </a:rPr>
                          <m:t>𝑦</m:t>
                        </m:r>
                      </m:e>
                    </m:d>
                  </m:oMath>
                </a14:m>
                <a:r>
                  <a:rPr lang="en-US" sz="2200" dirty="0">
                    <a:latin typeface="Arial"/>
                    <a:ea typeface="Arial"/>
                    <a:cs typeface="Arial"/>
                    <a:sym typeface="Arial"/>
                  </a:rPr>
                  <a:t>, a point </a:t>
                </a:r>
                <a14:m>
                  <m:oMath xmlns:m="http://schemas.openxmlformats.org/officeDocument/2006/math">
                    <m:sSub>
                      <m:sSubPr>
                        <m:ctrlPr>
                          <a:rPr lang="en-US" sz="2200" i="1" dirty="0" smtClean="0">
                            <a:latin typeface="Cambria Math" panose="02040503050406030204" pitchFamily="18" charset="0"/>
                            <a:ea typeface="Arial"/>
                            <a:cs typeface="Arial"/>
                            <a:sym typeface="Arial"/>
                          </a:rPr>
                        </m:ctrlPr>
                      </m:sSubPr>
                      <m:e>
                        <m:r>
                          <a:rPr lang="en-US" sz="2200" i="1" dirty="0" smtClean="0">
                            <a:latin typeface="Cambria Math" panose="02040503050406030204" pitchFamily="18" charset="0"/>
                            <a:ea typeface="Arial"/>
                            <a:cs typeface="Arial"/>
                            <a:sym typeface="Arial"/>
                          </a:rPr>
                          <m:t>𝑃</m:t>
                        </m:r>
                      </m:e>
                      <m:sub>
                        <m:r>
                          <a:rPr lang="en-US" sz="2200" i="1" dirty="0" smtClean="0">
                            <a:latin typeface="Cambria Math" panose="02040503050406030204" pitchFamily="18" charset="0"/>
                            <a:ea typeface="Arial"/>
                            <a:cs typeface="Arial"/>
                            <a:sym typeface="Arial"/>
                          </a:rPr>
                          <m:t>𝑅</m:t>
                        </m:r>
                      </m:sub>
                    </m:sSub>
                    <m:r>
                      <a:rPr lang="en-US" sz="2200" i="1" dirty="0" smtClean="0">
                        <a:latin typeface="Cambria Math" panose="02040503050406030204" pitchFamily="18" charset="0"/>
                        <a:ea typeface="Arial"/>
                        <a:cs typeface="Arial"/>
                        <a:sym typeface="Arial"/>
                      </a:rPr>
                      <m:t>=</m:t>
                    </m:r>
                    <m:d>
                      <m:dPr>
                        <m:ctrlPr>
                          <a:rPr lang="en-US" sz="2200" i="1" dirty="0" smtClean="0">
                            <a:latin typeface="Cambria Math" panose="02040503050406030204" pitchFamily="18" charset="0"/>
                            <a:ea typeface="Arial"/>
                            <a:cs typeface="Arial"/>
                            <a:sym typeface="Arial"/>
                          </a:rPr>
                        </m:ctrlPr>
                      </m:dPr>
                      <m:e>
                        <m:sSub>
                          <m:sSubPr>
                            <m:ctrlPr>
                              <a:rPr lang="en-US" sz="2200" i="1" dirty="0" err="1" smtClean="0">
                                <a:latin typeface="Cambria Math" panose="02040503050406030204" pitchFamily="18" charset="0"/>
                                <a:ea typeface="Arial"/>
                                <a:cs typeface="Arial"/>
                                <a:sym typeface="Arial"/>
                              </a:rPr>
                            </m:ctrlPr>
                          </m:sSubPr>
                          <m:e>
                            <m:r>
                              <a:rPr lang="en-US" sz="2200" i="1" dirty="0" err="1" smtClean="0">
                                <a:latin typeface="Cambria Math" panose="02040503050406030204" pitchFamily="18" charset="0"/>
                                <a:ea typeface="Arial"/>
                                <a:cs typeface="Arial"/>
                                <a:sym typeface="Arial"/>
                              </a:rPr>
                              <m:t>𝑥</m:t>
                            </m:r>
                          </m:e>
                          <m:sub>
                            <m:r>
                              <a:rPr lang="en-US" sz="2200" i="1" dirty="0" err="1" smtClean="0">
                                <a:latin typeface="Cambria Math" panose="02040503050406030204" pitchFamily="18" charset="0"/>
                                <a:ea typeface="Arial"/>
                                <a:cs typeface="Arial"/>
                                <a:sym typeface="Arial"/>
                              </a:rPr>
                              <m:t>𝑟</m:t>
                            </m:r>
                          </m:sub>
                        </m:sSub>
                        <m:r>
                          <a:rPr lang="en-US" sz="2200" i="1" dirty="0" smtClean="0">
                            <a:latin typeface="Cambria Math" panose="02040503050406030204" pitchFamily="18" charset="0"/>
                            <a:ea typeface="Arial"/>
                            <a:cs typeface="Arial"/>
                            <a:sym typeface="Arial"/>
                          </a:rPr>
                          <m:t>,</m:t>
                        </m:r>
                        <m:sSub>
                          <m:sSubPr>
                            <m:ctrlPr>
                              <a:rPr lang="en-US" sz="2200" i="1" dirty="0" err="1" smtClean="0">
                                <a:latin typeface="Cambria Math" panose="02040503050406030204" pitchFamily="18" charset="0"/>
                                <a:ea typeface="Arial"/>
                                <a:cs typeface="Arial"/>
                                <a:sym typeface="Arial"/>
                              </a:rPr>
                            </m:ctrlPr>
                          </m:sSubPr>
                          <m:e>
                            <m:r>
                              <a:rPr lang="en-US" sz="2200" i="1" dirty="0" err="1" smtClean="0">
                                <a:latin typeface="Cambria Math" panose="02040503050406030204" pitchFamily="18" charset="0"/>
                                <a:ea typeface="Arial"/>
                                <a:cs typeface="Arial"/>
                                <a:sym typeface="Arial"/>
                              </a:rPr>
                              <m:t>𝑦</m:t>
                            </m:r>
                          </m:e>
                          <m:sub>
                            <m:r>
                              <a:rPr lang="en-US" sz="2200" i="1" dirty="0" err="1" smtClean="0">
                                <a:latin typeface="Cambria Math" panose="02040503050406030204" pitchFamily="18" charset="0"/>
                                <a:ea typeface="Arial"/>
                                <a:cs typeface="Arial"/>
                                <a:sym typeface="Arial"/>
                              </a:rPr>
                              <m:t>𝑟</m:t>
                            </m:r>
                          </m:sub>
                        </m:sSub>
                      </m:e>
                    </m:d>
                  </m:oMath>
                </a14:m>
                <a:r>
                  <a:rPr lang="en-US" sz="2200" dirty="0">
                    <a:latin typeface="Arial"/>
                    <a:ea typeface="Arial"/>
                    <a:cs typeface="Arial"/>
                    <a:sym typeface="Arial"/>
                  </a:rPr>
                  <a:t> in the robot frame is:</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200" i="1" dirty="0" smtClean="0">
                              <a:latin typeface="Cambria Math" panose="02040503050406030204" pitchFamily="18" charset="0"/>
                              <a:ea typeface="Arial"/>
                              <a:cs typeface="Arial"/>
                              <a:sym typeface="Arial"/>
                            </a:rPr>
                          </m:ctrlPr>
                        </m:sSubPr>
                        <m:e>
                          <m:r>
                            <a:rPr lang="en-US" sz="2200" i="1" dirty="0" err="1" smtClean="0">
                              <a:latin typeface="Cambria Math" panose="02040503050406030204" pitchFamily="18" charset="0"/>
                              <a:ea typeface="Arial"/>
                              <a:cs typeface="Arial"/>
                              <a:sym typeface="Arial"/>
                            </a:rPr>
                            <m:t>𝑃</m:t>
                          </m:r>
                        </m:e>
                        <m:sub>
                          <m:r>
                            <a:rPr lang="en-US" sz="2200" i="1" dirty="0" err="1" smtClean="0">
                              <a:latin typeface="Cambria Math" panose="02040503050406030204" pitchFamily="18" charset="0"/>
                              <a:ea typeface="Arial"/>
                              <a:cs typeface="Arial"/>
                              <a:sym typeface="Arial"/>
                            </a:rPr>
                            <m:t>𝑤</m:t>
                          </m:r>
                        </m:sub>
                      </m:sSub>
                      <m:r>
                        <a:rPr lang="en-US" sz="2200" i="1" dirty="0" smtClean="0">
                          <a:latin typeface="Cambria Math" panose="02040503050406030204" pitchFamily="18" charset="0"/>
                          <a:ea typeface="Arial"/>
                          <a:cs typeface="Arial"/>
                          <a:sym typeface="Arial"/>
                        </a:rPr>
                        <m:t>=</m:t>
                      </m:r>
                      <m:d>
                        <m:dPr>
                          <m:ctrlPr>
                            <a:rPr lang="en-US" sz="2200" i="1" dirty="0" smtClean="0">
                              <a:latin typeface="Cambria Math" panose="02040503050406030204" pitchFamily="18" charset="0"/>
                              <a:ea typeface="Arial"/>
                              <a:cs typeface="Arial"/>
                              <a:sym typeface="Arial"/>
                            </a:rPr>
                          </m:ctrlPr>
                        </m:dPr>
                        <m:e>
                          <m:sSub>
                            <m:sSubPr>
                              <m:ctrlPr>
                                <a:rPr lang="en-US" sz="2200" i="1" dirty="0" err="1" smtClean="0">
                                  <a:latin typeface="Cambria Math" panose="02040503050406030204" pitchFamily="18" charset="0"/>
                                  <a:ea typeface="Arial"/>
                                  <a:cs typeface="Arial"/>
                                  <a:sym typeface="Arial"/>
                                </a:rPr>
                              </m:ctrlPr>
                            </m:sSubPr>
                            <m:e>
                              <m:r>
                                <a:rPr lang="en-US" sz="2200" i="1" dirty="0" err="1" smtClean="0">
                                  <a:latin typeface="Cambria Math" panose="02040503050406030204" pitchFamily="18" charset="0"/>
                                  <a:ea typeface="Arial"/>
                                  <a:cs typeface="Arial"/>
                                  <a:sym typeface="Arial"/>
                                </a:rPr>
                                <m:t>𝑥</m:t>
                              </m:r>
                            </m:e>
                            <m:sub>
                              <m:r>
                                <a:rPr lang="en-US" sz="2200" i="1" dirty="0" err="1" smtClean="0">
                                  <a:latin typeface="Cambria Math" panose="02040503050406030204" pitchFamily="18" charset="0"/>
                                  <a:ea typeface="Arial"/>
                                  <a:cs typeface="Arial"/>
                                  <a:sym typeface="Arial"/>
                                </a:rPr>
                                <m:t>𝑟</m:t>
                              </m:r>
                            </m:sub>
                          </m:sSub>
                          <m:r>
                            <a:rPr lang="en-US" sz="2200" i="1" dirty="0" smtClean="0">
                              <a:latin typeface="Cambria Math" panose="02040503050406030204" pitchFamily="18" charset="0"/>
                              <a:ea typeface="Arial"/>
                              <a:cs typeface="Arial"/>
                              <a:sym typeface="Arial"/>
                            </a:rPr>
                            <m:t>+</m:t>
                          </m:r>
                          <m:r>
                            <a:rPr lang="en-US" sz="2200" i="1" dirty="0" smtClean="0">
                              <a:latin typeface="Cambria Math" panose="02040503050406030204" pitchFamily="18" charset="0"/>
                              <a:ea typeface="Arial"/>
                              <a:cs typeface="Arial"/>
                              <a:sym typeface="Arial"/>
                            </a:rPr>
                            <m:t>𝑥</m:t>
                          </m:r>
                          <m:r>
                            <a:rPr lang="en-US" sz="2200" i="1" dirty="0" smtClean="0">
                              <a:latin typeface="Cambria Math" panose="02040503050406030204" pitchFamily="18" charset="0"/>
                              <a:ea typeface="Arial"/>
                              <a:cs typeface="Arial"/>
                              <a:sym typeface="Arial"/>
                            </a:rPr>
                            <m:t>,</m:t>
                          </m:r>
                          <m:sSub>
                            <m:sSubPr>
                              <m:ctrlPr>
                                <a:rPr lang="en-US" sz="2200" i="1" dirty="0" err="1" smtClean="0">
                                  <a:latin typeface="Cambria Math" panose="02040503050406030204" pitchFamily="18" charset="0"/>
                                  <a:ea typeface="Arial"/>
                                  <a:cs typeface="Arial"/>
                                  <a:sym typeface="Arial"/>
                                </a:rPr>
                              </m:ctrlPr>
                            </m:sSubPr>
                            <m:e>
                              <m:r>
                                <a:rPr lang="en-US" sz="2200" i="1" dirty="0" err="1" smtClean="0">
                                  <a:latin typeface="Cambria Math" panose="02040503050406030204" pitchFamily="18" charset="0"/>
                                  <a:ea typeface="Arial"/>
                                  <a:cs typeface="Arial"/>
                                  <a:sym typeface="Arial"/>
                                </a:rPr>
                                <m:t>𝑦</m:t>
                              </m:r>
                            </m:e>
                            <m:sub>
                              <m:r>
                                <a:rPr lang="en-US" sz="2200" i="1" dirty="0" err="1" smtClean="0">
                                  <a:latin typeface="Cambria Math" panose="02040503050406030204" pitchFamily="18" charset="0"/>
                                  <a:ea typeface="Arial"/>
                                  <a:cs typeface="Arial"/>
                                  <a:sym typeface="Arial"/>
                                </a:rPr>
                                <m:t>𝑟</m:t>
                              </m:r>
                            </m:sub>
                          </m:sSub>
                          <m:r>
                            <a:rPr lang="en-US" sz="2200" i="1" dirty="0" smtClean="0">
                              <a:latin typeface="Cambria Math" panose="02040503050406030204" pitchFamily="18" charset="0"/>
                              <a:ea typeface="Arial"/>
                              <a:cs typeface="Arial"/>
                              <a:sym typeface="Arial"/>
                            </a:rPr>
                            <m:t>+</m:t>
                          </m:r>
                          <m:r>
                            <a:rPr lang="en-US" sz="2200" i="1" dirty="0" smtClean="0">
                              <a:latin typeface="Cambria Math" panose="02040503050406030204" pitchFamily="18" charset="0"/>
                              <a:ea typeface="Arial"/>
                              <a:cs typeface="Arial"/>
                              <a:sym typeface="Arial"/>
                            </a:rPr>
                            <m:t>𝑦</m:t>
                          </m:r>
                        </m:e>
                      </m:d>
                    </m:oMath>
                  </m:oMathPara>
                </a14:m>
                <a:endParaRPr lang="en-US" sz="2200" dirty="0">
                  <a:latin typeface="Arial"/>
                  <a:ea typeface="Arial"/>
                  <a:cs typeface="Arial"/>
                  <a:sym typeface="Arial"/>
                </a:endParaRP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In the world frame. In vector math, this is represented as:</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200" i="1" dirty="0" smtClean="0">
                              <a:latin typeface="Cambria Math" panose="02040503050406030204" pitchFamily="18" charset="0"/>
                              <a:ea typeface="Arial"/>
                              <a:cs typeface="Arial"/>
                              <a:sym typeface="Arial"/>
                            </a:rPr>
                          </m:ctrlPr>
                        </m:sSubPr>
                        <m:e>
                          <m:r>
                            <a:rPr lang="en-US" sz="2200" i="1" dirty="0" smtClean="0">
                              <a:latin typeface="Cambria Math" panose="02040503050406030204" pitchFamily="18" charset="0"/>
                              <a:ea typeface="Arial"/>
                              <a:cs typeface="Arial"/>
                              <a:sym typeface="Arial"/>
                            </a:rPr>
                            <m:t>𝑃</m:t>
                          </m:r>
                        </m:e>
                        <m:sub>
                          <m:r>
                            <a:rPr lang="en-US" sz="2200" i="1" dirty="0" smtClean="0">
                              <a:latin typeface="Cambria Math" panose="02040503050406030204" pitchFamily="18" charset="0"/>
                              <a:ea typeface="Arial"/>
                              <a:cs typeface="Arial"/>
                              <a:sym typeface="Arial"/>
                            </a:rPr>
                            <m:t>𝑊</m:t>
                          </m:r>
                        </m:sub>
                      </m:sSub>
                      <m:r>
                        <a:rPr lang="en-US" sz="2200" i="1" dirty="0" smtClean="0">
                          <a:latin typeface="Cambria Math" panose="02040503050406030204" pitchFamily="18" charset="0"/>
                          <a:ea typeface="Arial"/>
                          <a:cs typeface="Arial"/>
                          <a:sym typeface="Arial"/>
                        </a:rPr>
                        <m:t>=</m:t>
                      </m:r>
                      <m:sSub>
                        <m:sSubPr>
                          <m:ctrlPr>
                            <a:rPr lang="en-US" sz="2200" i="1" dirty="0" smtClean="0">
                              <a:latin typeface="Cambria Math" panose="02040503050406030204" pitchFamily="18" charset="0"/>
                              <a:ea typeface="Arial"/>
                              <a:cs typeface="Arial"/>
                              <a:sym typeface="Arial"/>
                            </a:rPr>
                          </m:ctrlPr>
                        </m:sSubPr>
                        <m:e>
                          <m:r>
                            <a:rPr lang="en-US" sz="2200" i="1" dirty="0" smtClean="0">
                              <a:latin typeface="Cambria Math" panose="02040503050406030204" pitchFamily="18" charset="0"/>
                              <a:ea typeface="Arial"/>
                              <a:cs typeface="Arial"/>
                              <a:sym typeface="Arial"/>
                            </a:rPr>
                            <m:t>𝑃</m:t>
                          </m:r>
                        </m:e>
                        <m:sub>
                          <m:r>
                            <a:rPr lang="en-US" sz="2200" i="1" dirty="0" smtClean="0">
                              <a:latin typeface="Cambria Math" panose="02040503050406030204" pitchFamily="18" charset="0"/>
                              <a:ea typeface="Arial"/>
                              <a:cs typeface="Arial"/>
                              <a:sym typeface="Arial"/>
                            </a:rPr>
                            <m:t>𝑅</m:t>
                          </m:r>
                        </m:sub>
                      </m:sSub>
                      <m:r>
                        <a:rPr lang="en-US" sz="2200" i="1" dirty="0" smtClean="0">
                          <a:latin typeface="Cambria Math" panose="02040503050406030204" pitchFamily="18" charset="0"/>
                          <a:ea typeface="Arial"/>
                          <a:cs typeface="Arial"/>
                          <a:sym typeface="Arial"/>
                        </a:rPr>
                        <m:t>+</m:t>
                      </m:r>
                      <m:r>
                        <a:rPr lang="en-US" sz="2200" i="1" dirty="0" smtClean="0">
                          <a:latin typeface="Cambria Math" panose="02040503050406030204" pitchFamily="18" charset="0"/>
                          <a:ea typeface="Arial"/>
                          <a:cs typeface="Arial"/>
                          <a:sym typeface="Arial"/>
                        </a:rPr>
                        <m:t>𝑇</m:t>
                      </m:r>
                    </m:oMath>
                  </m:oMathPara>
                </a14:m>
                <a:endParaRPr lang="en-US" sz="2200" dirty="0">
                  <a:latin typeface="Arial"/>
                  <a:ea typeface="Arial"/>
                  <a:cs typeface="Arial"/>
                  <a:sym typeface="Arial"/>
                </a:endParaRP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Translation is linear and simple; however, robot also rotate.</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endParaRPr lang="en-US" sz="2200" dirty="0">
                  <a:latin typeface="Arial"/>
                  <a:ea typeface="Arial"/>
                  <a:cs typeface="Arial"/>
                  <a:sym typeface="Arial"/>
                </a:endParaRPr>
              </a:p>
            </p:txBody>
          </p:sp>
        </mc:Choice>
        <mc:Fallback xmlns="">
          <p:sp>
            <p:nvSpPr>
              <p:cNvPr id="118" name="Google Shape;118;p29">
                <a:extLst>
                  <a:ext uri="{FF2B5EF4-FFF2-40B4-BE49-F238E27FC236}">
                    <a16:creationId xmlns:a16="http://schemas.microsoft.com/office/drawing/2014/main" id="{1FE8C429-6DB1-3359-08A6-437C1380A523}"/>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709" t="-759"/>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EC648B22-4C8A-850E-9587-A1590E45185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530B33C5-0225-FBE9-0908-901ED49E9D1F}"/>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Localization – 2D Translation (Shifting)</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FAC15EB2-7579-6C29-F6F7-B64D04FEE3FD}"/>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190D5DF-B320-4FDB-D9FB-2FA72D34B29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5B0321E-1AF6-31FA-3CB3-08866A7578CE}"/>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A419A7F9-C906-D65A-6614-000B07D3D36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B4ABDE9-C9F2-0B62-868F-083C8BEB5A8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1BF8F44F-83E4-8FA9-AB0A-E4FF934520E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70477603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823D0E7-A089-75A4-9164-B7EC38D46308}"/>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7826FE40-7422-2C5B-E2F3-79825B7343E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C660EFA5-ABBD-8C82-F8B2-DFD888A4421D}"/>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Localization – 2D Translation (Shifting)</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5ECBFA23-E630-2125-C665-9F89AC6E1567}"/>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B47AD65-BCD5-502E-A5E1-AB846436323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17894D45-370F-1CBC-D425-121EEC5B054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5DCACAB-A035-59E2-CB7F-440B651FC0E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7958007C-7062-4319-7E96-933E98DE909E}"/>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3FA883B-820E-A7D2-8378-770B243B646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grpSp>
        <p:nvGrpSpPr>
          <p:cNvPr id="18" name="Group 17">
            <a:extLst>
              <a:ext uri="{FF2B5EF4-FFF2-40B4-BE49-F238E27FC236}">
                <a16:creationId xmlns:a16="http://schemas.microsoft.com/office/drawing/2014/main" id="{5F751BDC-B070-4E06-803F-F7D670B67D61}"/>
              </a:ext>
            </a:extLst>
          </p:cNvPr>
          <p:cNvGrpSpPr/>
          <p:nvPr/>
        </p:nvGrpSpPr>
        <p:grpSpPr>
          <a:xfrm>
            <a:off x="3409251" y="1150542"/>
            <a:ext cx="5373498" cy="5373498"/>
            <a:chOff x="3145074" y="1150542"/>
            <a:chExt cx="5373498" cy="5373498"/>
          </a:xfrm>
        </p:grpSpPr>
        <p:pic>
          <p:nvPicPr>
            <p:cNvPr id="4" name="Graphic 3">
              <a:extLst>
                <a:ext uri="{FF2B5EF4-FFF2-40B4-BE49-F238E27FC236}">
                  <a16:creationId xmlns:a16="http://schemas.microsoft.com/office/drawing/2014/main" id="{D2324FFB-0CF5-F03C-B042-14E9646FD156}"/>
                </a:ext>
              </a:extLst>
            </p:cNvPr>
            <p:cNvPicPr>
              <a:picLocks noChangeAspect="1"/>
            </p:cNvPicPr>
            <p:nvPr/>
          </p:nvPicPr>
          <p:blipFill>
            <a:blip r:embed="rId4">
              <a:extLst>
                <a:ext uri="{96DAC541-7B7A-43D3-8B79-37D633B846F1}">
                  <asvg:svgBlip xmlns:asvg="http://schemas.microsoft.com/office/drawing/2016/SVG/main" r:embed="rId5"/>
                </a:ext>
              </a:extLst>
            </a:blip>
            <a:srcRect/>
            <a:stretch/>
          </p:blipFill>
          <p:spPr>
            <a:xfrm>
              <a:off x="3145074" y="1150542"/>
              <a:ext cx="5373498" cy="5373498"/>
            </a:xfrm>
            <a:prstGeom prst="rect">
              <a:avLst/>
            </a:prstGeom>
          </p:spPr>
        </p:pic>
        <p:cxnSp>
          <p:nvCxnSpPr>
            <p:cNvPr id="6" name="Straight Arrow Connector 5">
              <a:extLst>
                <a:ext uri="{FF2B5EF4-FFF2-40B4-BE49-F238E27FC236}">
                  <a16:creationId xmlns:a16="http://schemas.microsoft.com/office/drawing/2014/main" id="{551523CE-1BC1-05ED-CF5F-F26E9E2DB367}"/>
                </a:ext>
              </a:extLst>
            </p:cNvPr>
            <p:cNvCxnSpPr/>
            <p:nvPr/>
          </p:nvCxnSpPr>
          <p:spPr>
            <a:xfrm flipV="1">
              <a:off x="3543300" y="4183380"/>
              <a:ext cx="2552700" cy="1897380"/>
            </a:xfrm>
            <a:prstGeom prst="straightConnector1">
              <a:avLst/>
            </a:prstGeom>
            <a:ln w="5715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7" name="TextBox 6">
              <a:extLst>
                <a:ext uri="{FF2B5EF4-FFF2-40B4-BE49-F238E27FC236}">
                  <a16:creationId xmlns:a16="http://schemas.microsoft.com/office/drawing/2014/main" id="{8514D51C-6E7B-4880-6E2D-ECB9AA151E1A}"/>
                </a:ext>
              </a:extLst>
            </p:cNvPr>
            <p:cNvSpPr txBox="1"/>
            <p:nvPr/>
          </p:nvSpPr>
          <p:spPr>
            <a:xfrm>
              <a:off x="4583430" y="4639330"/>
              <a:ext cx="335280" cy="523220"/>
            </a:xfrm>
            <a:prstGeom prst="rect">
              <a:avLst/>
            </a:prstGeom>
            <a:noFill/>
          </p:spPr>
          <p:txBody>
            <a:bodyPr wrap="square" rtlCol="0">
              <a:spAutoFit/>
            </a:bodyPr>
            <a:lstStyle/>
            <a:p>
              <a:pPr algn="ctr"/>
              <a:r>
                <a:rPr lang="en-US" sz="2800" b="1" dirty="0">
                  <a:solidFill>
                    <a:srgbClr val="FF0000"/>
                  </a:solidFill>
                </a:rPr>
                <a:t>T</a:t>
              </a:r>
            </a:p>
          </p:txBody>
        </p:sp>
        <p:cxnSp>
          <p:nvCxnSpPr>
            <p:cNvPr id="8" name="Straight Arrow Connector 7">
              <a:extLst>
                <a:ext uri="{FF2B5EF4-FFF2-40B4-BE49-F238E27FC236}">
                  <a16:creationId xmlns:a16="http://schemas.microsoft.com/office/drawing/2014/main" id="{BB651C9E-B1E4-5597-C4F4-DFF98447751D}"/>
                </a:ext>
              </a:extLst>
            </p:cNvPr>
            <p:cNvCxnSpPr>
              <a:cxnSpLocks/>
            </p:cNvCxnSpPr>
            <p:nvPr/>
          </p:nvCxnSpPr>
          <p:spPr>
            <a:xfrm>
              <a:off x="6030936" y="4183039"/>
              <a:ext cx="954578" cy="0"/>
            </a:xfrm>
            <a:prstGeom prst="straightConnector1">
              <a:avLst/>
            </a:prstGeom>
            <a:ln w="57150">
              <a:solidFill>
                <a:schemeClr val="accent6"/>
              </a:solidFill>
              <a:tailEnd type="triangle"/>
            </a:ln>
          </p:spPr>
          <p:style>
            <a:lnRef idx="1">
              <a:schemeClr val="accent1"/>
            </a:lnRef>
            <a:fillRef idx="0">
              <a:schemeClr val="accent1"/>
            </a:fillRef>
            <a:effectRef idx="0">
              <a:schemeClr val="accent1"/>
            </a:effectRef>
            <a:fontRef idx="minor">
              <a:schemeClr val="tx1"/>
            </a:fontRef>
          </p:style>
        </p:cxnSp>
        <p:sp>
          <p:nvSpPr>
            <p:cNvPr id="11" name="TextBox 10">
              <a:extLst>
                <a:ext uri="{FF2B5EF4-FFF2-40B4-BE49-F238E27FC236}">
                  <a16:creationId xmlns:a16="http://schemas.microsoft.com/office/drawing/2014/main" id="{8F83A95D-4753-CD5C-B982-8098E5269963}"/>
                </a:ext>
              </a:extLst>
            </p:cNvPr>
            <p:cNvSpPr txBox="1"/>
            <p:nvPr/>
          </p:nvSpPr>
          <p:spPr>
            <a:xfrm>
              <a:off x="6344473" y="3602036"/>
              <a:ext cx="609052" cy="523220"/>
            </a:xfrm>
            <a:prstGeom prst="rect">
              <a:avLst/>
            </a:prstGeom>
            <a:noFill/>
          </p:spPr>
          <p:txBody>
            <a:bodyPr wrap="square" rtlCol="0">
              <a:spAutoFit/>
            </a:bodyPr>
            <a:lstStyle/>
            <a:p>
              <a:pPr algn="ctr"/>
              <a:r>
                <a:rPr lang="en-US" sz="2800" b="1" dirty="0" err="1">
                  <a:solidFill>
                    <a:srgbClr val="FF0000"/>
                  </a:solidFill>
                </a:rPr>
                <a:t>P</a:t>
              </a:r>
              <a:r>
                <a:rPr lang="en-US" sz="2800" b="1" baseline="-25000" dirty="0" err="1">
                  <a:solidFill>
                    <a:srgbClr val="FF0000"/>
                  </a:solidFill>
                </a:rPr>
                <a:t>r</a:t>
              </a:r>
              <a:endParaRPr lang="en-US" sz="2800" b="1" dirty="0">
                <a:solidFill>
                  <a:srgbClr val="FF0000"/>
                </a:solidFill>
              </a:endParaRPr>
            </a:p>
          </p:txBody>
        </p:sp>
        <p:cxnSp>
          <p:nvCxnSpPr>
            <p:cNvPr id="12" name="Straight Arrow Connector 11">
              <a:extLst>
                <a:ext uri="{FF2B5EF4-FFF2-40B4-BE49-F238E27FC236}">
                  <a16:creationId xmlns:a16="http://schemas.microsoft.com/office/drawing/2014/main" id="{1F53EEDE-9C6A-1C4C-67A2-6599B0F78B9D}"/>
                </a:ext>
              </a:extLst>
            </p:cNvPr>
            <p:cNvCxnSpPr>
              <a:cxnSpLocks/>
            </p:cNvCxnSpPr>
            <p:nvPr/>
          </p:nvCxnSpPr>
          <p:spPr>
            <a:xfrm flipV="1">
              <a:off x="3543300" y="4244340"/>
              <a:ext cx="3410225" cy="1836420"/>
            </a:xfrm>
            <a:prstGeom prst="straightConnector1">
              <a:avLst/>
            </a:prstGeom>
            <a:ln w="571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15" name="TextBox 14">
              <a:extLst>
                <a:ext uri="{FF2B5EF4-FFF2-40B4-BE49-F238E27FC236}">
                  <a16:creationId xmlns:a16="http://schemas.microsoft.com/office/drawing/2014/main" id="{973FC0BC-1231-9DF3-339A-15D422721845}"/>
                </a:ext>
              </a:extLst>
            </p:cNvPr>
            <p:cNvSpPr txBox="1"/>
            <p:nvPr/>
          </p:nvSpPr>
          <p:spPr>
            <a:xfrm>
              <a:off x="5248412" y="5054279"/>
              <a:ext cx="609052" cy="523220"/>
            </a:xfrm>
            <a:prstGeom prst="rect">
              <a:avLst/>
            </a:prstGeom>
            <a:noFill/>
          </p:spPr>
          <p:txBody>
            <a:bodyPr wrap="square" rtlCol="0">
              <a:spAutoFit/>
            </a:bodyPr>
            <a:lstStyle/>
            <a:p>
              <a:pPr algn="ctr"/>
              <a:r>
                <a:rPr lang="en-US" sz="2800" b="1" dirty="0">
                  <a:solidFill>
                    <a:srgbClr val="FF0000"/>
                  </a:solidFill>
                </a:rPr>
                <a:t>P</a:t>
              </a:r>
              <a:r>
                <a:rPr lang="en-US" sz="2800" b="1" baseline="-25000" dirty="0">
                  <a:solidFill>
                    <a:srgbClr val="FF0000"/>
                  </a:solidFill>
                </a:rPr>
                <a:t>w</a:t>
              </a:r>
              <a:endParaRPr lang="en-US" sz="2800" b="1" dirty="0">
                <a:solidFill>
                  <a:srgbClr val="FF0000"/>
                </a:solidFill>
              </a:endParaRPr>
            </a:p>
          </p:txBody>
        </p:sp>
      </p:grpSp>
    </p:spTree>
    <p:extLst>
      <p:ext uri="{BB962C8B-B14F-4D97-AF65-F5344CB8AC3E}">
        <p14:creationId xmlns:p14="http://schemas.microsoft.com/office/powerpoint/2010/main" val="420781893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555C7DE8-314F-0DB5-8E86-BDD53E860ACC}"/>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46A47D07-6F84-A133-8D6D-0C151E6B66A9}"/>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rial"/>
                    <a:ea typeface="Arial"/>
                    <a:cs typeface="Arial"/>
                    <a:sym typeface="Arial"/>
                  </a:rPr>
                  <a:t>Suppose the robot frame is at the world origin but rotated by and angle </a:t>
                </a:r>
                <a14:m>
                  <m:oMath xmlns:m="http://schemas.openxmlformats.org/officeDocument/2006/math">
                    <m:r>
                      <a:rPr lang="en-US" sz="2200" b="0" i="1" dirty="0" smtClean="0">
                        <a:latin typeface="Cambria Math" panose="02040503050406030204" pitchFamily="18" charset="0"/>
                        <a:ea typeface="Arial"/>
                        <a:cs typeface="Arial"/>
                        <a:sym typeface="Arial"/>
                      </a:rPr>
                      <m:t>𝜑</m:t>
                    </m:r>
                  </m:oMath>
                </a14:m>
                <a:r>
                  <a:rPr lang="en-US" sz="2200" dirty="0">
                    <a:latin typeface="Arial"/>
                    <a:ea typeface="Arial"/>
                    <a:cs typeface="Arial"/>
                    <a:sym typeface="Arial"/>
                  </a:rPr>
                  <a:t>.</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We want to map point </a:t>
                </a:r>
                <a14:m>
                  <m:oMath xmlns:m="http://schemas.openxmlformats.org/officeDocument/2006/math">
                    <m:r>
                      <m:rPr>
                        <m:sty m:val="p"/>
                      </m:rPr>
                      <a:rPr lang="en-US" sz="2200" b="0" i="1" smtClean="0">
                        <a:latin typeface="Cambria Math" panose="02040503050406030204" pitchFamily="18" charset="0"/>
                        <a:ea typeface="Arial"/>
                        <a:cs typeface="Arial"/>
                        <a:sym typeface="Arial"/>
                      </a:rPr>
                      <m:t>P</m:t>
                    </m:r>
                  </m:oMath>
                </a14:m>
                <a:r>
                  <a:rPr lang="en-US" sz="2200" dirty="0">
                    <a:latin typeface="Arial"/>
                    <a:ea typeface="Arial"/>
                    <a:cs typeface="Arial"/>
                    <a:sym typeface="Arial"/>
                  </a:rPr>
                  <a:t>, from the rotated frame to the fixed frame. </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Let point </a:t>
                </a:r>
                <a14:m>
                  <m:oMath xmlns:m="http://schemas.openxmlformats.org/officeDocument/2006/math">
                    <m:r>
                      <m:rPr>
                        <m:sty m:val="p"/>
                      </m:rPr>
                      <a:rPr lang="en-US" sz="2200" i="1">
                        <a:latin typeface="Cambria Math" panose="02040503050406030204" pitchFamily="18" charset="0"/>
                        <a:ea typeface="Arial"/>
                        <a:cs typeface="Arial"/>
                        <a:sym typeface="Arial"/>
                      </a:rPr>
                      <m:t>P</m:t>
                    </m:r>
                  </m:oMath>
                </a14:m>
                <a:r>
                  <a:rPr lang="en-US" sz="2200" dirty="0">
                    <a:latin typeface="Arial"/>
                    <a:ea typeface="Arial"/>
                    <a:cs typeface="Arial"/>
                    <a:sym typeface="Arial"/>
                  </a:rPr>
                  <a:t> have polar coordinates </a:t>
                </a:r>
                <a14:m>
                  <m:oMath xmlns:m="http://schemas.openxmlformats.org/officeDocument/2006/math">
                    <m:d>
                      <m:dPr>
                        <m:ctrlPr>
                          <a:rPr lang="en-US" sz="2200" i="1" dirty="0" smtClean="0">
                            <a:latin typeface="Cambria Math" panose="02040503050406030204" pitchFamily="18" charset="0"/>
                            <a:ea typeface="Arial"/>
                            <a:cs typeface="Arial"/>
                            <a:sym typeface="Arial"/>
                          </a:rPr>
                        </m:ctrlPr>
                      </m:dPr>
                      <m:e>
                        <m:r>
                          <a:rPr lang="en-US" sz="2200" i="1" dirty="0" smtClean="0">
                            <a:latin typeface="Cambria Math" panose="02040503050406030204" pitchFamily="18" charset="0"/>
                            <a:ea typeface="Arial"/>
                            <a:cs typeface="Arial"/>
                            <a:sym typeface="Arial"/>
                          </a:rPr>
                          <m:t>𝑟</m:t>
                        </m:r>
                        <m:r>
                          <a:rPr lang="en-US" sz="2200" i="1" dirty="0" smtClean="0">
                            <a:latin typeface="Cambria Math" panose="02040503050406030204" pitchFamily="18" charset="0"/>
                            <a:ea typeface="Arial"/>
                            <a:cs typeface="Arial"/>
                            <a:sym typeface="Arial"/>
                          </a:rPr>
                          <m:t>,</m:t>
                        </m:r>
                        <m:r>
                          <a:rPr lang="en-US" sz="2200" i="1" dirty="0" smtClean="0">
                            <a:latin typeface="Cambria Math" panose="02040503050406030204" pitchFamily="18" charset="0"/>
                            <a:ea typeface="Cambria Math" panose="02040503050406030204" pitchFamily="18" charset="0"/>
                            <a:cs typeface="Arial"/>
                            <a:sym typeface="Arial"/>
                          </a:rPr>
                          <m:t>𝛼</m:t>
                        </m:r>
                      </m:e>
                    </m:d>
                  </m:oMath>
                </a14:m>
                <a:endParaRPr lang="en-US" sz="2200" dirty="0">
                  <a:latin typeface="Arial"/>
                  <a:ea typeface="Arial"/>
                  <a:cs typeface="Arial"/>
                  <a:sym typeface="Arial"/>
                </a:endParaRP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Therefore, </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d>
                        <m:dPr>
                          <m:ctrlPr>
                            <a:rPr lang="en-US" sz="2200" i="1" smtClean="0">
                              <a:latin typeface="Cambria Math" panose="02040503050406030204" pitchFamily="18" charset="0"/>
                              <a:ea typeface="Arial"/>
                              <a:cs typeface="Arial"/>
                              <a:sym typeface="Arial"/>
                            </a:rPr>
                          </m:ctrlPr>
                        </m:dPr>
                        <m:e>
                          <m:sSub>
                            <m:sSubPr>
                              <m:ctrlPr>
                                <a:rPr lang="en-US" sz="2200" i="1" smtClean="0">
                                  <a:latin typeface="Cambria Math" panose="02040503050406030204" pitchFamily="18" charset="0"/>
                                  <a:ea typeface="Arial"/>
                                  <a:cs typeface="Arial"/>
                                  <a:sym typeface="Arial"/>
                                </a:rPr>
                              </m:ctrlPr>
                            </m:sSubPr>
                            <m:e>
                              <m:r>
                                <a:rPr lang="en-US" sz="2200" i="1" smtClean="0">
                                  <a:latin typeface="Cambria Math" panose="02040503050406030204" pitchFamily="18" charset="0"/>
                                  <a:ea typeface="Arial"/>
                                  <a:cs typeface="Arial"/>
                                  <a:sym typeface="Arial"/>
                                </a:rPr>
                                <m:t>𝑥</m:t>
                              </m:r>
                            </m:e>
                            <m:sub>
                              <m:r>
                                <a:rPr lang="en-US" sz="2200" i="1" smtClean="0">
                                  <a:latin typeface="Cambria Math" panose="02040503050406030204" pitchFamily="18" charset="0"/>
                                  <a:ea typeface="Arial"/>
                                  <a:cs typeface="Arial"/>
                                  <a:sym typeface="Arial"/>
                                </a:rPr>
                                <m:t>𝑟</m:t>
                              </m:r>
                            </m:sub>
                          </m:sSub>
                          <m:r>
                            <a:rPr lang="en-US" sz="2200" i="1" smtClean="0">
                              <a:latin typeface="Cambria Math" panose="02040503050406030204" pitchFamily="18" charset="0"/>
                              <a:ea typeface="Arial"/>
                              <a:cs typeface="Arial"/>
                              <a:sym typeface="Arial"/>
                            </a:rPr>
                            <m:t>,</m:t>
                          </m:r>
                          <m:sSub>
                            <m:sSubPr>
                              <m:ctrlPr>
                                <a:rPr lang="en-US" sz="2200" i="1" smtClean="0">
                                  <a:latin typeface="Cambria Math" panose="02040503050406030204" pitchFamily="18" charset="0"/>
                                  <a:ea typeface="Arial"/>
                                  <a:cs typeface="Arial"/>
                                  <a:sym typeface="Arial"/>
                                </a:rPr>
                              </m:ctrlPr>
                            </m:sSubPr>
                            <m:e>
                              <m:r>
                                <a:rPr lang="en-US" sz="2200" i="1" smtClean="0">
                                  <a:latin typeface="Cambria Math" panose="02040503050406030204" pitchFamily="18" charset="0"/>
                                  <a:ea typeface="Arial"/>
                                  <a:cs typeface="Arial"/>
                                  <a:sym typeface="Arial"/>
                                </a:rPr>
                                <m:t>𝑦</m:t>
                              </m:r>
                            </m:e>
                            <m:sub>
                              <m:r>
                                <a:rPr lang="en-US" sz="2200" i="1" smtClean="0">
                                  <a:latin typeface="Cambria Math" panose="02040503050406030204" pitchFamily="18" charset="0"/>
                                  <a:ea typeface="Arial"/>
                                  <a:cs typeface="Arial"/>
                                  <a:sym typeface="Arial"/>
                                </a:rPr>
                                <m:t>𝑟</m:t>
                              </m:r>
                            </m:sub>
                          </m:sSub>
                        </m:e>
                      </m:d>
                      <m:r>
                        <a:rPr lang="en-US" sz="2200" i="1" smtClean="0">
                          <a:latin typeface="Cambria Math" panose="02040503050406030204" pitchFamily="18" charset="0"/>
                          <a:ea typeface="Arial"/>
                          <a:cs typeface="Arial"/>
                          <a:sym typeface="Arial"/>
                        </a:rPr>
                        <m:t>=</m:t>
                      </m:r>
                      <m:d>
                        <m:dPr>
                          <m:ctrlPr>
                            <a:rPr lang="en-US" sz="2200" i="1" smtClean="0">
                              <a:latin typeface="Cambria Math" panose="02040503050406030204" pitchFamily="18" charset="0"/>
                              <a:ea typeface="Arial"/>
                              <a:cs typeface="Arial"/>
                              <a:sym typeface="Arial"/>
                            </a:rPr>
                          </m:ctrlPr>
                        </m:dPr>
                        <m:e>
                          <m:r>
                            <a:rPr lang="en-US" sz="2200" i="1" smtClean="0">
                              <a:latin typeface="Cambria Math" panose="02040503050406030204" pitchFamily="18" charset="0"/>
                              <a:ea typeface="Arial"/>
                              <a:cs typeface="Arial"/>
                              <a:sym typeface="Arial"/>
                            </a:rPr>
                            <m:t>𝑟</m:t>
                          </m:r>
                          <m:func>
                            <m:funcPr>
                              <m:ctrlPr>
                                <a:rPr lang="en-US" sz="2200" i="1" smtClean="0">
                                  <a:latin typeface="Cambria Math" panose="02040503050406030204" pitchFamily="18" charset="0"/>
                                  <a:ea typeface="Arial"/>
                                  <a:cs typeface="Arial"/>
                                  <a:sym typeface="Arial"/>
                                </a:rPr>
                              </m:ctrlPr>
                            </m:funcPr>
                            <m:fName>
                              <m:r>
                                <m:rPr>
                                  <m:sty m:val="p"/>
                                </m:rPr>
                                <a:rPr lang="en-US" sz="2200" i="0" smtClean="0">
                                  <a:latin typeface="Cambria Math" panose="02040503050406030204" pitchFamily="18" charset="0"/>
                                  <a:ea typeface="Arial"/>
                                  <a:cs typeface="Arial"/>
                                  <a:sym typeface="Arial"/>
                                </a:rPr>
                                <m:t>cos</m:t>
                              </m:r>
                            </m:fName>
                            <m:e>
                              <m:d>
                                <m:dPr>
                                  <m:ctrlPr>
                                    <a:rPr lang="en-US" sz="2200" i="1" smtClean="0">
                                      <a:latin typeface="Cambria Math" panose="02040503050406030204" pitchFamily="18" charset="0"/>
                                      <a:ea typeface="Arial"/>
                                      <a:cs typeface="Arial"/>
                                      <a:sym typeface="Arial"/>
                                    </a:rPr>
                                  </m:ctrlPr>
                                </m:dPr>
                                <m:e>
                                  <m:r>
                                    <a:rPr lang="en-US" sz="2200" i="1" dirty="0">
                                      <a:latin typeface="Cambria Math" panose="02040503050406030204" pitchFamily="18" charset="0"/>
                                      <a:ea typeface="Cambria Math" panose="02040503050406030204" pitchFamily="18" charset="0"/>
                                      <a:cs typeface="Arial"/>
                                      <a:sym typeface="Arial"/>
                                    </a:rPr>
                                    <m:t>𝛼</m:t>
                                  </m:r>
                                </m:e>
                              </m:d>
                            </m:e>
                          </m:func>
                          <m:r>
                            <a:rPr lang="en-US" sz="2200" i="1" smtClean="0">
                              <a:latin typeface="Cambria Math" panose="02040503050406030204" pitchFamily="18" charset="0"/>
                              <a:ea typeface="Arial"/>
                              <a:cs typeface="Arial"/>
                              <a:sym typeface="Arial"/>
                            </a:rPr>
                            <m:t>,</m:t>
                          </m:r>
                          <m:r>
                            <a:rPr lang="en-US" sz="2200" i="1" smtClean="0">
                              <a:latin typeface="Cambria Math" panose="02040503050406030204" pitchFamily="18" charset="0"/>
                              <a:ea typeface="Arial"/>
                              <a:cs typeface="Arial"/>
                              <a:sym typeface="Arial"/>
                            </a:rPr>
                            <m:t>𝑟</m:t>
                          </m:r>
                          <m:func>
                            <m:funcPr>
                              <m:ctrlPr>
                                <a:rPr lang="en-US" sz="2200" b="0" i="1" smtClean="0">
                                  <a:latin typeface="Cambria Math" panose="02040503050406030204" pitchFamily="18" charset="0"/>
                                  <a:ea typeface="Arial"/>
                                  <a:cs typeface="Arial"/>
                                  <a:sym typeface="Arial"/>
                                </a:rPr>
                              </m:ctrlPr>
                            </m:funcPr>
                            <m:fName>
                              <m:r>
                                <m:rPr>
                                  <m:sty m:val="p"/>
                                </m:rPr>
                                <a:rPr lang="en-US" sz="2200" b="0" i="0" smtClean="0">
                                  <a:latin typeface="Cambria Math" panose="02040503050406030204" pitchFamily="18" charset="0"/>
                                  <a:ea typeface="Arial"/>
                                  <a:cs typeface="Arial"/>
                                  <a:sym typeface="Arial"/>
                                </a:rPr>
                                <m:t>sin</m:t>
                              </m:r>
                            </m:fName>
                            <m:e>
                              <m:d>
                                <m:dPr>
                                  <m:ctrlPr>
                                    <a:rPr lang="en-US" sz="2200" b="0" i="1" smtClean="0">
                                      <a:latin typeface="Cambria Math" panose="02040503050406030204" pitchFamily="18" charset="0"/>
                                      <a:ea typeface="Arial"/>
                                      <a:cs typeface="Arial"/>
                                      <a:sym typeface="Arial"/>
                                    </a:rPr>
                                  </m:ctrlPr>
                                </m:dPr>
                                <m:e>
                                  <m:r>
                                    <a:rPr lang="en-US" sz="2200" i="1" dirty="0">
                                      <a:latin typeface="Cambria Math" panose="02040503050406030204" pitchFamily="18" charset="0"/>
                                      <a:ea typeface="Cambria Math" panose="02040503050406030204" pitchFamily="18" charset="0"/>
                                      <a:cs typeface="Arial"/>
                                      <a:sym typeface="Arial"/>
                                    </a:rPr>
                                    <m:t>𝛼</m:t>
                                  </m:r>
                                </m:e>
                              </m:d>
                            </m:e>
                          </m:func>
                        </m:e>
                      </m:d>
                    </m:oMath>
                  </m:oMathPara>
                </a14:m>
                <a:endParaRPr lang="en-US" sz="2200" dirty="0">
                  <a:latin typeface="Arial"/>
                  <a:ea typeface="Arial"/>
                  <a:cs typeface="Arial"/>
                  <a:sym typeface="Arial"/>
                </a:endParaRPr>
              </a:p>
            </p:txBody>
          </p:sp>
        </mc:Choice>
        <mc:Fallback xmlns="">
          <p:sp>
            <p:nvSpPr>
              <p:cNvPr id="118" name="Google Shape;118;p29">
                <a:extLst>
                  <a:ext uri="{FF2B5EF4-FFF2-40B4-BE49-F238E27FC236}">
                    <a16:creationId xmlns:a16="http://schemas.microsoft.com/office/drawing/2014/main" id="{46A47D07-6F84-A133-8D6D-0C151E6B66A9}"/>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709" t="-759"/>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C842C1AC-5D0C-3A76-450C-3E588E266765}"/>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B80FE1C3-C537-E5D9-D47C-056FAAD1A9D2}"/>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Localization – 2D Rotation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866FA607-B34C-992F-C6D1-B410F67BF690}"/>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3AD0D2C-5813-CB1A-5D4E-EC745974E20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C3EE0C5-CE02-242B-83CB-68C3208D7D0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1F1C51F-4B83-02A9-40A7-23DB12DD082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FD4CEF0-0C0A-C03F-A2A9-DA24FD61CD0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73121A2-9B41-35EC-9169-F7214FC028B7}"/>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08388860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93892C1B-92BF-003C-3EF9-8A7ED9DF1D29}"/>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CB5C8D38-99A7-8356-97D9-07F33A6E15B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A461346E-6CF8-8D98-A005-416B12276954}"/>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Localization – 2D Translation (Shifting)</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97EC33ED-7158-4F69-413E-0D1C07BC51C2}"/>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7C85C74-FD2B-E893-CE8B-F988748FB9B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D879E27-5D19-8048-5032-039BC339347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3F494A4-56B2-46CD-BBF8-65F2A2777EA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E5E8381-537D-B47E-7841-ACA562186C0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CFCBE326-D393-7BE0-9B3B-90A885BB11C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grpSp>
        <p:nvGrpSpPr>
          <p:cNvPr id="28" name="Group 27">
            <a:extLst>
              <a:ext uri="{FF2B5EF4-FFF2-40B4-BE49-F238E27FC236}">
                <a16:creationId xmlns:a16="http://schemas.microsoft.com/office/drawing/2014/main" id="{316B47BB-D91F-47C6-B481-40ADD75831E6}"/>
              </a:ext>
            </a:extLst>
          </p:cNvPr>
          <p:cNvGrpSpPr/>
          <p:nvPr/>
        </p:nvGrpSpPr>
        <p:grpSpPr>
          <a:xfrm>
            <a:off x="3730942" y="1303743"/>
            <a:ext cx="4730115" cy="4785116"/>
            <a:chOff x="3322320" y="1223172"/>
            <a:chExt cx="4730115" cy="4785116"/>
          </a:xfrm>
        </p:grpSpPr>
        <p:pic>
          <p:nvPicPr>
            <p:cNvPr id="9" name="Graphic 8">
              <a:extLst>
                <a:ext uri="{FF2B5EF4-FFF2-40B4-BE49-F238E27FC236}">
                  <a16:creationId xmlns:a16="http://schemas.microsoft.com/office/drawing/2014/main" id="{6CD07C2B-9CCD-5838-F433-5C2EBF3516E8}"/>
                </a:ext>
              </a:extLst>
            </p:cNvPr>
            <p:cNvPicPr>
              <a:picLocks noChangeAspect="1"/>
            </p:cNvPicPr>
            <p:nvPr/>
          </p:nvPicPr>
          <p:blipFill>
            <a:blip r:embed="rId4">
              <a:extLst>
                <a:ext uri="{96DAC541-7B7A-43D3-8B79-37D633B846F1}">
                  <asvg:svgBlip xmlns:asvg="http://schemas.microsoft.com/office/drawing/2016/SVG/main" r:embed="rId5"/>
                </a:ext>
              </a:extLst>
            </a:blip>
            <a:srcRect/>
            <a:stretch/>
          </p:blipFill>
          <p:spPr>
            <a:xfrm>
              <a:off x="3322320" y="1223172"/>
              <a:ext cx="4730115" cy="4785116"/>
            </a:xfrm>
            <a:prstGeom prst="rect">
              <a:avLst/>
            </a:prstGeom>
          </p:spPr>
        </p:pic>
        <p:cxnSp>
          <p:nvCxnSpPr>
            <p:cNvPr id="14" name="Straight Arrow Connector 13">
              <a:extLst>
                <a:ext uri="{FF2B5EF4-FFF2-40B4-BE49-F238E27FC236}">
                  <a16:creationId xmlns:a16="http://schemas.microsoft.com/office/drawing/2014/main" id="{7654EE0D-8A73-08A3-EC61-6FD9221B5F1D}"/>
                </a:ext>
              </a:extLst>
            </p:cNvPr>
            <p:cNvCxnSpPr>
              <a:cxnSpLocks/>
            </p:cNvCxnSpPr>
            <p:nvPr/>
          </p:nvCxnSpPr>
          <p:spPr>
            <a:xfrm flipV="1">
              <a:off x="4597400" y="3322113"/>
              <a:ext cx="787400" cy="1059387"/>
            </a:xfrm>
            <a:prstGeom prst="straightConnector1">
              <a:avLst/>
            </a:prstGeom>
            <a:ln w="5715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9" name="TextBox 18">
              <a:extLst>
                <a:ext uri="{FF2B5EF4-FFF2-40B4-BE49-F238E27FC236}">
                  <a16:creationId xmlns:a16="http://schemas.microsoft.com/office/drawing/2014/main" id="{C9B4AA9F-BC45-FBD2-24CC-A75631C95223}"/>
                </a:ext>
              </a:extLst>
            </p:cNvPr>
            <p:cNvSpPr txBox="1"/>
            <p:nvPr/>
          </p:nvSpPr>
          <p:spPr>
            <a:xfrm>
              <a:off x="4655820" y="3492303"/>
              <a:ext cx="335280" cy="523220"/>
            </a:xfrm>
            <a:prstGeom prst="rect">
              <a:avLst/>
            </a:prstGeom>
            <a:noFill/>
          </p:spPr>
          <p:txBody>
            <a:bodyPr wrap="square" rtlCol="0">
              <a:spAutoFit/>
            </a:bodyPr>
            <a:lstStyle/>
            <a:p>
              <a:pPr algn="ctr"/>
              <a:r>
                <a:rPr lang="en-US" sz="2800" b="1" dirty="0">
                  <a:solidFill>
                    <a:srgbClr val="FF0000"/>
                  </a:solidFill>
                </a:rPr>
                <a:t>r</a:t>
              </a:r>
            </a:p>
          </p:txBody>
        </p:sp>
        <p:sp>
          <p:nvSpPr>
            <p:cNvPr id="26" name="Arc 25">
              <a:extLst>
                <a:ext uri="{FF2B5EF4-FFF2-40B4-BE49-F238E27FC236}">
                  <a16:creationId xmlns:a16="http://schemas.microsoft.com/office/drawing/2014/main" id="{18E13975-9F2C-97A8-846B-023DE637B157}"/>
                </a:ext>
              </a:extLst>
            </p:cNvPr>
            <p:cNvSpPr/>
            <p:nvPr/>
          </p:nvSpPr>
          <p:spPr>
            <a:xfrm>
              <a:off x="4597400" y="3429000"/>
              <a:ext cx="1498600" cy="2086608"/>
            </a:xfrm>
            <a:prstGeom prst="arc">
              <a:avLst/>
            </a:prstGeom>
            <a:ln w="57150">
              <a:solidFill>
                <a:srgbClr val="FF0000"/>
              </a:solidFill>
              <a:headEnd type="arrow" w="med" len="med"/>
              <a:tailEnd type="none" w="med"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6DD1DF76-ED24-CD5D-5508-2808579CA9A5}"/>
                    </a:ext>
                  </a:extLst>
                </p:cNvPr>
                <p:cNvSpPr txBox="1"/>
                <p:nvPr/>
              </p:nvSpPr>
              <p:spPr>
                <a:xfrm>
                  <a:off x="5760720" y="3858280"/>
                  <a:ext cx="335280" cy="523220"/>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r>
                          <a:rPr lang="en-US" sz="2800" b="1" i="1" dirty="0" smtClean="0">
                            <a:solidFill>
                              <a:srgbClr val="FF0000"/>
                            </a:solidFill>
                            <a:latin typeface="Cambria Math" panose="02040503050406030204" pitchFamily="18" charset="0"/>
                            <a:ea typeface="Cambria Math" panose="02040503050406030204" pitchFamily="18" charset="0"/>
                          </a:rPr>
                          <m:t>𝜶</m:t>
                        </m:r>
                      </m:oMath>
                    </m:oMathPara>
                  </a14:m>
                  <a:endParaRPr lang="en-US" sz="2800" b="1" dirty="0">
                    <a:solidFill>
                      <a:srgbClr val="FF0000"/>
                    </a:solidFill>
                  </a:endParaRPr>
                </a:p>
              </p:txBody>
            </p:sp>
          </mc:Choice>
          <mc:Fallback xmlns="">
            <p:sp>
              <p:nvSpPr>
                <p:cNvPr id="27" name="TextBox 26">
                  <a:extLst>
                    <a:ext uri="{FF2B5EF4-FFF2-40B4-BE49-F238E27FC236}">
                      <a16:creationId xmlns:a16="http://schemas.microsoft.com/office/drawing/2014/main" id="{6DD1DF76-ED24-CD5D-5508-2808579CA9A5}"/>
                    </a:ext>
                  </a:extLst>
                </p:cNvPr>
                <p:cNvSpPr txBox="1">
                  <a:spLocks noRot="1" noChangeAspect="1" noMove="1" noResize="1" noEditPoints="1" noAdjustHandles="1" noChangeArrowheads="1" noChangeShapeType="1" noTextEdit="1"/>
                </p:cNvSpPr>
                <p:nvPr/>
              </p:nvSpPr>
              <p:spPr>
                <a:xfrm>
                  <a:off x="5760720" y="3858280"/>
                  <a:ext cx="335280" cy="523220"/>
                </a:xfrm>
                <a:prstGeom prst="rect">
                  <a:avLst/>
                </a:prstGeom>
                <a:blipFill>
                  <a:blip r:embed="rId6"/>
                  <a:stretch>
                    <a:fillRect/>
                  </a:stretch>
                </a:blipFill>
              </p:spPr>
              <p:txBody>
                <a:bodyPr/>
                <a:lstStyle/>
                <a:p>
                  <a:r>
                    <a:rPr lang="en-US">
                      <a:noFill/>
                    </a:rPr>
                    <a:t> </a:t>
                  </a:r>
                </a:p>
              </p:txBody>
            </p:sp>
          </mc:Fallback>
        </mc:AlternateContent>
      </p:grpSp>
    </p:spTree>
    <p:extLst>
      <p:ext uri="{BB962C8B-B14F-4D97-AF65-F5344CB8AC3E}">
        <p14:creationId xmlns:p14="http://schemas.microsoft.com/office/powerpoint/2010/main" val="390797671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DD81A3E-3D56-C164-A2FC-F2DA10375F7A}"/>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C0EC19A9-AFBD-E6C2-C07C-A37D11F77586}"/>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rial"/>
                    <a:ea typeface="Arial"/>
                    <a:cs typeface="Arial"/>
                    <a:sym typeface="Arial"/>
                  </a:rPr>
                  <a:t>In the world frame, the angle of point </a:t>
                </a:r>
                <a14:m>
                  <m:oMath xmlns:m="http://schemas.openxmlformats.org/officeDocument/2006/math">
                    <m:r>
                      <m:rPr>
                        <m:sty m:val="p"/>
                      </m:rPr>
                      <a:rPr lang="en-US" sz="2200" i="1">
                        <a:latin typeface="Cambria Math" panose="02040503050406030204" pitchFamily="18" charset="0"/>
                        <a:ea typeface="Arial"/>
                        <a:cs typeface="Arial"/>
                        <a:sym typeface="Arial"/>
                      </a:rPr>
                      <m:t>P</m:t>
                    </m:r>
                  </m:oMath>
                </a14:m>
                <a:r>
                  <a:rPr lang="en-US" sz="2200" dirty="0">
                    <a:latin typeface="Arial"/>
                    <a:ea typeface="Arial"/>
                    <a:cs typeface="Arial"/>
                    <a:sym typeface="Arial"/>
                  </a:rPr>
                  <a:t> is now at </a:t>
                </a:r>
                <a14:m>
                  <m:oMath xmlns:m="http://schemas.openxmlformats.org/officeDocument/2006/math">
                    <m:d>
                      <m:dPr>
                        <m:ctrlPr>
                          <a:rPr lang="en-US" sz="2200" i="1" dirty="0" smtClean="0">
                            <a:latin typeface="Cambria Math" panose="02040503050406030204" pitchFamily="18" charset="0"/>
                            <a:ea typeface="Arial"/>
                            <a:cs typeface="Arial"/>
                            <a:sym typeface="Arial"/>
                          </a:rPr>
                        </m:ctrlPr>
                      </m:dPr>
                      <m:e>
                        <m:r>
                          <a:rPr lang="en-US" sz="2200" i="1" dirty="0" smtClean="0">
                            <a:latin typeface="Cambria Math" panose="02040503050406030204" pitchFamily="18" charset="0"/>
                            <a:ea typeface="Arial"/>
                            <a:cs typeface="Arial"/>
                            <a:sym typeface="Arial"/>
                          </a:rPr>
                          <m:t>𝛼</m:t>
                        </m:r>
                        <m:r>
                          <a:rPr lang="en-US" sz="2200" i="1" dirty="0" smtClean="0">
                            <a:latin typeface="Cambria Math" panose="02040503050406030204" pitchFamily="18" charset="0"/>
                            <a:ea typeface="Arial"/>
                            <a:cs typeface="Arial"/>
                            <a:sym typeface="Arial"/>
                          </a:rPr>
                          <m:t>+</m:t>
                        </m:r>
                        <m:r>
                          <a:rPr lang="en-US" sz="2200" i="1" dirty="0" smtClean="0">
                            <a:latin typeface="Cambria Math" panose="02040503050406030204" pitchFamily="18" charset="0"/>
                            <a:ea typeface="Arial"/>
                            <a:cs typeface="Arial"/>
                            <a:sym typeface="Arial"/>
                          </a:rPr>
                          <m:t>𝜑</m:t>
                        </m:r>
                      </m:e>
                    </m:d>
                  </m:oMath>
                </a14:m>
                <a:r>
                  <a:rPr lang="en-US" sz="2200" dirty="0">
                    <a:latin typeface="Arial"/>
                    <a:ea typeface="Arial"/>
                    <a:cs typeface="Arial"/>
                    <a:sym typeface="Arial"/>
                  </a:rPr>
                  <a:t>.</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The world coordinates are thus,</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200" i="1" dirty="0" smtClean="0">
                              <a:latin typeface="Cambria Math" panose="02040503050406030204" pitchFamily="18" charset="0"/>
                              <a:ea typeface="Arial"/>
                              <a:cs typeface="Arial"/>
                              <a:sym typeface="Arial"/>
                            </a:rPr>
                          </m:ctrlPr>
                        </m:sSubPr>
                        <m:e>
                          <m:r>
                            <a:rPr lang="en-US" sz="2200" i="1" dirty="0" err="1" smtClean="0">
                              <a:latin typeface="Cambria Math" panose="02040503050406030204" pitchFamily="18" charset="0"/>
                              <a:ea typeface="Arial"/>
                              <a:cs typeface="Arial"/>
                              <a:sym typeface="Arial"/>
                            </a:rPr>
                            <m:t>𝑃</m:t>
                          </m:r>
                        </m:e>
                        <m:sub>
                          <m:r>
                            <a:rPr lang="en-US" sz="2200" i="1" dirty="0" err="1" smtClean="0">
                              <a:latin typeface="Cambria Math" panose="02040503050406030204" pitchFamily="18" charset="0"/>
                              <a:ea typeface="Arial"/>
                              <a:cs typeface="Arial"/>
                              <a:sym typeface="Arial"/>
                            </a:rPr>
                            <m:t>𝑤</m:t>
                          </m:r>
                        </m:sub>
                      </m:sSub>
                      <m:r>
                        <a:rPr lang="en-US" sz="2200" i="1" dirty="0" smtClean="0">
                          <a:latin typeface="Cambria Math" panose="02040503050406030204" pitchFamily="18" charset="0"/>
                          <a:ea typeface="Arial"/>
                          <a:cs typeface="Arial"/>
                          <a:sym typeface="Arial"/>
                        </a:rPr>
                        <m:t>=</m:t>
                      </m:r>
                      <m:d>
                        <m:dPr>
                          <m:ctrlPr>
                            <a:rPr lang="en-US" sz="2200" i="1" dirty="0" smtClean="0">
                              <a:latin typeface="Cambria Math" panose="02040503050406030204" pitchFamily="18" charset="0"/>
                              <a:ea typeface="Arial"/>
                              <a:cs typeface="Arial"/>
                              <a:sym typeface="Arial"/>
                            </a:rPr>
                          </m:ctrlPr>
                        </m:dPr>
                        <m:e>
                          <m:r>
                            <a:rPr lang="en-US" sz="2200" i="1" dirty="0" smtClean="0">
                              <a:latin typeface="Cambria Math" panose="02040503050406030204" pitchFamily="18" charset="0"/>
                              <a:ea typeface="Arial"/>
                              <a:cs typeface="Arial"/>
                              <a:sym typeface="Arial"/>
                            </a:rPr>
                            <m:t>𝑟</m:t>
                          </m:r>
                          <m:func>
                            <m:funcPr>
                              <m:ctrlPr>
                                <a:rPr lang="en-US" sz="2200" i="1" dirty="0" smtClean="0">
                                  <a:latin typeface="Cambria Math" panose="02040503050406030204" pitchFamily="18" charset="0"/>
                                  <a:ea typeface="Arial"/>
                                  <a:cs typeface="Arial"/>
                                  <a:sym typeface="Arial"/>
                                </a:rPr>
                              </m:ctrlPr>
                            </m:funcPr>
                            <m:fName>
                              <m:r>
                                <m:rPr>
                                  <m:sty m:val="p"/>
                                </m:rPr>
                                <a:rPr lang="en-US" sz="2200" i="0" dirty="0" smtClean="0">
                                  <a:latin typeface="Cambria Math" panose="02040503050406030204" pitchFamily="18" charset="0"/>
                                  <a:ea typeface="Arial"/>
                                  <a:cs typeface="Arial"/>
                                  <a:sym typeface="Arial"/>
                                </a:rPr>
                                <m:t>cos</m:t>
                              </m:r>
                            </m:fName>
                            <m:e>
                              <m:d>
                                <m:dPr>
                                  <m:ctrlPr>
                                    <a:rPr lang="en-US" sz="2200" i="1" dirty="0" smtClean="0">
                                      <a:latin typeface="Cambria Math" panose="02040503050406030204" pitchFamily="18" charset="0"/>
                                      <a:ea typeface="Arial"/>
                                      <a:cs typeface="Arial"/>
                                      <a:sym typeface="Arial"/>
                                    </a:rPr>
                                  </m:ctrlPr>
                                </m:dPr>
                                <m:e>
                                  <m:r>
                                    <a:rPr lang="en-US" sz="2200" i="1" dirty="0" smtClean="0">
                                      <a:latin typeface="Cambria Math" panose="02040503050406030204" pitchFamily="18" charset="0"/>
                                      <a:ea typeface="Arial"/>
                                      <a:cs typeface="Arial"/>
                                      <a:sym typeface="Arial"/>
                                    </a:rPr>
                                    <m:t>𝛼</m:t>
                                  </m:r>
                                  <m:r>
                                    <a:rPr lang="en-US" sz="2200" i="1" dirty="0" smtClean="0">
                                      <a:latin typeface="Cambria Math" panose="02040503050406030204" pitchFamily="18" charset="0"/>
                                      <a:ea typeface="Arial"/>
                                      <a:cs typeface="Arial"/>
                                      <a:sym typeface="Arial"/>
                                    </a:rPr>
                                    <m:t>+</m:t>
                                  </m:r>
                                  <m:r>
                                    <a:rPr lang="en-US" sz="2200" i="1" dirty="0" smtClean="0">
                                      <a:latin typeface="Cambria Math" panose="02040503050406030204" pitchFamily="18" charset="0"/>
                                      <a:ea typeface="Arial"/>
                                      <a:cs typeface="Arial"/>
                                      <a:sym typeface="Arial"/>
                                    </a:rPr>
                                    <m:t>𝜑</m:t>
                                  </m:r>
                                </m:e>
                              </m:d>
                            </m:e>
                          </m:func>
                          <m:r>
                            <a:rPr lang="en-US" sz="2200" i="1" dirty="0">
                              <a:latin typeface="Cambria Math" panose="02040503050406030204" pitchFamily="18" charset="0"/>
                              <a:ea typeface="Arial"/>
                              <a:cs typeface="Arial"/>
                              <a:sym typeface="Arial"/>
                            </a:rPr>
                            <m:t>,</m:t>
                          </m:r>
                          <m:r>
                            <a:rPr lang="en-US" sz="2200" i="1" dirty="0">
                              <a:latin typeface="Cambria Math" panose="02040503050406030204" pitchFamily="18" charset="0"/>
                              <a:ea typeface="Arial"/>
                              <a:cs typeface="Arial"/>
                              <a:sym typeface="Arial"/>
                            </a:rPr>
                            <m:t>𝑟</m:t>
                          </m:r>
                          <m:func>
                            <m:funcPr>
                              <m:ctrlPr>
                                <a:rPr lang="en-US" sz="2200" i="1" dirty="0" smtClean="0">
                                  <a:latin typeface="Cambria Math" panose="02040503050406030204" pitchFamily="18" charset="0"/>
                                  <a:ea typeface="Arial"/>
                                  <a:cs typeface="Arial"/>
                                  <a:sym typeface="Arial"/>
                                </a:rPr>
                              </m:ctrlPr>
                            </m:funcPr>
                            <m:fName>
                              <m:r>
                                <m:rPr>
                                  <m:sty m:val="p"/>
                                </m:rPr>
                                <a:rPr lang="en-US" sz="2200" i="0" dirty="0" smtClean="0">
                                  <a:latin typeface="Cambria Math" panose="02040503050406030204" pitchFamily="18" charset="0"/>
                                  <a:ea typeface="Arial"/>
                                  <a:cs typeface="Arial"/>
                                  <a:sym typeface="Arial"/>
                                </a:rPr>
                                <m:t>sin</m:t>
                              </m:r>
                            </m:fName>
                            <m:e>
                              <m:d>
                                <m:dPr>
                                  <m:ctrlPr>
                                    <a:rPr lang="en-US" sz="2200" i="1" dirty="0" smtClean="0">
                                      <a:latin typeface="Cambria Math" panose="02040503050406030204" pitchFamily="18" charset="0"/>
                                      <a:ea typeface="Arial"/>
                                      <a:cs typeface="Arial"/>
                                      <a:sym typeface="Arial"/>
                                    </a:rPr>
                                  </m:ctrlPr>
                                </m:dPr>
                                <m:e>
                                  <m:r>
                                    <a:rPr lang="en-US" sz="2200" i="1" dirty="0" smtClean="0">
                                      <a:latin typeface="Cambria Math" panose="02040503050406030204" pitchFamily="18" charset="0"/>
                                      <a:ea typeface="Arial"/>
                                      <a:cs typeface="Arial"/>
                                      <a:sym typeface="Arial"/>
                                    </a:rPr>
                                    <m:t>𝛼</m:t>
                                  </m:r>
                                  <m:r>
                                    <a:rPr lang="en-US" sz="2200" i="1" dirty="0">
                                      <a:latin typeface="Cambria Math" panose="02040503050406030204" pitchFamily="18" charset="0"/>
                                      <a:ea typeface="Arial"/>
                                      <a:cs typeface="Arial"/>
                                      <a:sym typeface="Arial"/>
                                    </a:rPr>
                                    <m:t>+</m:t>
                                  </m:r>
                                  <m:r>
                                    <a:rPr lang="en-US" sz="2200" i="1" dirty="0">
                                      <a:latin typeface="Cambria Math" panose="02040503050406030204" pitchFamily="18" charset="0"/>
                                      <a:ea typeface="Arial"/>
                                      <a:cs typeface="Arial"/>
                                      <a:sym typeface="Arial"/>
                                    </a:rPr>
                                    <m:t>𝜑</m:t>
                                  </m:r>
                                </m:e>
                              </m:d>
                            </m:e>
                          </m:func>
                        </m:e>
                      </m:d>
                    </m:oMath>
                  </m:oMathPara>
                </a14:m>
                <a:endParaRPr lang="en-US" sz="2200" dirty="0">
                  <a:latin typeface="Arial"/>
                  <a:ea typeface="Arial"/>
                  <a:cs typeface="Arial"/>
                  <a:sym typeface="Arial"/>
                </a:endParaRP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We can expand the following using standard trigonometric sum identities:</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200" i="1" dirty="0" smtClean="0">
                              <a:latin typeface="Cambria Math" panose="02040503050406030204" pitchFamily="18" charset="0"/>
                              <a:ea typeface="Arial"/>
                              <a:cs typeface="Arial"/>
                              <a:sym typeface="Arial"/>
                            </a:rPr>
                          </m:ctrlPr>
                        </m:sSubPr>
                        <m:e>
                          <m:r>
                            <a:rPr lang="en-US" sz="2200" i="1" dirty="0" smtClean="0">
                              <a:latin typeface="Cambria Math" panose="02040503050406030204" pitchFamily="18" charset="0"/>
                              <a:ea typeface="Arial"/>
                              <a:cs typeface="Arial"/>
                              <a:sym typeface="Arial"/>
                            </a:rPr>
                            <m:t>𝑥</m:t>
                          </m:r>
                        </m:e>
                        <m:sub>
                          <m:r>
                            <a:rPr lang="en-US" sz="2200" i="1" dirty="0" smtClean="0">
                              <a:latin typeface="Cambria Math" panose="02040503050406030204" pitchFamily="18" charset="0"/>
                              <a:ea typeface="Arial"/>
                              <a:cs typeface="Arial"/>
                              <a:sym typeface="Arial"/>
                            </a:rPr>
                            <m:t>𝑊</m:t>
                          </m:r>
                        </m:sub>
                      </m:sSub>
                      <m:r>
                        <a:rPr lang="en-US" sz="2200" i="1" dirty="0" smtClean="0">
                          <a:latin typeface="Cambria Math" panose="02040503050406030204" pitchFamily="18" charset="0"/>
                          <a:ea typeface="Arial"/>
                          <a:cs typeface="Arial"/>
                          <a:sym typeface="Arial"/>
                        </a:rPr>
                        <m:t>=</m:t>
                      </m:r>
                      <m:r>
                        <a:rPr lang="en-US" sz="2200" i="1" dirty="0" smtClean="0">
                          <a:latin typeface="Cambria Math" panose="02040503050406030204" pitchFamily="18" charset="0"/>
                          <a:ea typeface="Arial"/>
                          <a:cs typeface="Arial"/>
                          <a:sym typeface="Arial"/>
                        </a:rPr>
                        <m:t>𝑟</m:t>
                      </m:r>
                      <m:d>
                        <m:dPr>
                          <m:ctrlPr>
                            <a:rPr lang="en-US" sz="2200" i="1" dirty="0" smtClean="0">
                              <a:latin typeface="Cambria Math" panose="02040503050406030204" pitchFamily="18" charset="0"/>
                              <a:ea typeface="Arial"/>
                              <a:cs typeface="Arial"/>
                              <a:sym typeface="Arial"/>
                            </a:rPr>
                          </m:ctrlPr>
                        </m:dPr>
                        <m:e>
                          <m:func>
                            <m:funcPr>
                              <m:ctrlPr>
                                <a:rPr lang="en-US" sz="2200" i="1" dirty="0" smtClean="0">
                                  <a:latin typeface="Cambria Math" panose="02040503050406030204" pitchFamily="18" charset="0"/>
                                  <a:ea typeface="Arial"/>
                                  <a:cs typeface="Arial"/>
                                  <a:sym typeface="Arial"/>
                                </a:rPr>
                              </m:ctrlPr>
                            </m:funcPr>
                            <m:fName>
                              <m:r>
                                <m:rPr>
                                  <m:sty m:val="p"/>
                                </m:rPr>
                                <a:rPr lang="en-US" sz="2200" i="0" dirty="0" smtClean="0">
                                  <a:latin typeface="Cambria Math" panose="02040503050406030204" pitchFamily="18" charset="0"/>
                                  <a:ea typeface="Arial"/>
                                  <a:cs typeface="Arial"/>
                                  <a:sym typeface="Arial"/>
                                </a:rPr>
                                <m:t>cos</m:t>
                              </m:r>
                            </m:fName>
                            <m:e>
                              <m:d>
                                <m:dPr>
                                  <m:ctrlPr>
                                    <a:rPr lang="en-US" sz="2200" i="1" dirty="0" smtClean="0">
                                      <a:latin typeface="Cambria Math" panose="02040503050406030204" pitchFamily="18" charset="0"/>
                                      <a:ea typeface="Arial"/>
                                      <a:cs typeface="Arial"/>
                                      <a:sym typeface="Arial"/>
                                    </a:rPr>
                                  </m:ctrlPr>
                                </m:dPr>
                                <m:e>
                                  <m:r>
                                    <a:rPr lang="en-US" sz="2200" i="1" dirty="0" smtClean="0">
                                      <a:latin typeface="Cambria Math" panose="02040503050406030204" pitchFamily="18" charset="0"/>
                                      <a:ea typeface="Arial"/>
                                      <a:cs typeface="Arial"/>
                                      <a:sym typeface="Arial"/>
                                    </a:rPr>
                                    <m:t>𝛼</m:t>
                                  </m:r>
                                </m:e>
                              </m:d>
                            </m:e>
                          </m:func>
                          <m:func>
                            <m:funcPr>
                              <m:ctrlPr>
                                <a:rPr lang="en-US" sz="2200" i="1" dirty="0" smtClean="0">
                                  <a:latin typeface="Cambria Math" panose="02040503050406030204" pitchFamily="18" charset="0"/>
                                  <a:ea typeface="Arial"/>
                                  <a:cs typeface="Arial"/>
                                  <a:sym typeface="Arial"/>
                                </a:rPr>
                              </m:ctrlPr>
                            </m:funcPr>
                            <m:fName>
                              <m:r>
                                <m:rPr>
                                  <m:sty m:val="p"/>
                                </m:rPr>
                                <a:rPr lang="en-US" sz="2200" i="0" dirty="0" smtClean="0">
                                  <a:latin typeface="Cambria Math" panose="02040503050406030204" pitchFamily="18" charset="0"/>
                                  <a:ea typeface="Arial"/>
                                  <a:cs typeface="Arial"/>
                                  <a:sym typeface="Arial"/>
                                </a:rPr>
                                <m:t>cos</m:t>
                              </m:r>
                            </m:fName>
                            <m:e>
                              <m:d>
                                <m:dPr>
                                  <m:ctrlPr>
                                    <a:rPr lang="en-US" sz="2200" i="1" dirty="0" smtClean="0">
                                      <a:latin typeface="Cambria Math" panose="02040503050406030204" pitchFamily="18" charset="0"/>
                                      <a:ea typeface="Arial"/>
                                      <a:cs typeface="Arial"/>
                                      <a:sym typeface="Arial"/>
                                    </a:rPr>
                                  </m:ctrlPr>
                                </m:dPr>
                                <m:e>
                                  <m:r>
                                    <a:rPr lang="en-US" sz="2200" i="1" dirty="0" smtClean="0">
                                      <a:latin typeface="Cambria Math" panose="02040503050406030204" pitchFamily="18" charset="0"/>
                                      <a:ea typeface="Arial"/>
                                      <a:cs typeface="Arial"/>
                                      <a:sym typeface="Arial"/>
                                    </a:rPr>
                                    <m:t>𝜑</m:t>
                                  </m:r>
                                </m:e>
                              </m:d>
                            </m:e>
                          </m:func>
                          <m:r>
                            <a:rPr lang="en-US" sz="2200" i="1" dirty="0" smtClean="0">
                              <a:latin typeface="Cambria Math" panose="02040503050406030204" pitchFamily="18" charset="0"/>
                              <a:ea typeface="Arial"/>
                              <a:cs typeface="Arial"/>
                              <a:sym typeface="Arial"/>
                            </a:rPr>
                            <m:t>−</m:t>
                          </m:r>
                          <m:func>
                            <m:funcPr>
                              <m:ctrlPr>
                                <a:rPr lang="en-US" sz="2200" i="1" dirty="0" smtClean="0">
                                  <a:latin typeface="Cambria Math" panose="02040503050406030204" pitchFamily="18" charset="0"/>
                                  <a:ea typeface="Arial"/>
                                  <a:cs typeface="Arial"/>
                                  <a:sym typeface="Arial"/>
                                </a:rPr>
                              </m:ctrlPr>
                            </m:funcPr>
                            <m:fName>
                              <m:r>
                                <m:rPr>
                                  <m:sty m:val="p"/>
                                </m:rPr>
                                <a:rPr lang="en-US" sz="2200" i="0" dirty="0" smtClean="0">
                                  <a:latin typeface="Cambria Math" panose="02040503050406030204" pitchFamily="18" charset="0"/>
                                  <a:ea typeface="Arial"/>
                                  <a:cs typeface="Arial"/>
                                  <a:sym typeface="Arial"/>
                                </a:rPr>
                                <m:t>sin</m:t>
                              </m:r>
                            </m:fName>
                            <m:e>
                              <m:d>
                                <m:dPr>
                                  <m:ctrlPr>
                                    <a:rPr lang="en-US" sz="2200" i="1" dirty="0" smtClean="0">
                                      <a:latin typeface="Cambria Math" panose="02040503050406030204" pitchFamily="18" charset="0"/>
                                      <a:ea typeface="Arial"/>
                                      <a:cs typeface="Arial"/>
                                      <a:sym typeface="Arial"/>
                                    </a:rPr>
                                  </m:ctrlPr>
                                </m:dPr>
                                <m:e>
                                  <m:r>
                                    <a:rPr lang="en-US" sz="2200" i="1" dirty="0" smtClean="0">
                                      <a:latin typeface="Cambria Math" panose="02040503050406030204" pitchFamily="18" charset="0"/>
                                      <a:ea typeface="Arial"/>
                                      <a:cs typeface="Arial"/>
                                      <a:sym typeface="Arial"/>
                                    </a:rPr>
                                    <m:t>𝛼</m:t>
                                  </m:r>
                                </m:e>
                              </m:d>
                            </m:e>
                          </m:func>
                          <m:func>
                            <m:funcPr>
                              <m:ctrlPr>
                                <a:rPr lang="en-US" sz="2200" i="1" dirty="0" smtClean="0">
                                  <a:latin typeface="Cambria Math" panose="02040503050406030204" pitchFamily="18" charset="0"/>
                                  <a:ea typeface="Arial"/>
                                  <a:cs typeface="Arial"/>
                                  <a:sym typeface="Arial"/>
                                </a:rPr>
                              </m:ctrlPr>
                            </m:funcPr>
                            <m:fName>
                              <m:r>
                                <m:rPr>
                                  <m:sty m:val="p"/>
                                </m:rPr>
                                <a:rPr lang="en-US" sz="2200" i="0" dirty="0" smtClean="0">
                                  <a:latin typeface="Cambria Math" panose="02040503050406030204" pitchFamily="18" charset="0"/>
                                  <a:ea typeface="Arial"/>
                                  <a:cs typeface="Arial"/>
                                  <a:sym typeface="Arial"/>
                                </a:rPr>
                                <m:t>sin</m:t>
                              </m:r>
                            </m:fName>
                            <m:e>
                              <m:d>
                                <m:dPr>
                                  <m:ctrlPr>
                                    <a:rPr lang="en-US" sz="2200" i="1" dirty="0" smtClean="0">
                                      <a:latin typeface="Cambria Math" panose="02040503050406030204" pitchFamily="18" charset="0"/>
                                      <a:ea typeface="Arial"/>
                                      <a:cs typeface="Arial"/>
                                      <a:sym typeface="Arial"/>
                                    </a:rPr>
                                  </m:ctrlPr>
                                </m:dPr>
                                <m:e>
                                  <m:r>
                                    <a:rPr lang="en-US" sz="2200" i="1" dirty="0" smtClean="0">
                                      <a:latin typeface="Cambria Math" panose="02040503050406030204" pitchFamily="18" charset="0"/>
                                      <a:ea typeface="Arial"/>
                                      <a:cs typeface="Arial"/>
                                      <a:sym typeface="Arial"/>
                                    </a:rPr>
                                    <m:t>𝜑</m:t>
                                  </m:r>
                                </m:e>
                              </m:d>
                            </m:e>
                          </m:func>
                        </m:e>
                      </m:d>
                    </m:oMath>
                  </m:oMathPara>
                </a14:m>
                <a:endParaRPr lang="en-US" sz="2200" dirty="0">
                  <a:latin typeface="Arial"/>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200" i="1" dirty="0" smtClean="0">
                              <a:latin typeface="Cambria Math" panose="02040503050406030204" pitchFamily="18" charset="0"/>
                              <a:ea typeface="Arial"/>
                              <a:cs typeface="Arial"/>
                              <a:sym typeface="Arial"/>
                            </a:rPr>
                          </m:ctrlPr>
                        </m:sSubPr>
                        <m:e>
                          <m:r>
                            <a:rPr lang="en-US" sz="2200" i="1" dirty="0" smtClean="0">
                              <a:latin typeface="Cambria Math" panose="02040503050406030204" pitchFamily="18" charset="0"/>
                              <a:ea typeface="Arial"/>
                              <a:cs typeface="Arial"/>
                              <a:sym typeface="Arial"/>
                            </a:rPr>
                            <m:t>𝑦</m:t>
                          </m:r>
                        </m:e>
                        <m:sub>
                          <m:r>
                            <a:rPr lang="en-US" sz="2200" i="1" dirty="0" smtClean="0">
                              <a:latin typeface="Cambria Math" panose="02040503050406030204" pitchFamily="18" charset="0"/>
                              <a:ea typeface="Arial"/>
                              <a:cs typeface="Arial"/>
                              <a:sym typeface="Arial"/>
                            </a:rPr>
                            <m:t>𝑊</m:t>
                          </m:r>
                        </m:sub>
                      </m:sSub>
                      <m:r>
                        <a:rPr lang="en-US" sz="2200" i="1" dirty="0" smtClean="0">
                          <a:latin typeface="Cambria Math" panose="02040503050406030204" pitchFamily="18" charset="0"/>
                          <a:ea typeface="Arial"/>
                          <a:cs typeface="Arial"/>
                          <a:sym typeface="Arial"/>
                        </a:rPr>
                        <m:t>=</m:t>
                      </m:r>
                      <m:r>
                        <a:rPr lang="en-US" sz="2200" i="1" dirty="0" smtClean="0">
                          <a:latin typeface="Cambria Math" panose="02040503050406030204" pitchFamily="18" charset="0"/>
                          <a:ea typeface="Arial"/>
                          <a:cs typeface="Arial"/>
                          <a:sym typeface="Arial"/>
                        </a:rPr>
                        <m:t>𝑟</m:t>
                      </m:r>
                      <m:d>
                        <m:dPr>
                          <m:ctrlPr>
                            <a:rPr lang="en-US" sz="2200" i="1" dirty="0" smtClean="0">
                              <a:latin typeface="Cambria Math" panose="02040503050406030204" pitchFamily="18" charset="0"/>
                              <a:ea typeface="Arial"/>
                              <a:cs typeface="Arial"/>
                              <a:sym typeface="Arial"/>
                            </a:rPr>
                          </m:ctrlPr>
                        </m:dPr>
                        <m:e>
                          <m:func>
                            <m:funcPr>
                              <m:ctrlPr>
                                <a:rPr lang="en-US" sz="2200" i="1" dirty="0" smtClean="0">
                                  <a:latin typeface="Cambria Math" panose="02040503050406030204" pitchFamily="18" charset="0"/>
                                  <a:ea typeface="Arial"/>
                                  <a:cs typeface="Arial"/>
                                  <a:sym typeface="Arial"/>
                                </a:rPr>
                              </m:ctrlPr>
                            </m:funcPr>
                            <m:fName>
                              <m:r>
                                <m:rPr>
                                  <m:sty m:val="p"/>
                                </m:rPr>
                                <a:rPr lang="en-US" sz="2200" i="0" dirty="0" smtClean="0">
                                  <a:latin typeface="Cambria Math" panose="02040503050406030204" pitchFamily="18" charset="0"/>
                                  <a:ea typeface="Arial"/>
                                  <a:cs typeface="Arial"/>
                                  <a:sym typeface="Arial"/>
                                </a:rPr>
                                <m:t>sin</m:t>
                              </m:r>
                            </m:fName>
                            <m:e>
                              <m:d>
                                <m:dPr>
                                  <m:ctrlPr>
                                    <a:rPr lang="en-US" sz="2200" i="1" dirty="0" smtClean="0">
                                      <a:latin typeface="Cambria Math" panose="02040503050406030204" pitchFamily="18" charset="0"/>
                                      <a:ea typeface="Arial"/>
                                      <a:cs typeface="Arial"/>
                                      <a:sym typeface="Arial"/>
                                    </a:rPr>
                                  </m:ctrlPr>
                                </m:dPr>
                                <m:e>
                                  <m:r>
                                    <a:rPr lang="en-US" sz="2200" i="1" dirty="0" smtClean="0">
                                      <a:latin typeface="Cambria Math" panose="02040503050406030204" pitchFamily="18" charset="0"/>
                                      <a:ea typeface="Arial"/>
                                      <a:cs typeface="Arial"/>
                                      <a:sym typeface="Arial"/>
                                    </a:rPr>
                                    <m:t>𝛼</m:t>
                                  </m:r>
                                </m:e>
                              </m:d>
                            </m:e>
                          </m:func>
                          <m:func>
                            <m:funcPr>
                              <m:ctrlPr>
                                <a:rPr lang="en-US" sz="2200" i="1" dirty="0" smtClean="0">
                                  <a:latin typeface="Cambria Math" panose="02040503050406030204" pitchFamily="18" charset="0"/>
                                  <a:ea typeface="Arial"/>
                                  <a:cs typeface="Arial"/>
                                  <a:sym typeface="Arial"/>
                                </a:rPr>
                              </m:ctrlPr>
                            </m:funcPr>
                            <m:fName>
                              <m:r>
                                <m:rPr>
                                  <m:sty m:val="p"/>
                                </m:rPr>
                                <a:rPr lang="en-US" sz="2200" i="0" dirty="0" smtClean="0">
                                  <a:latin typeface="Cambria Math" panose="02040503050406030204" pitchFamily="18" charset="0"/>
                                  <a:ea typeface="Arial"/>
                                  <a:cs typeface="Arial"/>
                                  <a:sym typeface="Arial"/>
                                </a:rPr>
                                <m:t>cos</m:t>
                              </m:r>
                            </m:fName>
                            <m:e>
                              <m:d>
                                <m:dPr>
                                  <m:ctrlPr>
                                    <a:rPr lang="en-US" sz="2200" i="1" dirty="0" smtClean="0">
                                      <a:latin typeface="Cambria Math" panose="02040503050406030204" pitchFamily="18" charset="0"/>
                                      <a:ea typeface="Arial"/>
                                      <a:cs typeface="Arial"/>
                                      <a:sym typeface="Arial"/>
                                    </a:rPr>
                                  </m:ctrlPr>
                                </m:dPr>
                                <m:e>
                                  <m:r>
                                    <a:rPr lang="en-US" sz="2200" i="1" dirty="0" smtClean="0">
                                      <a:latin typeface="Cambria Math" panose="02040503050406030204" pitchFamily="18" charset="0"/>
                                      <a:ea typeface="Arial"/>
                                      <a:cs typeface="Arial"/>
                                      <a:sym typeface="Arial"/>
                                    </a:rPr>
                                    <m:t>𝜑</m:t>
                                  </m:r>
                                </m:e>
                              </m:d>
                            </m:e>
                          </m:func>
                          <m:r>
                            <a:rPr lang="en-US" sz="2200" i="1" dirty="0" smtClean="0">
                              <a:latin typeface="Cambria Math" panose="02040503050406030204" pitchFamily="18" charset="0"/>
                              <a:ea typeface="Arial"/>
                              <a:cs typeface="Arial"/>
                              <a:sym typeface="Arial"/>
                            </a:rPr>
                            <m:t>+</m:t>
                          </m:r>
                          <m:func>
                            <m:funcPr>
                              <m:ctrlPr>
                                <a:rPr lang="en-US" sz="2200" i="1" dirty="0" smtClean="0">
                                  <a:latin typeface="Cambria Math" panose="02040503050406030204" pitchFamily="18" charset="0"/>
                                  <a:ea typeface="Arial"/>
                                  <a:cs typeface="Arial"/>
                                  <a:sym typeface="Arial"/>
                                </a:rPr>
                              </m:ctrlPr>
                            </m:funcPr>
                            <m:fName>
                              <m:r>
                                <m:rPr>
                                  <m:sty m:val="p"/>
                                </m:rPr>
                                <a:rPr lang="en-US" sz="2200" i="0" dirty="0" smtClean="0">
                                  <a:latin typeface="Cambria Math" panose="02040503050406030204" pitchFamily="18" charset="0"/>
                                  <a:ea typeface="Arial"/>
                                  <a:cs typeface="Arial"/>
                                  <a:sym typeface="Arial"/>
                                </a:rPr>
                                <m:t>cos</m:t>
                              </m:r>
                            </m:fName>
                            <m:e>
                              <m:d>
                                <m:dPr>
                                  <m:ctrlPr>
                                    <a:rPr lang="en-US" sz="2200" i="1" dirty="0" smtClean="0">
                                      <a:latin typeface="Cambria Math" panose="02040503050406030204" pitchFamily="18" charset="0"/>
                                      <a:ea typeface="Arial"/>
                                      <a:cs typeface="Arial"/>
                                      <a:sym typeface="Arial"/>
                                    </a:rPr>
                                  </m:ctrlPr>
                                </m:dPr>
                                <m:e>
                                  <m:r>
                                    <a:rPr lang="en-US" sz="2200" i="1" dirty="0" smtClean="0">
                                      <a:latin typeface="Cambria Math" panose="02040503050406030204" pitchFamily="18" charset="0"/>
                                      <a:ea typeface="Arial"/>
                                      <a:cs typeface="Arial"/>
                                      <a:sym typeface="Arial"/>
                                    </a:rPr>
                                    <m:t>𝛼</m:t>
                                  </m:r>
                                </m:e>
                              </m:d>
                            </m:e>
                          </m:func>
                          <m:func>
                            <m:funcPr>
                              <m:ctrlPr>
                                <a:rPr lang="en-US" sz="2200" i="1" dirty="0" smtClean="0">
                                  <a:latin typeface="Cambria Math" panose="02040503050406030204" pitchFamily="18" charset="0"/>
                                  <a:ea typeface="Arial"/>
                                  <a:cs typeface="Arial"/>
                                  <a:sym typeface="Arial"/>
                                </a:rPr>
                              </m:ctrlPr>
                            </m:funcPr>
                            <m:fName>
                              <m:r>
                                <m:rPr>
                                  <m:sty m:val="p"/>
                                </m:rPr>
                                <a:rPr lang="en-US" sz="2200" i="0" dirty="0" smtClean="0">
                                  <a:latin typeface="Cambria Math" panose="02040503050406030204" pitchFamily="18" charset="0"/>
                                  <a:ea typeface="Arial"/>
                                  <a:cs typeface="Arial"/>
                                  <a:sym typeface="Arial"/>
                                </a:rPr>
                                <m:t>sin</m:t>
                              </m:r>
                            </m:fName>
                            <m:e>
                              <m:d>
                                <m:dPr>
                                  <m:ctrlPr>
                                    <a:rPr lang="en-US" sz="2200" i="1" dirty="0" smtClean="0">
                                      <a:latin typeface="Cambria Math" panose="02040503050406030204" pitchFamily="18" charset="0"/>
                                      <a:ea typeface="Arial"/>
                                      <a:cs typeface="Arial"/>
                                      <a:sym typeface="Arial"/>
                                    </a:rPr>
                                  </m:ctrlPr>
                                </m:dPr>
                                <m:e>
                                  <m:r>
                                    <a:rPr lang="en-US" sz="2200" i="1" dirty="0" smtClean="0">
                                      <a:latin typeface="Cambria Math" panose="02040503050406030204" pitchFamily="18" charset="0"/>
                                      <a:ea typeface="Arial"/>
                                      <a:cs typeface="Arial"/>
                                      <a:sym typeface="Arial"/>
                                    </a:rPr>
                                    <m:t>𝜑</m:t>
                                  </m:r>
                                </m:e>
                              </m:d>
                            </m:e>
                          </m:func>
                        </m:e>
                      </m:d>
                    </m:oMath>
                  </m:oMathPara>
                </a14:m>
                <a:endParaRPr lang="en-US" sz="2200" dirty="0">
                  <a:latin typeface="Arial"/>
                  <a:ea typeface="Arial"/>
                  <a:cs typeface="Arial"/>
                  <a:sym typeface="Arial"/>
                </a:endParaRP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endParaRPr lang="en-US" sz="2200" dirty="0">
                  <a:latin typeface="Arial"/>
                  <a:ea typeface="Arial"/>
                  <a:cs typeface="Arial"/>
                  <a:sym typeface="Arial"/>
                </a:endParaRPr>
              </a:p>
            </p:txBody>
          </p:sp>
        </mc:Choice>
        <mc:Fallback xmlns="">
          <p:sp>
            <p:nvSpPr>
              <p:cNvPr id="118" name="Google Shape;118;p29">
                <a:extLst>
                  <a:ext uri="{FF2B5EF4-FFF2-40B4-BE49-F238E27FC236}">
                    <a16:creationId xmlns:a16="http://schemas.microsoft.com/office/drawing/2014/main" id="{C0EC19A9-AFBD-E6C2-C07C-A37D11F77586}"/>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709" t="-759"/>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D3E58156-E687-C0DB-8460-334E2B228A6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6AF0D65F-5004-61BE-E75F-17A7F254D52A}"/>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Localization – 2D Rotation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0C1FE1D8-A5B6-6740-5D0A-72186E8A6190}"/>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B8DC7A2-511D-22BD-BDE8-C065032C80D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52C2FE57-0C4A-BECE-CAFB-227B8903DD0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6A0869F-F0CC-AE4D-B16E-937B98B960E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89B7A72-39DE-A3D5-143A-6A5A2A599A0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B46B403-42C7-ED39-606B-884D2F1E1DA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210621314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7A79B86-76EF-FA13-ECD9-5791898508F3}"/>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87FEF1EF-52E6-7FB0-AFBC-6B376D9851A4}"/>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rial"/>
                    <a:ea typeface="Arial"/>
                    <a:cs typeface="Arial"/>
                    <a:sym typeface="Arial"/>
                  </a:rPr>
                  <a:t>Substituting back in the location position:</a:t>
                </a: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d>
                        <m:dPr>
                          <m:ctrlPr>
                            <a:rPr lang="en-US" sz="2200" i="1">
                              <a:latin typeface="Cambria Math" panose="02040503050406030204" pitchFamily="18" charset="0"/>
                              <a:ea typeface="Arial"/>
                              <a:cs typeface="Arial"/>
                              <a:sym typeface="Arial"/>
                            </a:rPr>
                          </m:ctrlPr>
                        </m:dPr>
                        <m:e>
                          <m:sSub>
                            <m:sSubPr>
                              <m:ctrlPr>
                                <a:rPr lang="en-US" sz="2200" i="1">
                                  <a:latin typeface="Cambria Math" panose="02040503050406030204" pitchFamily="18" charset="0"/>
                                  <a:ea typeface="Arial"/>
                                  <a:cs typeface="Arial"/>
                                  <a:sym typeface="Arial"/>
                                </a:rPr>
                              </m:ctrlPr>
                            </m:sSubPr>
                            <m:e>
                              <m:r>
                                <a:rPr lang="en-US" sz="2200" i="1">
                                  <a:latin typeface="Cambria Math" panose="02040503050406030204" pitchFamily="18" charset="0"/>
                                  <a:ea typeface="Arial"/>
                                  <a:cs typeface="Arial"/>
                                  <a:sym typeface="Arial"/>
                                </a:rPr>
                                <m:t>𝑥</m:t>
                              </m:r>
                            </m:e>
                            <m:sub>
                              <m:r>
                                <a:rPr lang="en-US" sz="2200" i="1">
                                  <a:latin typeface="Cambria Math" panose="02040503050406030204" pitchFamily="18" charset="0"/>
                                  <a:ea typeface="Arial"/>
                                  <a:cs typeface="Arial"/>
                                  <a:sym typeface="Arial"/>
                                </a:rPr>
                                <m:t>𝑟</m:t>
                              </m:r>
                            </m:sub>
                          </m:sSub>
                          <m:r>
                            <a:rPr lang="en-US" sz="2200" i="1">
                              <a:latin typeface="Cambria Math" panose="02040503050406030204" pitchFamily="18" charset="0"/>
                              <a:ea typeface="Arial"/>
                              <a:cs typeface="Arial"/>
                              <a:sym typeface="Arial"/>
                            </a:rPr>
                            <m:t>,</m:t>
                          </m:r>
                          <m:sSub>
                            <m:sSubPr>
                              <m:ctrlPr>
                                <a:rPr lang="en-US" sz="2200" i="1">
                                  <a:latin typeface="Cambria Math" panose="02040503050406030204" pitchFamily="18" charset="0"/>
                                  <a:ea typeface="Arial"/>
                                  <a:cs typeface="Arial"/>
                                  <a:sym typeface="Arial"/>
                                </a:rPr>
                              </m:ctrlPr>
                            </m:sSubPr>
                            <m:e>
                              <m:r>
                                <a:rPr lang="en-US" sz="2200" i="1">
                                  <a:latin typeface="Cambria Math" panose="02040503050406030204" pitchFamily="18" charset="0"/>
                                  <a:ea typeface="Arial"/>
                                  <a:cs typeface="Arial"/>
                                  <a:sym typeface="Arial"/>
                                </a:rPr>
                                <m:t>𝑦</m:t>
                              </m:r>
                            </m:e>
                            <m:sub>
                              <m:r>
                                <a:rPr lang="en-US" sz="2200" i="1">
                                  <a:latin typeface="Cambria Math" panose="02040503050406030204" pitchFamily="18" charset="0"/>
                                  <a:ea typeface="Arial"/>
                                  <a:cs typeface="Arial"/>
                                  <a:sym typeface="Arial"/>
                                </a:rPr>
                                <m:t>𝑟</m:t>
                              </m:r>
                            </m:sub>
                          </m:sSub>
                        </m:e>
                      </m:d>
                      <m:r>
                        <a:rPr lang="en-US" sz="2200" i="1">
                          <a:latin typeface="Cambria Math" panose="02040503050406030204" pitchFamily="18" charset="0"/>
                          <a:ea typeface="Arial"/>
                          <a:cs typeface="Arial"/>
                          <a:sym typeface="Arial"/>
                        </a:rPr>
                        <m:t>=</m:t>
                      </m:r>
                      <m:d>
                        <m:dPr>
                          <m:ctrlPr>
                            <a:rPr lang="en-US" sz="2200" i="1">
                              <a:latin typeface="Cambria Math" panose="02040503050406030204" pitchFamily="18" charset="0"/>
                              <a:ea typeface="Arial"/>
                              <a:cs typeface="Arial"/>
                              <a:sym typeface="Arial"/>
                            </a:rPr>
                          </m:ctrlPr>
                        </m:dPr>
                        <m:e>
                          <m:r>
                            <a:rPr lang="en-US" sz="2200" i="1">
                              <a:latin typeface="Cambria Math" panose="02040503050406030204" pitchFamily="18" charset="0"/>
                              <a:ea typeface="Arial"/>
                              <a:cs typeface="Arial"/>
                              <a:sym typeface="Arial"/>
                            </a:rPr>
                            <m:t>𝑟</m:t>
                          </m:r>
                          <m:func>
                            <m:funcPr>
                              <m:ctrlPr>
                                <a:rPr lang="en-US" sz="2200" i="1">
                                  <a:latin typeface="Cambria Math" panose="02040503050406030204" pitchFamily="18" charset="0"/>
                                  <a:ea typeface="Arial"/>
                                  <a:cs typeface="Arial"/>
                                  <a:sym typeface="Arial"/>
                                </a:rPr>
                              </m:ctrlPr>
                            </m:funcPr>
                            <m:fName>
                              <m:r>
                                <m:rPr>
                                  <m:sty m:val="p"/>
                                </m:rPr>
                                <a:rPr lang="en-US" sz="2200">
                                  <a:latin typeface="Cambria Math" panose="02040503050406030204" pitchFamily="18" charset="0"/>
                                  <a:ea typeface="Arial"/>
                                  <a:cs typeface="Arial"/>
                                  <a:sym typeface="Arial"/>
                                </a:rPr>
                                <m:t>cos</m:t>
                              </m:r>
                            </m:fName>
                            <m:e>
                              <m:d>
                                <m:dPr>
                                  <m:ctrlPr>
                                    <a:rPr lang="en-US" sz="2200" i="1">
                                      <a:latin typeface="Cambria Math" panose="02040503050406030204" pitchFamily="18" charset="0"/>
                                      <a:ea typeface="Arial"/>
                                      <a:cs typeface="Arial"/>
                                      <a:sym typeface="Arial"/>
                                    </a:rPr>
                                  </m:ctrlPr>
                                </m:dPr>
                                <m:e>
                                  <m:r>
                                    <a:rPr lang="en-US" sz="2200" i="1" dirty="0">
                                      <a:latin typeface="Cambria Math" panose="02040503050406030204" pitchFamily="18" charset="0"/>
                                      <a:ea typeface="Cambria Math" panose="02040503050406030204" pitchFamily="18" charset="0"/>
                                      <a:cs typeface="Arial"/>
                                      <a:sym typeface="Arial"/>
                                    </a:rPr>
                                    <m:t>𝛼</m:t>
                                  </m:r>
                                </m:e>
                              </m:d>
                            </m:e>
                          </m:func>
                          <m:r>
                            <a:rPr lang="en-US" sz="2200" i="1">
                              <a:latin typeface="Cambria Math" panose="02040503050406030204" pitchFamily="18" charset="0"/>
                              <a:ea typeface="Arial"/>
                              <a:cs typeface="Arial"/>
                              <a:sym typeface="Arial"/>
                            </a:rPr>
                            <m:t>,</m:t>
                          </m:r>
                          <m:r>
                            <a:rPr lang="en-US" sz="2200" i="1">
                              <a:latin typeface="Cambria Math" panose="02040503050406030204" pitchFamily="18" charset="0"/>
                              <a:ea typeface="Arial"/>
                              <a:cs typeface="Arial"/>
                              <a:sym typeface="Arial"/>
                            </a:rPr>
                            <m:t>𝑟</m:t>
                          </m:r>
                          <m:func>
                            <m:funcPr>
                              <m:ctrlPr>
                                <a:rPr lang="en-US" sz="2200" i="1">
                                  <a:latin typeface="Cambria Math" panose="02040503050406030204" pitchFamily="18" charset="0"/>
                                  <a:ea typeface="Arial"/>
                                  <a:cs typeface="Arial"/>
                                  <a:sym typeface="Arial"/>
                                </a:rPr>
                              </m:ctrlPr>
                            </m:funcPr>
                            <m:fName>
                              <m:r>
                                <m:rPr>
                                  <m:sty m:val="p"/>
                                </m:rPr>
                                <a:rPr lang="en-US" sz="2200">
                                  <a:latin typeface="Cambria Math" panose="02040503050406030204" pitchFamily="18" charset="0"/>
                                  <a:ea typeface="Arial"/>
                                  <a:cs typeface="Arial"/>
                                  <a:sym typeface="Arial"/>
                                </a:rPr>
                                <m:t>sin</m:t>
                              </m:r>
                            </m:fName>
                            <m:e>
                              <m:d>
                                <m:dPr>
                                  <m:ctrlPr>
                                    <a:rPr lang="en-US" sz="2200" i="1">
                                      <a:latin typeface="Cambria Math" panose="02040503050406030204" pitchFamily="18" charset="0"/>
                                      <a:ea typeface="Arial"/>
                                      <a:cs typeface="Arial"/>
                                      <a:sym typeface="Arial"/>
                                    </a:rPr>
                                  </m:ctrlPr>
                                </m:dPr>
                                <m:e>
                                  <m:r>
                                    <a:rPr lang="en-US" sz="2200" i="1" dirty="0">
                                      <a:latin typeface="Cambria Math" panose="02040503050406030204" pitchFamily="18" charset="0"/>
                                      <a:ea typeface="Cambria Math" panose="02040503050406030204" pitchFamily="18" charset="0"/>
                                      <a:cs typeface="Arial"/>
                                      <a:sym typeface="Arial"/>
                                    </a:rPr>
                                    <m:t>𝛼</m:t>
                                  </m:r>
                                </m:e>
                              </m:d>
                            </m:e>
                          </m:func>
                        </m:e>
                      </m:d>
                    </m:oMath>
                  </m:oMathPara>
                </a14:m>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To the global position:</a:t>
                </a: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200" i="1" dirty="0">
                              <a:latin typeface="Cambria Math" panose="02040503050406030204" pitchFamily="18" charset="0"/>
                              <a:ea typeface="Arial"/>
                              <a:cs typeface="Arial"/>
                              <a:sym typeface="Arial"/>
                            </a:rPr>
                          </m:ctrlPr>
                        </m:sSubPr>
                        <m:e>
                          <m:r>
                            <a:rPr lang="en-US" sz="2200" i="1" dirty="0">
                              <a:latin typeface="Cambria Math" panose="02040503050406030204" pitchFamily="18" charset="0"/>
                              <a:ea typeface="Arial"/>
                              <a:cs typeface="Arial"/>
                              <a:sym typeface="Arial"/>
                            </a:rPr>
                            <m:t>𝑥</m:t>
                          </m:r>
                        </m:e>
                        <m:sub>
                          <m:r>
                            <a:rPr lang="en-US" sz="2200" i="1" dirty="0">
                              <a:latin typeface="Cambria Math" panose="02040503050406030204" pitchFamily="18" charset="0"/>
                              <a:ea typeface="Arial"/>
                              <a:cs typeface="Arial"/>
                              <a:sym typeface="Arial"/>
                            </a:rPr>
                            <m:t>𝑊</m:t>
                          </m:r>
                        </m:sub>
                      </m:sSub>
                      <m:r>
                        <a:rPr lang="en-US" sz="2200" i="1" dirty="0">
                          <a:latin typeface="Cambria Math" panose="02040503050406030204" pitchFamily="18" charset="0"/>
                          <a:ea typeface="Arial"/>
                          <a:cs typeface="Arial"/>
                          <a:sym typeface="Arial"/>
                        </a:rPr>
                        <m:t>=</m:t>
                      </m:r>
                      <m:r>
                        <a:rPr lang="en-US" sz="2200" i="1" dirty="0">
                          <a:latin typeface="Cambria Math" panose="02040503050406030204" pitchFamily="18" charset="0"/>
                          <a:ea typeface="Arial"/>
                          <a:cs typeface="Arial"/>
                          <a:sym typeface="Arial"/>
                        </a:rPr>
                        <m:t>𝑟</m:t>
                      </m:r>
                      <m:d>
                        <m:dPr>
                          <m:ctrlPr>
                            <a:rPr lang="en-US" sz="2200" i="1" dirty="0">
                              <a:latin typeface="Cambria Math" panose="02040503050406030204" pitchFamily="18" charset="0"/>
                              <a:ea typeface="Arial"/>
                              <a:cs typeface="Arial"/>
                              <a:sym typeface="Arial"/>
                            </a:rPr>
                          </m:ctrlPr>
                        </m:dPr>
                        <m:e>
                          <m:func>
                            <m:funcPr>
                              <m:ctrlPr>
                                <a:rPr lang="en-US" sz="2200" i="1" dirty="0">
                                  <a:latin typeface="Cambria Math" panose="02040503050406030204" pitchFamily="18" charset="0"/>
                                  <a:ea typeface="Arial"/>
                                  <a:cs typeface="Arial"/>
                                  <a:sym typeface="Arial"/>
                                </a:rPr>
                              </m:ctrlPr>
                            </m:funcPr>
                            <m:fName>
                              <m:r>
                                <m:rPr>
                                  <m:sty m:val="p"/>
                                </m:rPr>
                                <a:rPr lang="en-US" sz="2200" dirty="0">
                                  <a:latin typeface="Cambria Math" panose="02040503050406030204" pitchFamily="18" charset="0"/>
                                  <a:ea typeface="Arial"/>
                                  <a:cs typeface="Arial"/>
                                  <a:sym typeface="Arial"/>
                                </a:rPr>
                                <m:t>cos</m:t>
                              </m:r>
                            </m:fName>
                            <m:e>
                              <m:d>
                                <m:dPr>
                                  <m:ctrlPr>
                                    <a:rPr lang="en-US" sz="2200" i="1" dirty="0">
                                      <a:latin typeface="Cambria Math" panose="02040503050406030204" pitchFamily="18" charset="0"/>
                                      <a:ea typeface="Arial"/>
                                      <a:cs typeface="Arial"/>
                                      <a:sym typeface="Arial"/>
                                    </a:rPr>
                                  </m:ctrlPr>
                                </m:dPr>
                                <m:e>
                                  <m:r>
                                    <a:rPr lang="en-US" sz="2200" i="1" dirty="0">
                                      <a:latin typeface="Cambria Math" panose="02040503050406030204" pitchFamily="18" charset="0"/>
                                      <a:ea typeface="Arial"/>
                                      <a:cs typeface="Arial"/>
                                      <a:sym typeface="Arial"/>
                                    </a:rPr>
                                    <m:t>𝛼</m:t>
                                  </m:r>
                                </m:e>
                              </m:d>
                            </m:e>
                          </m:func>
                          <m:func>
                            <m:funcPr>
                              <m:ctrlPr>
                                <a:rPr lang="en-US" sz="2200" i="1" dirty="0">
                                  <a:latin typeface="Cambria Math" panose="02040503050406030204" pitchFamily="18" charset="0"/>
                                  <a:ea typeface="Arial"/>
                                  <a:cs typeface="Arial"/>
                                  <a:sym typeface="Arial"/>
                                </a:rPr>
                              </m:ctrlPr>
                            </m:funcPr>
                            <m:fName>
                              <m:r>
                                <m:rPr>
                                  <m:sty m:val="p"/>
                                </m:rPr>
                                <a:rPr lang="en-US" sz="2200" dirty="0">
                                  <a:latin typeface="Cambria Math" panose="02040503050406030204" pitchFamily="18" charset="0"/>
                                  <a:ea typeface="Arial"/>
                                  <a:cs typeface="Arial"/>
                                  <a:sym typeface="Arial"/>
                                </a:rPr>
                                <m:t>cos</m:t>
                              </m:r>
                            </m:fName>
                            <m:e>
                              <m:d>
                                <m:dPr>
                                  <m:ctrlPr>
                                    <a:rPr lang="en-US" sz="2200" i="1" dirty="0">
                                      <a:latin typeface="Cambria Math" panose="02040503050406030204" pitchFamily="18" charset="0"/>
                                      <a:ea typeface="Arial"/>
                                      <a:cs typeface="Arial"/>
                                      <a:sym typeface="Arial"/>
                                    </a:rPr>
                                  </m:ctrlPr>
                                </m:dPr>
                                <m:e>
                                  <m:r>
                                    <a:rPr lang="en-US" sz="2200" i="1" dirty="0">
                                      <a:latin typeface="Cambria Math" panose="02040503050406030204" pitchFamily="18" charset="0"/>
                                      <a:ea typeface="Arial"/>
                                      <a:cs typeface="Arial"/>
                                      <a:sym typeface="Arial"/>
                                    </a:rPr>
                                    <m:t>𝜑</m:t>
                                  </m:r>
                                </m:e>
                              </m:d>
                            </m:e>
                          </m:func>
                          <m:r>
                            <a:rPr lang="en-US" sz="2200" i="1" dirty="0">
                              <a:latin typeface="Cambria Math" panose="02040503050406030204" pitchFamily="18" charset="0"/>
                              <a:ea typeface="Arial"/>
                              <a:cs typeface="Arial"/>
                              <a:sym typeface="Arial"/>
                            </a:rPr>
                            <m:t>−</m:t>
                          </m:r>
                          <m:func>
                            <m:funcPr>
                              <m:ctrlPr>
                                <a:rPr lang="en-US" sz="2200" i="1" dirty="0">
                                  <a:latin typeface="Cambria Math" panose="02040503050406030204" pitchFamily="18" charset="0"/>
                                  <a:ea typeface="Arial"/>
                                  <a:cs typeface="Arial"/>
                                  <a:sym typeface="Arial"/>
                                </a:rPr>
                              </m:ctrlPr>
                            </m:funcPr>
                            <m:fName>
                              <m:r>
                                <m:rPr>
                                  <m:sty m:val="p"/>
                                </m:rPr>
                                <a:rPr lang="en-US" sz="2200" dirty="0">
                                  <a:latin typeface="Cambria Math" panose="02040503050406030204" pitchFamily="18" charset="0"/>
                                  <a:ea typeface="Arial"/>
                                  <a:cs typeface="Arial"/>
                                  <a:sym typeface="Arial"/>
                                </a:rPr>
                                <m:t>sin</m:t>
                              </m:r>
                            </m:fName>
                            <m:e>
                              <m:d>
                                <m:dPr>
                                  <m:ctrlPr>
                                    <a:rPr lang="en-US" sz="2200" i="1" dirty="0">
                                      <a:latin typeface="Cambria Math" panose="02040503050406030204" pitchFamily="18" charset="0"/>
                                      <a:ea typeface="Arial"/>
                                      <a:cs typeface="Arial"/>
                                      <a:sym typeface="Arial"/>
                                    </a:rPr>
                                  </m:ctrlPr>
                                </m:dPr>
                                <m:e>
                                  <m:r>
                                    <a:rPr lang="en-US" sz="2200" i="1" dirty="0">
                                      <a:latin typeface="Cambria Math" panose="02040503050406030204" pitchFamily="18" charset="0"/>
                                      <a:ea typeface="Arial"/>
                                      <a:cs typeface="Arial"/>
                                      <a:sym typeface="Arial"/>
                                    </a:rPr>
                                    <m:t>𝛼</m:t>
                                  </m:r>
                                </m:e>
                              </m:d>
                            </m:e>
                          </m:func>
                          <m:func>
                            <m:funcPr>
                              <m:ctrlPr>
                                <a:rPr lang="en-US" sz="2200" i="1" dirty="0">
                                  <a:latin typeface="Cambria Math" panose="02040503050406030204" pitchFamily="18" charset="0"/>
                                  <a:ea typeface="Arial"/>
                                  <a:cs typeface="Arial"/>
                                  <a:sym typeface="Arial"/>
                                </a:rPr>
                              </m:ctrlPr>
                            </m:funcPr>
                            <m:fName>
                              <m:r>
                                <m:rPr>
                                  <m:sty m:val="p"/>
                                </m:rPr>
                                <a:rPr lang="en-US" sz="2200" dirty="0">
                                  <a:latin typeface="Cambria Math" panose="02040503050406030204" pitchFamily="18" charset="0"/>
                                  <a:ea typeface="Arial"/>
                                  <a:cs typeface="Arial"/>
                                  <a:sym typeface="Arial"/>
                                </a:rPr>
                                <m:t>sin</m:t>
                              </m:r>
                            </m:fName>
                            <m:e>
                              <m:d>
                                <m:dPr>
                                  <m:ctrlPr>
                                    <a:rPr lang="en-US" sz="2200" i="1" dirty="0">
                                      <a:latin typeface="Cambria Math" panose="02040503050406030204" pitchFamily="18" charset="0"/>
                                      <a:ea typeface="Arial"/>
                                      <a:cs typeface="Arial"/>
                                      <a:sym typeface="Arial"/>
                                    </a:rPr>
                                  </m:ctrlPr>
                                </m:dPr>
                                <m:e>
                                  <m:r>
                                    <a:rPr lang="en-US" sz="2200" i="1" dirty="0">
                                      <a:latin typeface="Cambria Math" panose="02040503050406030204" pitchFamily="18" charset="0"/>
                                      <a:ea typeface="Arial"/>
                                      <a:cs typeface="Arial"/>
                                      <a:sym typeface="Arial"/>
                                    </a:rPr>
                                    <m:t>𝜑</m:t>
                                  </m:r>
                                </m:e>
                              </m:d>
                            </m:e>
                          </m:func>
                        </m:e>
                      </m:d>
                    </m:oMath>
                  </m:oMathPara>
                </a14:m>
                <a:endParaRPr lang="en-US" sz="2200" dirty="0">
                  <a:latin typeface="Arial"/>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200" i="1" dirty="0">
                              <a:latin typeface="Cambria Math" panose="02040503050406030204" pitchFamily="18" charset="0"/>
                              <a:ea typeface="Arial"/>
                              <a:cs typeface="Arial"/>
                              <a:sym typeface="Arial"/>
                            </a:rPr>
                          </m:ctrlPr>
                        </m:sSubPr>
                        <m:e>
                          <m:r>
                            <a:rPr lang="en-US" sz="2200" i="1" dirty="0">
                              <a:latin typeface="Cambria Math" panose="02040503050406030204" pitchFamily="18" charset="0"/>
                              <a:ea typeface="Arial"/>
                              <a:cs typeface="Arial"/>
                              <a:sym typeface="Arial"/>
                            </a:rPr>
                            <m:t>𝑦</m:t>
                          </m:r>
                        </m:e>
                        <m:sub>
                          <m:r>
                            <a:rPr lang="en-US" sz="2200" i="1" dirty="0">
                              <a:latin typeface="Cambria Math" panose="02040503050406030204" pitchFamily="18" charset="0"/>
                              <a:ea typeface="Arial"/>
                              <a:cs typeface="Arial"/>
                              <a:sym typeface="Arial"/>
                            </a:rPr>
                            <m:t>𝑊</m:t>
                          </m:r>
                        </m:sub>
                      </m:sSub>
                      <m:r>
                        <a:rPr lang="en-US" sz="2200" i="1" dirty="0">
                          <a:latin typeface="Cambria Math" panose="02040503050406030204" pitchFamily="18" charset="0"/>
                          <a:ea typeface="Arial"/>
                          <a:cs typeface="Arial"/>
                          <a:sym typeface="Arial"/>
                        </a:rPr>
                        <m:t>=</m:t>
                      </m:r>
                      <m:r>
                        <a:rPr lang="en-US" sz="2200" i="1" dirty="0">
                          <a:latin typeface="Cambria Math" panose="02040503050406030204" pitchFamily="18" charset="0"/>
                          <a:ea typeface="Arial"/>
                          <a:cs typeface="Arial"/>
                          <a:sym typeface="Arial"/>
                        </a:rPr>
                        <m:t>𝑟</m:t>
                      </m:r>
                      <m:d>
                        <m:dPr>
                          <m:ctrlPr>
                            <a:rPr lang="en-US" sz="2200" i="1" dirty="0">
                              <a:latin typeface="Cambria Math" panose="02040503050406030204" pitchFamily="18" charset="0"/>
                              <a:ea typeface="Arial"/>
                              <a:cs typeface="Arial"/>
                              <a:sym typeface="Arial"/>
                            </a:rPr>
                          </m:ctrlPr>
                        </m:dPr>
                        <m:e>
                          <m:func>
                            <m:funcPr>
                              <m:ctrlPr>
                                <a:rPr lang="en-US" sz="2200" i="1" dirty="0">
                                  <a:latin typeface="Cambria Math" panose="02040503050406030204" pitchFamily="18" charset="0"/>
                                  <a:ea typeface="Arial"/>
                                  <a:cs typeface="Arial"/>
                                  <a:sym typeface="Arial"/>
                                </a:rPr>
                              </m:ctrlPr>
                            </m:funcPr>
                            <m:fName>
                              <m:r>
                                <m:rPr>
                                  <m:sty m:val="p"/>
                                </m:rPr>
                                <a:rPr lang="en-US" sz="2200" dirty="0">
                                  <a:latin typeface="Cambria Math" panose="02040503050406030204" pitchFamily="18" charset="0"/>
                                  <a:ea typeface="Arial"/>
                                  <a:cs typeface="Arial"/>
                                  <a:sym typeface="Arial"/>
                                </a:rPr>
                                <m:t>sin</m:t>
                              </m:r>
                            </m:fName>
                            <m:e>
                              <m:d>
                                <m:dPr>
                                  <m:ctrlPr>
                                    <a:rPr lang="en-US" sz="2200" i="1" dirty="0">
                                      <a:latin typeface="Cambria Math" panose="02040503050406030204" pitchFamily="18" charset="0"/>
                                      <a:ea typeface="Arial"/>
                                      <a:cs typeface="Arial"/>
                                      <a:sym typeface="Arial"/>
                                    </a:rPr>
                                  </m:ctrlPr>
                                </m:dPr>
                                <m:e>
                                  <m:r>
                                    <a:rPr lang="en-US" sz="2200" i="1" dirty="0">
                                      <a:latin typeface="Cambria Math" panose="02040503050406030204" pitchFamily="18" charset="0"/>
                                      <a:ea typeface="Arial"/>
                                      <a:cs typeface="Arial"/>
                                      <a:sym typeface="Arial"/>
                                    </a:rPr>
                                    <m:t>𝛼</m:t>
                                  </m:r>
                                </m:e>
                              </m:d>
                            </m:e>
                          </m:func>
                          <m:func>
                            <m:funcPr>
                              <m:ctrlPr>
                                <a:rPr lang="en-US" sz="2200" i="1" dirty="0">
                                  <a:latin typeface="Cambria Math" panose="02040503050406030204" pitchFamily="18" charset="0"/>
                                  <a:ea typeface="Arial"/>
                                  <a:cs typeface="Arial"/>
                                  <a:sym typeface="Arial"/>
                                </a:rPr>
                              </m:ctrlPr>
                            </m:funcPr>
                            <m:fName>
                              <m:r>
                                <m:rPr>
                                  <m:sty m:val="p"/>
                                </m:rPr>
                                <a:rPr lang="en-US" sz="2200" dirty="0">
                                  <a:latin typeface="Cambria Math" panose="02040503050406030204" pitchFamily="18" charset="0"/>
                                  <a:ea typeface="Arial"/>
                                  <a:cs typeface="Arial"/>
                                  <a:sym typeface="Arial"/>
                                </a:rPr>
                                <m:t>cos</m:t>
                              </m:r>
                            </m:fName>
                            <m:e>
                              <m:d>
                                <m:dPr>
                                  <m:ctrlPr>
                                    <a:rPr lang="en-US" sz="2200" i="1" dirty="0">
                                      <a:latin typeface="Cambria Math" panose="02040503050406030204" pitchFamily="18" charset="0"/>
                                      <a:ea typeface="Arial"/>
                                      <a:cs typeface="Arial"/>
                                      <a:sym typeface="Arial"/>
                                    </a:rPr>
                                  </m:ctrlPr>
                                </m:dPr>
                                <m:e>
                                  <m:r>
                                    <a:rPr lang="en-US" sz="2200" i="1" dirty="0">
                                      <a:latin typeface="Cambria Math" panose="02040503050406030204" pitchFamily="18" charset="0"/>
                                      <a:ea typeface="Arial"/>
                                      <a:cs typeface="Arial"/>
                                      <a:sym typeface="Arial"/>
                                    </a:rPr>
                                    <m:t>𝜑</m:t>
                                  </m:r>
                                </m:e>
                              </m:d>
                            </m:e>
                          </m:func>
                          <m:r>
                            <a:rPr lang="en-US" sz="2200" i="1" dirty="0">
                              <a:latin typeface="Cambria Math" panose="02040503050406030204" pitchFamily="18" charset="0"/>
                              <a:ea typeface="Arial"/>
                              <a:cs typeface="Arial"/>
                              <a:sym typeface="Arial"/>
                            </a:rPr>
                            <m:t>+</m:t>
                          </m:r>
                          <m:func>
                            <m:funcPr>
                              <m:ctrlPr>
                                <a:rPr lang="en-US" sz="2200" i="1" dirty="0">
                                  <a:latin typeface="Cambria Math" panose="02040503050406030204" pitchFamily="18" charset="0"/>
                                  <a:ea typeface="Arial"/>
                                  <a:cs typeface="Arial"/>
                                  <a:sym typeface="Arial"/>
                                </a:rPr>
                              </m:ctrlPr>
                            </m:funcPr>
                            <m:fName>
                              <m:r>
                                <m:rPr>
                                  <m:sty m:val="p"/>
                                </m:rPr>
                                <a:rPr lang="en-US" sz="2200" dirty="0">
                                  <a:latin typeface="Cambria Math" panose="02040503050406030204" pitchFamily="18" charset="0"/>
                                  <a:ea typeface="Arial"/>
                                  <a:cs typeface="Arial"/>
                                  <a:sym typeface="Arial"/>
                                </a:rPr>
                                <m:t>cos</m:t>
                              </m:r>
                            </m:fName>
                            <m:e>
                              <m:d>
                                <m:dPr>
                                  <m:ctrlPr>
                                    <a:rPr lang="en-US" sz="2200" i="1" dirty="0">
                                      <a:latin typeface="Cambria Math" panose="02040503050406030204" pitchFamily="18" charset="0"/>
                                      <a:ea typeface="Arial"/>
                                      <a:cs typeface="Arial"/>
                                      <a:sym typeface="Arial"/>
                                    </a:rPr>
                                  </m:ctrlPr>
                                </m:dPr>
                                <m:e>
                                  <m:r>
                                    <a:rPr lang="en-US" sz="2200" i="1" dirty="0">
                                      <a:latin typeface="Cambria Math" panose="02040503050406030204" pitchFamily="18" charset="0"/>
                                      <a:ea typeface="Arial"/>
                                      <a:cs typeface="Arial"/>
                                      <a:sym typeface="Arial"/>
                                    </a:rPr>
                                    <m:t>𝛼</m:t>
                                  </m:r>
                                </m:e>
                              </m:d>
                            </m:e>
                          </m:func>
                          <m:func>
                            <m:funcPr>
                              <m:ctrlPr>
                                <a:rPr lang="en-US" sz="2200" i="1" dirty="0">
                                  <a:latin typeface="Cambria Math" panose="02040503050406030204" pitchFamily="18" charset="0"/>
                                  <a:ea typeface="Arial"/>
                                  <a:cs typeface="Arial"/>
                                  <a:sym typeface="Arial"/>
                                </a:rPr>
                              </m:ctrlPr>
                            </m:funcPr>
                            <m:fName>
                              <m:r>
                                <m:rPr>
                                  <m:sty m:val="p"/>
                                </m:rPr>
                                <a:rPr lang="en-US" sz="2200" dirty="0">
                                  <a:latin typeface="Cambria Math" panose="02040503050406030204" pitchFamily="18" charset="0"/>
                                  <a:ea typeface="Arial"/>
                                  <a:cs typeface="Arial"/>
                                  <a:sym typeface="Arial"/>
                                </a:rPr>
                                <m:t>sin</m:t>
                              </m:r>
                            </m:fName>
                            <m:e>
                              <m:d>
                                <m:dPr>
                                  <m:ctrlPr>
                                    <a:rPr lang="en-US" sz="2200" i="1" dirty="0">
                                      <a:latin typeface="Cambria Math" panose="02040503050406030204" pitchFamily="18" charset="0"/>
                                      <a:ea typeface="Arial"/>
                                      <a:cs typeface="Arial"/>
                                      <a:sym typeface="Arial"/>
                                    </a:rPr>
                                  </m:ctrlPr>
                                </m:dPr>
                                <m:e>
                                  <m:r>
                                    <a:rPr lang="en-US" sz="2200" i="1" dirty="0">
                                      <a:latin typeface="Cambria Math" panose="02040503050406030204" pitchFamily="18" charset="0"/>
                                      <a:ea typeface="Arial"/>
                                      <a:cs typeface="Arial"/>
                                      <a:sym typeface="Arial"/>
                                    </a:rPr>
                                    <m:t>𝜑</m:t>
                                  </m:r>
                                </m:e>
                              </m:d>
                            </m:e>
                          </m:func>
                        </m:e>
                      </m:d>
                    </m:oMath>
                  </m:oMathPara>
                </a14:m>
                <a:endParaRPr lang="en-US" sz="2200" dirty="0">
                  <a:latin typeface="Arial"/>
                  <a:ea typeface="Arial"/>
                  <a:cs typeface="Arial"/>
                  <a:sym typeface="Arial"/>
                </a:endParaRP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We thus get:</a:t>
                </a: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200" i="1" dirty="0" smtClean="0">
                              <a:latin typeface="Cambria Math" panose="02040503050406030204" pitchFamily="18" charset="0"/>
                              <a:ea typeface="Arial"/>
                              <a:cs typeface="Arial"/>
                              <a:sym typeface="Arial"/>
                            </a:rPr>
                          </m:ctrlPr>
                        </m:sSubPr>
                        <m:e>
                          <m:r>
                            <a:rPr lang="en-US" sz="2200" i="1" dirty="0">
                              <a:latin typeface="Cambria Math" panose="02040503050406030204" pitchFamily="18" charset="0"/>
                              <a:ea typeface="Arial"/>
                              <a:cs typeface="Arial"/>
                              <a:sym typeface="Arial"/>
                            </a:rPr>
                            <m:t>𝑥</m:t>
                          </m:r>
                        </m:e>
                        <m:sub>
                          <m:r>
                            <a:rPr lang="en-US" sz="2200" i="1" dirty="0">
                              <a:latin typeface="Cambria Math" panose="02040503050406030204" pitchFamily="18" charset="0"/>
                              <a:ea typeface="Arial"/>
                              <a:cs typeface="Arial"/>
                              <a:sym typeface="Arial"/>
                            </a:rPr>
                            <m:t>𝑊</m:t>
                          </m:r>
                        </m:sub>
                      </m:sSub>
                      <m:r>
                        <a:rPr lang="en-US" sz="2200" i="1" dirty="0">
                          <a:latin typeface="Cambria Math" panose="02040503050406030204" pitchFamily="18" charset="0"/>
                          <a:ea typeface="Arial"/>
                          <a:cs typeface="Arial"/>
                          <a:sym typeface="Arial"/>
                        </a:rPr>
                        <m:t>=</m:t>
                      </m:r>
                      <m:sSub>
                        <m:sSubPr>
                          <m:ctrlPr>
                            <a:rPr lang="en-US" sz="2200" i="1" dirty="0">
                              <a:latin typeface="Cambria Math" panose="02040503050406030204" pitchFamily="18" charset="0"/>
                              <a:ea typeface="Arial"/>
                              <a:cs typeface="Arial"/>
                              <a:sym typeface="Arial"/>
                            </a:rPr>
                          </m:ctrlPr>
                        </m:sSubPr>
                        <m:e>
                          <m:r>
                            <a:rPr lang="en-US" sz="2200" i="1" dirty="0">
                              <a:latin typeface="Cambria Math" panose="02040503050406030204" pitchFamily="18" charset="0"/>
                              <a:ea typeface="Arial"/>
                              <a:cs typeface="Arial"/>
                              <a:sym typeface="Arial"/>
                            </a:rPr>
                            <m:t>𝑥</m:t>
                          </m:r>
                        </m:e>
                        <m:sub>
                          <m:r>
                            <a:rPr lang="en-US" sz="2200" i="1" dirty="0">
                              <a:latin typeface="Cambria Math" panose="02040503050406030204" pitchFamily="18" charset="0"/>
                              <a:ea typeface="Arial"/>
                              <a:cs typeface="Arial"/>
                              <a:sym typeface="Arial"/>
                            </a:rPr>
                            <m:t>𝑅</m:t>
                          </m:r>
                        </m:sub>
                      </m:sSub>
                      <m:func>
                        <m:funcPr>
                          <m:ctrlPr>
                            <a:rPr lang="en-US" sz="2200" i="1" dirty="0" smtClean="0">
                              <a:latin typeface="Cambria Math" panose="02040503050406030204" pitchFamily="18" charset="0"/>
                              <a:ea typeface="Arial"/>
                              <a:cs typeface="Arial"/>
                              <a:sym typeface="Arial"/>
                            </a:rPr>
                          </m:ctrlPr>
                        </m:funcPr>
                        <m:fName>
                          <m:r>
                            <m:rPr>
                              <m:sty m:val="p"/>
                            </m:rPr>
                            <a:rPr lang="en-US" sz="2200" i="0" dirty="0">
                              <a:latin typeface="Cambria Math" panose="02040503050406030204" pitchFamily="18" charset="0"/>
                              <a:ea typeface="Arial"/>
                              <a:cs typeface="Arial"/>
                              <a:sym typeface="Arial"/>
                            </a:rPr>
                            <m:t>cos</m:t>
                          </m:r>
                        </m:fName>
                        <m:e>
                          <m:d>
                            <m:dPr>
                              <m:ctrlPr>
                                <a:rPr lang="en-US" sz="2200" i="1" dirty="0" smtClean="0">
                                  <a:latin typeface="Cambria Math" panose="02040503050406030204" pitchFamily="18" charset="0"/>
                                  <a:ea typeface="Arial"/>
                                  <a:cs typeface="Arial"/>
                                  <a:sym typeface="Arial"/>
                                </a:rPr>
                              </m:ctrlPr>
                            </m:dPr>
                            <m:e>
                              <m:r>
                                <a:rPr lang="en-US" sz="2200" i="1" dirty="0" smtClean="0">
                                  <a:latin typeface="Cambria Math" panose="02040503050406030204" pitchFamily="18" charset="0"/>
                                  <a:ea typeface="Arial"/>
                                  <a:cs typeface="Arial"/>
                                  <a:sym typeface="Arial"/>
                                </a:rPr>
                                <m:t>𝜑</m:t>
                              </m:r>
                            </m:e>
                          </m:d>
                        </m:e>
                      </m:func>
                      <m:r>
                        <a:rPr lang="en-US" sz="2200" i="1" dirty="0">
                          <a:latin typeface="Cambria Math" panose="02040503050406030204" pitchFamily="18" charset="0"/>
                          <a:ea typeface="Arial"/>
                          <a:cs typeface="Arial"/>
                          <a:sym typeface="Arial"/>
                        </a:rPr>
                        <m:t>−</m:t>
                      </m:r>
                      <m:sSub>
                        <m:sSubPr>
                          <m:ctrlPr>
                            <a:rPr lang="en-US" sz="2200" i="1" dirty="0">
                              <a:latin typeface="Cambria Math" panose="02040503050406030204" pitchFamily="18" charset="0"/>
                              <a:ea typeface="Arial"/>
                              <a:cs typeface="Arial"/>
                              <a:sym typeface="Arial"/>
                            </a:rPr>
                          </m:ctrlPr>
                        </m:sSubPr>
                        <m:e>
                          <m:r>
                            <a:rPr lang="en-US" sz="2200" i="1" dirty="0">
                              <a:latin typeface="Cambria Math" panose="02040503050406030204" pitchFamily="18" charset="0"/>
                              <a:ea typeface="Arial"/>
                              <a:cs typeface="Arial"/>
                              <a:sym typeface="Arial"/>
                            </a:rPr>
                            <m:t>𝑦</m:t>
                          </m:r>
                        </m:e>
                        <m:sub>
                          <m:r>
                            <a:rPr lang="en-US" sz="2200" i="1" dirty="0">
                              <a:latin typeface="Cambria Math" panose="02040503050406030204" pitchFamily="18" charset="0"/>
                              <a:ea typeface="Arial"/>
                              <a:cs typeface="Arial"/>
                              <a:sym typeface="Arial"/>
                            </a:rPr>
                            <m:t>𝑅</m:t>
                          </m:r>
                        </m:sub>
                      </m:sSub>
                      <m:func>
                        <m:funcPr>
                          <m:ctrlPr>
                            <a:rPr lang="en-US" sz="2200" i="1" dirty="0" smtClean="0">
                              <a:latin typeface="Cambria Math" panose="02040503050406030204" pitchFamily="18" charset="0"/>
                              <a:ea typeface="Arial"/>
                              <a:cs typeface="Arial"/>
                              <a:sym typeface="Arial"/>
                            </a:rPr>
                          </m:ctrlPr>
                        </m:funcPr>
                        <m:fName>
                          <m:r>
                            <m:rPr>
                              <m:sty m:val="p"/>
                            </m:rPr>
                            <a:rPr lang="en-US" sz="2200" i="0" dirty="0">
                              <a:latin typeface="Cambria Math" panose="02040503050406030204" pitchFamily="18" charset="0"/>
                              <a:ea typeface="Arial"/>
                              <a:cs typeface="Arial"/>
                              <a:sym typeface="Arial"/>
                            </a:rPr>
                            <m:t>sin</m:t>
                          </m:r>
                        </m:fName>
                        <m:e>
                          <m:d>
                            <m:dPr>
                              <m:ctrlPr>
                                <a:rPr lang="en-US" sz="2200" i="1" dirty="0" smtClean="0">
                                  <a:latin typeface="Cambria Math" panose="02040503050406030204" pitchFamily="18" charset="0"/>
                                  <a:ea typeface="Arial"/>
                                  <a:cs typeface="Arial"/>
                                  <a:sym typeface="Arial"/>
                                </a:rPr>
                              </m:ctrlPr>
                            </m:dPr>
                            <m:e>
                              <m:r>
                                <a:rPr lang="en-US" sz="2200" i="1" dirty="0" smtClean="0">
                                  <a:latin typeface="Cambria Math" panose="02040503050406030204" pitchFamily="18" charset="0"/>
                                  <a:ea typeface="Arial"/>
                                  <a:cs typeface="Arial"/>
                                  <a:sym typeface="Arial"/>
                                </a:rPr>
                                <m:t>𝜑</m:t>
                              </m:r>
                            </m:e>
                          </m:d>
                        </m:e>
                      </m:func>
                    </m:oMath>
                  </m:oMathPara>
                </a14:m>
                <a:endParaRPr lang="en-US" sz="2200" dirty="0">
                  <a:latin typeface="Arial"/>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200" i="1" dirty="0" smtClean="0">
                              <a:latin typeface="Cambria Math" panose="02040503050406030204" pitchFamily="18" charset="0"/>
                              <a:ea typeface="Arial"/>
                              <a:cs typeface="Arial"/>
                              <a:sym typeface="Arial"/>
                            </a:rPr>
                          </m:ctrlPr>
                        </m:sSubPr>
                        <m:e>
                          <m:r>
                            <a:rPr lang="en-US" sz="2200" i="1" dirty="0">
                              <a:latin typeface="Cambria Math" panose="02040503050406030204" pitchFamily="18" charset="0"/>
                              <a:ea typeface="Arial"/>
                              <a:cs typeface="Arial"/>
                              <a:sym typeface="Arial"/>
                            </a:rPr>
                            <m:t>𝑦</m:t>
                          </m:r>
                        </m:e>
                        <m:sub>
                          <m:r>
                            <a:rPr lang="en-US" sz="2200" i="1" dirty="0">
                              <a:latin typeface="Cambria Math" panose="02040503050406030204" pitchFamily="18" charset="0"/>
                              <a:ea typeface="Arial"/>
                              <a:cs typeface="Arial"/>
                              <a:sym typeface="Arial"/>
                            </a:rPr>
                            <m:t>𝑊</m:t>
                          </m:r>
                        </m:sub>
                      </m:sSub>
                      <m:r>
                        <a:rPr lang="en-US" sz="2200" i="1" dirty="0">
                          <a:latin typeface="Cambria Math" panose="02040503050406030204" pitchFamily="18" charset="0"/>
                          <a:ea typeface="Arial"/>
                          <a:cs typeface="Arial"/>
                          <a:sym typeface="Arial"/>
                        </a:rPr>
                        <m:t>=</m:t>
                      </m:r>
                      <m:sSub>
                        <m:sSubPr>
                          <m:ctrlPr>
                            <a:rPr lang="en-US" sz="2200" i="1" dirty="0">
                              <a:latin typeface="Cambria Math" panose="02040503050406030204" pitchFamily="18" charset="0"/>
                              <a:ea typeface="Arial"/>
                              <a:cs typeface="Arial"/>
                              <a:sym typeface="Arial"/>
                            </a:rPr>
                          </m:ctrlPr>
                        </m:sSubPr>
                        <m:e>
                          <m:r>
                            <a:rPr lang="en-US" sz="2200" i="1" dirty="0">
                              <a:latin typeface="Cambria Math" panose="02040503050406030204" pitchFamily="18" charset="0"/>
                              <a:ea typeface="Arial"/>
                              <a:cs typeface="Arial"/>
                              <a:sym typeface="Arial"/>
                            </a:rPr>
                            <m:t>𝑥</m:t>
                          </m:r>
                        </m:e>
                        <m:sub>
                          <m:r>
                            <a:rPr lang="en-US" sz="2200" i="1" dirty="0">
                              <a:latin typeface="Cambria Math" panose="02040503050406030204" pitchFamily="18" charset="0"/>
                              <a:ea typeface="Arial"/>
                              <a:cs typeface="Arial"/>
                              <a:sym typeface="Arial"/>
                            </a:rPr>
                            <m:t>𝑅</m:t>
                          </m:r>
                        </m:sub>
                      </m:sSub>
                      <m:func>
                        <m:funcPr>
                          <m:ctrlPr>
                            <a:rPr lang="en-US" sz="2200" i="1" dirty="0" smtClean="0">
                              <a:latin typeface="Cambria Math" panose="02040503050406030204" pitchFamily="18" charset="0"/>
                              <a:ea typeface="Arial"/>
                              <a:cs typeface="Arial"/>
                              <a:sym typeface="Arial"/>
                            </a:rPr>
                          </m:ctrlPr>
                        </m:funcPr>
                        <m:fName>
                          <m:r>
                            <m:rPr>
                              <m:sty m:val="p"/>
                            </m:rPr>
                            <a:rPr lang="en-US" sz="2200" i="0" dirty="0">
                              <a:latin typeface="Cambria Math" panose="02040503050406030204" pitchFamily="18" charset="0"/>
                              <a:ea typeface="Arial"/>
                              <a:cs typeface="Arial"/>
                              <a:sym typeface="Arial"/>
                            </a:rPr>
                            <m:t>sin</m:t>
                          </m:r>
                        </m:fName>
                        <m:e>
                          <m:d>
                            <m:dPr>
                              <m:ctrlPr>
                                <a:rPr lang="en-US" sz="2200" i="1" dirty="0" smtClean="0">
                                  <a:latin typeface="Cambria Math" panose="02040503050406030204" pitchFamily="18" charset="0"/>
                                  <a:ea typeface="Arial"/>
                                  <a:cs typeface="Arial"/>
                                  <a:sym typeface="Arial"/>
                                </a:rPr>
                              </m:ctrlPr>
                            </m:dPr>
                            <m:e>
                              <m:r>
                                <a:rPr lang="en-US" sz="2200" i="1" dirty="0" smtClean="0">
                                  <a:latin typeface="Cambria Math" panose="02040503050406030204" pitchFamily="18" charset="0"/>
                                  <a:ea typeface="Arial"/>
                                  <a:cs typeface="Arial"/>
                                  <a:sym typeface="Arial"/>
                                </a:rPr>
                                <m:t>𝜑</m:t>
                              </m:r>
                            </m:e>
                          </m:d>
                        </m:e>
                      </m:func>
                      <m:r>
                        <a:rPr lang="en-US" sz="2200" i="1" dirty="0">
                          <a:latin typeface="Cambria Math" panose="02040503050406030204" pitchFamily="18" charset="0"/>
                          <a:ea typeface="Arial"/>
                          <a:cs typeface="Arial"/>
                          <a:sym typeface="Arial"/>
                        </a:rPr>
                        <m:t>+</m:t>
                      </m:r>
                      <m:sSub>
                        <m:sSubPr>
                          <m:ctrlPr>
                            <a:rPr lang="en-US" sz="2200" i="1" dirty="0">
                              <a:latin typeface="Cambria Math" panose="02040503050406030204" pitchFamily="18" charset="0"/>
                              <a:ea typeface="Arial"/>
                              <a:cs typeface="Arial"/>
                              <a:sym typeface="Arial"/>
                            </a:rPr>
                          </m:ctrlPr>
                        </m:sSubPr>
                        <m:e>
                          <m:r>
                            <a:rPr lang="en-US" sz="2200" i="1" dirty="0">
                              <a:latin typeface="Cambria Math" panose="02040503050406030204" pitchFamily="18" charset="0"/>
                              <a:ea typeface="Arial"/>
                              <a:cs typeface="Arial"/>
                              <a:sym typeface="Arial"/>
                            </a:rPr>
                            <m:t>𝑦</m:t>
                          </m:r>
                        </m:e>
                        <m:sub>
                          <m:r>
                            <a:rPr lang="en-US" sz="2200" i="1" dirty="0">
                              <a:latin typeface="Cambria Math" panose="02040503050406030204" pitchFamily="18" charset="0"/>
                              <a:ea typeface="Arial"/>
                              <a:cs typeface="Arial"/>
                              <a:sym typeface="Arial"/>
                            </a:rPr>
                            <m:t>𝑅</m:t>
                          </m:r>
                        </m:sub>
                      </m:sSub>
                      <m:func>
                        <m:funcPr>
                          <m:ctrlPr>
                            <a:rPr lang="en-US" sz="2200" i="1" dirty="0" smtClean="0">
                              <a:latin typeface="Cambria Math" panose="02040503050406030204" pitchFamily="18" charset="0"/>
                              <a:ea typeface="Arial"/>
                              <a:cs typeface="Arial"/>
                              <a:sym typeface="Arial"/>
                            </a:rPr>
                          </m:ctrlPr>
                        </m:funcPr>
                        <m:fName>
                          <m:r>
                            <m:rPr>
                              <m:sty m:val="p"/>
                            </m:rPr>
                            <a:rPr lang="en-US" sz="2200" i="0" dirty="0">
                              <a:latin typeface="Cambria Math" panose="02040503050406030204" pitchFamily="18" charset="0"/>
                              <a:ea typeface="Arial"/>
                              <a:cs typeface="Arial"/>
                              <a:sym typeface="Arial"/>
                            </a:rPr>
                            <m:t>cos</m:t>
                          </m:r>
                        </m:fName>
                        <m:e>
                          <m:d>
                            <m:dPr>
                              <m:ctrlPr>
                                <a:rPr lang="en-US" sz="2200" i="1" dirty="0" smtClean="0">
                                  <a:latin typeface="Cambria Math" panose="02040503050406030204" pitchFamily="18" charset="0"/>
                                  <a:ea typeface="Arial"/>
                                  <a:cs typeface="Arial"/>
                                  <a:sym typeface="Arial"/>
                                </a:rPr>
                              </m:ctrlPr>
                            </m:dPr>
                            <m:e>
                              <m:r>
                                <a:rPr lang="en-US" sz="2200" i="1" dirty="0" smtClean="0">
                                  <a:latin typeface="Cambria Math" panose="02040503050406030204" pitchFamily="18" charset="0"/>
                                  <a:ea typeface="Arial"/>
                                  <a:cs typeface="Arial"/>
                                  <a:sym typeface="Arial"/>
                                </a:rPr>
                                <m:t>𝜑</m:t>
                              </m:r>
                            </m:e>
                          </m:d>
                        </m:e>
                      </m:func>
                    </m:oMath>
                  </m:oMathPara>
                </a14:m>
                <a:endParaRPr lang="en-US" sz="2200" dirty="0">
                  <a:latin typeface="Arial"/>
                  <a:ea typeface="Arial"/>
                  <a:cs typeface="Arial"/>
                  <a:sym typeface="Arial"/>
                </a:endParaRP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Which is elegantly expressed using matrix multiplications!</a:t>
                </a:r>
              </a:p>
            </p:txBody>
          </p:sp>
        </mc:Choice>
        <mc:Fallback xmlns="">
          <p:sp>
            <p:nvSpPr>
              <p:cNvPr id="118" name="Google Shape;118;p29">
                <a:extLst>
                  <a:ext uri="{FF2B5EF4-FFF2-40B4-BE49-F238E27FC236}">
                    <a16:creationId xmlns:a16="http://schemas.microsoft.com/office/drawing/2014/main" id="{87FEF1EF-52E6-7FB0-AFBC-6B376D9851A4}"/>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709" t="-759"/>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FD97D2A1-F794-A63C-4C7B-83E5B6A35D7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C4B5F628-9D9D-5E9D-58BF-65AB1EA9BB52}"/>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Localization – 2D Rotation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0C4DAADA-42CC-6438-B643-F13AF6C395C3}"/>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1B31738-EE9E-66EA-16C7-3D482C040E6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F5A0E4D-22AD-1433-5819-4424B3A6810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E2C8B04-29C5-8E83-F037-77A70D9D11B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A34AC5D-DA2F-352E-E249-15D9A58F49D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C9AA62FB-FF34-1297-EADD-715AE979A04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062928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6D19D13-E4B9-45BB-CB92-CB34C802DB59}"/>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D3CEFAEE-C8AB-32F3-C659-25F3B0FA390A}"/>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rial"/>
                    <a:ea typeface="Arial"/>
                    <a:cs typeface="Arial"/>
                    <a:sym typeface="Arial"/>
                  </a:rPr>
                  <a:t>The system of equations can be written as a 2x2 matrix </a:t>
                </a:r>
                <a14:m>
                  <m:oMath xmlns:m="http://schemas.openxmlformats.org/officeDocument/2006/math">
                    <m:sSub>
                      <m:sSubPr>
                        <m:ctrlPr>
                          <a:rPr lang="en-US" sz="2200" i="1" smtClean="0">
                            <a:latin typeface="Cambria Math" panose="02040503050406030204" pitchFamily="18" charset="0"/>
                            <a:cs typeface="Arial"/>
                            <a:sym typeface="Arial"/>
                          </a:rPr>
                        </m:ctrlPr>
                      </m:sSubPr>
                      <m:e>
                        <m:r>
                          <m:rPr>
                            <m:sty m:val="p"/>
                          </m:rPr>
                          <a:rPr lang="en-US" sz="2200" b="0" i="1" smtClean="0">
                            <a:latin typeface="Cambria Math" panose="02040503050406030204" pitchFamily="18" charset="0"/>
                            <a:cs typeface="Arial"/>
                            <a:sym typeface="Arial"/>
                          </a:rPr>
                          <m:t>P</m:t>
                        </m:r>
                      </m:e>
                      <m:sub>
                        <m:r>
                          <m:rPr>
                            <m:sty m:val="p"/>
                          </m:rPr>
                          <a:rPr lang="en-US" sz="2200" b="0" i="1" smtClean="0">
                            <a:latin typeface="Cambria Math" panose="02040503050406030204" pitchFamily="18" charset="0"/>
                            <a:cs typeface="Arial"/>
                            <a:sym typeface="Arial"/>
                          </a:rPr>
                          <m:t>w</m:t>
                        </m:r>
                      </m:sub>
                    </m:sSub>
                    <m:r>
                      <a:rPr lang="en-US" sz="2200" b="0" i="1" smtClean="0">
                        <a:latin typeface="Cambria Math" panose="02040503050406030204" pitchFamily="18" charset="0"/>
                        <a:cs typeface="Arial"/>
                        <a:sym typeface="Arial"/>
                      </a:rPr>
                      <m:t>=</m:t>
                    </m:r>
                    <m:r>
                      <a:rPr lang="en-US" sz="2200" b="0" i="1" smtClean="0">
                        <a:latin typeface="Cambria Math" panose="02040503050406030204" pitchFamily="18" charset="0"/>
                        <a:cs typeface="Arial"/>
                        <a:sym typeface="Arial"/>
                      </a:rPr>
                      <m:t>𝑅</m:t>
                    </m:r>
                    <m:d>
                      <m:dPr>
                        <m:ctrlPr>
                          <a:rPr lang="en-US" sz="2200" b="0" i="1" smtClean="0">
                            <a:latin typeface="Cambria Math" panose="02040503050406030204" pitchFamily="18" charset="0"/>
                            <a:cs typeface="Arial"/>
                            <a:sym typeface="Arial"/>
                          </a:rPr>
                        </m:ctrlPr>
                      </m:dPr>
                      <m:e>
                        <m:r>
                          <a:rPr lang="en-US" sz="2200" b="0" i="1" smtClean="0">
                            <a:latin typeface="Cambria Math" panose="02040503050406030204" pitchFamily="18" charset="0"/>
                            <a:ea typeface="Cambria Math" panose="02040503050406030204" pitchFamily="18" charset="0"/>
                            <a:cs typeface="Arial"/>
                            <a:sym typeface="Arial"/>
                          </a:rPr>
                          <m:t>𝜑</m:t>
                        </m:r>
                      </m:e>
                    </m:d>
                    <m:sSub>
                      <m:sSubPr>
                        <m:ctrlPr>
                          <a:rPr lang="en-US" sz="2200" b="0" i="1" smtClean="0">
                            <a:latin typeface="Cambria Math" panose="02040503050406030204" pitchFamily="18" charset="0"/>
                            <a:cs typeface="Arial"/>
                            <a:sym typeface="Arial"/>
                          </a:rPr>
                        </m:ctrlPr>
                      </m:sSubPr>
                      <m:e>
                        <m:r>
                          <m:rPr>
                            <m:sty m:val="p"/>
                          </m:rPr>
                          <a:rPr lang="en-US" sz="2200" b="0" i="1" smtClean="0">
                            <a:latin typeface="Cambria Math" panose="02040503050406030204" pitchFamily="18" charset="0"/>
                            <a:cs typeface="Arial"/>
                            <a:sym typeface="Arial"/>
                          </a:rPr>
                          <m:t>P</m:t>
                        </m:r>
                      </m:e>
                      <m:sub>
                        <m:r>
                          <m:rPr>
                            <m:sty m:val="p"/>
                          </m:rPr>
                          <a:rPr lang="en-US" sz="2200" b="0" i="1" smtClean="0">
                            <a:latin typeface="Cambria Math" panose="02040503050406030204" pitchFamily="18" charset="0"/>
                            <a:cs typeface="Arial"/>
                            <a:sym typeface="Arial"/>
                          </a:rPr>
                          <m:t>r</m:t>
                        </m:r>
                      </m:sub>
                    </m:sSub>
                  </m:oMath>
                </a14:m>
                <a:endParaRPr lang="en-US" sz="2200" b="0" dirty="0">
                  <a:latin typeface="Arial"/>
                  <a:cs typeface="Arial"/>
                  <a:sym typeface="Arial"/>
                </a:endParaRP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d>
                        <m:dPr>
                          <m:begChr m:val="["/>
                          <m:endChr m:val="]"/>
                          <m:ctrlPr>
                            <a:rPr lang="en-US" sz="2200" b="0" i="1" dirty="0" smtClean="0">
                              <a:latin typeface="Cambria Math" panose="02040503050406030204" pitchFamily="18" charset="0"/>
                              <a:ea typeface="Arial"/>
                              <a:cs typeface="Arial"/>
                              <a:sym typeface="Arial"/>
                            </a:rPr>
                          </m:ctrlPr>
                        </m:dPr>
                        <m:e>
                          <m:m>
                            <m:mPr>
                              <m:plcHide m:val="on"/>
                              <m:mcs>
                                <m:mc>
                                  <m:mcPr>
                                    <m:count m:val="1"/>
                                    <m:mcJc m:val="center"/>
                                  </m:mcPr>
                                </m:mc>
                              </m:mcs>
                              <m:ctrlPr>
                                <a:rPr lang="en-US" sz="2200" i="1" dirty="0" smtClean="0">
                                  <a:latin typeface="Cambria Math" panose="02040503050406030204" pitchFamily="18" charset="0"/>
                                  <a:ea typeface="Arial"/>
                                  <a:cs typeface="Arial"/>
                                  <a:sym typeface="Arial"/>
                                </a:rPr>
                              </m:ctrlPr>
                            </m:mPr>
                            <m:mr>
                              <m:e>
                                <m:sSub>
                                  <m:sSubPr>
                                    <m:ctrlPr>
                                      <a:rPr lang="en-US" sz="2200" i="1" dirty="0" smtClean="0">
                                        <a:latin typeface="Cambria Math" panose="02040503050406030204" pitchFamily="18" charset="0"/>
                                        <a:ea typeface="Arial"/>
                                        <a:cs typeface="Arial"/>
                                        <a:sym typeface="Arial"/>
                                      </a:rPr>
                                    </m:ctrlPr>
                                  </m:sSubPr>
                                  <m:e>
                                    <m:r>
                                      <a:rPr lang="en-US" sz="2200" i="1" dirty="0" smtClean="0">
                                        <a:latin typeface="Cambria Math" panose="02040503050406030204" pitchFamily="18" charset="0"/>
                                        <a:ea typeface="Arial"/>
                                        <a:cs typeface="Arial"/>
                                        <a:sym typeface="Arial"/>
                                      </a:rPr>
                                      <m:t>𝑥</m:t>
                                    </m:r>
                                  </m:e>
                                  <m:sub>
                                    <m:r>
                                      <a:rPr lang="en-US" sz="2200" i="1" dirty="0" smtClean="0">
                                        <a:latin typeface="Cambria Math" panose="02040503050406030204" pitchFamily="18" charset="0"/>
                                        <a:ea typeface="Arial"/>
                                        <a:cs typeface="Arial"/>
                                        <a:sym typeface="Arial"/>
                                      </a:rPr>
                                      <m:t>𝑊</m:t>
                                    </m:r>
                                  </m:sub>
                                </m:sSub>
                              </m:e>
                            </m:mr>
                            <m:mr>
                              <m:e>
                                <m:sSub>
                                  <m:sSubPr>
                                    <m:ctrlPr>
                                      <a:rPr lang="en-US" sz="2200" i="1" dirty="0" smtClean="0">
                                        <a:latin typeface="Cambria Math" panose="02040503050406030204" pitchFamily="18" charset="0"/>
                                        <a:ea typeface="Arial"/>
                                        <a:cs typeface="Arial"/>
                                        <a:sym typeface="Arial"/>
                                      </a:rPr>
                                    </m:ctrlPr>
                                  </m:sSubPr>
                                  <m:e>
                                    <m:r>
                                      <a:rPr lang="en-US" sz="2200" i="1" dirty="0" smtClean="0">
                                        <a:latin typeface="Cambria Math" panose="02040503050406030204" pitchFamily="18" charset="0"/>
                                        <a:ea typeface="Arial"/>
                                        <a:cs typeface="Arial"/>
                                        <a:sym typeface="Arial"/>
                                      </a:rPr>
                                      <m:t>𝑦</m:t>
                                    </m:r>
                                  </m:e>
                                  <m:sub>
                                    <m:r>
                                      <a:rPr lang="en-US" sz="2200" i="1" dirty="0" smtClean="0">
                                        <a:latin typeface="Cambria Math" panose="02040503050406030204" pitchFamily="18" charset="0"/>
                                        <a:ea typeface="Arial"/>
                                        <a:cs typeface="Arial"/>
                                        <a:sym typeface="Arial"/>
                                      </a:rPr>
                                      <m:t>𝑊</m:t>
                                    </m:r>
                                  </m:sub>
                                </m:sSub>
                              </m:e>
                            </m:mr>
                          </m:m>
                        </m:e>
                      </m:d>
                      <m:r>
                        <a:rPr lang="en-US" sz="2200" i="1" dirty="0" smtClean="0">
                          <a:latin typeface="Cambria Math" panose="02040503050406030204" pitchFamily="18" charset="0"/>
                          <a:ea typeface="Arial"/>
                          <a:cs typeface="Arial"/>
                          <a:sym typeface="Arial"/>
                        </a:rPr>
                        <m:t>=</m:t>
                      </m:r>
                      <m:d>
                        <m:dPr>
                          <m:begChr m:val="["/>
                          <m:endChr m:val="]"/>
                          <m:ctrlPr>
                            <a:rPr lang="en-US" sz="2200" b="0" i="1" dirty="0" smtClean="0">
                              <a:latin typeface="Cambria Math" panose="02040503050406030204" pitchFamily="18" charset="0"/>
                              <a:ea typeface="Arial"/>
                              <a:cs typeface="Arial"/>
                              <a:sym typeface="Arial"/>
                            </a:rPr>
                          </m:ctrlPr>
                        </m:dPr>
                        <m:e>
                          <m:m>
                            <m:mPr>
                              <m:plcHide m:val="on"/>
                              <m:mcs>
                                <m:mc>
                                  <m:mcPr>
                                    <m:count m:val="2"/>
                                    <m:mcJc m:val="center"/>
                                  </m:mcPr>
                                </m:mc>
                              </m:mcs>
                              <m:ctrlPr>
                                <a:rPr lang="en-US" sz="2200" i="1" dirty="0" smtClean="0">
                                  <a:latin typeface="Cambria Math" panose="02040503050406030204" pitchFamily="18" charset="0"/>
                                  <a:ea typeface="Arial"/>
                                  <a:cs typeface="Arial"/>
                                  <a:sym typeface="Arial"/>
                                </a:rPr>
                              </m:ctrlPr>
                            </m:mPr>
                            <m:mr>
                              <m:e>
                                <m:func>
                                  <m:funcPr>
                                    <m:ctrlPr>
                                      <a:rPr lang="en-US" sz="2200" i="1" dirty="0" smtClean="0">
                                        <a:latin typeface="Cambria Math" panose="02040503050406030204" pitchFamily="18" charset="0"/>
                                        <a:ea typeface="Arial"/>
                                        <a:cs typeface="Arial"/>
                                        <a:sym typeface="Arial"/>
                                      </a:rPr>
                                    </m:ctrlPr>
                                  </m:funcPr>
                                  <m:fName>
                                    <m:r>
                                      <m:rPr>
                                        <m:sty m:val="p"/>
                                      </m:rPr>
                                      <a:rPr lang="en-US" sz="2200" i="0" dirty="0" smtClean="0">
                                        <a:latin typeface="Cambria Math" panose="02040503050406030204" pitchFamily="18" charset="0"/>
                                        <a:ea typeface="Arial"/>
                                        <a:cs typeface="Arial"/>
                                        <a:sym typeface="Arial"/>
                                      </a:rPr>
                                      <m:t>cos</m:t>
                                    </m:r>
                                  </m:fName>
                                  <m:e>
                                    <m:d>
                                      <m:dPr>
                                        <m:ctrlPr>
                                          <a:rPr lang="en-US" sz="2200" i="1" dirty="0" smtClean="0">
                                            <a:latin typeface="Cambria Math" panose="02040503050406030204" pitchFamily="18" charset="0"/>
                                            <a:ea typeface="Arial"/>
                                            <a:cs typeface="Arial"/>
                                            <a:sym typeface="Arial"/>
                                          </a:rPr>
                                        </m:ctrlPr>
                                      </m:dPr>
                                      <m:e>
                                        <m:r>
                                          <a:rPr lang="en-US" sz="2200" i="1" dirty="0" smtClean="0">
                                            <a:latin typeface="Cambria Math" panose="02040503050406030204" pitchFamily="18" charset="0"/>
                                            <a:ea typeface="Arial"/>
                                            <a:cs typeface="Arial"/>
                                            <a:sym typeface="Arial"/>
                                          </a:rPr>
                                          <m:t>𝜑</m:t>
                                        </m:r>
                                      </m:e>
                                    </m:d>
                                  </m:e>
                                </m:func>
                              </m:e>
                              <m:e>
                                <m:r>
                                  <a:rPr lang="en-US" sz="2200" i="1" dirty="0" smtClean="0">
                                    <a:latin typeface="Cambria Math" panose="02040503050406030204" pitchFamily="18" charset="0"/>
                                    <a:ea typeface="Arial"/>
                                    <a:cs typeface="Arial"/>
                                    <a:sym typeface="Arial"/>
                                  </a:rPr>
                                  <m:t>−</m:t>
                                </m:r>
                                <m:func>
                                  <m:funcPr>
                                    <m:ctrlPr>
                                      <a:rPr lang="en-US" sz="2200" i="1" dirty="0" smtClean="0">
                                        <a:latin typeface="Cambria Math" panose="02040503050406030204" pitchFamily="18" charset="0"/>
                                        <a:ea typeface="Arial"/>
                                        <a:cs typeface="Arial"/>
                                        <a:sym typeface="Arial"/>
                                      </a:rPr>
                                    </m:ctrlPr>
                                  </m:funcPr>
                                  <m:fName>
                                    <m:r>
                                      <m:rPr>
                                        <m:sty m:val="p"/>
                                      </m:rPr>
                                      <a:rPr lang="en-US" sz="2200" i="0" dirty="0" smtClean="0">
                                        <a:latin typeface="Cambria Math" panose="02040503050406030204" pitchFamily="18" charset="0"/>
                                        <a:ea typeface="Arial"/>
                                        <a:cs typeface="Arial"/>
                                        <a:sym typeface="Arial"/>
                                      </a:rPr>
                                      <m:t>sin</m:t>
                                    </m:r>
                                  </m:fName>
                                  <m:e>
                                    <m:d>
                                      <m:dPr>
                                        <m:ctrlPr>
                                          <a:rPr lang="en-US" sz="2200" i="1" dirty="0" smtClean="0">
                                            <a:latin typeface="Cambria Math" panose="02040503050406030204" pitchFamily="18" charset="0"/>
                                            <a:ea typeface="Arial"/>
                                            <a:cs typeface="Arial"/>
                                            <a:sym typeface="Arial"/>
                                          </a:rPr>
                                        </m:ctrlPr>
                                      </m:dPr>
                                      <m:e>
                                        <m:r>
                                          <a:rPr lang="en-US" sz="2200" i="1" dirty="0" smtClean="0">
                                            <a:latin typeface="Cambria Math" panose="02040503050406030204" pitchFamily="18" charset="0"/>
                                            <a:ea typeface="Arial"/>
                                            <a:cs typeface="Arial"/>
                                            <a:sym typeface="Arial"/>
                                          </a:rPr>
                                          <m:t>𝜑</m:t>
                                        </m:r>
                                      </m:e>
                                    </m:d>
                                  </m:e>
                                </m:func>
                              </m:e>
                            </m:mr>
                            <m:mr>
                              <m:e>
                                <m:func>
                                  <m:funcPr>
                                    <m:ctrlPr>
                                      <a:rPr lang="en-US" sz="2200" i="1" dirty="0" smtClean="0">
                                        <a:latin typeface="Cambria Math" panose="02040503050406030204" pitchFamily="18" charset="0"/>
                                        <a:ea typeface="Arial"/>
                                        <a:cs typeface="Arial"/>
                                        <a:sym typeface="Arial"/>
                                      </a:rPr>
                                    </m:ctrlPr>
                                  </m:funcPr>
                                  <m:fName>
                                    <m:r>
                                      <m:rPr>
                                        <m:sty m:val="p"/>
                                      </m:rPr>
                                      <a:rPr lang="en-US" sz="2200" i="0" dirty="0" smtClean="0">
                                        <a:latin typeface="Cambria Math" panose="02040503050406030204" pitchFamily="18" charset="0"/>
                                        <a:ea typeface="Arial"/>
                                        <a:cs typeface="Arial"/>
                                        <a:sym typeface="Arial"/>
                                      </a:rPr>
                                      <m:t>sin</m:t>
                                    </m:r>
                                  </m:fName>
                                  <m:e>
                                    <m:d>
                                      <m:dPr>
                                        <m:ctrlPr>
                                          <a:rPr lang="en-US" sz="2200" i="1" dirty="0" smtClean="0">
                                            <a:latin typeface="Cambria Math" panose="02040503050406030204" pitchFamily="18" charset="0"/>
                                            <a:ea typeface="Arial"/>
                                            <a:cs typeface="Arial"/>
                                            <a:sym typeface="Arial"/>
                                          </a:rPr>
                                        </m:ctrlPr>
                                      </m:dPr>
                                      <m:e>
                                        <m:r>
                                          <a:rPr lang="en-US" sz="2200" i="1" dirty="0" smtClean="0">
                                            <a:latin typeface="Cambria Math" panose="02040503050406030204" pitchFamily="18" charset="0"/>
                                            <a:ea typeface="Arial"/>
                                            <a:cs typeface="Arial"/>
                                            <a:sym typeface="Arial"/>
                                          </a:rPr>
                                          <m:t>𝜑</m:t>
                                        </m:r>
                                      </m:e>
                                    </m:d>
                                  </m:e>
                                </m:func>
                              </m:e>
                              <m:e>
                                <m:func>
                                  <m:funcPr>
                                    <m:ctrlPr>
                                      <a:rPr lang="en-US" sz="2200" i="1" dirty="0" smtClean="0">
                                        <a:latin typeface="Cambria Math" panose="02040503050406030204" pitchFamily="18" charset="0"/>
                                        <a:ea typeface="Arial"/>
                                        <a:cs typeface="Arial"/>
                                        <a:sym typeface="Arial"/>
                                      </a:rPr>
                                    </m:ctrlPr>
                                  </m:funcPr>
                                  <m:fName>
                                    <m:r>
                                      <m:rPr>
                                        <m:sty m:val="p"/>
                                      </m:rPr>
                                      <a:rPr lang="en-US" sz="2200" i="0" dirty="0" smtClean="0">
                                        <a:latin typeface="Cambria Math" panose="02040503050406030204" pitchFamily="18" charset="0"/>
                                        <a:ea typeface="Arial"/>
                                        <a:cs typeface="Arial"/>
                                        <a:sym typeface="Arial"/>
                                      </a:rPr>
                                      <m:t>cos</m:t>
                                    </m:r>
                                  </m:fName>
                                  <m:e>
                                    <m:d>
                                      <m:dPr>
                                        <m:ctrlPr>
                                          <a:rPr lang="en-US" sz="2200" i="1" dirty="0" smtClean="0">
                                            <a:latin typeface="Cambria Math" panose="02040503050406030204" pitchFamily="18" charset="0"/>
                                            <a:ea typeface="Arial"/>
                                            <a:cs typeface="Arial"/>
                                            <a:sym typeface="Arial"/>
                                          </a:rPr>
                                        </m:ctrlPr>
                                      </m:dPr>
                                      <m:e>
                                        <m:r>
                                          <a:rPr lang="en-US" sz="2200" i="1" dirty="0" smtClean="0">
                                            <a:latin typeface="Cambria Math" panose="02040503050406030204" pitchFamily="18" charset="0"/>
                                            <a:ea typeface="Arial"/>
                                            <a:cs typeface="Arial"/>
                                            <a:sym typeface="Arial"/>
                                          </a:rPr>
                                          <m:t>𝜑</m:t>
                                        </m:r>
                                      </m:e>
                                    </m:d>
                                  </m:e>
                                </m:func>
                              </m:e>
                            </m:mr>
                          </m:m>
                        </m:e>
                      </m:d>
                      <m:d>
                        <m:dPr>
                          <m:begChr m:val="["/>
                          <m:endChr m:val="]"/>
                          <m:ctrlPr>
                            <a:rPr lang="en-US" sz="2200" b="0" i="1" dirty="0" smtClean="0">
                              <a:latin typeface="Cambria Math" panose="02040503050406030204" pitchFamily="18" charset="0"/>
                              <a:ea typeface="Arial"/>
                              <a:cs typeface="Arial"/>
                              <a:sym typeface="Arial"/>
                            </a:rPr>
                          </m:ctrlPr>
                        </m:dPr>
                        <m:e>
                          <m:m>
                            <m:mPr>
                              <m:plcHide m:val="on"/>
                              <m:mcs>
                                <m:mc>
                                  <m:mcPr>
                                    <m:count m:val="1"/>
                                    <m:mcJc m:val="center"/>
                                  </m:mcPr>
                                </m:mc>
                              </m:mcs>
                              <m:ctrlPr>
                                <a:rPr lang="en-US" sz="2200" b="0" i="1" dirty="0" smtClean="0">
                                  <a:latin typeface="Cambria Math" panose="02040503050406030204" pitchFamily="18" charset="0"/>
                                  <a:ea typeface="Arial"/>
                                  <a:cs typeface="Arial"/>
                                  <a:sym typeface="Arial"/>
                                </a:rPr>
                              </m:ctrlPr>
                            </m:mPr>
                            <m:mr>
                              <m:e>
                                <m:sSub>
                                  <m:sSubPr>
                                    <m:ctrlPr>
                                      <a:rPr lang="en-US" sz="2200" b="0" i="1" dirty="0" smtClean="0">
                                        <a:latin typeface="Cambria Math" panose="02040503050406030204" pitchFamily="18" charset="0"/>
                                        <a:ea typeface="Arial"/>
                                        <a:cs typeface="Arial"/>
                                        <a:sym typeface="Arial"/>
                                      </a:rPr>
                                    </m:ctrlPr>
                                  </m:sSubPr>
                                  <m:e>
                                    <m:r>
                                      <a:rPr lang="en-US" sz="2200" i="1" dirty="0" smtClean="0">
                                        <a:latin typeface="Cambria Math" panose="02040503050406030204" pitchFamily="18" charset="0"/>
                                        <a:ea typeface="Arial"/>
                                        <a:cs typeface="Arial"/>
                                        <a:sym typeface="Arial"/>
                                      </a:rPr>
                                      <m:t>𝑥</m:t>
                                    </m:r>
                                  </m:e>
                                  <m:sub>
                                    <m:r>
                                      <a:rPr lang="en-US" sz="2200" i="1" dirty="0" smtClean="0">
                                        <a:latin typeface="Cambria Math" panose="02040503050406030204" pitchFamily="18" charset="0"/>
                                        <a:ea typeface="Arial"/>
                                        <a:cs typeface="Arial"/>
                                        <a:sym typeface="Arial"/>
                                      </a:rPr>
                                      <m:t>𝑅</m:t>
                                    </m:r>
                                  </m:sub>
                                </m:sSub>
                              </m:e>
                            </m:mr>
                            <m:mr>
                              <m:e>
                                <m:sSub>
                                  <m:sSubPr>
                                    <m:ctrlPr>
                                      <a:rPr lang="en-US" sz="2200" i="1" dirty="0" smtClean="0">
                                        <a:latin typeface="Cambria Math" panose="02040503050406030204" pitchFamily="18" charset="0"/>
                                        <a:ea typeface="Arial"/>
                                        <a:cs typeface="Arial"/>
                                        <a:sym typeface="Arial"/>
                                      </a:rPr>
                                    </m:ctrlPr>
                                  </m:sSubPr>
                                  <m:e>
                                    <m:r>
                                      <a:rPr lang="en-US" sz="2200" i="1" dirty="0" smtClean="0">
                                        <a:latin typeface="Cambria Math" panose="02040503050406030204" pitchFamily="18" charset="0"/>
                                        <a:ea typeface="Arial"/>
                                        <a:cs typeface="Arial"/>
                                        <a:sym typeface="Arial"/>
                                      </a:rPr>
                                      <m:t>𝑦</m:t>
                                    </m:r>
                                  </m:e>
                                  <m:sub>
                                    <m:r>
                                      <a:rPr lang="en-US" sz="2200" i="1" dirty="0" smtClean="0">
                                        <a:latin typeface="Cambria Math" panose="02040503050406030204" pitchFamily="18" charset="0"/>
                                        <a:ea typeface="Arial"/>
                                        <a:cs typeface="Arial"/>
                                        <a:sym typeface="Arial"/>
                                      </a:rPr>
                                      <m:t>𝑅</m:t>
                                    </m:r>
                                  </m:sub>
                                </m:sSub>
                              </m:e>
                            </m:mr>
                          </m:m>
                        </m:e>
                      </m:d>
                    </m:oMath>
                  </m:oMathPara>
                </a14:m>
                <a:endParaRPr lang="en-US" sz="2200" dirty="0">
                  <a:latin typeface="Arial"/>
                  <a:ea typeface="Arial"/>
                  <a:cs typeface="Arial"/>
                  <a:sym typeface="Arial"/>
                </a:endParaRP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The matrix </a:t>
                </a:r>
                <a14:m>
                  <m:oMath xmlns:m="http://schemas.openxmlformats.org/officeDocument/2006/math">
                    <m:r>
                      <m:rPr>
                        <m:sty m:val="p"/>
                      </m:rPr>
                      <a:rPr lang="en-US" sz="2200" i="1">
                        <a:latin typeface="Cambria Math" panose="02040503050406030204" pitchFamily="18" charset="0"/>
                        <a:cs typeface="Arial"/>
                        <a:sym typeface="Arial"/>
                      </a:rPr>
                      <m:t>R</m:t>
                    </m:r>
                    <m:r>
                      <a:rPr lang="en-US" sz="2200" i="1">
                        <a:latin typeface="Cambria Math" panose="02040503050406030204" pitchFamily="18" charset="0"/>
                        <a:cs typeface="Arial"/>
                        <a:sym typeface="Arial"/>
                      </a:rPr>
                      <m:t>(</m:t>
                    </m:r>
                    <m:r>
                      <a:rPr lang="en-US" sz="2200" i="1">
                        <a:latin typeface="Cambria Math" panose="02040503050406030204" pitchFamily="18" charset="0"/>
                        <a:ea typeface="Cambria Math" panose="02040503050406030204" pitchFamily="18" charset="0"/>
                        <a:cs typeface="Arial"/>
                        <a:sym typeface="Arial"/>
                      </a:rPr>
                      <m:t>𝜑</m:t>
                    </m:r>
                    <m:r>
                      <a:rPr lang="en-US" sz="2200" i="1">
                        <a:latin typeface="Cambria Math" panose="02040503050406030204" pitchFamily="18" charset="0"/>
                        <a:cs typeface="Arial"/>
                        <a:sym typeface="Arial"/>
                      </a:rPr>
                      <m:t>)</m:t>
                    </m:r>
                  </m:oMath>
                </a14:m>
                <a:r>
                  <a:rPr lang="en-US" sz="2200" dirty="0">
                    <a:latin typeface="Arial"/>
                    <a:ea typeface="Arial"/>
                    <a:cs typeface="Arial"/>
                    <a:sym typeface="Arial"/>
                  </a:rPr>
                  <a:t>, belongs to the Special Orthogonal Group SO(2).</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Given that the determinant represents how much the space gets scaled after the transformation. What is the determinant of rotation matrices without doing any calculation?</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It should be 1, meaning it preserves the scale and area! The robot doesn’t stretch as it turns!</a:t>
                </a:r>
              </a:p>
            </p:txBody>
          </p:sp>
        </mc:Choice>
        <mc:Fallback xmlns="">
          <p:sp>
            <p:nvSpPr>
              <p:cNvPr id="118" name="Google Shape;118;p29">
                <a:extLst>
                  <a:ext uri="{FF2B5EF4-FFF2-40B4-BE49-F238E27FC236}">
                    <a16:creationId xmlns:a16="http://schemas.microsoft.com/office/drawing/2014/main" id="{D3CEFAEE-C8AB-32F3-C659-25F3B0FA390A}"/>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709" t="-759"/>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F49C0FBF-CFA2-3227-A6CC-5DA1DEE27C69}"/>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EAD0D1AC-88E9-6B99-F6B6-FB61BA0F1A45}"/>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Localization – 2D Rotation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394E767F-94FA-5C74-B8F7-C9D0D45634AA}"/>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D1106FB-3363-8585-0316-C803DCBD4E6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61F083E-2DC3-AD55-FE03-2086743AE41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B90F9FE-87A0-76AA-08F4-8895DA26238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09907236-35CD-6121-AFDA-0F4BA9D75FCC}"/>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D709BA9-9D14-62AE-C74B-D3557CA299F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6711454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ECD361C-ED36-ABE5-9819-CF32FC53572D}"/>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020135AA-01F7-8991-C890-ACD802AED09F}"/>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rial"/>
                    <a:ea typeface="Arial"/>
                    <a:cs typeface="Arial"/>
                    <a:sym typeface="Arial"/>
                  </a:rPr>
                  <a:t>In reality, a robot is both translated and rotated!</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Thus, the complete transformation is:</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200" i="1" dirty="0" smtClean="0">
                              <a:latin typeface="Cambria Math" panose="02040503050406030204" pitchFamily="18" charset="0"/>
                              <a:ea typeface="Arial"/>
                              <a:cs typeface="Arial"/>
                              <a:sym typeface="Arial"/>
                            </a:rPr>
                          </m:ctrlPr>
                        </m:sSubPr>
                        <m:e>
                          <m:r>
                            <a:rPr lang="en-US" sz="2200" i="1" dirty="0" err="1" smtClean="0">
                              <a:latin typeface="Cambria Math" panose="02040503050406030204" pitchFamily="18" charset="0"/>
                              <a:ea typeface="Arial"/>
                              <a:cs typeface="Arial"/>
                              <a:sym typeface="Arial"/>
                            </a:rPr>
                            <m:t>𝑃</m:t>
                          </m:r>
                        </m:e>
                        <m:sub>
                          <m:r>
                            <a:rPr lang="en-US" sz="2200" i="1" dirty="0" err="1" smtClean="0">
                              <a:latin typeface="Cambria Math" panose="02040503050406030204" pitchFamily="18" charset="0"/>
                              <a:ea typeface="Arial"/>
                              <a:cs typeface="Arial"/>
                              <a:sym typeface="Arial"/>
                            </a:rPr>
                            <m:t>𝑤</m:t>
                          </m:r>
                        </m:sub>
                      </m:sSub>
                      <m:r>
                        <a:rPr lang="en-US" sz="2200" i="1" dirty="0" smtClean="0">
                          <a:latin typeface="Cambria Math" panose="02040503050406030204" pitchFamily="18" charset="0"/>
                          <a:ea typeface="Arial"/>
                          <a:cs typeface="Arial"/>
                          <a:sym typeface="Arial"/>
                        </a:rPr>
                        <m:t>=</m:t>
                      </m:r>
                      <m:r>
                        <a:rPr lang="en-US" sz="2200" i="1" dirty="0" smtClean="0">
                          <a:latin typeface="Cambria Math" panose="02040503050406030204" pitchFamily="18" charset="0"/>
                          <a:ea typeface="Arial"/>
                          <a:cs typeface="Arial"/>
                          <a:sym typeface="Arial"/>
                        </a:rPr>
                        <m:t>𝑅</m:t>
                      </m:r>
                      <m:d>
                        <m:dPr>
                          <m:ctrlPr>
                            <a:rPr lang="en-US" sz="2200" i="1" dirty="0" smtClean="0">
                              <a:latin typeface="Cambria Math" panose="02040503050406030204" pitchFamily="18" charset="0"/>
                              <a:ea typeface="Arial"/>
                              <a:cs typeface="Arial"/>
                              <a:sym typeface="Arial"/>
                            </a:rPr>
                          </m:ctrlPr>
                        </m:dPr>
                        <m:e>
                          <m:r>
                            <a:rPr lang="en-US" sz="2200" i="1" dirty="0" smtClean="0">
                              <a:latin typeface="Cambria Math" panose="02040503050406030204" pitchFamily="18" charset="0"/>
                              <a:ea typeface="Arial"/>
                              <a:cs typeface="Arial"/>
                              <a:sym typeface="Arial"/>
                            </a:rPr>
                            <m:t>𝜑</m:t>
                          </m:r>
                        </m:e>
                      </m:d>
                      <m:sSub>
                        <m:sSubPr>
                          <m:ctrlPr>
                            <a:rPr lang="en-US" sz="2200" i="1" dirty="0" err="1" smtClean="0">
                              <a:latin typeface="Cambria Math" panose="02040503050406030204" pitchFamily="18" charset="0"/>
                              <a:ea typeface="Arial"/>
                              <a:cs typeface="Arial"/>
                              <a:sym typeface="Arial"/>
                            </a:rPr>
                          </m:ctrlPr>
                        </m:sSubPr>
                        <m:e>
                          <m:r>
                            <a:rPr lang="en-US" sz="2200" i="1" dirty="0" err="1" smtClean="0">
                              <a:latin typeface="Cambria Math" panose="02040503050406030204" pitchFamily="18" charset="0"/>
                              <a:ea typeface="Arial"/>
                              <a:cs typeface="Arial"/>
                              <a:sym typeface="Arial"/>
                            </a:rPr>
                            <m:t>𝑃</m:t>
                          </m:r>
                        </m:e>
                        <m:sub>
                          <m:r>
                            <a:rPr lang="en-US" sz="2200" i="1" dirty="0" err="1" smtClean="0">
                              <a:latin typeface="Cambria Math" panose="02040503050406030204" pitchFamily="18" charset="0"/>
                              <a:ea typeface="Arial"/>
                              <a:cs typeface="Arial"/>
                              <a:sym typeface="Arial"/>
                            </a:rPr>
                            <m:t>𝑟</m:t>
                          </m:r>
                        </m:sub>
                      </m:sSub>
                      <m:r>
                        <a:rPr lang="en-US" sz="2200" i="1" dirty="0" smtClean="0">
                          <a:latin typeface="Cambria Math" panose="02040503050406030204" pitchFamily="18" charset="0"/>
                          <a:ea typeface="Arial"/>
                          <a:cs typeface="Arial"/>
                          <a:sym typeface="Arial"/>
                        </a:rPr>
                        <m:t>+</m:t>
                      </m:r>
                      <m:r>
                        <a:rPr lang="en-US" sz="2200" i="1" dirty="0" smtClean="0">
                          <a:latin typeface="Cambria Math" panose="02040503050406030204" pitchFamily="18" charset="0"/>
                          <a:ea typeface="Arial"/>
                          <a:cs typeface="Arial"/>
                          <a:sym typeface="Arial"/>
                        </a:rPr>
                        <m:t>𝑇</m:t>
                      </m:r>
                    </m:oMath>
                  </m:oMathPara>
                </a14:m>
                <a:endParaRPr lang="en-US" sz="2200" dirty="0">
                  <a:latin typeface="Arial"/>
                  <a:ea typeface="Arial"/>
                  <a:cs typeface="Arial"/>
                  <a:sym typeface="Arial"/>
                </a:endParaRP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We can, however, make this into a single matrix operation, through Homogeneous Coordinates,</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d>
                        <m:dPr>
                          <m:begChr m:val="["/>
                          <m:endChr m:val="]"/>
                          <m:ctrlPr>
                            <a:rPr lang="en-US" sz="2200" i="1" smtClean="0">
                              <a:latin typeface="Cambria Math" panose="02040503050406030204" pitchFamily="18" charset="0"/>
                              <a:cs typeface="Arial"/>
                              <a:sym typeface="Arial"/>
                            </a:rPr>
                          </m:ctrlPr>
                        </m:dPr>
                        <m:e>
                          <m:m>
                            <m:mPr>
                              <m:plcHide m:val="on"/>
                              <m:mcs>
                                <m:mc>
                                  <m:mcPr>
                                    <m:count m:val="1"/>
                                    <m:mcJc m:val="center"/>
                                  </m:mcPr>
                                </m:mc>
                              </m:mcs>
                              <m:ctrlPr>
                                <a:rPr lang="en-US" sz="2200" i="1">
                                  <a:latin typeface="Cambria Math" panose="02040503050406030204" pitchFamily="18" charset="0"/>
                                  <a:cs typeface="Arial"/>
                                  <a:sym typeface="Arial"/>
                                </a:rPr>
                              </m:ctrlPr>
                            </m:mPr>
                            <m:mr>
                              <m:e>
                                <m:sSub>
                                  <m:sSubPr>
                                    <m:ctrlPr>
                                      <a:rPr lang="en-US" sz="2200" i="1">
                                        <a:latin typeface="Cambria Math" panose="02040503050406030204" pitchFamily="18" charset="0"/>
                                        <a:cs typeface="Arial"/>
                                        <a:sym typeface="Arial"/>
                                      </a:rPr>
                                    </m:ctrlPr>
                                  </m:sSubPr>
                                  <m:e>
                                    <m:r>
                                      <a:rPr lang="en-US" sz="2200" i="1">
                                        <a:latin typeface="Cambria Math" panose="02040503050406030204" pitchFamily="18" charset="0"/>
                                        <a:cs typeface="Arial"/>
                                        <a:sym typeface="Arial"/>
                                      </a:rPr>
                                      <m:t>𝑥</m:t>
                                    </m:r>
                                  </m:e>
                                  <m:sub>
                                    <m:r>
                                      <a:rPr lang="en-US" sz="2200" i="1">
                                        <a:latin typeface="Cambria Math" panose="02040503050406030204" pitchFamily="18" charset="0"/>
                                        <a:cs typeface="Arial"/>
                                        <a:sym typeface="Arial"/>
                                      </a:rPr>
                                      <m:t>𝑊</m:t>
                                    </m:r>
                                  </m:sub>
                                </m:sSub>
                              </m:e>
                            </m:mr>
                            <m:mr>
                              <m:e>
                                <m:sSub>
                                  <m:sSubPr>
                                    <m:ctrlPr>
                                      <a:rPr lang="en-US" sz="2200" i="1">
                                        <a:latin typeface="Cambria Math" panose="02040503050406030204" pitchFamily="18" charset="0"/>
                                        <a:cs typeface="Arial"/>
                                        <a:sym typeface="Arial"/>
                                      </a:rPr>
                                    </m:ctrlPr>
                                  </m:sSubPr>
                                  <m:e>
                                    <m:r>
                                      <a:rPr lang="en-US" sz="2200" i="1">
                                        <a:latin typeface="Cambria Math" panose="02040503050406030204" pitchFamily="18" charset="0"/>
                                        <a:cs typeface="Arial"/>
                                        <a:sym typeface="Arial"/>
                                      </a:rPr>
                                      <m:t>𝑦</m:t>
                                    </m:r>
                                  </m:e>
                                  <m:sub>
                                    <m:r>
                                      <a:rPr lang="en-US" sz="2200" i="1">
                                        <a:latin typeface="Cambria Math" panose="02040503050406030204" pitchFamily="18" charset="0"/>
                                        <a:cs typeface="Arial"/>
                                        <a:sym typeface="Arial"/>
                                      </a:rPr>
                                      <m:t>𝑊</m:t>
                                    </m:r>
                                  </m:sub>
                                </m:sSub>
                              </m:e>
                            </m:mr>
                            <m:mr>
                              <m:e>
                                <m:r>
                                  <a:rPr lang="en-US" sz="2200" i="1">
                                    <a:latin typeface="Cambria Math" panose="02040503050406030204" pitchFamily="18" charset="0"/>
                                    <a:cs typeface="Arial"/>
                                    <a:sym typeface="Arial"/>
                                  </a:rPr>
                                  <m:t>1</m:t>
                                </m:r>
                              </m:e>
                            </m:mr>
                          </m:m>
                        </m:e>
                      </m:d>
                      <m:r>
                        <a:rPr lang="en-US" sz="2200" i="1">
                          <a:latin typeface="Cambria Math" panose="02040503050406030204" pitchFamily="18" charset="0"/>
                          <a:cs typeface="Arial"/>
                          <a:sym typeface="Arial"/>
                        </a:rPr>
                        <m:t>=</m:t>
                      </m:r>
                      <m:d>
                        <m:dPr>
                          <m:begChr m:val="["/>
                          <m:endChr m:val="]"/>
                          <m:ctrlPr>
                            <a:rPr lang="en-US" sz="2200" i="1">
                              <a:latin typeface="Cambria Math" panose="02040503050406030204" pitchFamily="18" charset="0"/>
                              <a:cs typeface="Arial"/>
                              <a:sym typeface="Arial"/>
                            </a:rPr>
                          </m:ctrlPr>
                        </m:dPr>
                        <m:e>
                          <m:m>
                            <m:mPr>
                              <m:plcHide m:val="on"/>
                              <m:mcs>
                                <m:mc>
                                  <m:mcPr>
                                    <m:count m:val="3"/>
                                    <m:mcJc m:val="center"/>
                                  </m:mcPr>
                                </m:mc>
                              </m:mcs>
                              <m:ctrlPr>
                                <a:rPr lang="en-US" sz="2200" i="1">
                                  <a:latin typeface="Cambria Math" panose="02040503050406030204" pitchFamily="18" charset="0"/>
                                  <a:cs typeface="Arial"/>
                                  <a:sym typeface="Arial"/>
                                </a:rPr>
                              </m:ctrlPr>
                            </m:mPr>
                            <m:mr>
                              <m:e>
                                <m:func>
                                  <m:funcPr>
                                    <m:ctrlPr>
                                      <a:rPr lang="en-US" sz="2200" i="1">
                                        <a:latin typeface="Cambria Math" panose="02040503050406030204" pitchFamily="18" charset="0"/>
                                        <a:cs typeface="Arial"/>
                                        <a:sym typeface="Arial"/>
                                      </a:rPr>
                                    </m:ctrlPr>
                                  </m:funcPr>
                                  <m:fName>
                                    <m:r>
                                      <m:rPr>
                                        <m:sty m:val="p"/>
                                      </m:rPr>
                                      <a:rPr lang="en-US" sz="2200" i="0">
                                        <a:latin typeface="Cambria Math" panose="02040503050406030204" pitchFamily="18" charset="0"/>
                                        <a:cs typeface="Arial"/>
                                        <a:sym typeface="Arial"/>
                                      </a:rPr>
                                      <m:t>cos</m:t>
                                    </m:r>
                                  </m:fName>
                                  <m:e>
                                    <m:d>
                                      <m:dPr>
                                        <m:ctrlPr>
                                          <a:rPr lang="en-US" sz="2200" i="1">
                                            <a:latin typeface="Cambria Math" panose="02040503050406030204" pitchFamily="18" charset="0"/>
                                            <a:cs typeface="Arial"/>
                                            <a:sym typeface="Arial"/>
                                          </a:rPr>
                                        </m:ctrlPr>
                                      </m:dPr>
                                      <m:e>
                                        <m:r>
                                          <a:rPr lang="en-US" sz="2200" i="1">
                                            <a:latin typeface="Cambria Math" panose="02040503050406030204" pitchFamily="18" charset="0"/>
                                            <a:cs typeface="Arial"/>
                                            <a:sym typeface="Arial"/>
                                          </a:rPr>
                                          <m:t>𝜃</m:t>
                                        </m:r>
                                      </m:e>
                                    </m:d>
                                  </m:e>
                                </m:func>
                              </m:e>
                              <m:e>
                                <m:r>
                                  <a:rPr lang="en-US" sz="2200" i="1">
                                    <a:latin typeface="Cambria Math" panose="02040503050406030204" pitchFamily="18" charset="0"/>
                                    <a:cs typeface="Arial"/>
                                    <a:sym typeface="Arial"/>
                                  </a:rPr>
                                  <m:t>−</m:t>
                                </m:r>
                                <m:func>
                                  <m:funcPr>
                                    <m:ctrlPr>
                                      <a:rPr lang="en-US" sz="2200" i="1">
                                        <a:latin typeface="Cambria Math" panose="02040503050406030204" pitchFamily="18" charset="0"/>
                                        <a:cs typeface="Arial"/>
                                        <a:sym typeface="Arial"/>
                                      </a:rPr>
                                    </m:ctrlPr>
                                  </m:funcPr>
                                  <m:fName>
                                    <m:r>
                                      <m:rPr>
                                        <m:sty m:val="p"/>
                                      </m:rPr>
                                      <a:rPr lang="en-US" sz="2200" i="0">
                                        <a:latin typeface="Cambria Math" panose="02040503050406030204" pitchFamily="18" charset="0"/>
                                        <a:cs typeface="Arial"/>
                                        <a:sym typeface="Arial"/>
                                      </a:rPr>
                                      <m:t>sin</m:t>
                                    </m:r>
                                  </m:fName>
                                  <m:e>
                                    <m:d>
                                      <m:dPr>
                                        <m:ctrlPr>
                                          <a:rPr lang="en-US" sz="2200" i="1">
                                            <a:latin typeface="Cambria Math" panose="02040503050406030204" pitchFamily="18" charset="0"/>
                                            <a:cs typeface="Arial"/>
                                            <a:sym typeface="Arial"/>
                                          </a:rPr>
                                        </m:ctrlPr>
                                      </m:dPr>
                                      <m:e>
                                        <m:r>
                                          <a:rPr lang="en-US" sz="2200" i="1">
                                            <a:latin typeface="Cambria Math" panose="02040503050406030204" pitchFamily="18" charset="0"/>
                                            <a:cs typeface="Arial"/>
                                            <a:sym typeface="Arial"/>
                                          </a:rPr>
                                          <m:t>𝜃</m:t>
                                        </m:r>
                                      </m:e>
                                    </m:d>
                                  </m:e>
                                </m:func>
                              </m:e>
                              <m:e>
                                <m:sSub>
                                  <m:sSubPr>
                                    <m:ctrlPr>
                                      <a:rPr lang="en-US" sz="2200" i="1">
                                        <a:latin typeface="Cambria Math" panose="02040503050406030204" pitchFamily="18" charset="0"/>
                                        <a:cs typeface="Arial"/>
                                        <a:sym typeface="Arial"/>
                                      </a:rPr>
                                    </m:ctrlPr>
                                  </m:sSubPr>
                                  <m:e>
                                    <m:r>
                                      <a:rPr lang="en-US" sz="2200" i="1">
                                        <a:latin typeface="Cambria Math" panose="02040503050406030204" pitchFamily="18" charset="0"/>
                                        <a:cs typeface="Arial"/>
                                        <a:sym typeface="Arial"/>
                                      </a:rPr>
                                      <m:t>𝑡</m:t>
                                    </m:r>
                                  </m:e>
                                  <m:sub>
                                    <m:r>
                                      <a:rPr lang="en-US" sz="2200" i="1">
                                        <a:latin typeface="Cambria Math" panose="02040503050406030204" pitchFamily="18" charset="0"/>
                                        <a:cs typeface="Arial"/>
                                        <a:sym typeface="Arial"/>
                                      </a:rPr>
                                      <m:t>𝑥</m:t>
                                    </m:r>
                                  </m:sub>
                                </m:sSub>
                              </m:e>
                            </m:mr>
                            <m:mr>
                              <m:e>
                                <m:func>
                                  <m:funcPr>
                                    <m:ctrlPr>
                                      <a:rPr lang="en-US" sz="2200" i="1">
                                        <a:latin typeface="Cambria Math" panose="02040503050406030204" pitchFamily="18" charset="0"/>
                                        <a:cs typeface="Arial"/>
                                        <a:sym typeface="Arial"/>
                                      </a:rPr>
                                    </m:ctrlPr>
                                  </m:funcPr>
                                  <m:fName>
                                    <m:r>
                                      <m:rPr>
                                        <m:sty m:val="p"/>
                                      </m:rPr>
                                      <a:rPr lang="en-US" sz="2200" i="0">
                                        <a:latin typeface="Cambria Math" panose="02040503050406030204" pitchFamily="18" charset="0"/>
                                        <a:cs typeface="Arial"/>
                                        <a:sym typeface="Arial"/>
                                      </a:rPr>
                                      <m:t>sin</m:t>
                                    </m:r>
                                  </m:fName>
                                  <m:e>
                                    <m:d>
                                      <m:dPr>
                                        <m:ctrlPr>
                                          <a:rPr lang="en-US" sz="2200" i="1">
                                            <a:latin typeface="Cambria Math" panose="02040503050406030204" pitchFamily="18" charset="0"/>
                                            <a:cs typeface="Arial"/>
                                            <a:sym typeface="Arial"/>
                                          </a:rPr>
                                        </m:ctrlPr>
                                      </m:dPr>
                                      <m:e>
                                        <m:r>
                                          <a:rPr lang="en-US" sz="2200" i="1">
                                            <a:latin typeface="Cambria Math" panose="02040503050406030204" pitchFamily="18" charset="0"/>
                                            <a:cs typeface="Arial"/>
                                            <a:sym typeface="Arial"/>
                                          </a:rPr>
                                          <m:t>𝜃</m:t>
                                        </m:r>
                                      </m:e>
                                    </m:d>
                                  </m:e>
                                </m:func>
                              </m:e>
                              <m:e>
                                <m:func>
                                  <m:funcPr>
                                    <m:ctrlPr>
                                      <a:rPr lang="en-US" sz="2200" i="1">
                                        <a:latin typeface="Cambria Math" panose="02040503050406030204" pitchFamily="18" charset="0"/>
                                        <a:cs typeface="Arial"/>
                                        <a:sym typeface="Arial"/>
                                      </a:rPr>
                                    </m:ctrlPr>
                                  </m:funcPr>
                                  <m:fName>
                                    <m:r>
                                      <m:rPr>
                                        <m:sty m:val="p"/>
                                      </m:rPr>
                                      <a:rPr lang="en-US" sz="2200" i="0">
                                        <a:latin typeface="Cambria Math" panose="02040503050406030204" pitchFamily="18" charset="0"/>
                                        <a:cs typeface="Arial"/>
                                        <a:sym typeface="Arial"/>
                                      </a:rPr>
                                      <m:t>cos</m:t>
                                    </m:r>
                                  </m:fName>
                                  <m:e>
                                    <m:d>
                                      <m:dPr>
                                        <m:ctrlPr>
                                          <a:rPr lang="en-US" sz="2200" i="1">
                                            <a:latin typeface="Cambria Math" panose="02040503050406030204" pitchFamily="18" charset="0"/>
                                            <a:cs typeface="Arial"/>
                                            <a:sym typeface="Arial"/>
                                          </a:rPr>
                                        </m:ctrlPr>
                                      </m:dPr>
                                      <m:e>
                                        <m:r>
                                          <a:rPr lang="en-US" sz="2200" i="1">
                                            <a:latin typeface="Cambria Math" panose="02040503050406030204" pitchFamily="18" charset="0"/>
                                            <a:cs typeface="Arial"/>
                                            <a:sym typeface="Arial"/>
                                          </a:rPr>
                                          <m:t>𝜃</m:t>
                                        </m:r>
                                      </m:e>
                                    </m:d>
                                  </m:e>
                                </m:func>
                              </m:e>
                              <m:e>
                                <m:sSub>
                                  <m:sSubPr>
                                    <m:ctrlPr>
                                      <a:rPr lang="en-US" sz="2200" i="1">
                                        <a:latin typeface="Cambria Math" panose="02040503050406030204" pitchFamily="18" charset="0"/>
                                        <a:cs typeface="Arial"/>
                                        <a:sym typeface="Arial"/>
                                      </a:rPr>
                                    </m:ctrlPr>
                                  </m:sSubPr>
                                  <m:e>
                                    <m:r>
                                      <a:rPr lang="en-US" sz="2200" i="1">
                                        <a:latin typeface="Cambria Math" panose="02040503050406030204" pitchFamily="18" charset="0"/>
                                        <a:cs typeface="Arial"/>
                                        <a:sym typeface="Arial"/>
                                      </a:rPr>
                                      <m:t>𝑡</m:t>
                                    </m:r>
                                  </m:e>
                                  <m:sub>
                                    <m:r>
                                      <a:rPr lang="en-US" sz="2200" i="1">
                                        <a:latin typeface="Cambria Math" panose="02040503050406030204" pitchFamily="18" charset="0"/>
                                        <a:cs typeface="Arial"/>
                                        <a:sym typeface="Arial"/>
                                      </a:rPr>
                                      <m:t>𝑦</m:t>
                                    </m:r>
                                  </m:sub>
                                </m:sSub>
                              </m:e>
                            </m:mr>
                            <m:mr>
                              <m:e>
                                <m:r>
                                  <a:rPr lang="en-US" sz="2200" i="1">
                                    <a:latin typeface="Cambria Math" panose="02040503050406030204" pitchFamily="18" charset="0"/>
                                    <a:cs typeface="Arial"/>
                                    <a:sym typeface="Arial"/>
                                  </a:rPr>
                                  <m:t>0</m:t>
                                </m:r>
                              </m:e>
                              <m:e>
                                <m:r>
                                  <a:rPr lang="en-US" sz="2200" i="1">
                                    <a:latin typeface="Cambria Math" panose="02040503050406030204" pitchFamily="18" charset="0"/>
                                    <a:cs typeface="Arial"/>
                                    <a:sym typeface="Arial"/>
                                  </a:rPr>
                                  <m:t>0</m:t>
                                </m:r>
                              </m:e>
                              <m:e>
                                <m:r>
                                  <a:rPr lang="en-US" sz="2200" i="1">
                                    <a:latin typeface="Cambria Math" panose="02040503050406030204" pitchFamily="18" charset="0"/>
                                    <a:cs typeface="Arial"/>
                                    <a:sym typeface="Arial"/>
                                  </a:rPr>
                                  <m:t>1</m:t>
                                </m:r>
                              </m:e>
                            </m:mr>
                          </m:m>
                        </m:e>
                      </m:d>
                      <m:d>
                        <m:dPr>
                          <m:begChr m:val="["/>
                          <m:endChr m:val="]"/>
                          <m:ctrlPr>
                            <a:rPr lang="en-US" sz="2200" i="1">
                              <a:latin typeface="Cambria Math" panose="02040503050406030204" pitchFamily="18" charset="0"/>
                              <a:cs typeface="Arial"/>
                              <a:sym typeface="Arial"/>
                            </a:rPr>
                          </m:ctrlPr>
                        </m:dPr>
                        <m:e>
                          <m:m>
                            <m:mPr>
                              <m:plcHide m:val="on"/>
                              <m:mcs>
                                <m:mc>
                                  <m:mcPr>
                                    <m:count m:val="1"/>
                                    <m:mcJc m:val="center"/>
                                  </m:mcPr>
                                </m:mc>
                              </m:mcs>
                              <m:ctrlPr>
                                <a:rPr lang="en-US" sz="2200" i="1">
                                  <a:latin typeface="Cambria Math" panose="02040503050406030204" pitchFamily="18" charset="0"/>
                                  <a:cs typeface="Arial"/>
                                  <a:sym typeface="Arial"/>
                                </a:rPr>
                              </m:ctrlPr>
                            </m:mPr>
                            <m:mr>
                              <m:e>
                                <m:sSub>
                                  <m:sSubPr>
                                    <m:ctrlPr>
                                      <a:rPr lang="en-US" sz="2200" i="1">
                                        <a:latin typeface="Cambria Math" panose="02040503050406030204" pitchFamily="18" charset="0"/>
                                        <a:cs typeface="Arial"/>
                                        <a:sym typeface="Arial"/>
                                      </a:rPr>
                                    </m:ctrlPr>
                                  </m:sSubPr>
                                  <m:e>
                                    <m:r>
                                      <a:rPr lang="en-US" sz="2200" i="1">
                                        <a:latin typeface="Cambria Math" panose="02040503050406030204" pitchFamily="18" charset="0"/>
                                        <a:cs typeface="Arial"/>
                                        <a:sym typeface="Arial"/>
                                      </a:rPr>
                                      <m:t>𝑥</m:t>
                                    </m:r>
                                  </m:e>
                                  <m:sub>
                                    <m:r>
                                      <a:rPr lang="en-US" sz="2200" i="1">
                                        <a:latin typeface="Cambria Math" panose="02040503050406030204" pitchFamily="18" charset="0"/>
                                        <a:cs typeface="Arial"/>
                                        <a:sym typeface="Arial"/>
                                      </a:rPr>
                                      <m:t>𝑅</m:t>
                                    </m:r>
                                  </m:sub>
                                </m:sSub>
                              </m:e>
                            </m:mr>
                            <m:mr>
                              <m:e>
                                <m:sSub>
                                  <m:sSubPr>
                                    <m:ctrlPr>
                                      <a:rPr lang="en-US" sz="2200" i="1">
                                        <a:latin typeface="Cambria Math" panose="02040503050406030204" pitchFamily="18" charset="0"/>
                                        <a:cs typeface="Arial"/>
                                        <a:sym typeface="Arial"/>
                                      </a:rPr>
                                    </m:ctrlPr>
                                  </m:sSubPr>
                                  <m:e>
                                    <m:r>
                                      <a:rPr lang="en-US" sz="2200" i="1">
                                        <a:latin typeface="Cambria Math" panose="02040503050406030204" pitchFamily="18" charset="0"/>
                                        <a:cs typeface="Arial"/>
                                        <a:sym typeface="Arial"/>
                                      </a:rPr>
                                      <m:t>𝑦</m:t>
                                    </m:r>
                                  </m:e>
                                  <m:sub>
                                    <m:r>
                                      <a:rPr lang="en-US" sz="2200" i="1">
                                        <a:latin typeface="Cambria Math" panose="02040503050406030204" pitchFamily="18" charset="0"/>
                                        <a:cs typeface="Arial"/>
                                        <a:sym typeface="Arial"/>
                                      </a:rPr>
                                      <m:t>𝑅</m:t>
                                    </m:r>
                                  </m:sub>
                                </m:sSub>
                              </m:e>
                            </m:mr>
                            <m:mr>
                              <m:e>
                                <m:r>
                                  <a:rPr lang="en-US" sz="2200" i="1">
                                    <a:latin typeface="Cambria Math" panose="02040503050406030204" pitchFamily="18" charset="0"/>
                                    <a:cs typeface="Arial"/>
                                    <a:sym typeface="Arial"/>
                                  </a:rPr>
                                  <m:t>1</m:t>
                                </m:r>
                              </m:e>
                            </m:mr>
                          </m:m>
                        </m:e>
                      </m:d>
                    </m:oMath>
                  </m:oMathPara>
                </a14:m>
                <a:endParaRPr lang="en-US" sz="2200" dirty="0">
                  <a:latin typeface="Arial"/>
                  <a:ea typeface="Arial"/>
                  <a:cs typeface="Arial"/>
                  <a:sym typeface="Arial"/>
                </a:endParaRP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This is the standard representation used in all modern software!</a:t>
                </a:r>
              </a:p>
            </p:txBody>
          </p:sp>
        </mc:Choice>
        <mc:Fallback xmlns="">
          <p:sp>
            <p:nvSpPr>
              <p:cNvPr id="118" name="Google Shape;118;p29">
                <a:extLst>
                  <a:ext uri="{FF2B5EF4-FFF2-40B4-BE49-F238E27FC236}">
                    <a16:creationId xmlns:a16="http://schemas.microsoft.com/office/drawing/2014/main" id="{020135AA-01F7-8991-C890-ACD802AED09F}"/>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709" t="-759" b="-3034"/>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1A66C57D-F8CC-2A5D-2826-17B2687097C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8775F582-E62E-1E2C-EBCA-6B81D8D329C9}"/>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Localization – </a:t>
            </a:r>
            <a:r>
              <a:rPr lang="en-US" sz="2400" dirty="0">
                <a:solidFill>
                  <a:schemeClr val="lt1"/>
                </a:solidFill>
              </a:rPr>
              <a:t>Transformation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D7BF9703-75D4-5BEC-32F9-92E742B73582}"/>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3ECD335-88E3-1F5C-4AF2-F154036938F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A5A1250-FC85-E05D-0323-3CC58487EBE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6C8D9FF-1E65-AF12-4144-CE31AA855540}"/>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82CFDBE-369D-4997-B870-B2490CC0199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064D805-6A3E-76A2-32A4-8AB02C0572E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64654114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3003DBA8-F0EE-7A22-EECC-6CE22D8D7D90}"/>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33A86ED6-4DC7-D943-6E29-803F04E665DB}"/>
              </a:ext>
            </a:extLst>
          </p:cNvPr>
          <p:cNvSpPr txBox="1"/>
          <p:nvPr/>
        </p:nvSpPr>
        <p:spPr>
          <a:xfrm>
            <a:off x="1295400" y="3225489"/>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rial"/>
                <a:ea typeface="Arial"/>
                <a:cs typeface="Arial"/>
                <a:sym typeface="Arial"/>
              </a:rPr>
              <a:t>Dead-Reckoning</a:t>
            </a:r>
            <a:endParaRPr sz="1800" b="0" i="0" u="none" strike="noStrike" cap="none" dirty="0">
              <a:solidFill>
                <a:srgbClr val="15264B"/>
              </a:solidFill>
              <a:latin typeface="Arial"/>
              <a:ea typeface="Arial"/>
              <a:cs typeface="Arial"/>
              <a:sym typeface="Arial"/>
            </a:endParaRPr>
          </a:p>
        </p:txBody>
      </p:sp>
      <p:grpSp>
        <p:nvGrpSpPr>
          <p:cNvPr id="105" name="Google Shape;105;p28">
            <a:extLst>
              <a:ext uri="{FF2B5EF4-FFF2-40B4-BE49-F238E27FC236}">
                <a16:creationId xmlns:a16="http://schemas.microsoft.com/office/drawing/2014/main" id="{A54F4AD2-AB55-7796-9ABE-4F39D29A5DCB}"/>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634A7D88-E360-EB16-FCA9-8E885645889C}"/>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7F88F421-414E-164E-B4ED-B4B462EEAA1C}"/>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FF2B5EF4-FFF2-40B4-BE49-F238E27FC236}">
                <a16:creationId xmlns:a16="http://schemas.microsoft.com/office/drawing/2014/main" id="{FCF03D2F-4F72-8459-308D-0040D39D875D}"/>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8CE6466B-2EC0-A1C8-A879-2158D9950F8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D5552E20-7932-836C-C1D4-8AD0AECB2E4A}"/>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E42C4F67-CCF0-5AB2-F66B-FBE61AD2C324}"/>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192AB1F5-0781-1062-0241-F845D51464E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03CD61A3-7A16-91AA-5192-C6A9020C190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36550020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38CA634-4831-01C6-8EA6-BBE5568D0039}"/>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AA05EEDB-42F9-FAA2-1387-53D2600C9210}"/>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rial"/>
                <a:ea typeface="Arial"/>
                <a:cs typeface="Arial"/>
                <a:sym typeface="Arial"/>
              </a:rPr>
              <a:t>Now that we can map local coordinates to the world, how do we track our movement?</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b="1" dirty="0">
                <a:latin typeface="Arial"/>
                <a:ea typeface="Arial"/>
                <a:cs typeface="Arial"/>
                <a:sym typeface="Arial"/>
              </a:rPr>
              <a:t>Dead-Reckoning</a:t>
            </a:r>
            <a:r>
              <a:rPr lang="en-US" sz="2200" dirty="0">
                <a:latin typeface="Arial"/>
                <a:ea typeface="Arial"/>
                <a:cs typeface="Arial"/>
                <a:sym typeface="Arial"/>
              </a:rPr>
              <a:t> (Odometry) is the process of calculating current position by integrating previously determined positions and estimated speeds over time.</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It relies purely on internal sensors, primarily wheel encoders and IMUs.</a:t>
            </a:r>
          </a:p>
          <a:p>
            <a:pPr marL="0" indent="0">
              <a:lnSpc>
                <a:spcPct val="100000"/>
              </a:lnSpc>
              <a:spcBef>
                <a:spcPts val="0"/>
              </a:spcBef>
              <a:buSzPts val="3000"/>
              <a:buNone/>
            </a:pPr>
            <a:endParaRPr lang="en-US" sz="2200" dirty="0">
              <a:latin typeface="Arial"/>
              <a:ea typeface="Arial"/>
              <a:cs typeface="Arial"/>
              <a:sym typeface="Arial"/>
            </a:endParaRPr>
          </a:p>
        </p:txBody>
      </p:sp>
      <p:sp>
        <p:nvSpPr>
          <p:cNvPr id="119" name="Google Shape;119;p29">
            <a:extLst>
              <a:ext uri="{FF2B5EF4-FFF2-40B4-BE49-F238E27FC236}">
                <a16:creationId xmlns:a16="http://schemas.microsoft.com/office/drawing/2014/main" id="{9F9C4E86-2059-2F53-44CE-2578DE5F225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F5E596FE-6AFE-8196-D13A-F814D1380D5C}"/>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Dead-Reckoning</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CFEB1D0A-0294-06D0-49F9-7559AF0030E7}"/>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B8B7B6B-C90B-DF3C-AFC2-837D1CEA9C4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9704A08-FFA6-6526-4F2C-246633C4C4BA}"/>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0F209202-F3D0-595E-D216-48593FD2805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2680A86-620E-E794-69D6-1EDC21AE833C}"/>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939B723-B1AE-0162-8BE8-E9D79EF600C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2395472809"/>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47596F2-2742-F064-E09C-B164BDD2A383}"/>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32688BC5-82AC-D694-7270-7824EEC16AA8}"/>
                  </a:ext>
                </a:extLst>
              </p:cNvPr>
              <p:cNvSpPr txBox="1">
                <a:spLocks noGrp="1"/>
              </p:cNvSpPr>
              <p:nvPr>
                <p:ph type="body" idx="1"/>
              </p:nvPr>
            </p:nvSpPr>
            <p:spPr>
              <a:xfrm>
                <a:off x="376809" y="1334279"/>
                <a:ext cx="5578977"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rial"/>
                    <a:ea typeface="Arial"/>
                    <a:cs typeface="Arial"/>
                    <a:sym typeface="Arial"/>
                  </a:rPr>
                  <a:t>Our robot uses a differential drive system (2 independently driven wheels).</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The robot’s overall forward linear velocity </a:t>
                </a:r>
                <a14:m>
                  <m:oMath xmlns:m="http://schemas.openxmlformats.org/officeDocument/2006/math">
                    <m:r>
                      <m:rPr>
                        <m:sty m:val="p"/>
                      </m:rPr>
                      <a:rPr lang="en-US" sz="2200" b="0" i="1" smtClean="0">
                        <a:latin typeface="Cambria Math" panose="02040503050406030204" pitchFamily="18" charset="0"/>
                        <a:ea typeface="Arial"/>
                        <a:cs typeface="Arial"/>
                        <a:sym typeface="Arial"/>
                      </a:rPr>
                      <m:t>V</m:t>
                    </m:r>
                  </m:oMath>
                </a14:m>
                <a:r>
                  <a:rPr lang="en-US" sz="2200" dirty="0">
                    <a:latin typeface="Arial"/>
                    <a:ea typeface="Arial"/>
                    <a:cs typeface="Arial"/>
                    <a:sym typeface="Arial"/>
                  </a:rPr>
                  <a:t> is the average of the two wheels:</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m:rPr>
                          <m:sty m:val="p"/>
                        </m:rPr>
                        <a:rPr lang="en-US" sz="2200" b="0" i="1" smtClean="0">
                          <a:latin typeface="Cambria Math" panose="02040503050406030204" pitchFamily="18" charset="0"/>
                          <a:ea typeface="Arial"/>
                          <a:cs typeface="Arial"/>
                          <a:sym typeface="Arial"/>
                        </a:rPr>
                        <m:t>V</m:t>
                      </m:r>
                      <m:r>
                        <a:rPr lang="en-US" sz="2200" b="0" i="1" smtClean="0">
                          <a:latin typeface="Cambria Math" panose="02040503050406030204" pitchFamily="18" charset="0"/>
                          <a:ea typeface="Arial"/>
                          <a:cs typeface="Arial"/>
                          <a:sym typeface="Arial"/>
                        </a:rPr>
                        <m:t> = </m:t>
                      </m:r>
                      <m:f>
                        <m:fPr>
                          <m:ctrlPr>
                            <a:rPr lang="en-US" sz="2200" b="0" i="1" smtClean="0">
                              <a:latin typeface="Cambria Math" panose="02040503050406030204" pitchFamily="18" charset="0"/>
                              <a:cs typeface="Arial"/>
                              <a:sym typeface="Arial"/>
                            </a:rPr>
                          </m:ctrlPr>
                        </m:fPr>
                        <m:num>
                          <m:sSub>
                            <m:sSubPr>
                              <m:ctrlPr>
                                <a:rPr lang="en-US" sz="2200" b="0" i="1" smtClean="0">
                                  <a:latin typeface="Cambria Math" panose="02040503050406030204" pitchFamily="18" charset="0"/>
                                  <a:cs typeface="Arial"/>
                                  <a:sym typeface="Arial"/>
                                </a:rPr>
                              </m:ctrlPr>
                            </m:sSubPr>
                            <m:e>
                              <m:r>
                                <a:rPr lang="en-US" sz="2200" b="0" i="1" smtClean="0">
                                  <a:latin typeface="Cambria Math" panose="02040503050406030204" pitchFamily="18" charset="0"/>
                                  <a:ea typeface="Cambria Math" panose="02040503050406030204" pitchFamily="18" charset="0"/>
                                  <a:cs typeface="Arial"/>
                                  <a:sym typeface="Arial"/>
                                </a:rPr>
                                <m:t>𝜈</m:t>
                              </m:r>
                            </m:e>
                            <m:sub>
                              <m:r>
                                <m:rPr>
                                  <m:sty m:val="p"/>
                                </m:rPr>
                                <a:rPr lang="en-US" sz="2200" b="0" i="1" smtClean="0">
                                  <a:latin typeface="Cambria Math" panose="02040503050406030204" pitchFamily="18" charset="0"/>
                                  <a:cs typeface="Arial"/>
                                  <a:sym typeface="Arial"/>
                                </a:rPr>
                                <m:t>L</m:t>
                              </m:r>
                            </m:sub>
                          </m:sSub>
                          <m:r>
                            <a:rPr lang="en-US" sz="2200" b="0" i="1" smtClean="0">
                              <a:latin typeface="Cambria Math" panose="02040503050406030204" pitchFamily="18" charset="0"/>
                              <a:cs typeface="Arial"/>
                              <a:sym typeface="Arial"/>
                            </a:rPr>
                            <m:t>+</m:t>
                          </m:r>
                          <m:sSub>
                            <m:sSubPr>
                              <m:ctrlPr>
                                <a:rPr lang="en-US" sz="2200" i="1">
                                  <a:latin typeface="Cambria Math" panose="02040503050406030204" pitchFamily="18" charset="0"/>
                                  <a:cs typeface="Arial"/>
                                  <a:sym typeface="Arial"/>
                                </a:rPr>
                              </m:ctrlPr>
                            </m:sSubPr>
                            <m:e>
                              <m:r>
                                <a:rPr lang="en-US" sz="2200" i="1">
                                  <a:latin typeface="Cambria Math" panose="02040503050406030204" pitchFamily="18" charset="0"/>
                                  <a:ea typeface="Cambria Math" panose="02040503050406030204" pitchFamily="18" charset="0"/>
                                  <a:cs typeface="Arial"/>
                                  <a:sym typeface="Arial"/>
                                </a:rPr>
                                <m:t>𝜈</m:t>
                              </m:r>
                            </m:e>
                            <m:sub>
                              <m:r>
                                <m:rPr>
                                  <m:sty m:val="p"/>
                                </m:rPr>
                                <a:rPr lang="en-US" sz="2200" b="0" i="1" smtClean="0">
                                  <a:latin typeface="Cambria Math" panose="02040503050406030204" pitchFamily="18" charset="0"/>
                                  <a:ea typeface="Cambria Math" panose="02040503050406030204" pitchFamily="18" charset="0"/>
                                  <a:cs typeface="Arial"/>
                                  <a:sym typeface="Arial"/>
                                </a:rPr>
                                <m:t>R</m:t>
                              </m:r>
                            </m:sub>
                          </m:sSub>
                        </m:num>
                        <m:den>
                          <m:r>
                            <a:rPr lang="en-US" sz="2200" b="0" i="1" smtClean="0">
                              <a:latin typeface="Cambria Math" panose="02040503050406030204" pitchFamily="18" charset="0"/>
                              <a:cs typeface="Arial"/>
                              <a:sym typeface="Arial"/>
                            </a:rPr>
                            <m:t>2</m:t>
                          </m:r>
                        </m:den>
                      </m:f>
                    </m:oMath>
                  </m:oMathPara>
                </a14:m>
                <a:endParaRPr lang="en-US" sz="2200" dirty="0">
                  <a:latin typeface="Arial"/>
                  <a:ea typeface="Arial"/>
                  <a:cs typeface="Arial"/>
                  <a:sym typeface="Arial"/>
                </a:endParaRP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If </a:t>
                </a:r>
                <a14:m>
                  <m:oMath xmlns:m="http://schemas.openxmlformats.org/officeDocument/2006/math">
                    <m:sSub>
                      <m:sSubPr>
                        <m:ctrlPr>
                          <a:rPr lang="en-US" sz="2200" i="1">
                            <a:latin typeface="Cambria Math" panose="02040503050406030204" pitchFamily="18" charset="0"/>
                            <a:cs typeface="Arial"/>
                            <a:sym typeface="Arial"/>
                          </a:rPr>
                        </m:ctrlPr>
                      </m:sSubPr>
                      <m:e>
                        <m:r>
                          <a:rPr lang="en-US" sz="2200" i="1">
                            <a:latin typeface="Cambria Math" panose="02040503050406030204" pitchFamily="18" charset="0"/>
                            <a:ea typeface="Cambria Math" panose="02040503050406030204" pitchFamily="18" charset="0"/>
                            <a:cs typeface="Arial"/>
                            <a:sym typeface="Arial"/>
                          </a:rPr>
                          <m:t>𝜈</m:t>
                        </m:r>
                      </m:e>
                      <m:sub>
                        <m:r>
                          <m:rPr>
                            <m:sty m:val="p"/>
                          </m:rPr>
                          <a:rPr lang="en-US" sz="2200" i="1">
                            <a:latin typeface="Cambria Math" panose="02040503050406030204" pitchFamily="18" charset="0"/>
                            <a:cs typeface="Arial"/>
                            <a:sym typeface="Arial"/>
                          </a:rPr>
                          <m:t>L</m:t>
                        </m:r>
                      </m:sub>
                    </m:sSub>
                    <m:r>
                      <a:rPr lang="en-US" sz="2200" b="0" i="1" smtClean="0">
                        <a:latin typeface="Cambria Math" panose="02040503050406030204" pitchFamily="18" charset="0"/>
                        <a:cs typeface="Arial"/>
                        <a:sym typeface="Arial"/>
                      </a:rPr>
                      <m:t> =</m:t>
                    </m:r>
                    <m:sSub>
                      <m:sSubPr>
                        <m:ctrlPr>
                          <a:rPr lang="en-US" sz="2200" i="1">
                            <a:latin typeface="Cambria Math" panose="02040503050406030204" pitchFamily="18" charset="0"/>
                            <a:cs typeface="Arial"/>
                            <a:sym typeface="Arial"/>
                          </a:rPr>
                        </m:ctrlPr>
                      </m:sSubPr>
                      <m:e>
                        <m:r>
                          <a:rPr lang="en-US" sz="2200" i="1">
                            <a:latin typeface="Cambria Math" panose="02040503050406030204" pitchFamily="18" charset="0"/>
                            <a:ea typeface="Cambria Math" panose="02040503050406030204" pitchFamily="18" charset="0"/>
                            <a:cs typeface="Arial"/>
                            <a:sym typeface="Arial"/>
                          </a:rPr>
                          <m:t>𝜈</m:t>
                        </m:r>
                      </m:e>
                      <m:sub>
                        <m:r>
                          <m:rPr>
                            <m:sty m:val="p"/>
                          </m:rPr>
                          <a:rPr lang="en-US" sz="2200" b="0" i="1" smtClean="0">
                            <a:latin typeface="Cambria Math" panose="02040503050406030204" pitchFamily="18" charset="0"/>
                            <a:ea typeface="Cambria Math" panose="02040503050406030204" pitchFamily="18" charset="0"/>
                            <a:cs typeface="Arial"/>
                            <a:sym typeface="Arial"/>
                          </a:rPr>
                          <m:t>R</m:t>
                        </m:r>
                      </m:sub>
                    </m:sSub>
                  </m:oMath>
                </a14:m>
                <a:r>
                  <a:rPr lang="en-US" sz="2200" dirty="0">
                    <a:latin typeface="Arial"/>
                    <a:ea typeface="Arial"/>
                    <a:cs typeface="Arial"/>
                    <a:sym typeface="Arial"/>
                  </a:rPr>
                  <a:t>, what is the robot doing?</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The robot goes forward!</a:t>
                </a:r>
              </a:p>
            </p:txBody>
          </p:sp>
        </mc:Choice>
        <mc:Fallback xmlns="">
          <p:sp>
            <p:nvSpPr>
              <p:cNvPr id="118" name="Google Shape;118;p29">
                <a:extLst>
                  <a:ext uri="{FF2B5EF4-FFF2-40B4-BE49-F238E27FC236}">
                    <a16:creationId xmlns:a16="http://schemas.microsoft.com/office/drawing/2014/main" id="{32688BC5-82AC-D694-7270-7824EEC16AA8}"/>
                  </a:ext>
                </a:extLst>
              </p:cNvPr>
              <p:cNvSpPr txBox="1">
                <a:spLocks noGrp="1" noRot="1" noChangeAspect="1" noMove="1" noResize="1" noEditPoints="1" noAdjustHandles="1" noChangeArrowheads="1" noChangeShapeType="1" noTextEdit="1"/>
              </p:cNvSpPr>
              <p:nvPr>
                <p:ph type="body" idx="1"/>
              </p:nvPr>
            </p:nvSpPr>
            <p:spPr>
              <a:xfrm>
                <a:off x="376809" y="1334279"/>
                <a:ext cx="5578977" cy="4821102"/>
              </a:xfrm>
              <a:prstGeom prst="rect">
                <a:avLst/>
              </a:prstGeom>
              <a:blipFill>
                <a:blip r:embed="rId3"/>
                <a:stretch>
                  <a:fillRect l="-1421" t="-759"/>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DC70F1B9-8FBD-9378-3D6C-38D8EEF0743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8197B72B-0BBE-DB7C-DCAD-5AC1D4F75515}"/>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Dead-Reckoning</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06B647A7-08C1-14CE-3B38-A837400BF9D9}"/>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24678A8-E78E-C419-E0D1-59C77137D15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CE148F5-308D-06B9-1B17-CC47F80F5FD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6EA83BCF-D259-CF0A-B373-B3116E973A5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CAB970E-943C-C43E-E8FE-8CDF477D63B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CDFA668-60EF-A2D7-8705-3EAE377B5D3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2" name="Graphic 1">
            <a:extLst>
              <a:ext uri="{FF2B5EF4-FFF2-40B4-BE49-F238E27FC236}">
                <a16:creationId xmlns:a16="http://schemas.microsoft.com/office/drawing/2014/main" id="{F253A45E-17E9-77F6-0CF5-586594A729A5}"/>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6541335" y="1170007"/>
            <a:ext cx="5151828" cy="5151828"/>
          </a:xfrm>
          <a:prstGeom prst="rect">
            <a:avLst/>
          </a:prstGeom>
        </p:spPr>
      </p:pic>
    </p:spTree>
    <p:extLst>
      <p:ext uri="{BB962C8B-B14F-4D97-AF65-F5344CB8AC3E}">
        <p14:creationId xmlns:p14="http://schemas.microsoft.com/office/powerpoint/2010/main" val="206856150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4A15486-6503-567B-E7AB-34A32A3439BF}"/>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38A167ED-CA43-8D9C-F58E-9D8FF9531F0C}"/>
                  </a:ext>
                </a:extLst>
              </p:cNvPr>
              <p:cNvSpPr txBox="1">
                <a:spLocks noGrp="1"/>
              </p:cNvSpPr>
              <p:nvPr>
                <p:ph type="body" idx="1"/>
              </p:nvPr>
            </p:nvSpPr>
            <p:spPr>
              <a:xfrm>
                <a:off x="376809" y="1334279"/>
                <a:ext cx="5578977"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rial"/>
                    <a:ea typeface="Arial"/>
                    <a:cs typeface="Arial"/>
                    <a:sym typeface="Arial"/>
                  </a:rPr>
                  <a:t>The robot’s angular velocity </a:t>
                </a:r>
                <a14:m>
                  <m:oMath xmlns:m="http://schemas.openxmlformats.org/officeDocument/2006/math">
                    <m:r>
                      <a:rPr lang="en-US" sz="2200" i="1" smtClean="0">
                        <a:latin typeface="Cambria Math" panose="02040503050406030204" pitchFamily="18" charset="0"/>
                        <a:ea typeface="Cambria Math" panose="02040503050406030204" pitchFamily="18" charset="0"/>
                        <a:cs typeface="Arial"/>
                        <a:sym typeface="Arial"/>
                      </a:rPr>
                      <m:t>𝜔</m:t>
                    </m:r>
                  </m:oMath>
                </a14:m>
                <a:r>
                  <a:rPr lang="en-US" sz="2200" dirty="0">
                    <a:latin typeface="Arial"/>
                    <a:ea typeface="Arial"/>
                    <a:cs typeface="Arial"/>
                    <a:sym typeface="Arial"/>
                  </a:rPr>
                  <a:t> depends on the difference between the wheel speeds.</a:t>
                </a:r>
              </a:p>
              <a:p>
                <a:pPr marL="0" indent="0">
                  <a:lnSpc>
                    <a:spcPct val="100000"/>
                  </a:lnSpc>
                  <a:spcBef>
                    <a:spcPts val="0"/>
                  </a:spcBef>
                  <a:buSzPts val="3000"/>
                  <a:buNone/>
                </a:pPr>
                <a:endParaRPr lang="en-US" sz="2200" i="1" dirty="0">
                  <a:latin typeface="Cambria Math" panose="02040503050406030204" pitchFamily="18" charset="0"/>
                  <a:ea typeface="Cambria Math" panose="02040503050406030204" pitchFamily="18" charset="0"/>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200" i="1">
                          <a:latin typeface="Cambria Math" panose="02040503050406030204" pitchFamily="18" charset="0"/>
                          <a:ea typeface="Cambria Math" panose="02040503050406030204" pitchFamily="18" charset="0"/>
                          <a:cs typeface="Arial"/>
                          <a:sym typeface="Arial"/>
                        </a:rPr>
                        <m:t>𝜔</m:t>
                      </m:r>
                      <m:r>
                        <a:rPr lang="en-US" sz="2200" b="0" i="1" smtClean="0">
                          <a:latin typeface="Cambria Math" panose="02040503050406030204" pitchFamily="18" charset="0"/>
                          <a:ea typeface="Cambria Math" panose="02040503050406030204" pitchFamily="18" charset="0"/>
                          <a:cs typeface="Arial"/>
                          <a:sym typeface="Arial"/>
                        </a:rPr>
                        <m:t>=</m:t>
                      </m:r>
                      <m:f>
                        <m:fPr>
                          <m:ctrlPr>
                            <a:rPr lang="en-US" sz="2200" i="1">
                              <a:latin typeface="Cambria Math" panose="02040503050406030204" pitchFamily="18" charset="0"/>
                              <a:cs typeface="Arial"/>
                              <a:sym typeface="Arial"/>
                            </a:rPr>
                          </m:ctrlPr>
                        </m:fPr>
                        <m:num>
                          <m:sSub>
                            <m:sSubPr>
                              <m:ctrlPr>
                                <a:rPr lang="en-US" sz="2200" i="1">
                                  <a:latin typeface="Cambria Math" panose="02040503050406030204" pitchFamily="18" charset="0"/>
                                  <a:cs typeface="Arial"/>
                                  <a:sym typeface="Arial"/>
                                </a:rPr>
                              </m:ctrlPr>
                            </m:sSubPr>
                            <m:e>
                              <m:r>
                                <a:rPr lang="en-US" sz="2200" i="1">
                                  <a:latin typeface="Cambria Math" panose="02040503050406030204" pitchFamily="18" charset="0"/>
                                  <a:ea typeface="Cambria Math" panose="02040503050406030204" pitchFamily="18" charset="0"/>
                                  <a:cs typeface="Arial"/>
                                  <a:sym typeface="Arial"/>
                                </a:rPr>
                                <m:t>𝜈</m:t>
                              </m:r>
                            </m:e>
                            <m:sub>
                              <m:r>
                                <m:rPr>
                                  <m:sty m:val="p"/>
                                </m:rPr>
                                <a:rPr lang="en-US" sz="2200" b="0" i="1" smtClean="0">
                                  <a:latin typeface="Cambria Math" panose="02040503050406030204" pitchFamily="18" charset="0"/>
                                  <a:ea typeface="Cambria Math" panose="02040503050406030204" pitchFamily="18" charset="0"/>
                                  <a:cs typeface="Arial"/>
                                  <a:sym typeface="Arial"/>
                                </a:rPr>
                                <m:t>R</m:t>
                              </m:r>
                            </m:sub>
                          </m:sSub>
                          <m:r>
                            <a:rPr lang="en-US" sz="2200" b="0" i="1" smtClean="0">
                              <a:latin typeface="Cambria Math" panose="02040503050406030204" pitchFamily="18" charset="0"/>
                              <a:cs typeface="Arial"/>
                              <a:sym typeface="Arial"/>
                            </a:rPr>
                            <m:t>− </m:t>
                          </m:r>
                          <m:sSub>
                            <m:sSubPr>
                              <m:ctrlPr>
                                <a:rPr lang="en-US" sz="2200" i="1">
                                  <a:latin typeface="Cambria Math" panose="02040503050406030204" pitchFamily="18" charset="0"/>
                                  <a:cs typeface="Arial"/>
                                  <a:sym typeface="Arial"/>
                                </a:rPr>
                              </m:ctrlPr>
                            </m:sSubPr>
                            <m:e>
                              <m:r>
                                <a:rPr lang="en-US" sz="2200" i="1">
                                  <a:latin typeface="Cambria Math" panose="02040503050406030204" pitchFamily="18" charset="0"/>
                                  <a:ea typeface="Cambria Math" panose="02040503050406030204" pitchFamily="18" charset="0"/>
                                  <a:cs typeface="Arial"/>
                                  <a:sym typeface="Arial"/>
                                </a:rPr>
                                <m:t>𝜈</m:t>
                              </m:r>
                            </m:e>
                            <m:sub>
                              <m:r>
                                <m:rPr>
                                  <m:sty m:val="p"/>
                                </m:rPr>
                                <a:rPr lang="en-US" sz="2200" b="0" i="1" smtClean="0">
                                  <a:latin typeface="Cambria Math" panose="02040503050406030204" pitchFamily="18" charset="0"/>
                                  <a:ea typeface="Cambria Math" panose="02040503050406030204" pitchFamily="18" charset="0"/>
                                  <a:cs typeface="Arial"/>
                                  <a:sym typeface="Arial"/>
                                </a:rPr>
                                <m:t>L</m:t>
                              </m:r>
                            </m:sub>
                          </m:sSub>
                        </m:num>
                        <m:den>
                          <m:r>
                            <m:rPr>
                              <m:sty m:val="p"/>
                            </m:rPr>
                            <a:rPr lang="en-US" sz="2200" b="0" i="1" smtClean="0">
                              <a:latin typeface="Cambria Math" panose="02040503050406030204" pitchFamily="18" charset="0"/>
                              <a:ea typeface="Cambria Math" panose="02040503050406030204" pitchFamily="18" charset="0"/>
                              <a:cs typeface="Arial"/>
                              <a:sym typeface="Arial"/>
                            </a:rPr>
                            <m:t>b</m:t>
                          </m:r>
                        </m:den>
                      </m:f>
                    </m:oMath>
                  </m:oMathPara>
                </a14:m>
                <a:endParaRPr lang="en-US" sz="2200" dirty="0">
                  <a:latin typeface="Arial"/>
                  <a:ea typeface="Arial"/>
                  <a:cs typeface="Arial"/>
                  <a:sym typeface="Arial"/>
                </a:endParaRP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If </a:t>
                </a:r>
                <a14:m>
                  <m:oMath xmlns:m="http://schemas.openxmlformats.org/officeDocument/2006/math">
                    <m:sSub>
                      <m:sSubPr>
                        <m:ctrlPr>
                          <a:rPr lang="en-US" sz="2200" i="1">
                            <a:latin typeface="Cambria Math" panose="02040503050406030204" pitchFamily="18" charset="0"/>
                            <a:cs typeface="Arial"/>
                            <a:sym typeface="Arial"/>
                          </a:rPr>
                        </m:ctrlPr>
                      </m:sSubPr>
                      <m:e>
                        <m:r>
                          <a:rPr lang="en-US" sz="2200" i="1">
                            <a:latin typeface="Cambria Math" panose="02040503050406030204" pitchFamily="18" charset="0"/>
                            <a:ea typeface="Cambria Math" panose="02040503050406030204" pitchFamily="18" charset="0"/>
                            <a:cs typeface="Arial"/>
                            <a:sym typeface="Arial"/>
                          </a:rPr>
                          <m:t>𝜈</m:t>
                        </m:r>
                      </m:e>
                      <m:sub>
                        <m:r>
                          <m:rPr>
                            <m:sty m:val="p"/>
                          </m:rPr>
                          <a:rPr lang="en-US" sz="2200" i="1">
                            <a:latin typeface="Cambria Math" panose="02040503050406030204" pitchFamily="18" charset="0"/>
                            <a:cs typeface="Arial"/>
                            <a:sym typeface="Arial"/>
                          </a:rPr>
                          <m:t>L</m:t>
                        </m:r>
                      </m:sub>
                    </m:sSub>
                    <m:r>
                      <a:rPr lang="en-US" sz="2200" i="1">
                        <a:latin typeface="Cambria Math" panose="02040503050406030204" pitchFamily="18" charset="0"/>
                        <a:cs typeface="Arial"/>
                        <a:sym typeface="Arial"/>
                      </a:rPr>
                      <m:t> =</m:t>
                    </m:r>
                    <m:sSub>
                      <m:sSubPr>
                        <m:ctrlPr>
                          <a:rPr lang="en-US" sz="2200" i="1">
                            <a:latin typeface="Cambria Math" panose="02040503050406030204" pitchFamily="18" charset="0"/>
                            <a:cs typeface="Arial"/>
                            <a:sym typeface="Arial"/>
                          </a:rPr>
                        </m:ctrlPr>
                      </m:sSubPr>
                      <m:e>
                        <m:r>
                          <a:rPr lang="en-US" sz="2200" b="0" i="1" smtClean="0">
                            <a:latin typeface="Cambria Math" panose="02040503050406030204" pitchFamily="18" charset="0"/>
                            <a:cs typeface="Arial"/>
                            <a:sym typeface="Arial"/>
                          </a:rPr>
                          <m:t>−</m:t>
                        </m:r>
                        <m:r>
                          <a:rPr lang="en-US" sz="2200" i="1">
                            <a:latin typeface="Cambria Math" panose="02040503050406030204" pitchFamily="18" charset="0"/>
                            <a:ea typeface="Cambria Math" panose="02040503050406030204" pitchFamily="18" charset="0"/>
                            <a:cs typeface="Arial"/>
                            <a:sym typeface="Arial"/>
                          </a:rPr>
                          <m:t>𝜈</m:t>
                        </m:r>
                      </m:e>
                      <m:sub>
                        <m:r>
                          <m:rPr>
                            <m:sty m:val="p"/>
                          </m:rPr>
                          <a:rPr lang="en-US" sz="2200" i="1">
                            <a:latin typeface="Cambria Math" panose="02040503050406030204" pitchFamily="18" charset="0"/>
                            <a:ea typeface="Cambria Math" panose="02040503050406030204" pitchFamily="18" charset="0"/>
                            <a:cs typeface="Arial"/>
                            <a:sym typeface="Arial"/>
                          </a:rPr>
                          <m:t>R</m:t>
                        </m:r>
                      </m:sub>
                    </m:sSub>
                  </m:oMath>
                </a14:m>
                <a:r>
                  <a:rPr lang="en-US" sz="2200" dirty="0">
                    <a:latin typeface="Arial"/>
                    <a:ea typeface="Arial"/>
                    <a:cs typeface="Arial"/>
                    <a:sym typeface="Arial"/>
                  </a:rPr>
                  <a:t>, what is the robot doing?</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The robot rotates in place (a zero-radius turn).</a:t>
                </a:r>
              </a:p>
            </p:txBody>
          </p:sp>
        </mc:Choice>
        <mc:Fallback xmlns="">
          <p:sp>
            <p:nvSpPr>
              <p:cNvPr id="118" name="Google Shape;118;p29">
                <a:extLst>
                  <a:ext uri="{FF2B5EF4-FFF2-40B4-BE49-F238E27FC236}">
                    <a16:creationId xmlns:a16="http://schemas.microsoft.com/office/drawing/2014/main" id="{38A167ED-CA43-8D9C-F58E-9D8FF9531F0C}"/>
                  </a:ext>
                </a:extLst>
              </p:cNvPr>
              <p:cNvSpPr txBox="1">
                <a:spLocks noGrp="1" noRot="1" noChangeAspect="1" noMove="1" noResize="1" noEditPoints="1" noAdjustHandles="1" noChangeArrowheads="1" noChangeShapeType="1" noTextEdit="1"/>
              </p:cNvSpPr>
              <p:nvPr>
                <p:ph type="body" idx="1"/>
              </p:nvPr>
            </p:nvSpPr>
            <p:spPr>
              <a:xfrm>
                <a:off x="376809" y="1334279"/>
                <a:ext cx="5578977" cy="4821102"/>
              </a:xfrm>
              <a:prstGeom prst="rect">
                <a:avLst/>
              </a:prstGeom>
              <a:blipFill>
                <a:blip r:embed="rId3"/>
                <a:stretch>
                  <a:fillRect l="-1421" t="-759" r="-109"/>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F26F5731-9133-2A83-1490-A162C6CA0D5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024AE384-93CC-E4DF-6B31-7BDE820DD89F}"/>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Dead-Reckoning</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BCCFD877-CDF0-D4BD-E60A-9067506D345B}"/>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FD44CBA4-B734-E9CF-3559-B3AD8CAB1D0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EAC54C6A-2C0C-84C8-770D-8E0420DB512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8179F3D-CD65-66D3-B7C0-3349F801FD5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317C78F-E1EA-2A01-A48C-3AF2294FC22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D8EB5C8-A671-2A53-1ED6-73C6A8BF077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2" name="Graphic 1">
            <a:extLst>
              <a:ext uri="{FF2B5EF4-FFF2-40B4-BE49-F238E27FC236}">
                <a16:creationId xmlns:a16="http://schemas.microsoft.com/office/drawing/2014/main" id="{5981030D-0294-627F-8D3B-A114FD5891DE}"/>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6541335" y="1170007"/>
            <a:ext cx="5151828" cy="5151828"/>
          </a:xfrm>
          <a:prstGeom prst="rect">
            <a:avLst/>
          </a:prstGeom>
        </p:spPr>
      </p:pic>
    </p:spTree>
    <p:extLst>
      <p:ext uri="{BB962C8B-B14F-4D97-AF65-F5344CB8AC3E}">
        <p14:creationId xmlns:p14="http://schemas.microsoft.com/office/powerpoint/2010/main" val="415644433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9AA458C-FDB8-0ACE-9813-541CF7D31E78}"/>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8C76EF0D-39CE-39D6-1DD6-733B92389290}"/>
                  </a:ext>
                </a:extLst>
              </p:cNvPr>
              <p:cNvSpPr txBox="1">
                <a:spLocks noGrp="1"/>
              </p:cNvSpPr>
              <p:nvPr>
                <p:ph type="body" idx="1"/>
              </p:nvPr>
            </p:nvSpPr>
            <p:spPr>
              <a:xfrm>
                <a:off x="376809" y="1334279"/>
                <a:ext cx="7260312"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rial"/>
                    <a:ea typeface="Arial"/>
                    <a:cs typeface="Arial"/>
                    <a:sym typeface="Arial"/>
                  </a:rPr>
                  <a:t>Assuming that the wheels are at contacting the ground, the wheels describe arcs in the plane in such a way that the robot always rotates around a point (the </a:t>
                </a:r>
                <a:r>
                  <a:rPr lang="en-US" sz="2200" b="1" dirty="0">
                    <a:latin typeface="Arial"/>
                    <a:ea typeface="Arial"/>
                    <a:cs typeface="Arial"/>
                    <a:sym typeface="Arial"/>
                  </a:rPr>
                  <a:t>ICR </a:t>
                </a:r>
                <a:r>
                  <a:rPr lang="en-US" sz="2200" dirty="0">
                    <a:latin typeface="Arial"/>
                    <a:ea typeface="Arial"/>
                    <a:cs typeface="Arial"/>
                    <a:sym typeface="Arial"/>
                  </a:rPr>
                  <a:t>refers to the instantaneous center of rotation). </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The rotation leads the robot to have the rotation of the vehicle to be </a:t>
                </a:r>
                <a14:m>
                  <m:oMath xmlns:m="http://schemas.openxmlformats.org/officeDocument/2006/math">
                    <m:r>
                      <a:rPr lang="en-US" sz="2200" i="1" smtClean="0">
                        <a:latin typeface="Cambria Math" panose="02040503050406030204" pitchFamily="18" charset="0"/>
                        <a:ea typeface="Cambria Math" panose="02040503050406030204" pitchFamily="18" charset="0"/>
                        <a:cs typeface="Arial"/>
                        <a:sym typeface="Arial"/>
                      </a:rPr>
                      <m:t>𝜔</m:t>
                    </m:r>
                  </m:oMath>
                </a14:m>
                <a:r>
                  <a:rPr lang="en-US" sz="2200" dirty="0">
                    <a:latin typeface="Arial"/>
                    <a:ea typeface="Arial"/>
                    <a:cs typeface="Arial"/>
                    <a:sym typeface="Arial"/>
                  </a:rPr>
                  <a:t> around the </a:t>
                </a:r>
                <a:r>
                  <a:rPr lang="en-US" sz="2200" b="1" dirty="0">
                    <a:latin typeface="Arial"/>
                    <a:ea typeface="Arial"/>
                    <a:cs typeface="Arial"/>
                    <a:sym typeface="Arial"/>
                  </a:rPr>
                  <a:t>ICR</a:t>
                </a:r>
                <a:r>
                  <a:rPr lang="en-US" sz="2200" dirty="0">
                    <a:latin typeface="Arial"/>
                    <a:ea typeface="Arial"/>
                    <a:cs typeface="Arial"/>
                    <a:sym typeface="Arial"/>
                  </a:rPr>
                  <a:t>.</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Following the angular velocity equation </a:t>
                </a:r>
                <a14:m>
                  <m:oMath xmlns:m="http://schemas.openxmlformats.org/officeDocument/2006/math">
                    <m:r>
                      <a:rPr lang="en-US" sz="2200" i="1">
                        <a:latin typeface="Cambria Math" panose="02040503050406030204" pitchFamily="18" charset="0"/>
                        <a:ea typeface="Cambria Math" panose="02040503050406030204" pitchFamily="18" charset="0"/>
                        <a:cs typeface="Arial"/>
                        <a:sym typeface="Arial"/>
                      </a:rPr>
                      <m:t>𝜔</m:t>
                    </m:r>
                    <m:r>
                      <a:rPr lang="en-US" sz="2200" b="0" i="1" smtClean="0">
                        <a:latin typeface="Cambria Math" panose="02040503050406030204" pitchFamily="18" charset="0"/>
                        <a:ea typeface="Cambria Math" panose="02040503050406030204" pitchFamily="18" charset="0"/>
                        <a:cs typeface="Arial"/>
                        <a:sym typeface="Arial"/>
                      </a:rPr>
                      <m:t>=</m:t>
                    </m:r>
                    <m:r>
                      <m:rPr>
                        <m:sty m:val="p"/>
                      </m:rPr>
                      <a:rPr lang="en-US" sz="2200" b="0" i="1" smtClean="0">
                        <a:latin typeface="Cambria Math" panose="02040503050406030204" pitchFamily="18" charset="0"/>
                        <a:ea typeface="Cambria Math" panose="02040503050406030204" pitchFamily="18" charset="0"/>
                        <a:cs typeface="Arial"/>
                        <a:sym typeface="Arial"/>
                      </a:rPr>
                      <m:t>r</m:t>
                    </m:r>
                    <m:r>
                      <a:rPr lang="en-US" sz="2200" b="0" i="1" smtClean="0">
                        <a:latin typeface="Cambria Math" panose="02040503050406030204" pitchFamily="18" charset="0"/>
                        <a:ea typeface="Cambria Math" panose="02040503050406030204" pitchFamily="18" charset="0"/>
                        <a:cs typeface="Arial"/>
                        <a:sym typeface="Arial"/>
                      </a:rPr>
                      <m:t>𝜈</m:t>
                    </m:r>
                    <m:r>
                      <a:rPr lang="en-US" sz="2200" b="0" i="1" smtClean="0">
                        <a:latin typeface="Cambria Math" panose="02040503050406030204" pitchFamily="18" charset="0"/>
                        <a:ea typeface="Cambria Math" panose="02040503050406030204" pitchFamily="18" charset="0"/>
                        <a:cs typeface="Arial"/>
                        <a:sym typeface="Arial"/>
                      </a:rPr>
                      <m:t> </m:t>
                    </m:r>
                  </m:oMath>
                </a14:m>
                <a:r>
                  <a:rPr lang="en-US" sz="2200" dirty="0">
                    <a:latin typeface="Arial"/>
                    <a:ea typeface="Arial"/>
                    <a:cs typeface="Arial"/>
                    <a:sym typeface="Arial"/>
                  </a:rPr>
                  <a:t>, we have,</a:t>
                </a: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200" i="1" smtClean="0">
                          <a:latin typeface="Cambria Math" panose="02040503050406030204" pitchFamily="18" charset="0"/>
                          <a:ea typeface="Cambria Math" panose="02040503050406030204" pitchFamily="18" charset="0"/>
                          <a:cs typeface="Arial"/>
                          <a:sym typeface="Arial"/>
                        </a:rPr>
                        <m:t>𝜔</m:t>
                      </m:r>
                      <m:r>
                        <a:rPr lang="en-US" sz="2200" b="0" i="1" smtClean="0">
                          <a:latin typeface="Cambria Math" panose="02040503050406030204" pitchFamily="18" charset="0"/>
                          <a:ea typeface="Cambria Math" panose="02040503050406030204" pitchFamily="18" charset="0"/>
                          <a:cs typeface="Arial"/>
                          <a:sym typeface="Arial"/>
                        </a:rPr>
                        <m:t>=</m:t>
                      </m:r>
                      <m:d>
                        <m:dPr>
                          <m:ctrlPr>
                            <a:rPr lang="en-US" sz="2200" b="0" i="1" smtClean="0">
                              <a:latin typeface="Cambria Math" panose="02040503050406030204" pitchFamily="18" charset="0"/>
                              <a:ea typeface="Cambria Math" panose="02040503050406030204" pitchFamily="18" charset="0"/>
                              <a:cs typeface="Arial"/>
                              <a:sym typeface="Arial"/>
                            </a:rPr>
                          </m:ctrlPr>
                        </m:dPr>
                        <m:e>
                          <m:r>
                            <a:rPr lang="en-US" sz="2200" b="0" i="1" smtClean="0">
                              <a:latin typeface="Cambria Math" panose="02040503050406030204" pitchFamily="18" charset="0"/>
                              <a:ea typeface="Cambria Math" panose="02040503050406030204" pitchFamily="18" charset="0"/>
                              <a:cs typeface="Arial"/>
                              <a:sym typeface="Arial"/>
                            </a:rPr>
                            <m:t>𝑅</m:t>
                          </m:r>
                          <m:r>
                            <a:rPr lang="en-US" sz="2200" b="0" i="1" smtClean="0">
                              <a:latin typeface="Cambria Math" panose="02040503050406030204" pitchFamily="18" charset="0"/>
                              <a:ea typeface="Cambria Math" panose="02040503050406030204" pitchFamily="18" charset="0"/>
                              <a:cs typeface="Arial"/>
                              <a:sym typeface="Arial"/>
                            </a:rPr>
                            <m:t>+</m:t>
                          </m:r>
                          <m:f>
                            <m:fPr>
                              <m:ctrlPr>
                                <a:rPr lang="en-US" sz="2200" b="0" i="1" smtClean="0">
                                  <a:latin typeface="Cambria Math" panose="02040503050406030204" pitchFamily="18" charset="0"/>
                                  <a:ea typeface="Cambria Math" panose="02040503050406030204" pitchFamily="18" charset="0"/>
                                  <a:cs typeface="Arial"/>
                                  <a:sym typeface="Arial"/>
                                </a:rPr>
                              </m:ctrlPr>
                            </m:fPr>
                            <m:num>
                              <m:r>
                                <m:rPr>
                                  <m:sty m:val="p"/>
                                </m:rPr>
                                <a:rPr lang="en-US" sz="2200" b="0" i="1" smtClean="0">
                                  <a:latin typeface="Cambria Math" panose="02040503050406030204" pitchFamily="18" charset="0"/>
                                  <a:ea typeface="Cambria Math" panose="02040503050406030204" pitchFamily="18" charset="0"/>
                                  <a:cs typeface="Arial"/>
                                  <a:sym typeface="Arial"/>
                                </a:rPr>
                                <m:t>b</m:t>
                              </m:r>
                            </m:num>
                            <m:den>
                              <m:r>
                                <a:rPr lang="en-US" sz="2200" b="0" i="1" smtClean="0">
                                  <a:latin typeface="Cambria Math" panose="02040503050406030204" pitchFamily="18" charset="0"/>
                                  <a:ea typeface="Cambria Math" panose="02040503050406030204" pitchFamily="18" charset="0"/>
                                  <a:cs typeface="Arial"/>
                                  <a:sym typeface="Arial"/>
                                </a:rPr>
                                <m:t>2</m:t>
                              </m:r>
                            </m:den>
                          </m:f>
                        </m:e>
                      </m:d>
                      <m:sSub>
                        <m:sSubPr>
                          <m:ctrlPr>
                            <a:rPr lang="en-US" sz="2200" b="0" i="1" smtClean="0">
                              <a:latin typeface="Cambria Math" panose="02040503050406030204" pitchFamily="18" charset="0"/>
                              <a:ea typeface="Cambria Math" panose="02040503050406030204" pitchFamily="18" charset="0"/>
                              <a:cs typeface="Arial"/>
                              <a:sym typeface="Arial"/>
                            </a:rPr>
                          </m:ctrlPr>
                        </m:sSubPr>
                        <m:e>
                          <m:r>
                            <a:rPr lang="en-US" sz="2200" i="1">
                              <a:latin typeface="Cambria Math" panose="02040503050406030204" pitchFamily="18" charset="0"/>
                              <a:ea typeface="Cambria Math" panose="02040503050406030204" pitchFamily="18" charset="0"/>
                              <a:cs typeface="Arial"/>
                              <a:sym typeface="Arial"/>
                            </a:rPr>
                            <m:t>𝜈</m:t>
                          </m:r>
                        </m:e>
                        <m:sub>
                          <m:r>
                            <m:rPr>
                              <m:sty m:val="p"/>
                            </m:rPr>
                            <a:rPr lang="en-US" sz="2200" b="0" i="1" smtClean="0">
                              <a:latin typeface="Cambria Math" panose="02040503050406030204" pitchFamily="18" charset="0"/>
                              <a:ea typeface="Cambria Math" panose="02040503050406030204" pitchFamily="18" charset="0"/>
                              <a:cs typeface="Arial"/>
                              <a:sym typeface="Arial"/>
                            </a:rPr>
                            <m:t>r</m:t>
                          </m:r>
                        </m:sub>
                      </m:sSub>
                    </m:oMath>
                  </m:oMathPara>
                </a14:m>
                <a:endParaRPr lang="en-US" sz="2200" b="0" dirty="0">
                  <a:latin typeface="Arial"/>
                  <a:ea typeface="Cambria Math" panose="02040503050406030204" pitchFamily="18" charset="0"/>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200" i="1">
                          <a:latin typeface="Cambria Math" panose="02040503050406030204" pitchFamily="18" charset="0"/>
                          <a:ea typeface="Cambria Math" panose="02040503050406030204" pitchFamily="18" charset="0"/>
                          <a:cs typeface="Arial"/>
                          <a:sym typeface="Arial"/>
                        </a:rPr>
                        <m:t>𝜔</m:t>
                      </m:r>
                      <m:r>
                        <a:rPr lang="en-US" sz="2200" i="1">
                          <a:latin typeface="Cambria Math" panose="02040503050406030204" pitchFamily="18" charset="0"/>
                          <a:ea typeface="Cambria Math" panose="02040503050406030204" pitchFamily="18" charset="0"/>
                          <a:cs typeface="Arial"/>
                          <a:sym typeface="Arial"/>
                        </a:rPr>
                        <m:t>=</m:t>
                      </m:r>
                      <m:d>
                        <m:dPr>
                          <m:ctrlPr>
                            <a:rPr lang="en-US" sz="2200" i="1">
                              <a:latin typeface="Cambria Math" panose="02040503050406030204" pitchFamily="18" charset="0"/>
                              <a:ea typeface="Cambria Math" panose="02040503050406030204" pitchFamily="18" charset="0"/>
                              <a:cs typeface="Arial"/>
                              <a:sym typeface="Arial"/>
                            </a:rPr>
                          </m:ctrlPr>
                        </m:dPr>
                        <m:e>
                          <m:r>
                            <a:rPr lang="en-US" sz="2200" i="1" smtClean="0">
                              <a:latin typeface="Cambria Math" panose="02040503050406030204" pitchFamily="18" charset="0"/>
                              <a:ea typeface="Cambria Math" panose="02040503050406030204" pitchFamily="18" charset="0"/>
                              <a:cs typeface="Arial"/>
                              <a:sym typeface="Arial"/>
                            </a:rPr>
                            <m:t>𝑅</m:t>
                          </m:r>
                          <m:r>
                            <a:rPr lang="en-US" sz="2200" b="0" i="1" smtClean="0">
                              <a:latin typeface="Cambria Math" panose="02040503050406030204" pitchFamily="18" charset="0"/>
                              <a:ea typeface="Cambria Math" panose="02040503050406030204" pitchFamily="18" charset="0"/>
                              <a:cs typeface="Arial"/>
                              <a:sym typeface="Arial"/>
                            </a:rPr>
                            <m:t>−</m:t>
                          </m:r>
                          <m:f>
                            <m:fPr>
                              <m:ctrlPr>
                                <a:rPr lang="en-US" sz="2200" i="1">
                                  <a:latin typeface="Cambria Math" panose="02040503050406030204" pitchFamily="18" charset="0"/>
                                  <a:ea typeface="Cambria Math" panose="02040503050406030204" pitchFamily="18" charset="0"/>
                                  <a:cs typeface="Arial"/>
                                  <a:sym typeface="Arial"/>
                                </a:rPr>
                              </m:ctrlPr>
                            </m:fPr>
                            <m:num>
                              <m:r>
                                <m:rPr>
                                  <m:sty m:val="p"/>
                                </m:rPr>
                                <a:rPr lang="en-US" sz="2200" i="1">
                                  <a:latin typeface="Cambria Math" panose="02040503050406030204" pitchFamily="18" charset="0"/>
                                  <a:ea typeface="Cambria Math" panose="02040503050406030204" pitchFamily="18" charset="0"/>
                                  <a:cs typeface="Arial"/>
                                  <a:sym typeface="Arial"/>
                                </a:rPr>
                                <m:t>b</m:t>
                              </m:r>
                            </m:num>
                            <m:den>
                              <m:r>
                                <a:rPr lang="en-US" sz="2200" i="1">
                                  <a:latin typeface="Cambria Math" panose="02040503050406030204" pitchFamily="18" charset="0"/>
                                  <a:ea typeface="Cambria Math" panose="02040503050406030204" pitchFamily="18" charset="0"/>
                                  <a:cs typeface="Arial"/>
                                  <a:sym typeface="Arial"/>
                                </a:rPr>
                                <m:t>2</m:t>
                              </m:r>
                            </m:den>
                          </m:f>
                        </m:e>
                      </m:d>
                      <m:sSub>
                        <m:sSubPr>
                          <m:ctrlPr>
                            <a:rPr lang="en-US" sz="2200" i="1">
                              <a:latin typeface="Cambria Math" panose="02040503050406030204" pitchFamily="18" charset="0"/>
                              <a:ea typeface="Cambria Math" panose="02040503050406030204" pitchFamily="18" charset="0"/>
                              <a:cs typeface="Arial"/>
                              <a:sym typeface="Arial"/>
                            </a:rPr>
                          </m:ctrlPr>
                        </m:sSubPr>
                        <m:e>
                          <m:r>
                            <a:rPr lang="en-US" sz="2200" i="1">
                              <a:latin typeface="Cambria Math" panose="02040503050406030204" pitchFamily="18" charset="0"/>
                              <a:ea typeface="Cambria Math" panose="02040503050406030204" pitchFamily="18" charset="0"/>
                              <a:cs typeface="Arial"/>
                              <a:sym typeface="Arial"/>
                            </a:rPr>
                            <m:t>𝜈</m:t>
                          </m:r>
                        </m:e>
                        <m:sub>
                          <m:r>
                            <m:rPr>
                              <m:sty m:val="p"/>
                            </m:rPr>
                            <a:rPr lang="en-US" sz="2200" b="0" i="1" smtClean="0">
                              <a:latin typeface="Cambria Math" panose="02040503050406030204" pitchFamily="18" charset="0"/>
                              <a:ea typeface="Cambria Math" panose="02040503050406030204" pitchFamily="18" charset="0"/>
                              <a:cs typeface="Arial"/>
                              <a:sym typeface="Arial"/>
                            </a:rPr>
                            <m:t>l</m:t>
                          </m:r>
                        </m:sub>
                      </m:sSub>
                    </m:oMath>
                  </m:oMathPara>
                </a14:m>
                <a:endParaRPr lang="en-US" sz="2200" dirty="0">
                  <a:latin typeface="Arial"/>
                  <a:ea typeface="Arial"/>
                  <a:cs typeface="Arial"/>
                  <a:sym typeface="Arial"/>
                </a:endParaRP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endParaRPr lang="en-US" sz="2200" dirty="0">
                  <a:latin typeface="Arial"/>
                  <a:ea typeface="Arial"/>
                  <a:cs typeface="Arial"/>
                  <a:sym typeface="Arial"/>
                </a:endParaRPr>
              </a:p>
            </p:txBody>
          </p:sp>
        </mc:Choice>
        <mc:Fallback xmlns="">
          <p:sp>
            <p:nvSpPr>
              <p:cNvPr id="118" name="Google Shape;118;p29">
                <a:extLst>
                  <a:ext uri="{FF2B5EF4-FFF2-40B4-BE49-F238E27FC236}">
                    <a16:creationId xmlns:a16="http://schemas.microsoft.com/office/drawing/2014/main" id="{8C76EF0D-39CE-39D6-1DD6-733B92389290}"/>
                  </a:ext>
                </a:extLst>
              </p:cNvPr>
              <p:cNvSpPr txBox="1">
                <a:spLocks noGrp="1" noRot="1" noChangeAspect="1" noMove="1" noResize="1" noEditPoints="1" noAdjustHandles="1" noChangeArrowheads="1" noChangeShapeType="1" noTextEdit="1"/>
              </p:cNvSpPr>
              <p:nvPr>
                <p:ph type="body" idx="1"/>
              </p:nvPr>
            </p:nvSpPr>
            <p:spPr>
              <a:xfrm>
                <a:off x="376809" y="1334279"/>
                <a:ext cx="7260312" cy="4821102"/>
              </a:xfrm>
              <a:prstGeom prst="rect">
                <a:avLst/>
              </a:prstGeom>
              <a:blipFill>
                <a:blip r:embed="rId3"/>
                <a:stretch>
                  <a:fillRect l="-1092" t="-759" r="-1931"/>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3C047C59-56C9-ADF3-FB5D-C717D92C805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D08FD53B-4723-ABD0-9FCF-CABC2AEF7456}"/>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Dead-Reckoning</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3EC9F23A-B72D-4ED6-16CE-1CFFC4DAFA69}"/>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39FC659-2FBE-6D45-D427-4D988D2D673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EA1809E5-DC5A-8030-41B9-21D95E6BB0F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6BAE7C5-F4C5-22C4-50A7-80ACB3E5C40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F9E3CE9D-BA9A-F61E-A0A1-4D7E55B3D00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CAA05BA9-51EF-31FA-93C7-F068C56FE7EC}"/>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3" name="Graphic 2">
            <a:extLst>
              <a:ext uri="{FF2B5EF4-FFF2-40B4-BE49-F238E27FC236}">
                <a16:creationId xmlns:a16="http://schemas.microsoft.com/office/drawing/2014/main" id="{057E820A-FAFB-0518-9A2F-DF8DB1F97973}"/>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7637121" y="1267629"/>
            <a:ext cx="4322741" cy="4322741"/>
          </a:xfrm>
          <a:prstGeom prst="rect">
            <a:avLst/>
          </a:prstGeom>
        </p:spPr>
      </p:pic>
    </p:spTree>
    <p:extLst>
      <p:ext uri="{BB962C8B-B14F-4D97-AF65-F5344CB8AC3E}">
        <p14:creationId xmlns:p14="http://schemas.microsoft.com/office/powerpoint/2010/main" val="1246845736"/>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3213026-6ABA-1E9D-FD91-85F548236C0A}"/>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A1C57B75-374F-1071-DAC6-B28E22E5DDB8}"/>
                  </a:ext>
                </a:extLst>
              </p:cNvPr>
              <p:cNvSpPr txBox="1">
                <a:spLocks noGrp="1"/>
              </p:cNvSpPr>
              <p:nvPr>
                <p:ph type="body" idx="1"/>
              </p:nvPr>
            </p:nvSpPr>
            <p:spPr>
              <a:xfrm>
                <a:off x="376809" y="1334279"/>
                <a:ext cx="7260312"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rial"/>
                    <a:ea typeface="Arial"/>
                    <a:cs typeface="Arial"/>
                    <a:sym typeface="Arial"/>
                  </a:rPr>
                  <a:t>Solving for </a:t>
                </a:r>
                <a14:m>
                  <m:oMath xmlns:m="http://schemas.openxmlformats.org/officeDocument/2006/math">
                    <m:r>
                      <a:rPr lang="en-US" sz="2200" i="1" smtClean="0">
                        <a:latin typeface="Cambria Math" panose="02040503050406030204" pitchFamily="18" charset="0"/>
                        <a:ea typeface="Cambria Math" panose="02040503050406030204" pitchFamily="18" charset="0"/>
                        <a:cs typeface="Arial"/>
                        <a:sym typeface="Arial"/>
                      </a:rPr>
                      <m:t>𝜔</m:t>
                    </m:r>
                  </m:oMath>
                </a14:m>
                <a:r>
                  <a:rPr lang="en-US" sz="2200" dirty="0">
                    <a:latin typeface="Arial"/>
                    <a:ea typeface="Arial"/>
                    <a:cs typeface="Arial"/>
                    <a:sym typeface="Arial"/>
                  </a:rPr>
                  <a:t> and R, we get that,</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200" i="1">
                          <a:latin typeface="Cambria Math" panose="02040503050406030204" pitchFamily="18" charset="0"/>
                          <a:ea typeface="Cambria Math" panose="02040503050406030204" pitchFamily="18" charset="0"/>
                          <a:cs typeface="Arial"/>
                          <a:sym typeface="Arial"/>
                        </a:rPr>
                        <m:t>𝜔</m:t>
                      </m:r>
                      <m:r>
                        <a:rPr lang="en-US" sz="2200" i="1">
                          <a:latin typeface="Cambria Math" panose="02040503050406030204" pitchFamily="18" charset="0"/>
                          <a:ea typeface="Cambria Math" panose="02040503050406030204" pitchFamily="18" charset="0"/>
                          <a:cs typeface="Arial"/>
                          <a:sym typeface="Arial"/>
                        </a:rPr>
                        <m:t>=</m:t>
                      </m:r>
                      <m:f>
                        <m:fPr>
                          <m:ctrlPr>
                            <a:rPr lang="en-US" sz="2200" i="1">
                              <a:latin typeface="Cambria Math" panose="02040503050406030204" pitchFamily="18" charset="0"/>
                              <a:cs typeface="Arial"/>
                              <a:sym typeface="Arial"/>
                            </a:rPr>
                          </m:ctrlPr>
                        </m:fPr>
                        <m:num>
                          <m:sSub>
                            <m:sSubPr>
                              <m:ctrlPr>
                                <a:rPr lang="en-US" sz="2200" i="1">
                                  <a:latin typeface="Cambria Math" panose="02040503050406030204" pitchFamily="18" charset="0"/>
                                  <a:cs typeface="Arial"/>
                                  <a:sym typeface="Arial"/>
                                </a:rPr>
                              </m:ctrlPr>
                            </m:sSubPr>
                            <m:e>
                              <m:r>
                                <a:rPr lang="en-US" sz="2200" i="1">
                                  <a:latin typeface="Cambria Math" panose="02040503050406030204" pitchFamily="18" charset="0"/>
                                  <a:ea typeface="Cambria Math" panose="02040503050406030204" pitchFamily="18" charset="0"/>
                                  <a:cs typeface="Arial"/>
                                  <a:sym typeface="Arial"/>
                                </a:rPr>
                                <m:t>𝜈</m:t>
                              </m:r>
                            </m:e>
                            <m:sub>
                              <m:r>
                                <m:rPr>
                                  <m:sty m:val="p"/>
                                </m:rPr>
                                <a:rPr lang="en-US" sz="2200" b="0" i="1" smtClean="0">
                                  <a:latin typeface="Cambria Math" panose="02040503050406030204" pitchFamily="18" charset="0"/>
                                  <a:ea typeface="Cambria Math" panose="02040503050406030204" pitchFamily="18" charset="0"/>
                                  <a:cs typeface="Arial"/>
                                  <a:sym typeface="Arial"/>
                                </a:rPr>
                                <m:t>R</m:t>
                              </m:r>
                            </m:sub>
                          </m:sSub>
                          <m:r>
                            <a:rPr lang="en-US" sz="2200" i="1">
                              <a:latin typeface="Cambria Math" panose="02040503050406030204" pitchFamily="18" charset="0"/>
                              <a:cs typeface="Arial"/>
                              <a:sym typeface="Arial"/>
                            </a:rPr>
                            <m:t>− </m:t>
                          </m:r>
                          <m:sSub>
                            <m:sSubPr>
                              <m:ctrlPr>
                                <a:rPr lang="en-US" sz="2200" i="1">
                                  <a:latin typeface="Cambria Math" panose="02040503050406030204" pitchFamily="18" charset="0"/>
                                  <a:cs typeface="Arial"/>
                                  <a:sym typeface="Arial"/>
                                </a:rPr>
                              </m:ctrlPr>
                            </m:sSubPr>
                            <m:e>
                              <m:r>
                                <a:rPr lang="en-US" sz="2200" i="1">
                                  <a:latin typeface="Cambria Math" panose="02040503050406030204" pitchFamily="18" charset="0"/>
                                  <a:ea typeface="Cambria Math" panose="02040503050406030204" pitchFamily="18" charset="0"/>
                                  <a:cs typeface="Arial"/>
                                  <a:sym typeface="Arial"/>
                                </a:rPr>
                                <m:t>𝜈</m:t>
                              </m:r>
                            </m:e>
                            <m:sub>
                              <m:r>
                                <m:rPr>
                                  <m:sty m:val="p"/>
                                </m:rPr>
                                <a:rPr lang="en-US" sz="2200" b="0" i="1" smtClean="0">
                                  <a:latin typeface="Cambria Math" panose="02040503050406030204" pitchFamily="18" charset="0"/>
                                  <a:ea typeface="Cambria Math" panose="02040503050406030204" pitchFamily="18" charset="0"/>
                                  <a:cs typeface="Arial"/>
                                  <a:sym typeface="Arial"/>
                                </a:rPr>
                                <m:t>L</m:t>
                              </m:r>
                            </m:sub>
                          </m:sSub>
                        </m:num>
                        <m:den>
                          <m:r>
                            <m:rPr>
                              <m:sty m:val="p"/>
                            </m:rPr>
                            <a:rPr lang="en-US" sz="2200" i="1">
                              <a:latin typeface="Cambria Math" panose="02040503050406030204" pitchFamily="18" charset="0"/>
                              <a:ea typeface="Cambria Math" panose="02040503050406030204" pitchFamily="18" charset="0"/>
                              <a:cs typeface="Arial"/>
                              <a:sym typeface="Arial"/>
                            </a:rPr>
                            <m:t>b</m:t>
                          </m:r>
                        </m:den>
                      </m:f>
                    </m:oMath>
                  </m:oMathPara>
                </a14:m>
                <a:endParaRPr lang="en-US" sz="2200" dirty="0">
                  <a:latin typeface="Arial"/>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m:rPr>
                          <m:sty m:val="p"/>
                        </m:rPr>
                        <a:rPr lang="en-US" sz="2200" b="0" i="0" smtClean="0">
                          <a:latin typeface="Cambria Math" panose="02040503050406030204" pitchFamily="18" charset="0"/>
                          <a:ea typeface="Cambria Math" panose="02040503050406030204" pitchFamily="18" charset="0"/>
                          <a:cs typeface="Arial"/>
                          <a:sym typeface="Arial"/>
                        </a:rPr>
                        <m:t>R</m:t>
                      </m:r>
                      <m:r>
                        <a:rPr lang="en-US" sz="2200" i="1">
                          <a:latin typeface="Cambria Math" panose="02040503050406030204" pitchFamily="18" charset="0"/>
                          <a:ea typeface="Cambria Math" panose="02040503050406030204" pitchFamily="18" charset="0"/>
                          <a:cs typeface="Arial"/>
                          <a:sym typeface="Arial"/>
                        </a:rPr>
                        <m:t>=</m:t>
                      </m:r>
                      <m:f>
                        <m:fPr>
                          <m:ctrlPr>
                            <a:rPr lang="en-US" sz="2200" i="1" smtClean="0">
                              <a:latin typeface="Cambria Math" panose="02040503050406030204" pitchFamily="18" charset="0"/>
                              <a:ea typeface="Cambria Math" panose="02040503050406030204" pitchFamily="18" charset="0"/>
                              <a:cs typeface="Arial"/>
                              <a:sym typeface="Arial"/>
                            </a:rPr>
                          </m:ctrlPr>
                        </m:fPr>
                        <m:num>
                          <m:r>
                            <m:rPr>
                              <m:sty m:val="p"/>
                            </m:rPr>
                            <a:rPr lang="en-US" sz="2200" b="0" i="1" smtClean="0">
                              <a:latin typeface="Cambria Math" panose="02040503050406030204" pitchFamily="18" charset="0"/>
                              <a:ea typeface="Cambria Math" panose="02040503050406030204" pitchFamily="18" charset="0"/>
                              <a:cs typeface="Arial"/>
                              <a:sym typeface="Arial"/>
                            </a:rPr>
                            <m:t>b</m:t>
                          </m:r>
                        </m:num>
                        <m:den>
                          <m:r>
                            <a:rPr lang="en-US" sz="2200" b="0" i="1" smtClean="0">
                              <a:latin typeface="Cambria Math" panose="02040503050406030204" pitchFamily="18" charset="0"/>
                              <a:ea typeface="Cambria Math" panose="02040503050406030204" pitchFamily="18" charset="0"/>
                              <a:cs typeface="Arial"/>
                              <a:sym typeface="Arial"/>
                            </a:rPr>
                            <m:t>2</m:t>
                          </m:r>
                        </m:den>
                      </m:f>
                      <m:f>
                        <m:fPr>
                          <m:ctrlPr>
                            <a:rPr lang="en-US" sz="2200" i="1">
                              <a:latin typeface="Cambria Math" panose="02040503050406030204" pitchFamily="18" charset="0"/>
                              <a:cs typeface="Arial"/>
                              <a:sym typeface="Arial"/>
                            </a:rPr>
                          </m:ctrlPr>
                        </m:fPr>
                        <m:num>
                          <m:sSub>
                            <m:sSubPr>
                              <m:ctrlPr>
                                <a:rPr lang="en-US" sz="2200" i="1">
                                  <a:latin typeface="Cambria Math" panose="02040503050406030204" pitchFamily="18" charset="0"/>
                                  <a:cs typeface="Arial"/>
                                  <a:sym typeface="Arial"/>
                                </a:rPr>
                              </m:ctrlPr>
                            </m:sSubPr>
                            <m:e>
                              <m:r>
                                <a:rPr lang="en-US" sz="2200" i="1">
                                  <a:latin typeface="Cambria Math" panose="02040503050406030204" pitchFamily="18" charset="0"/>
                                  <a:ea typeface="Cambria Math" panose="02040503050406030204" pitchFamily="18" charset="0"/>
                                  <a:cs typeface="Arial"/>
                                  <a:sym typeface="Arial"/>
                                </a:rPr>
                                <m:t>𝜈</m:t>
                              </m:r>
                            </m:e>
                            <m:sub>
                              <m:r>
                                <m:rPr>
                                  <m:sty m:val="p"/>
                                </m:rPr>
                                <a:rPr lang="en-US" sz="2200" b="0" i="1" smtClean="0">
                                  <a:latin typeface="Cambria Math" panose="02040503050406030204" pitchFamily="18" charset="0"/>
                                  <a:ea typeface="Cambria Math" panose="02040503050406030204" pitchFamily="18" charset="0"/>
                                  <a:cs typeface="Arial"/>
                                  <a:sym typeface="Arial"/>
                                </a:rPr>
                                <m:t>R</m:t>
                              </m:r>
                            </m:sub>
                          </m:sSub>
                          <m:r>
                            <a:rPr lang="en-US" sz="2200" b="0" i="1" smtClean="0">
                              <a:latin typeface="Cambria Math" panose="02040503050406030204" pitchFamily="18" charset="0"/>
                              <a:cs typeface="Arial"/>
                              <a:sym typeface="Arial"/>
                            </a:rPr>
                            <m:t>+</m:t>
                          </m:r>
                          <m:r>
                            <a:rPr lang="en-US" sz="2200" i="1">
                              <a:latin typeface="Cambria Math" panose="02040503050406030204" pitchFamily="18" charset="0"/>
                              <a:cs typeface="Arial"/>
                              <a:sym typeface="Arial"/>
                            </a:rPr>
                            <m:t> </m:t>
                          </m:r>
                          <m:sSub>
                            <m:sSubPr>
                              <m:ctrlPr>
                                <a:rPr lang="en-US" sz="2200" i="1">
                                  <a:latin typeface="Cambria Math" panose="02040503050406030204" pitchFamily="18" charset="0"/>
                                  <a:cs typeface="Arial"/>
                                  <a:sym typeface="Arial"/>
                                </a:rPr>
                              </m:ctrlPr>
                            </m:sSubPr>
                            <m:e>
                              <m:r>
                                <a:rPr lang="en-US" sz="2200" i="1">
                                  <a:latin typeface="Cambria Math" panose="02040503050406030204" pitchFamily="18" charset="0"/>
                                  <a:ea typeface="Cambria Math" panose="02040503050406030204" pitchFamily="18" charset="0"/>
                                  <a:cs typeface="Arial"/>
                                  <a:sym typeface="Arial"/>
                                </a:rPr>
                                <m:t>𝜈</m:t>
                              </m:r>
                            </m:e>
                            <m:sub>
                              <m:r>
                                <m:rPr>
                                  <m:sty m:val="p"/>
                                </m:rPr>
                                <a:rPr lang="en-US" sz="2200" b="0" i="1" smtClean="0">
                                  <a:latin typeface="Cambria Math" panose="02040503050406030204" pitchFamily="18" charset="0"/>
                                  <a:ea typeface="Cambria Math" panose="02040503050406030204" pitchFamily="18" charset="0"/>
                                  <a:cs typeface="Arial"/>
                                  <a:sym typeface="Arial"/>
                                </a:rPr>
                                <m:t>L</m:t>
                              </m:r>
                            </m:sub>
                          </m:sSub>
                        </m:num>
                        <m:den>
                          <m:sSub>
                            <m:sSubPr>
                              <m:ctrlPr>
                                <a:rPr lang="en-US" sz="2200" i="1">
                                  <a:latin typeface="Cambria Math" panose="02040503050406030204" pitchFamily="18" charset="0"/>
                                  <a:cs typeface="Arial"/>
                                  <a:sym typeface="Arial"/>
                                </a:rPr>
                              </m:ctrlPr>
                            </m:sSubPr>
                            <m:e>
                              <m:r>
                                <a:rPr lang="en-US" sz="2200" i="1">
                                  <a:latin typeface="Cambria Math" panose="02040503050406030204" pitchFamily="18" charset="0"/>
                                  <a:ea typeface="Cambria Math" panose="02040503050406030204" pitchFamily="18" charset="0"/>
                                  <a:cs typeface="Arial"/>
                                  <a:sym typeface="Arial"/>
                                </a:rPr>
                                <m:t>𝜈</m:t>
                              </m:r>
                            </m:e>
                            <m:sub>
                              <m:r>
                                <m:rPr>
                                  <m:sty m:val="p"/>
                                </m:rPr>
                                <a:rPr lang="en-US" sz="2200" b="0" i="1" smtClean="0">
                                  <a:latin typeface="Cambria Math" panose="02040503050406030204" pitchFamily="18" charset="0"/>
                                  <a:ea typeface="Cambria Math" panose="02040503050406030204" pitchFamily="18" charset="0"/>
                                  <a:cs typeface="Arial"/>
                                  <a:sym typeface="Arial"/>
                                </a:rPr>
                                <m:t>R</m:t>
                              </m:r>
                            </m:sub>
                          </m:sSub>
                          <m:r>
                            <a:rPr lang="en-US" sz="2200" b="0" i="1" smtClean="0">
                              <a:latin typeface="Cambria Math" panose="02040503050406030204" pitchFamily="18" charset="0"/>
                              <a:cs typeface="Arial"/>
                              <a:sym typeface="Arial"/>
                            </a:rPr>
                            <m:t> − </m:t>
                          </m:r>
                          <m:sSub>
                            <m:sSubPr>
                              <m:ctrlPr>
                                <a:rPr lang="en-US" sz="2200" i="1">
                                  <a:latin typeface="Cambria Math" panose="02040503050406030204" pitchFamily="18" charset="0"/>
                                  <a:cs typeface="Arial"/>
                                  <a:sym typeface="Arial"/>
                                </a:rPr>
                              </m:ctrlPr>
                            </m:sSubPr>
                            <m:e>
                              <m:r>
                                <a:rPr lang="en-US" sz="2200" i="1">
                                  <a:latin typeface="Cambria Math" panose="02040503050406030204" pitchFamily="18" charset="0"/>
                                  <a:ea typeface="Cambria Math" panose="02040503050406030204" pitchFamily="18" charset="0"/>
                                  <a:cs typeface="Arial"/>
                                  <a:sym typeface="Arial"/>
                                </a:rPr>
                                <m:t>𝜈</m:t>
                              </m:r>
                            </m:e>
                            <m:sub>
                              <m:r>
                                <m:rPr>
                                  <m:sty m:val="p"/>
                                </m:rPr>
                                <a:rPr lang="en-US" sz="2200" b="0" i="1" smtClean="0">
                                  <a:latin typeface="Cambria Math" panose="02040503050406030204" pitchFamily="18" charset="0"/>
                                  <a:ea typeface="Cambria Math" panose="02040503050406030204" pitchFamily="18" charset="0"/>
                                  <a:cs typeface="Arial"/>
                                  <a:sym typeface="Arial"/>
                                </a:rPr>
                                <m:t>L</m:t>
                              </m:r>
                            </m:sub>
                          </m:sSub>
                        </m:den>
                      </m:f>
                    </m:oMath>
                  </m:oMathPara>
                </a14:m>
                <a:endParaRPr lang="en-US" sz="2200" dirty="0">
                  <a:latin typeface="Arial"/>
                  <a:ea typeface="Arial"/>
                  <a:cs typeface="Arial"/>
                  <a:sym typeface="Arial"/>
                </a:endParaRP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Very simple!</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When </a:t>
                </a:r>
                <a14:m>
                  <m:oMath xmlns:m="http://schemas.openxmlformats.org/officeDocument/2006/math">
                    <m:r>
                      <m:rPr>
                        <m:sty m:val="p"/>
                      </m:rPr>
                      <a:rPr lang="en-US" sz="2200">
                        <a:latin typeface="Cambria Math" panose="02040503050406030204" pitchFamily="18" charset="0"/>
                        <a:ea typeface="Cambria Math" panose="02040503050406030204" pitchFamily="18" charset="0"/>
                        <a:cs typeface="Arial"/>
                        <a:sym typeface="Arial"/>
                      </a:rPr>
                      <m:t>R</m:t>
                    </m:r>
                    <m:r>
                      <a:rPr lang="en-US" sz="2200" b="0" i="0" smtClean="0">
                        <a:latin typeface="Cambria Math" panose="02040503050406030204" pitchFamily="18" charset="0"/>
                        <a:ea typeface="Cambria Math" panose="02040503050406030204" pitchFamily="18" charset="0"/>
                        <a:cs typeface="Arial"/>
                        <a:sym typeface="Arial"/>
                      </a:rPr>
                      <m:t> = </m:t>
                    </m:r>
                    <m:r>
                      <a:rPr lang="en-US" sz="2200" b="0" i="1" smtClean="0">
                        <a:latin typeface="Cambria Math" panose="02040503050406030204" pitchFamily="18" charset="0"/>
                        <a:ea typeface="Cambria Math" panose="02040503050406030204" pitchFamily="18" charset="0"/>
                        <a:cs typeface="Arial"/>
                        <a:sym typeface="Arial"/>
                      </a:rPr>
                      <m:t>∞</m:t>
                    </m:r>
                  </m:oMath>
                </a14:m>
                <a:r>
                  <a:rPr lang="en-US" sz="2200" dirty="0">
                    <a:latin typeface="Arial"/>
                    <a:ea typeface="Arial"/>
                    <a:cs typeface="Arial"/>
                    <a:sym typeface="Arial"/>
                  </a:rPr>
                  <a:t>, what is the robot doing?</a:t>
                </a:r>
              </a:p>
              <a:p>
                <a:pPr marL="0" indent="0">
                  <a:lnSpc>
                    <a:spcPct val="100000"/>
                  </a:lnSpc>
                  <a:spcBef>
                    <a:spcPts val="0"/>
                  </a:spcBef>
                  <a:buSzPts val="3000"/>
                  <a:buNone/>
                </a:pPr>
                <a:r>
                  <a:rPr lang="en-US" sz="2200" dirty="0">
                    <a:latin typeface="Arial"/>
                    <a:ea typeface="Arial"/>
                    <a:cs typeface="Arial"/>
                    <a:sym typeface="Arial"/>
                  </a:rPr>
                  <a:t>When </a:t>
                </a:r>
                <a14:m>
                  <m:oMath xmlns:m="http://schemas.openxmlformats.org/officeDocument/2006/math">
                    <m:r>
                      <m:rPr>
                        <m:sty m:val="p"/>
                      </m:rPr>
                      <a:rPr lang="en-US" sz="2200" b="0" i="1" smtClean="0">
                        <a:latin typeface="Cambria Math" panose="02040503050406030204" pitchFamily="18" charset="0"/>
                        <a:ea typeface="Arial"/>
                        <a:cs typeface="Arial"/>
                        <a:sym typeface="Arial"/>
                      </a:rPr>
                      <m:t>R</m:t>
                    </m:r>
                    <m:r>
                      <a:rPr lang="en-US" sz="2200" b="0" i="1" smtClean="0">
                        <a:latin typeface="Cambria Math" panose="02040503050406030204" pitchFamily="18" charset="0"/>
                        <a:ea typeface="Arial"/>
                        <a:cs typeface="Arial"/>
                        <a:sym typeface="Arial"/>
                      </a:rPr>
                      <m:t> = 0</m:t>
                    </m:r>
                  </m:oMath>
                </a14:m>
                <a:r>
                  <a:rPr lang="en-US" sz="2200" dirty="0">
                    <a:latin typeface="Arial"/>
                    <a:ea typeface="Arial"/>
                    <a:cs typeface="Arial"/>
                    <a:sym typeface="Arial"/>
                  </a:rPr>
                  <a:t>, what is the robot doing?</a:t>
                </a:r>
              </a:p>
              <a:p>
                <a:pPr marL="0" indent="0">
                  <a:lnSpc>
                    <a:spcPct val="100000"/>
                  </a:lnSpc>
                  <a:spcBef>
                    <a:spcPts val="0"/>
                  </a:spcBef>
                  <a:buSzPts val="3000"/>
                  <a:buNone/>
                </a:pPr>
                <a:endParaRPr lang="en-US" sz="2200" dirty="0">
                  <a:latin typeface="Arial"/>
                  <a:ea typeface="Arial"/>
                  <a:cs typeface="Arial"/>
                  <a:sym typeface="Arial"/>
                </a:endParaRPr>
              </a:p>
            </p:txBody>
          </p:sp>
        </mc:Choice>
        <mc:Fallback xmlns="">
          <p:sp>
            <p:nvSpPr>
              <p:cNvPr id="118" name="Google Shape;118;p29">
                <a:extLst>
                  <a:ext uri="{FF2B5EF4-FFF2-40B4-BE49-F238E27FC236}">
                    <a16:creationId xmlns:a16="http://schemas.microsoft.com/office/drawing/2014/main" id="{A1C57B75-374F-1071-DAC6-B28E22E5DDB8}"/>
                  </a:ext>
                </a:extLst>
              </p:cNvPr>
              <p:cNvSpPr txBox="1">
                <a:spLocks noGrp="1" noRot="1" noChangeAspect="1" noMove="1" noResize="1" noEditPoints="1" noAdjustHandles="1" noChangeArrowheads="1" noChangeShapeType="1" noTextEdit="1"/>
              </p:cNvSpPr>
              <p:nvPr>
                <p:ph type="body" idx="1"/>
              </p:nvPr>
            </p:nvSpPr>
            <p:spPr>
              <a:xfrm>
                <a:off x="376809" y="1334279"/>
                <a:ext cx="7260312" cy="4821102"/>
              </a:xfrm>
              <a:prstGeom prst="rect">
                <a:avLst/>
              </a:prstGeom>
              <a:blipFill>
                <a:blip r:embed="rId3"/>
                <a:stretch>
                  <a:fillRect l="-1092" t="-759"/>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9E687758-CA04-3163-CE38-B6AC64638D6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177F1CC9-EFE6-DAB7-FFA6-DD570FFFE547}"/>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Dead-Reckoning</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D1A7089C-3F15-063A-06F6-26A95EC357BF}"/>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761F874-C670-686C-7B21-1E745FD6556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A627F39-0053-02A9-6FC5-F35434AD01C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A02E0AB-6328-8DF2-7D09-67833D2F6D3C}"/>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F7123FD1-A272-CDDD-5538-194CF666211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E59382F-689C-A388-0D11-423AC33E80B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3" name="Graphic 2">
            <a:extLst>
              <a:ext uri="{FF2B5EF4-FFF2-40B4-BE49-F238E27FC236}">
                <a16:creationId xmlns:a16="http://schemas.microsoft.com/office/drawing/2014/main" id="{2E5442EB-5FDF-63B8-74EC-F0DEBD0C3517}"/>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7637121" y="1267629"/>
            <a:ext cx="4322741" cy="4322741"/>
          </a:xfrm>
          <a:prstGeom prst="rect">
            <a:avLst/>
          </a:prstGeom>
        </p:spPr>
      </p:pic>
    </p:spTree>
    <p:extLst>
      <p:ext uri="{BB962C8B-B14F-4D97-AF65-F5344CB8AC3E}">
        <p14:creationId xmlns:p14="http://schemas.microsoft.com/office/powerpoint/2010/main" val="6742951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E82A523-5CFF-0ACA-94BC-DF8BADF9F346}"/>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CBA2C7AC-C42D-ACEC-6107-387F1EE0C0EE}"/>
                  </a:ext>
                </a:extLst>
              </p:cNvPr>
              <p:cNvSpPr txBox="1">
                <a:spLocks noGrp="1"/>
              </p:cNvSpPr>
              <p:nvPr>
                <p:ph type="body" idx="1"/>
              </p:nvPr>
            </p:nvSpPr>
            <p:spPr>
              <a:xfrm>
                <a:off x="376809" y="1334279"/>
                <a:ext cx="7260312"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rial"/>
                    <a:ea typeface="Arial"/>
                    <a:cs typeface="Arial"/>
                    <a:sym typeface="Arial"/>
                  </a:rPr>
                  <a:t>Based on the calculated forward velocity from the encoders, </a:t>
                </a:r>
                <a14:m>
                  <m:oMath xmlns:m="http://schemas.openxmlformats.org/officeDocument/2006/math">
                    <m:r>
                      <m:rPr>
                        <m:sty m:val="p"/>
                      </m:rPr>
                      <a:rPr lang="en-US" sz="2200" b="0" i="1" smtClean="0">
                        <a:latin typeface="Cambria Math" panose="02040503050406030204" pitchFamily="18" charset="0"/>
                        <a:ea typeface="Arial"/>
                        <a:cs typeface="Arial"/>
                        <a:sym typeface="Arial"/>
                      </a:rPr>
                      <m:t>V</m:t>
                    </m:r>
                  </m:oMath>
                </a14:m>
                <a:r>
                  <a:rPr lang="en-US" sz="2200" dirty="0">
                    <a:latin typeface="Arial"/>
                    <a:ea typeface="Arial"/>
                    <a:cs typeface="Arial"/>
                    <a:sym typeface="Arial"/>
                  </a:rPr>
                  <a:t>, in lab we already calculate </a:t>
                </a:r>
                <a14:m>
                  <m:oMath xmlns:m="http://schemas.openxmlformats.org/officeDocument/2006/math">
                    <m:sSub>
                      <m:sSubPr>
                        <m:ctrlPr>
                          <a:rPr lang="en-US" sz="2200" i="1">
                            <a:latin typeface="Cambria Math" panose="02040503050406030204" pitchFamily="18" charset="0"/>
                            <a:cs typeface="Arial"/>
                            <a:sym typeface="Arial"/>
                          </a:rPr>
                        </m:ctrlPr>
                      </m:sSubPr>
                      <m:e>
                        <m:r>
                          <a:rPr lang="en-US" sz="2200" i="1">
                            <a:latin typeface="Cambria Math" panose="02040503050406030204" pitchFamily="18" charset="0"/>
                            <a:ea typeface="Cambria Math" panose="02040503050406030204" pitchFamily="18" charset="0"/>
                            <a:cs typeface="Arial"/>
                            <a:sym typeface="Arial"/>
                          </a:rPr>
                          <m:t>𝜈</m:t>
                        </m:r>
                      </m:e>
                      <m:sub>
                        <m:r>
                          <m:rPr>
                            <m:sty m:val="p"/>
                          </m:rPr>
                          <a:rPr lang="en-US" sz="2200" i="1">
                            <a:latin typeface="Cambria Math" panose="02040503050406030204" pitchFamily="18" charset="0"/>
                            <a:ea typeface="Cambria Math" panose="02040503050406030204" pitchFamily="18" charset="0"/>
                            <a:cs typeface="Arial"/>
                            <a:sym typeface="Arial"/>
                          </a:rPr>
                          <m:t>R</m:t>
                        </m:r>
                      </m:sub>
                    </m:sSub>
                    <m:r>
                      <a:rPr lang="en-US" sz="2200" b="0" i="1" smtClean="0">
                        <a:latin typeface="Cambria Math" panose="02040503050406030204" pitchFamily="18" charset="0"/>
                        <a:ea typeface="Cambria Math" panose="02040503050406030204" pitchFamily="18" charset="0"/>
                        <a:cs typeface="Arial"/>
                        <a:sym typeface="Arial"/>
                      </a:rPr>
                      <m:t>, </m:t>
                    </m:r>
                    <m:sSub>
                      <m:sSubPr>
                        <m:ctrlPr>
                          <a:rPr lang="en-US" sz="2200" i="1">
                            <a:latin typeface="Cambria Math" panose="02040503050406030204" pitchFamily="18" charset="0"/>
                            <a:cs typeface="Arial"/>
                            <a:sym typeface="Arial"/>
                          </a:rPr>
                        </m:ctrlPr>
                      </m:sSubPr>
                      <m:e>
                        <m:r>
                          <a:rPr lang="en-US" sz="2200" i="1">
                            <a:latin typeface="Cambria Math" panose="02040503050406030204" pitchFamily="18" charset="0"/>
                            <a:ea typeface="Cambria Math" panose="02040503050406030204" pitchFamily="18" charset="0"/>
                            <a:cs typeface="Arial"/>
                            <a:sym typeface="Arial"/>
                          </a:rPr>
                          <m:t>𝜈</m:t>
                        </m:r>
                      </m:e>
                      <m:sub>
                        <m:r>
                          <m:rPr>
                            <m:sty m:val="p"/>
                          </m:rPr>
                          <a:rPr lang="en-US" sz="2200" i="1">
                            <a:latin typeface="Cambria Math" panose="02040503050406030204" pitchFamily="18" charset="0"/>
                            <a:ea typeface="Cambria Math" panose="02040503050406030204" pitchFamily="18" charset="0"/>
                            <a:cs typeface="Arial"/>
                            <a:sym typeface="Arial"/>
                          </a:rPr>
                          <m:t>L</m:t>
                        </m:r>
                      </m:sub>
                    </m:sSub>
                  </m:oMath>
                </a14:m>
                <a:r>
                  <a:rPr lang="en-US" sz="2200" dirty="0">
                    <a:latin typeface="Arial"/>
                    <a:ea typeface="Arial"/>
                    <a:cs typeface="Arial"/>
                    <a:sym typeface="Arial"/>
                  </a:rPr>
                  <a:t>.</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Using forward Euler integration, we update our world </a:t>
                </a:r>
                <a14:m>
                  <m:oMath xmlns:m="http://schemas.openxmlformats.org/officeDocument/2006/math">
                    <m:r>
                      <m:rPr>
                        <m:sty m:val="p"/>
                      </m:rPr>
                      <a:rPr lang="en-US" sz="2200" b="0" i="1" smtClean="0">
                        <a:latin typeface="Cambria Math" panose="02040503050406030204" pitchFamily="18" charset="0"/>
                        <a:ea typeface="Arial"/>
                        <a:cs typeface="Arial"/>
                        <a:sym typeface="Arial"/>
                      </a:rPr>
                      <m:t>X</m:t>
                    </m:r>
                  </m:oMath>
                </a14:m>
                <a:r>
                  <a:rPr lang="en-US" sz="2200" dirty="0">
                    <a:latin typeface="Arial"/>
                    <a:ea typeface="Arial"/>
                    <a:cs typeface="Arial"/>
                    <a:sym typeface="Arial"/>
                  </a:rPr>
                  <a:t> and </a:t>
                </a:r>
                <a14:m>
                  <m:oMath xmlns:m="http://schemas.openxmlformats.org/officeDocument/2006/math">
                    <m:r>
                      <m:rPr>
                        <m:sty m:val="p"/>
                      </m:rPr>
                      <a:rPr lang="en-US" sz="2200" b="0" i="1" smtClean="0">
                        <a:latin typeface="Cambria Math" panose="02040503050406030204" pitchFamily="18" charset="0"/>
                        <a:ea typeface="Arial"/>
                        <a:cs typeface="Arial"/>
                        <a:sym typeface="Arial"/>
                      </a:rPr>
                      <m:t>Y</m:t>
                    </m:r>
                  </m:oMath>
                </a14:m>
                <a:r>
                  <a:rPr lang="en-US" sz="2200" dirty="0">
                    <a:latin typeface="Arial"/>
                    <a:ea typeface="Arial"/>
                    <a:cs typeface="Arial"/>
                    <a:sym typeface="Arial"/>
                  </a:rPr>
                  <a:t> coordinates using our current heading </a:t>
                </a:r>
                <a14:m>
                  <m:oMath xmlns:m="http://schemas.openxmlformats.org/officeDocument/2006/math">
                    <m:sSub>
                      <m:sSubPr>
                        <m:ctrlPr>
                          <a:rPr lang="en-US" sz="2200" b="0" i="1" smtClean="0">
                            <a:latin typeface="Cambria Math" panose="02040503050406030204" pitchFamily="18" charset="0"/>
                            <a:ea typeface="Arial"/>
                            <a:cs typeface="Arial"/>
                            <a:sym typeface="Arial"/>
                          </a:rPr>
                        </m:ctrlPr>
                      </m:sSubPr>
                      <m:e>
                        <m:r>
                          <a:rPr lang="en-US" sz="2200" b="0" i="1" smtClean="0">
                            <a:latin typeface="Cambria Math" panose="02040503050406030204" pitchFamily="18" charset="0"/>
                            <a:ea typeface="Arial"/>
                            <a:cs typeface="Arial"/>
                            <a:sym typeface="Arial"/>
                          </a:rPr>
                          <m:t>𝜑</m:t>
                        </m:r>
                      </m:e>
                      <m:sub>
                        <m:r>
                          <a:rPr lang="en-US" sz="2200" b="0" i="1" smtClean="0">
                            <a:latin typeface="Cambria Math" panose="02040503050406030204" pitchFamily="18" charset="0"/>
                            <a:ea typeface="Arial"/>
                            <a:cs typeface="Arial"/>
                            <a:sym typeface="Arial"/>
                          </a:rPr>
                          <m:t>𝑡</m:t>
                        </m:r>
                      </m:sub>
                    </m:sSub>
                  </m:oMath>
                </a14:m>
                <a:r>
                  <a:rPr lang="en-US" sz="2200" dirty="0">
                    <a:latin typeface="Arial"/>
                    <a:ea typeface="Arial"/>
                    <a:cs typeface="Arial"/>
                    <a:sym typeface="Arial"/>
                  </a:rPr>
                  <a:t>.</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200" b="0" i="1" smtClean="0">
                              <a:latin typeface="Cambria Math" panose="02040503050406030204" pitchFamily="18" charset="0"/>
                              <a:ea typeface="Arial"/>
                              <a:cs typeface="Arial"/>
                              <a:sym typeface="Arial"/>
                            </a:rPr>
                          </m:ctrlPr>
                        </m:sSubPr>
                        <m:e>
                          <m:r>
                            <a:rPr lang="en-US" sz="2200" b="0" i="1" smtClean="0">
                              <a:latin typeface="Cambria Math" panose="02040503050406030204" pitchFamily="18" charset="0"/>
                              <a:ea typeface="Arial"/>
                              <a:cs typeface="Arial"/>
                              <a:sym typeface="Arial"/>
                            </a:rPr>
                            <m:t>𝑥</m:t>
                          </m:r>
                        </m:e>
                        <m:sub>
                          <m:r>
                            <a:rPr lang="en-US" sz="2200" b="0" i="1" smtClean="0">
                              <a:latin typeface="Cambria Math" panose="02040503050406030204" pitchFamily="18" charset="0"/>
                              <a:ea typeface="Arial"/>
                              <a:cs typeface="Arial"/>
                              <a:sym typeface="Arial"/>
                            </a:rPr>
                            <m:t>𝑡</m:t>
                          </m:r>
                          <m:r>
                            <a:rPr lang="en-US" sz="2200" b="0" i="1" smtClean="0">
                              <a:latin typeface="Cambria Math" panose="02040503050406030204" pitchFamily="18" charset="0"/>
                              <a:ea typeface="Arial"/>
                              <a:cs typeface="Arial"/>
                              <a:sym typeface="Arial"/>
                            </a:rPr>
                            <m:t>+1</m:t>
                          </m:r>
                        </m:sub>
                      </m:sSub>
                      <m:r>
                        <a:rPr lang="en-US" sz="2200" b="0" i="1" smtClean="0">
                          <a:latin typeface="Cambria Math" panose="02040503050406030204" pitchFamily="18" charset="0"/>
                          <a:ea typeface="Arial"/>
                          <a:cs typeface="Arial"/>
                          <a:sym typeface="Arial"/>
                        </a:rPr>
                        <m:t>=</m:t>
                      </m:r>
                      <m:sSub>
                        <m:sSubPr>
                          <m:ctrlPr>
                            <a:rPr lang="en-US" sz="2200" b="0" i="1" smtClean="0">
                              <a:latin typeface="Cambria Math" panose="02040503050406030204" pitchFamily="18" charset="0"/>
                              <a:ea typeface="Arial"/>
                              <a:cs typeface="Arial"/>
                              <a:sym typeface="Arial"/>
                            </a:rPr>
                          </m:ctrlPr>
                        </m:sSubPr>
                        <m:e>
                          <m:r>
                            <a:rPr lang="en-US" sz="2200" b="0" i="1" smtClean="0">
                              <a:latin typeface="Cambria Math" panose="02040503050406030204" pitchFamily="18" charset="0"/>
                              <a:ea typeface="Arial"/>
                              <a:cs typeface="Arial"/>
                              <a:sym typeface="Arial"/>
                            </a:rPr>
                            <m:t>𝑥</m:t>
                          </m:r>
                        </m:e>
                        <m:sub>
                          <m:r>
                            <a:rPr lang="en-US" sz="2200" b="0" i="1" smtClean="0">
                              <a:latin typeface="Cambria Math" panose="02040503050406030204" pitchFamily="18" charset="0"/>
                              <a:ea typeface="Arial"/>
                              <a:cs typeface="Arial"/>
                              <a:sym typeface="Arial"/>
                            </a:rPr>
                            <m:t>𝑡</m:t>
                          </m:r>
                        </m:sub>
                      </m:sSub>
                      <m:r>
                        <a:rPr lang="en-US" sz="2200" b="0" i="1" smtClean="0">
                          <a:latin typeface="Cambria Math" panose="02040503050406030204" pitchFamily="18" charset="0"/>
                          <a:ea typeface="Arial"/>
                          <a:cs typeface="Arial"/>
                          <a:sym typeface="Arial"/>
                        </a:rPr>
                        <m:t>+</m:t>
                      </m:r>
                      <m:sSub>
                        <m:sSubPr>
                          <m:ctrlPr>
                            <a:rPr lang="en-US" sz="2200" b="0" i="1" smtClean="0">
                              <a:latin typeface="Cambria Math" panose="02040503050406030204" pitchFamily="18" charset="0"/>
                              <a:ea typeface="Arial"/>
                              <a:cs typeface="Arial"/>
                              <a:sym typeface="Arial"/>
                            </a:rPr>
                          </m:ctrlPr>
                        </m:sSubPr>
                        <m:e>
                          <m:r>
                            <a:rPr lang="en-US" sz="2200" b="0" i="1" smtClean="0">
                              <a:latin typeface="Cambria Math" panose="02040503050406030204" pitchFamily="18" charset="0"/>
                              <a:ea typeface="Arial"/>
                              <a:cs typeface="Arial"/>
                              <a:sym typeface="Arial"/>
                            </a:rPr>
                            <m:t>𝑉</m:t>
                          </m:r>
                        </m:e>
                        <m:sub>
                          <m:r>
                            <a:rPr lang="en-US" sz="2200" b="0" i="1" smtClean="0">
                              <a:latin typeface="Cambria Math" panose="02040503050406030204" pitchFamily="18" charset="0"/>
                              <a:ea typeface="Arial"/>
                              <a:cs typeface="Arial"/>
                              <a:sym typeface="Arial"/>
                            </a:rPr>
                            <m:t>𝑡</m:t>
                          </m:r>
                        </m:sub>
                      </m:sSub>
                      <m:func>
                        <m:funcPr>
                          <m:ctrlPr>
                            <a:rPr lang="en-US" sz="2200" b="0" i="1" smtClean="0">
                              <a:latin typeface="Cambria Math" panose="02040503050406030204" pitchFamily="18" charset="0"/>
                              <a:ea typeface="Arial"/>
                              <a:cs typeface="Arial"/>
                              <a:sym typeface="Arial"/>
                            </a:rPr>
                          </m:ctrlPr>
                        </m:funcPr>
                        <m:fName>
                          <m:r>
                            <m:rPr>
                              <m:sty m:val="p"/>
                            </m:rPr>
                            <a:rPr lang="en-US" sz="2200" b="0" i="0" smtClean="0">
                              <a:latin typeface="Cambria Math" panose="02040503050406030204" pitchFamily="18" charset="0"/>
                              <a:ea typeface="Arial"/>
                              <a:cs typeface="Arial"/>
                              <a:sym typeface="Arial"/>
                            </a:rPr>
                            <m:t>cos</m:t>
                          </m:r>
                        </m:fName>
                        <m:e>
                          <m:d>
                            <m:dPr>
                              <m:ctrlPr>
                                <a:rPr lang="en-US" sz="2200" b="0" i="1" smtClean="0">
                                  <a:latin typeface="Cambria Math" panose="02040503050406030204" pitchFamily="18" charset="0"/>
                                  <a:ea typeface="Arial"/>
                                  <a:cs typeface="Arial"/>
                                  <a:sym typeface="Arial"/>
                                </a:rPr>
                              </m:ctrlPr>
                            </m:dPr>
                            <m:e>
                              <m:sSub>
                                <m:sSubPr>
                                  <m:ctrlPr>
                                    <a:rPr lang="en-US" sz="2200" b="0" i="1" smtClean="0">
                                      <a:latin typeface="Cambria Math" panose="02040503050406030204" pitchFamily="18" charset="0"/>
                                      <a:ea typeface="Arial"/>
                                      <a:cs typeface="Arial"/>
                                      <a:sym typeface="Arial"/>
                                    </a:rPr>
                                  </m:ctrlPr>
                                </m:sSubPr>
                                <m:e>
                                  <m:r>
                                    <a:rPr lang="en-US" sz="2200" b="0" i="1" smtClean="0">
                                      <a:latin typeface="Cambria Math" panose="02040503050406030204" pitchFamily="18" charset="0"/>
                                      <a:ea typeface="Arial"/>
                                      <a:cs typeface="Arial"/>
                                      <a:sym typeface="Arial"/>
                                    </a:rPr>
                                    <m:t>𝜑</m:t>
                                  </m:r>
                                </m:e>
                                <m:sub>
                                  <m:r>
                                    <a:rPr lang="en-US" sz="2200" b="0" i="1" smtClean="0">
                                      <a:latin typeface="Cambria Math" panose="02040503050406030204" pitchFamily="18" charset="0"/>
                                      <a:ea typeface="Arial"/>
                                      <a:cs typeface="Arial"/>
                                      <a:sym typeface="Arial"/>
                                    </a:rPr>
                                    <m:t>𝑡</m:t>
                                  </m:r>
                                </m:sub>
                              </m:sSub>
                            </m:e>
                          </m:d>
                        </m:e>
                      </m:func>
                      <m:r>
                        <a:rPr lang="en-US" sz="2200" b="0" i="1" smtClean="0">
                          <a:latin typeface="Cambria Math" panose="02040503050406030204" pitchFamily="18" charset="0"/>
                          <a:ea typeface="Cambria Math" panose="02040503050406030204" pitchFamily="18" charset="0"/>
                          <a:cs typeface="Arial"/>
                          <a:sym typeface="Arial"/>
                        </a:rPr>
                        <m:t>∆</m:t>
                      </m:r>
                      <m:r>
                        <a:rPr lang="en-US" sz="2200" b="0" i="1" smtClean="0">
                          <a:latin typeface="Cambria Math" panose="02040503050406030204" pitchFamily="18" charset="0"/>
                          <a:ea typeface="Cambria Math" panose="02040503050406030204" pitchFamily="18" charset="0"/>
                          <a:cs typeface="Arial"/>
                          <a:sym typeface="Arial"/>
                        </a:rPr>
                        <m:t>𝑡</m:t>
                      </m:r>
                    </m:oMath>
                  </m:oMathPara>
                </a14:m>
                <a:endParaRPr lang="en-US" sz="2200" b="0" dirty="0">
                  <a:latin typeface="Arial"/>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200" i="1" smtClean="0">
                              <a:latin typeface="Cambria Math" panose="02040503050406030204" pitchFamily="18" charset="0"/>
                              <a:ea typeface="Arial"/>
                              <a:cs typeface="Arial"/>
                              <a:sym typeface="Arial"/>
                            </a:rPr>
                          </m:ctrlPr>
                        </m:sSubPr>
                        <m:e>
                          <m:r>
                            <m:rPr>
                              <m:sty m:val="p"/>
                            </m:rPr>
                            <a:rPr lang="en-US" sz="2200" b="0" i="1" smtClean="0">
                              <a:latin typeface="Cambria Math" panose="02040503050406030204" pitchFamily="18" charset="0"/>
                              <a:ea typeface="Arial"/>
                              <a:cs typeface="Arial"/>
                              <a:sym typeface="Arial"/>
                            </a:rPr>
                            <m:t>y</m:t>
                          </m:r>
                        </m:e>
                        <m:sub>
                          <m:r>
                            <a:rPr lang="en-US" sz="2200" i="1">
                              <a:latin typeface="Cambria Math" panose="02040503050406030204" pitchFamily="18" charset="0"/>
                              <a:ea typeface="Arial"/>
                              <a:cs typeface="Arial"/>
                              <a:sym typeface="Arial"/>
                            </a:rPr>
                            <m:t>𝑡</m:t>
                          </m:r>
                          <m:r>
                            <a:rPr lang="en-US" sz="2200" i="1">
                              <a:latin typeface="Cambria Math" panose="02040503050406030204" pitchFamily="18" charset="0"/>
                              <a:ea typeface="Arial"/>
                              <a:cs typeface="Arial"/>
                              <a:sym typeface="Arial"/>
                            </a:rPr>
                            <m:t>+1</m:t>
                          </m:r>
                        </m:sub>
                      </m:sSub>
                      <m:r>
                        <a:rPr lang="en-US" sz="2200" i="1">
                          <a:latin typeface="Cambria Math" panose="02040503050406030204" pitchFamily="18" charset="0"/>
                          <a:ea typeface="Arial"/>
                          <a:cs typeface="Arial"/>
                          <a:sym typeface="Arial"/>
                        </a:rPr>
                        <m:t>=</m:t>
                      </m:r>
                      <m:sSub>
                        <m:sSubPr>
                          <m:ctrlPr>
                            <a:rPr lang="en-US" sz="2200" i="1">
                              <a:latin typeface="Cambria Math" panose="02040503050406030204" pitchFamily="18" charset="0"/>
                              <a:ea typeface="Arial"/>
                              <a:cs typeface="Arial"/>
                              <a:sym typeface="Arial"/>
                            </a:rPr>
                          </m:ctrlPr>
                        </m:sSubPr>
                        <m:e>
                          <m:r>
                            <m:rPr>
                              <m:sty m:val="p"/>
                            </m:rPr>
                            <a:rPr lang="en-US" sz="2200" b="0" i="1" smtClean="0">
                              <a:latin typeface="Cambria Math" panose="02040503050406030204" pitchFamily="18" charset="0"/>
                              <a:ea typeface="Arial"/>
                              <a:cs typeface="Arial"/>
                              <a:sym typeface="Arial"/>
                            </a:rPr>
                            <m:t>y</m:t>
                          </m:r>
                        </m:e>
                        <m:sub>
                          <m:r>
                            <a:rPr lang="en-US" sz="2200" i="1">
                              <a:latin typeface="Cambria Math" panose="02040503050406030204" pitchFamily="18" charset="0"/>
                              <a:ea typeface="Arial"/>
                              <a:cs typeface="Arial"/>
                              <a:sym typeface="Arial"/>
                            </a:rPr>
                            <m:t>𝑡</m:t>
                          </m:r>
                        </m:sub>
                      </m:sSub>
                      <m:r>
                        <a:rPr lang="en-US" sz="2200" i="1">
                          <a:latin typeface="Cambria Math" panose="02040503050406030204" pitchFamily="18" charset="0"/>
                          <a:ea typeface="Arial"/>
                          <a:cs typeface="Arial"/>
                          <a:sym typeface="Arial"/>
                        </a:rPr>
                        <m:t>+</m:t>
                      </m:r>
                      <m:sSub>
                        <m:sSubPr>
                          <m:ctrlPr>
                            <a:rPr lang="en-US" sz="2200" b="0" i="1" smtClean="0">
                              <a:latin typeface="Cambria Math" panose="02040503050406030204" pitchFamily="18" charset="0"/>
                              <a:ea typeface="Arial"/>
                              <a:cs typeface="Arial"/>
                              <a:sym typeface="Arial"/>
                            </a:rPr>
                          </m:ctrlPr>
                        </m:sSubPr>
                        <m:e>
                          <m:r>
                            <a:rPr lang="en-US" sz="2200" i="1">
                              <a:latin typeface="Cambria Math" panose="02040503050406030204" pitchFamily="18" charset="0"/>
                              <a:ea typeface="Arial"/>
                              <a:cs typeface="Arial"/>
                              <a:sym typeface="Arial"/>
                            </a:rPr>
                            <m:t>𝑉</m:t>
                          </m:r>
                        </m:e>
                        <m:sub>
                          <m:r>
                            <a:rPr lang="en-US" sz="2200" b="0" i="1" smtClean="0">
                              <a:latin typeface="Cambria Math" panose="02040503050406030204" pitchFamily="18" charset="0"/>
                              <a:ea typeface="Arial"/>
                              <a:cs typeface="Arial"/>
                              <a:sym typeface="Arial"/>
                            </a:rPr>
                            <m:t>𝑡</m:t>
                          </m:r>
                        </m:sub>
                      </m:sSub>
                      <m:func>
                        <m:funcPr>
                          <m:ctrlPr>
                            <a:rPr lang="en-US" sz="2200" i="1">
                              <a:latin typeface="Cambria Math" panose="02040503050406030204" pitchFamily="18" charset="0"/>
                              <a:ea typeface="Arial"/>
                              <a:cs typeface="Arial"/>
                              <a:sym typeface="Arial"/>
                            </a:rPr>
                          </m:ctrlPr>
                        </m:funcPr>
                        <m:fName>
                          <m:r>
                            <m:rPr>
                              <m:sty m:val="p"/>
                            </m:rPr>
                            <a:rPr lang="en-US" sz="2200" b="0" i="0" smtClean="0">
                              <a:latin typeface="Cambria Math" panose="02040503050406030204" pitchFamily="18" charset="0"/>
                              <a:ea typeface="Arial"/>
                              <a:cs typeface="Arial"/>
                              <a:sym typeface="Arial"/>
                            </a:rPr>
                            <m:t>sin</m:t>
                          </m:r>
                        </m:fName>
                        <m:e>
                          <m:d>
                            <m:dPr>
                              <m:ctrlPr>
                                <a:rPr lang="en-US" sz="2200" i="1">
                                  <a:latin typeface="Cambria Math" panose="02040503050406030204" pitchFamily="18" charset="0"/>
                                  <a:ea typeface="Arial"/>
                                  <a:cs typeface="Arial"/>
                                  <a:sym typeface="Arial"/>
                                </a:rPr>
                              </m:ctrlPr>
                            </m:dPr>
                            <m:e>
                              <m:sSub>
                                <m:sSubPr>
                                  <m:ctrlPr>
                                    <a:rPr lang="en-US" sz="2200" i="1">
                                      <a:latin typeface="Cambria Math" panose="02040503050406030204" pitchFamily="18" charset="0"/>
                                      <a:ea typeface="Arial"/>
                                      <a:cs typeface="Arial"/>
                                      <a:sym typeface="Arial"/>
                                    </a:rPr>
                                  </m:ctrlPr>
                                </m:sSubPr>
                                <m:e>
                                  <m:r>
                                    <a:rPr lang="en-US" sz="2200" i="1">
                                      <a:latin typeface="Cambria Math" panose="02040503050406030204" pitchFamily="18" charset="0"/>
                                      <a:ea typeface="Arial"/>
                                      <a:cs typeface="Arial"/>
                                      <a:sym typeface="Arial"/>
                                    </a:rPr>
                                    <m:t>𝜑</m:t>
                                  </m:r>
                                </m:e>
                                <m:sub>
                                  <m:r>
                                    <a:rPr lang="en-US" sz="2200" i="1">
                                      <a:latin typeface="Cambria Math" panose="02040503050406030204" pitchFamily="18" charset="0"/>
                                      <a:ea typeface="Arial"/>
                                      <a:cs typeface="Arial"/>
                                      <a:sym typeface="Arial"/>
                                    </a:rPr>
                                    <m:t>𝑡</m:t>
                                  </m:r>
                                </m:sub>
                              </m:sSub>
                            </m:e>
                          </m:d>
                        </m:e>
                      </m:func>
                      <m:r>
                        <a:rPr lang="en-US" sz="2200" i="1">
                          <a:latin typeface="Cambria Math" panose="02040503050406030204" pitchFamily="18" charset="0"/>
                          <a:ea typeface="Cambria Math" panose="02040503050406030204" pitchFamily="18" charset="0"/>
                          <a:cs typeface="Arial"/>
                          <a:sym typeface="Arial"/>
                        </a:rPr>
                        <m:t>∆</m:t>
                      </m:r>
                      <m:r>
                        <a:rPr lang="en-US" sz="2200" i="1">
                          <a:latin typeface="Cambria Math" panose="02040503050406030204" pitchFamily="18" charset="0"/>
                          <a:ea typeface="Cambria Math" panose="02040503050406030204" pitchFamily="18" charset="0"/>
                          <a:cs typeface="Arial"/>
                          <a:sym typeface="Arial"/>
                        </a:rPr>
                        <m:t>𝑡</m:t>
                      </m:r>
                    </m:oMath>
                  </m:oMathPara>
                </a14:m>
                <a:endParaRPr lang="en-US" sz="2200" dirty="0">
                  <a:latin typeface="Arial"/>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200" b="0" i="1" smtClean="0">
                              <a:latin typeface="Cambria Math" panose="02040503050406030204" pitchFamily="18" charset="0"/>
                              <a:ea typeface="Arial"/>
                              <a:cs typeface="Arial"/>
                              <a:sym typeface="Arial"/>
                            </a:rPr>
                          </m:ctrlPr>
                        </m:sSubPr>
                        <m:e>
                          <m:r>
                            <a:rPr lang="en-US" sz="2200" b="0" i="1" smtClean="0">
                              <a:latin typeface="Cambria Math" panose="02040503050406030204" pitchFamily="18" charset="0"/>
                              <a:ea typeface="Arial"/>
                              <a:cs typeface="Arial"/>
                              <a:sym typeface="Arial"/>
                            </a:rPr>
                            <m:t>𝜑</m:t>
                          </m:r>
                        </m:e>
                        <m:sub>
                          <m:r>
                            <a:rPr lang="en-US" sz="2200" b="0" i="1" smtClean="0">
                              <a:latin typeface="Cambria Math" panose="02040503050406030204" pitchFamily="18" charset="0"/>
                              <a:ea typeface="Arial"/>
                              <a:cs typeface="Arial"/>
                              <a:sym typeface="Arial"/>
                            </a:rPr>
                            <m:t>𝑡</m:t>
                          </m:r>
                          <m:r>
                            <a:rPr lang="en-US" sz="2200" b="0" i="1" smtClean="0">
                              <a:latin typeface="Cambria Math" panose="02040503050406030204" pitchFamily="18" charset="0"/>
                              <a:ea typeface="Arial"/>
                              <a:cs typeface="Arial"/>
                              <a:sym typeface="Arial"/>
                            </a:rPr>
                            <m:t>+1</m:t>
                          </m:r>
                        </m:sub>
                      </m:sSub>
                      <m:r>
                        <a:rPr lang="en-US" sz="2200" b="0" i="1" smtClean="0">
                          <a:latin typeface="Cambria Math" panose="02040503050406030204" pitchFamily="18" charset="0"/>
                          <a:ea typeface="Arial"/>
                          <a:cs typeface="Arial"/>
                          <a:sym typeface="Arial"/>
                        </a:rPr>
                        <m:t>=</m:t>
                      </m:r>
                      <m:sSub>
                        <m:sSubPr>
                          <m:ctrlPr>
                            <a:rPr lang="en-US" sz="2200" b="0" i="1" smtClean="0">
                              <a:latin typeface="Cambria Math" panose="02040503050406030204" pitchFamily="18" charset="0"/>
                              <a:ea typeface="Arial"/>
                              <a:cs typeface="Arial"/>
                              <a:sym typeface="Arial"/>
                            </a:rPr>
                          </m:ctrlPr>
                        </m:sSubPr>
                        <m:e>
                          <m:r>
                            <a:rPr lang="en-US" sz="2200" b="0" i="1" smtClean="0">
                              <a:latin typeface="Cambria Math" panose="02040503050406030204" pitchFamily="18" charset="0"/>
                              <a:ea typeface="Arial"/>
                              <a:cs typeface="Arial"/>
                              <a:sym typeface="Arial"/>
                            </a:rPr>
                            <m:t>𝜑</m:t>
                          </m:r>
                        </m:e>
                        <m:sub>
                          <m:r>
                            <a:rPr lang="en-US" sz="2200" b="0" i="1" smtClean="0">
                              <a:latin typeface="Cambria Math" panose="02040503050406030204" pitchFamily="18" charset="0"/>
                              <a:ea typeface="Arial"/>
                              <a:cs typeface="Arial"/>
                              <a:sym typeface="Arial"/>
                            </a:rPr>
                            <m:t>𝑡</m:t>
                          </m:r>
                        </m:sub>
                      </m:sSub>
                      <m:r>
                        <a:rPr lang="en-US" sz="2200" b="0" i="1" smtClean="0">
                          <a:latin typeface="Cambria Math" panose="02040503050406030204" pitchFamily="18" charset="0"/>
                          <a:ea typeface="Arial"/>
                          <a:cs typeface="Arial"/>
                          <a:sym typeface="Arial"/>
                        </a:rPr>
                        <m:t>+</m:t>
                      </m:r>
                      <m:sSub>
                        <m:sSubPr>
                          <m:ctrlPr>
                            <a:rPr lang="en-US" sz="2200" b="0" i="1" smtClean="0">
                              <a:latin typeface="Cambria Math" panose="02040503050406030204" pitchFamily="18" charset="0"/>
                              <a:ea typeface="Arial"/>
                              <a:cs typeface="Arial"/>
                              <a:sym typeface="Arial"/>
                            </a:rPr>
                          </m:ctrlPr>
                        </m:sSubPr>
                        <m:e>
                          <m:r>
                            <a:rPr lang="en-US" sz="2200" b="0" i="1" smtClean="0">
                              <a:latin typeface="Cambria Math" panose="02040503050406030204" pitchFamily="18" charset="0"/>
                              <a:ea typeface="Arial"/>
                              <a:cs typeface="Arial"/>
                              <a:sym typeface="Arial"/>
                            </a:rPr>
                            <m:t>𝜔</m:t>
                          </m:r>
                        </m:e>
                        <m:sub>
                          <m:r>
                            <a:rPr lang="en-US" sz="2200" b="0" i="1" smtClean="0">
                              <a:latin typeface="Cambria Math" panose="02040503050406030204" pitchFamily="18" charset="0"/>
                              <a:ea typeface="Arial"/>
                              <a:cs typeface="Arial"/>
                              <a:sym typeface="Arial"/>
                            </a:rPr>
                            <m:t>𝑡</m:t>
                          </m:r>
                        </m:sub>
                      </m:sSub>
                      <m:r>
                        <m:rPr>
                          <m:sty m:val="p"/>
                        </m:rPr>
                        <a:rPr lang="en-US" sz="2200" b="0" i="0" smtClean="0">
                          <a:latin typeface="Cambria Math" panose="02040503050406030204" pitchFamily="18" charset="0"/>
                          <a:ea typeface="Arial"/>
                          <a:cs typeface="Arial"/>
                          <a:sym typeface="Arial"/>
                        </a:rPr>
                        <m:t>Δ</m:t>
                      </m:r>
                      <m:r>
                        <a:rPr lang="en-US" sz="2200" b="0" i="1" smtClean="0">
                          <a:latin typeface="Cambria Math" panose="02040503050406030204" pitchFamily="18" charset="0"/>
                          <a:ea typeface="Arial"/>
                          <a:cs typeface="Arial"/>
                          <a:sym typeface="Arial"/>
                        </a:rPr>
                        <m:t>𝑡</m:t>
                      </m:r>
                    </m:oMath>
                  </m:oMathPara>
                </a14:m>
                <a:endParaRPr lang="en-US" sz="2200" dirty="0">
                  <a:latin typeface="Arial"/>
                  <a:ea typeface="Arial"/>
                  <a:cs typeface="Arial"/>
                  <a:sym typeface="Arial"/>
                </a:endParaRP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There we go! </a:t>
                </a:r>
              </a:p>
              <a:p>
                <a:pPr marL="0" indent="0">
                  <a:lnSpc>
                    <a:spcPct val="100000"/>
                  </a:lnSpc>
                  <a:spcBef>
                    <a:spcPts val="0"/>
                  </a:spcBef>
                  <a:buSzPts val="3000"/>
                  <a:buNone/>
                </a:pPr>
                <a:r>
                  <a:rPr lang="en-US" sz="2200" dirty="0">
                    <a:latin typeface="Arial"/>
                    <a:ea typeface="Arial"/>
                    <a:cs typeface="Arial"/>
                    <a:sym typeface="Arial"/>
                  </a:rPr>
                  <a:t>We now have 2 ways to get the robot’s position, integrating the </a:t>
                </a:r>
                <a:r>
                  <a:rPr lang="en-US" sz="2200" b="1" dirty="0">
                    <a:latin typeface="Arial"/>
                    <a:ea typeface="Arial"/>
                    <a:cs typeface="Arial"/>
                    <a:sym typeface="Arial"/>
                  </a:rPr>
                  <a:t>IMU</a:t>
                </a:r>
                <a:r>
                  <a:rPr lang="en-US" sz="2200" dirty="0">
                    <a:latin typeface="Arial"/>
                    <a:ea typeface="Arial"/>
                    <a:cs typeface="Arial"/>
                    <a:sym typeface="Arial"/>
                  </a:rPr>
                  <a:t> or integrating the </a:t>
                </a:r>
                <a:r>
                  <a:rPr lang="en-US" sz="2200" b="1" dirty="0">
                    <a:latin typeface="Arial"/>
                    <a:ea typeface="Arial"/>
                    <a:cs typeface="Arial"/>
                    <a:sym typeface="Arial"/>
                  </a:rPr>
                  <a:t>wheel encoder</a:t>
                </a:r>
                <a:r>
                  <a:rPr lang="en-US" sz="2200" dirty="0">
                    <a:latin typeface="Arial"/>
                    <a:ea typeface="Arial"/>
                    <a:cs typeface="Arial"/>
                    <a:sym typeface="Arial"/>
                  </a:rPr>
                  <a:t> information!</a:t>
                </a:r>
              </a:p>
            </p:txBody>
          </p:sp>
        </mc:Choice>
        <mc:Fallback xmlns="">
          <p:sp>
            <p:nvSpPr>
              <p:cNvPr id="118" name="Google Shape;118;p29">
                <a:extLst>
                  <a:ext uri="{FF2B5EF4-FFF2-40B4-BE49-F238E27FC236}">
                    <a16:creationId xmlns:a16="http://schemas.microsoft.com/office/drawing/2014/main" id="{CBA2C7AC-C42D-ACEC-6107-387F1EE0C0EE}"/>
                  </a:ext>
                </a:extLst>
              </p:cNvPr>
              <p:cNvSpPr txBox="1">
                <a:spLocks noGrp="1" noRot="1" noChangeAspect="1" noMove="1" noResize="1" noEditPoints="1" noAdjustHandles="1" noChangeArrowheads="1" noChangeShapeType="1" noTextEdit="1"/>
              </p:cNvSpPr>
              <p:nvPr>
                <p:ph type="body" idx="1"/>
              </p:nvPr>
            </p:nvSpPr>
            <p:spPr>
              <a:xfrm>
                <a:off x="376809" y="1334279"/>
                <a:ext cx="7260312" cy="4821102"/>
              </a:xfrm>
              <a:prstGeom prst="rect">
                <a:avLst/>
              </a:prstGeom>
              <a:blipFill>
                <a:blip r:embed="rId3"/>
                <a:stretch>
                  <a:fillRect l="-1092" t="-759" b="-1896"/>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F2BD52C4-FB11-1D29-BFDF-5B4E8934433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F9CAE51B-7AB3-0DB7-D54C-59C13FCCDF47}"/>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Dead-Reckoning</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3F32EABB-D6FA-75C0-53E7-C87519179557}"/>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A734D7BA-0767-2C19-95E6-454294A6D00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94982E7F-3E1F-964D-42F3-0AFE7A4109E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E2BD7EA-4E6F-479B-2A5D-E7CCD38B52C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6261583-041E-282D-A7E1-0D5DD1FA22FE}"/>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2C65B02-D03F-D72D-D15E-30F178A5C34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3" name="Graphic 2">
            <a:extLst>
              <a:ext uri="{FF2B5EF4-FFF2-40B4-BE49-F238E27FC236}">
                <a16:creationId xmlns:a16="http://schemas.microsoft.com/office/drawing/2014/main" id="{08DCB2E8-FF30-3015-8E18-F5DE0586C1B9}"/>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7637121" y="1267629"/>
            <a:ext cx="4322741" cy="4322741"/>
          </a:xfrm>
          <a:prstGeom prst="rect">
            <a:avLst/>
          </a:prstGeom>
        </p:spPr>
      </p:pic>
    </p:spTree>
    <p:extLst>
      <p:ext uri="{BB962C8B-B14F-4D97-AF65-F5344CB8AC3E}">
        <p14:creationId xmlns:p14="http://schemas.microsoft.com/office/powerpoint/2010/main" val="374676010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5F51E58F-B0D3-64FE-8ECA-A61DCF5EC77D}"/>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7746A2FE-E7C1-B3B3-8DC0-D9BD94BBC895}"/>
              </a:ext>
            </a:extLst>
          </p:cNvPr>
          <p:cNvSpPr txBox="1">
            <a:spLocks noGrp="1"/>
          </p:cNvSpPr>
          <p:nvPr>
            <p:ph type="body" idx="1"/>
          </p:nvPr>
        </p:nvSpPr>
        <p:spPr>
          <a:xfrm>
            <a:off x="376809" y="1334279"/>
            <a:ext cx="11452008"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rial"/>
                <a:ea typeface="Arial"/>
                <a:cs typeface="Arial"/>
                <a:sym typeface="Arial"/>
              </a:rPr>
              <a:t>Given the 2 methods of calculating the robot’s position, if we run this integration for 10 minutes, will the robot’s calculated position match its real physical location?</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Will the IMU and the wheel encoder measurements match?</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Absolutely not! Dead-reckoning is subject to unbounded accumulating errors.</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Any small measurement error is added to the previous state, meaning the error grows infinitely over time.</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This is known as drift. </a:t>
            </a:r>
            <a:r>
              <a:rPr lang="en-US" sz="2200" b="1" dirty="0">
                <a:latin typeface="Arial"/>
                <a:ea typeface="Arial"/>
                <a:cs typeface="Arial"/>
                <a:sym typeface="Arial"/>
              </a:rPr>
              <a:t>Odometry Drift </a:t>
            </a:r>
            <a:r>
              <a:rPr lang="en-US" sz="2200" dirty="0">
                <a:latin typeface="Arial"/>
                <a:ea typeface="Arial"/>
                <a:cs typeface="Arial"/>
                <a:sym typeface="Arial"/>
              </a:rPr>
              <a:t>for wheel encoders and </a:t>
            </a:r>
            <a:r>
              <a:rPr lang="en-US" sz="2200" b="1" dirty="0">
                <a:latin typeface="Arial"/>
                <a:ea typeface="Arial"/>
                <a:cs typeface="Arial"/>
                <a:sym typeface="Arial"/>
              </a:rPr>
              <a:t>IMU Drift </a:t>
            </a:r>
            <a:r>
              <a:rPr lang="en-US" sz="2200" dirty="0">
                <a:latin typeface="Arial"/>
                <a:ea typeface="Arial"/>
                <a:cs typeface="Arial"/>
                <a:sym typeface="Arial"/>
              </a:rPr>
              <a:t>for the IMU.</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In later lectures we will learn about the </a:t>
            </a:r>
            <a:r>
              <a:rPr lang="en-US" sz="2200" b="1" dirty="0">
                <a:latin typeface="Arial"/>
                <a:ea typeface="Arial"/>
                <a:cs typeface="Arial"/>
                <a:sym typeface="Arial"/>
              </a:rPr>
              <a:t>Kalman Filter</a:t>
            </a:r>
            <a:r>
              <a:rPr lang="en-US" sz="2200" dirty="0">
                <a:latin typeface="Arial"/>
                <a:ea typeface="Arial"/>
                <a:cs typeface="Arial"/>
                <a:sym typeface="Arial"/>
              </a:rPr>
              <a:t> to be able to </a:t>
            </a:r>
            <a:r>
              <a:rPr lang="en-US" sz="2200" b="1" dirty="0">
                <a:latin typeface="Arial"/>
                <a:ea typeface="Arial"/>
                <a:cs typeface="Arial"/>
                <a:sym typeface="Arial"/>
              </a:rPr>
              <a:t>fuse</a:t>
            </a:r>
            <a:r>
              <a:rPr lang="en-US" sz="2200" dirty="0">
                <a:latin typeface="Arial"/>
                <a:ea typeface="Arial"/>
                <a:cs typeface="Arial"/>
                <a:sym typeface="Arial"/>
              </a:rPr>
              <a:t> both sensors to get a more accurate measurement!</a:t>
            </a:r>
            <a:endParaRPr lang="en-US" sz="2200" b="1" dirty="0">
              <a:latin typeface="Arial"/>
              <a:ea typeface="Arial"/>
              <a:cs typeface="Arial"/>
              <a:sym typeface="Arial"/>
            </a:endParaRPr>
          </a:p>
        </p:txBody>
      </p:sp>
      <p:sp>
        <p:nvSpPr>
          <p:cNvPr id="119" name="Google Shape;119;p29">
            <a:extLst>
              <a:ext uri="{FF2B5EF4-FFF2-40B4-BE49-F238E27FC236}">
                <a16:creationId xmlns:a16="http://schemas.microsoft.com/office/drawing/2014/main" id="{34C8F507-239D-C9EC-C9EB-02845847F13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B80215FE-B039-301D-3E61-8D4098F31C57}"/>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Dead-Reckoning</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ABCE2F3B-F0FE-C028-ACA2-31FAC3B19FA2}"/>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AF482B0C-A27E-3C2F-060D-38EFD34CB53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E34EDF2B-390A-8D89-CC48-B965C452539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64F9939-589D-2C2A-57F8-95382EE94206}"/>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DAF25A3-E8DC-0901-7582-6410FF6EA39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D4A40C6-C9DF-00B3-4F34-3B7D2E65E37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6097333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28.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B55DE9A2-4DDF-039E-DDAF-7A13C7FF489F}"/>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9E610F3D-B5AB-6389-3923-76F72CAA4B93}"/>
              </a:ext>
            </a:extLst>
          </p:cNvPr>
          <p:cNvSpPr txBox="1"/>
          <p:nvPr/>
        </p:nvSpPr>
        <p:spPr>
          <a:xfrm>
            <a:off x="1295400" y="3225489"/>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rial"/>
                <a:ea typeface="Arial"/>
                <a:cs typeface="Arial"/>
                <a:sym typeface="Arial"/>
              </a:rPr>
              <a:t>Errors</a:t>
            </a:r>
            <a:endParaRPr sz="1800" b="0" i="0" u="none" strike="noStrike" cap="none" dirty="0">
              <a:solidFill>
                <a:srgbClr val="15264B"/>
              </a:solidFill>
              <a:latin typeface="Arial"/>
              <a:ea typeface="Arial"/>
              <a:cs typeface="Arial"/>
              <a:sym typeface="Arial"/>
            </a:endParaRPr>
          </a:p>
        </p:txBody>
      </p:sp>
      <p:grpSp>
        <p:nvGrpSpPr>
          <p:cNvPr id="105" name="Google Shape;105;p28">
            <a:extLst>
              <a:ext uri="{FF2B5EF4-FFF2-40B4-BE49-F238E27FC236}">
                <a16:creationId xmlns:a16="http://schemas.microsoft.com/office/drawing/2014/main" id="{3FD5944D-11A0-0159-1787-EB384114A920}"/>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72A880CC-F404-6122-90C1-83EE02CE1414}"/>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3C519B51-4066-5507-542E-6DF70D43E48F}"/>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FF2B5EF4-FFF2-40B4-BE49-F238E27FC236}">
                <a16:creationId xmlns:a16="http://schemas.microsoft.com/office/drawing/2014/main" id="{CBA564C6-8367-E96B-3958-0E14D3BC0501}"/>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51EA9C19-F18B-EE1A-8D9D-3A88F9D5676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82515B72-FE76-84E0-8C6A-55EE1991219C}"/>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AB1DE7DB-A0B0-75A1-CBED-7A9F8DC484F5}"/>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A40AF3A3-B001-E849-E7F3-3550D3B69F4C}"/>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04A8C815-0A54-93F7-5BB4-B00385F14DD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144353269"/>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5BE669C-2B00-75F3-4971-C61FBC7A4469}"/>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55EB9E38-337B-DBD1-54F7-5D0A0A717ECB}"/>
              </a:ext>
            </a:extLst>
          </p:cNvPr>
          <p:cNvSpPr txBox="1">
            <a:spLocks noGrp="1"/>
          </p:cNvSpPr>
          <p:nvPr>
            <p:ph type="body" idx="1"/>
          </p:nvPr>
        </p:nvSpPr>
        <p:spPr>
          <a:xfrm>
            <a:off x="376809" y="1334279"/>
            <a:ext cx="651039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rial"/>
                <a:ea typeface="Arial"/>
                <a:cs typeface="Arial"/>
                <a:sym typeface="Arial"/>
              </a:rPr>
              <a:t>There are 2-types of errors in measurements,</a:t>
            </a:r>
          </a:p>
          <a:p>
            <a:pPr marL="0" indent="0">
              <a:lnSpc>
                <a:spcPct val="100000"/>
              </a:lnSpc>
              <a:spcBef>
                <a:spcPts val="0"/>
              </a:spcBef>
              <a:buSzPts val="3000"/>
              <a:buNone/>
            </a:pPr>
            <a:endParaRPr lang="en-US" sz="2200" b="1" dirty="0">
              <a:latin typeface="Arial"/>
              <a:ea typeface="Arial"/>
              <a:cs typeface="Arial"/>
              <a:sym typeface="Arial"/>
            </a:endParaRPr>
          </a:p>
          <a:p>
            <a:pPr marL="0" indent="0">
              <a:lnSpc>
                <a:spcPct val="100000"/>
              </a:lnSpc>
              <a:spcBef>
                <a:spcPts val="0"/>
              </a:spcBef>
              <a:buSzPts val="3000"/>
              <a:buNone/>
            </a:pPr>
            <a:r>
              <a:rPr lang="en-US" sz="2200" b="1" dirty="0">
                <a:latin typeface="Arial"/>
                <a:ea typeface="Arial"/>
                <a:cs typeface="Arial"/>
                <a:sym typeface="Arial"/>
              </a:rPr>
              <a:t>Systematic Error:</a:t>
            </a:r>
          </a:p>
          <a:p>
            <a:pPr marL="342900">
              <a:lnSpc>
                <a:spcPct val="100000"/>
              </a:lnSpc>
              <a:spcBef>
                <a:spcPts val="0"/>
              </a:spcBef>
              <a:buSzPts val="3000"/>
            </a:pPr>
            <a:r>
              <a:rPr lang="en-US" sz="2200" dirty="0">
                <a:latin typeface="Arial"/>
                <a:ea typeface="Arial"/>
                <a:cs typeface="Arial"/>
                <a:sym typeface="Arial"/>
              </a:rPr>
              <a:t>Built into the physical mechanism of the sensor</a:t>
            </a:r>
          </a:p>
          <a:p>
            <a:pPr marL="342900">
              <a:lnSpc>
                <a:spcPct val="100000"/>
              </a:lnSpc>
              <a:spcBef>
                <a:spcPts val="0"/>
              </a:spcBef>
              <a:buSzPts val="3000"/>
            </a:pPr>
            <a:r>
              <a:rPr lang="en-US" sz="2200" dirty="0">
                <a:latin typeface="Arial"/>
                <a:ea typeface="Arial"/>
                <a:cs typeface="Arial"/>
                <a:sym typeface="Arial"/>
              </a:rPr>
              <a:t>Always occurs, with the same value, when we the instrument in the same way and in the same case</a:t>
            </a:r>
          </a:p>
          <a:p>
            <a:pPr marL="342900">
              <a:lnSpc>
                <a:spcPct val="100000"/>
              </a:lnSpc>
              <a:spcBef>
                <a:spcPts val="0"/>
              </a:spcBef>
              <a:buSzPts val="3000"/>
            </a:pPr>
            <a:r>
              <a:rPr lang="en-US" sz="2200" dirty="0">
                <a:latin typeface="Arial"/>
                <a:ea typeface="Arial"/>
                <a:cs typeface="Arial"/>
                <a:sym typeface="Arial"/>
              </a:rPr>
              <a:t>Can often be accounted for</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Examples:</a:t>
            </a:r>
          </a:p>
          <a:p>
            <a:pPr marL="342900">
              <a:lnSpc>
                <a:spcPct val="100000"/>
              </a:lnSpc>
              <a:spcBef>
                <a:spcPts val="0"/>
              </a:spcBef>
              <a:buSzPts val="3000"/>
            </a:pPr>
            <a:r>
              <a:rPr lang="en-US" sz="2200" dirty="0">
                <a:latin typeface="Arial"/>
                <a:ea typeface="Arial"/>
                <a:cs typeface="Arial"/>
                <a:sym typeface="Arial"/>
              </a:rPr>
              <a:t>Unequal wheel diameter</a:t>
            </a:r>
          </a:p>
          <a:p>
            <a:pPr marL="342900">
              <a:lnSpc>
                <a:spcPct val="100000"/>
              </a:lnSpc>
              <a:spcBef>
                <a:spcPts val="0"/>
              </a:spcBef>
              <a:buSzPts val="3000"/>
            </a:pPr>
            <a:r>
              <a:rPr lang="en-US" sz="2200" dirty="0">
                <a:latin typeface="Arial"/>
                <a:ea typeface="Arial"/>
                <a:cs typeface="Arial"/>
                <a:sym typeface="Arial"/>
              </a:rPr>
              <a:t>Constant accelerometer bias</a:t>
            </a:r>
          </a:p>
        </p:txBody>
      </p:sp>
      <p:sp>
        <p:nvSpPr>
          <p:cNvPr id="119" name="Google Shape;119;p29">
            <a:extLst>
              <a:ext uri="{FF2B5EF4-FFF2-40B4-BE49-F238E27FC236}">
                <a16:creationId xmlns:a16="http://schemas.microsoft.com/office/drawing/2014/main" id="{3E6EB404-38A3-3078-53F7-2A622DF78EA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BB3713E9-A7EA-D0F6-AD5F-805D75ABF282}"/>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Errors</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34087137-D673-EF1F-12EF-21120A0AC1E8}"/>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0192D8A-BACB-65A7-1B09-C1A281B40C6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70CFA20-AAF2-61D5-D03C-DA107E4AADFA}"/>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991EE80-93F3-810D-3B2E-CF3B8D481EB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2F99E3C-1FAB-8B2F-6396-376C698966A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6A4F2C0-3CD8-0E25-D566-2C4EC1B57C4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3" name="Graphic 2">
            <a:extLst>
              <a:ext uri="{FF2B5EF4-FFF2-40B4-BE49-F238E27FC236}">
                <a16:creationId xmlns:a16="http://schemas.microsoft.com/office/drawing/2014/main" id="{D7E15BB6-082A-1B39-6E44-A4C768B729AC}"/>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982450" y="1896269"/>
            <a:ext cx="4941617" cy="3065462"/>
          </a:xfrm>
          <a:prstGeom prst="rect">
            <a:avLst/>
          </a:prstGeom>
        </p:spPr>
      </p:pic>
      <p:sp>
        <p:nvSpPr>
          <p:cNvPr id="5" name="TextBox 4">
            <a:extLst>
              <a:ext uri="{FF2B5EF4-FFF2-40B4-BE49-F238E27FC236}">
                <a16:creationId xmlns:a16="http://schemas.microsoft.com/office/drawing/2014/main" id="{61C32CC8-D63B-A3FD-3D08-E79B19EF3637}"/>
              </a:ext>
            </a:extLst>
          </p:cNvPr>
          <p:cNvSpPr txBox="1"/>
          <p:nvPr/>
        </p:nvSpPr>
        <p:spPr>
          <a:xfrm>
            <a:off x="8358203" y="4838620"/>
            <a:ext cx="2928633" cy="246221"/>
          </a:xfrm>
          <a:prstGeom prst="rect">
            <a:avLst/>
          </a:prstGeom>
          <a:noFill/>
        </p:spPr>
        <p:txBody>
          <a:bodyPr wrap="square">
            <a:spAutoFit/>
          </a:bodyPr>
          <a:lstStyle/>
          <a:p>
            <a:pPr algn="ctr"/>
            <a:r>
              <a:rPr lang="en-US" sz="1000" dirty="0">
                <a:hlinkClick r:id="rId6"/>
              </a:rPr>
              <a:t>https://en.wikipedia.org/wiki/Observational_error</a:t>
            </a:r>
            <a:r>
              <a:rPr lang="en-US" sz="1000" dirty="0"/>
              <a:t> </a:t>
            </a:r>
          </a:p>
        </p:txBody>
      </p:sp>
    </p:spTree>
    <p:extLst>
      <p:ext uri="{BB962C8B-B14F-4D97-AF65-F5344CB8AC3E}">
        <p14:creationId xmlns:p14="http://schemas.microsoft.com/office/powerpoint/2010/main" val="1399227284"/>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31BEFAD-91CA-E8E7-1264-DC5CF826944A}"/>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585BC22F-0A0D-05F1-899A-1386CF6A242D}"/>
              </a:ext>
            </a:extLst>
          </p:cNvPr>
          <p:cNvSpPr txBox="1">
            <a:spLocks noGrp="1"/>
          </p:cNvSpPr>
          <p:nvPr>
            <p:ph type="body" idx="1"/>
          </p:nvPr>
        </p:nvSpPr>
        <p:spPr>
          <a:xfrm>
            <a:off x="376809" y="1334279"/>
            <a:ext cx="651039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rial"/>
                <a:ea typeface="Arial"/>
                <a:cs typeface="Arial"/>
                <a:sym typeface="Arial"/>
              </a:rPr>
              <a:t>There are 2-types of errors in measurements,</a:t>
            </a:r>
          </a:p>
          <a:p>
            <a:pPr marL="0" indent="0">
              <a:lnSpc>
                <a:spcPct val="100000"/>
              </a:lnSpc>
              <a:spcBef>
                <a:spcPts val="0"/>
              </a:spcBef>
              <a:buSzPts val="3000"/>
              <a:buNone/>
            </a:pPr>
            <a:endParaRPr lang="en-US" sz="2200" b="1" dirty="0">
              <a:latin typeface="Arial"/>
              <a:ea typeface="Arial"/>
              <a:cs typeface="Arial"/>
              <a:sym typeface="Arial"/>
            </a:endParaRPr>
          </a:p>
          <a:p>
            <a:pPr marL="0" indent="0">
              <a:lnSpc>
                <a:spcPct val="100000"/>
              </a:lnSpc>
              <a:spcBef>
                <a:spcPts val="0"/>
              </a:spcBef>
              <a:buSzPts val="3000"/>
              <a:buNone/>
            </a:pPr>
            <a:r>
              <a:rPr lang="en-US" sz="2200" b="1" dirty="0">
                <a:latin typeface="Arial"/>
                <a:ea typeface="Arial"/>
                <a:cs typeface="Arial"/>
                <a:sym typeface="Arial"/>
              </a:rPr>
              <a:t>Random Error:</a:t>
            </a:r>
          </a:p>
          <a:p>
            <a:pPr marL="342900">
              <a:lnSpc>
                <a:spcPct val="100000"/>
              </a:lnSpc>
              <a:spcBef>
                <a:spcPts val="0"/>
              </a:spcBef>
              <a:buSzPts val="3000"/>
            </a:pPr>
            <a:r>
              <a:rPr lang="en-US" sz="2200" dirty="0">
                <a:latin typeface="Arial"/>
                <a:ea typeface="Arial"/>
                <a:cs typeface="Arial"/>
                <a:sym typeface="Arial"/>
              </a:rPr>
              <a:t>Random and due to environment factors</a:t>
            </a:r>
          </a:p>
          <a:p>
            <a:pPr marL="342900">
              <a:lnSpc>
                <a:spcPct val="100000"/>
              </a:lnSpc>
              <a:spcBef>
                <a:spcPts val="0"/>
              </a:spcBef>
              <a:buSzPts val="3000"/>
            </a:pPr>
            <a:r>
              <a:rPr lang="en-US" sz="2200" dirty="0">
                <a:latin typeface="Arial"/>
                <a:ea typeface="Arial"/>
                <a:cs typeface="Arial"/>
                <a:sym typeface="Arial"/>
              </a:rPr>
              <a:t>May vary from observation to another</a:t>
            </a:r>
          </a:p>
          <a:p>
            <a:pPr marL="342900">
              <a:lnSpc>
                <a:spcPct val="100000"/>
              </a:lnSpc>
              <a:spcBef>
                <a:spcPts val="0"/>
              </a:spcBef>
              <a:buSzPts val="3000"/>
            </a:pPr>
            <a:r>
              <a:rPr lang="en-US" sz="2200" dirty="0">
                <a:latin typeface="Arial"/>
                <a:ea typeface="Arial"/>
                <a:cs typeface="Arial"/>
                <a:sym typeface="Arial"/>
              </a:rPr>
              <a:t>These fluctuations may be in part due to interference of the environment with the measurement process</a:t>
            </a:r>
          </a:p>
          <a:p>
            <a:pPr marL="342900">
              <a:lnSpc>
                <a:spcPct val="100000"/>
              </a:lnSpc>
              <a:spcBef>
                <a:spcPts val="0"/>
              </a:spcBef>
              <a:buSzPts val="3000"/>
            </a:pPr>
            <a:r>
              <a:rPr lang="en-US" sz="2200" dirty="0">
                <a:latin typeface="Arial"/>
                <a:ea typeface="Arial"/>
                <a:cs typeface="Arial"/>
                <a:sym typeface="Arial"/>
              </a:rPr>
              <a:t>Much harder to model (often assumed to be Gaussian)</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Examples:</a:t>
            </a:r>
          </a:p>
          <a:p>
            <a:pPr marL="342900">
              <a:lnSpc>
                <a:spcPct val="100000"/>
              </a:lnSpc>
              <a:spcBef>
                <a:spcPts val="0"/>
              </a:spcBef>
              <a:buSzPts val="3000"/>
            </a:pPr>
            <a:r>
              <a:rPr lang="en-US" sz="2200" dirty="0">
                <a:latin typeface="Arial"/>
                <a:ea typeface="Arial"/>
                <a:cs typeface="Arial"/>
                <a:sym typeface="Arial"/>
              </a:rPr>
              <a:t>Wheel slip</a:t>
            </a:r>
          </a:p>
          <a:p>
            <a:pPr marL="342900">
              <a:lnSpc>
                <a:spcPct val="100000"/>
              </a:lnSpc>
              <a:spcBef>
                <a:spcPts val="0"/>
              </a:spcBef>
              <a:buSzPts val="3000"/>
            </a:pPr>
            <a:r>
              <a:rPr lang="en-US" sz="2200" dirty="0">
                <a:latin typeface="Arial"/>
                <a:ea typeface="Arial"/>
                <a:cs typeface="Arial"/>
                <a:sym typeface="Arial"/>
              </a:rPr>
              <a:t>Loose components</a:t>
            </a:r>
          </a:p>
        </p:txBody>
      </p:sp>
      <p:sp>
        <p:nvSpPr>
          <p:cNvPr id="119" name="Google Shape;119;p29">
            <a:extLst>
              <a:ext uri="{FF2B5EF4-FFF2-40B4-BE49-F238E27FC236}">
                <a16:creationId xmlns:a16="http://schemas.microsoft.com/office/drawing/2014/main" id="{9B10AA86-5C04-976D-1D91-14FF3107E65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BDF0EBEC-6851-570C-6040-ACC21DBC0999}"/>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Errors</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C4BAFB68-3222-53BF-C007-A3E286A7E6CE}"/>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C9F2D5A-DBC1-5D87-77EA-2A965CB7936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BC3C1EB-5B32-4D47-53E4-29E6C739430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BF938CC-49DE-9D5E-D35D-64023195FD6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513090A-5BCC-44BA-784B-C0C3B69FF6B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75A83F5-3BBE-B05C-F582-83391096D97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3" name="Graphic 2">
            <a:extLst>
              <a:ext uri="{FF2B5EF4-FFF2-40B4-BE49-F238E27FC236}">
                <a16:creationId xmlns:a16="http://schemas.microsoft.com/office/drawing/2014/main" id="{5AB07676-E75C-9490-A2CF-AB34E41E2BCF}"/>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982450" y="1896269"/>
            <a:ext cx="4941617" cy="3065462"/>
          </a:xfrm>
          <a:prstGeom prst="rect">
            <a:avLst/>
          </a:prstGeom>
        </p:spPr>
      </p:pic>
      <p:sp>
        <p:nvSpPr>
          <p:cNvPr id="5" name="TextBox 4">
            <a:extLst>
              <a:ext uri="{FF2B5EF4-FFF2-40B4-BE49-F238E27FC236}">
                <a16:creationId xmlns:a16="http://schemas.microsoft.com/office/drawing/2014/main" id="{524B60A4-F0E0-4D1F-F8A9-30DA0CA75CA8}"/>
              </a:ext>
            </a:extLst>
          </p:cNvPr>
          <p:cNvSpPr txBox="1"/>
          <p:nvPr/>
        </p:nvSpPr>
        <p:spPr>
          <a:xfrm>
            <a:off x="8358203" y="4838620"/>
            <a:ext cx="2928633" cy="246221"/>
          </a:xfrm>
          <a:prstGeom prst="rect">
            <a:avLst/>
          </a:prstGeom>
          <a:noFill/>
        </p:spPr>
        <p:txBody>
          <a:bodyPr wrap="square">
            <a:spAutoFit/>
          </a:bodyPr>
          <a:lstStyle/>
          <a:p>
            <a:pPr algn="ctr"/>
            <a:r>
              <a:rPr lang="en-US" sz="1000" dirty="0">
                <a:hlinkClick r:id="rId6"/>
              </a:rPr>
              <a:t>https://en.wikipedia.org/wiki/Observational_error</a:t>
            </a:r>
            <a:r>
              <a:rPr lang="en-US" sz="1000" dirty="0"/>
              <a:t> </a:t>
            </a:r>
          </a:p>
        </p:txBody>
      </p:sp>
    </p:spTree>
    <p:extLst>
      <p:ext uri="{BB962C8B-B14F-4D97-AF65-F5344CB8AC3E}">
        <p14:creationId xmlns:p14="http://schemas.microsoft.com/office/powerpoint/2010/main" val="423120582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70298F2-87D7-F51C-1066-930A3A6DA044}"/>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2E4FABCC-163C-F0AE-8588-DCE2CD7C130D}"/>
                  </a:ext>
                </a:extLst>
              </p:cNvPr>
              <p:cNvSpPr txBox="1">
                <a:spLocks noGrp="1"/>
              </p:cNvSpPr>
              <p:nvPr>
                <p:ph type="body" idx="1"/>
              </p:nvPr>
            </p:nvSpPr>
            <p:spPr>
              <a:xfrm>
                <a:off x="376809" y="1334279"/>
                <a:ext cx="11452008"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rial"/>
                    <a:ea typeface="Arial"/>
                    <a:cs typeface="Arial"/>
                    <a:sym typeface="Arial"/>
                  </a:rPr>
                  <a:t>In robotics the best way to handle noise is just by adding more sensors / different sensors.</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The more different opinions / viewpoints you have the more likely that the majority will agree or will provide useful information to help compensate from the fault of others!</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How does one calculate how much the error drift?</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To help combat heading drift from encoders, we use the Z-axis rate gyro from our IMU.</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200" i="1">
                              <a:latin typeface="Cambria Math" panose="02040503050406030204" pitchFamily="18" charset="0"/>
                              <a:ea typeface="Arial"/>
                              <a:cs typeface="Arial"/>
                              <a:sym typeface="Arial"/>
                            </a:rPr>
                          </m:ctrlPr>
                        </m:sSubPr>
                        <m:e>
                          <m:r>
                            <a:rPr lang="en-US" sz="2200" i="1">
                              <a:latin typeface="Cambria Math" panose="02040503050406030204" pitchFamily="18" charset="0"/>
                              <a:ea typeface="Arial"/>
                              <a:cs typeface="Arial"/>
                              <a:sym typeface="Arial"/>
                            </a:rPr>
                            <m:t>𝜑</m:t>
                          </m:r>
                        </m:e>
                        <m:sub>
                          <m:r>
                            <m:rPr>
                              <m:sty m:val="p"/>
                            </m:rPr>
                            <a:rPr lang="en-US" sz="2200" b="0" i="1" smtClean="0">
                              <a:latin typeface="Cambria Math" panose="02040503050406030204" pitchFamily="18" charset="0"/>
                              <a:ea typeface="Arial"/>
                              <a:cs typeface="Arial"/>
                              <a:sym typeface="Arial"/>
                            </a:rPr>
                            <m:t>gyro</m:t>
                          </m:r>
                          <m:r>
                            <a:rPr lang="en-US" sz="2200" b="0" i="1" smtClean="0">
                              <a:latin typeface="Cambria Math" panose="02040503050406030204" pitchFamily="18" charset="0"/>
                              <a:ea typeface="Arial"/>
                              <a:cs typeface="Arial"/>
                              <a:sym typeface="Arial"/>
                            </a:rPr>
                            <m:t>, </m:t>
                          </m:r>
                          <m:r>
                            <a:rPr lang="en-US" sz="2200" i="1">
                              <a:latin typeface="Cambria Math" panose="02040503050406030204" pitchFamily="18" charset="0"/>
                              <a:ea typeface="Arial"/>
                              <a:cs typeface="Arial"/>
                              <a:sym typeface="Arial"/>
                            </a:rPr>
                            <m:t>𝑡</m:t>
                          </m:r>
                          <m:r>
                            <a:rPr lang="en-US" sz="2200" i="1">
                              <a:latin typeface="Cambria Math" panose="02040503050406030204" pitchFamily="18" charset="0"/>
                              <a:ea typeface="Arial"/>
                              <a:cs typeface="Arial"/>
                              <a:sym typeface="Arial"/>
                            </a:rPr>
                            <m:t>+1</m:t>
                          </m:r>
                        </m:sub>
                      </m:sSub>
                      <m:r>
                        <a:rPr lang="en-US" sz="2200" i="1">
                          <a:latin typeface="Cambria Math" panose="02040503050406030204" pitchFamily="18" charset="0"/>
                          <a:ea typeface="Arial"/>
                          <a:cs typeface="Arial"/>
                          <a:sym typeface="Arial"/>
                        </a:rPr>
                        <m:t>=</m:t>
                      </m:r>
                      <m:sSub>
                        <m:sSubPr>
                          <m:ctrlPr>
                            <a:rPr lang="en-US" sz="2200" i="1">
                              <a:latin typeface="Cambria Math" panose="02040503050406030204" pitchFamily="18" charset="0"/>
                              <a:ea typeface="Arial"/>
                              <a:cs typeface="Arial"/>
                              <a:sym typeface="Arial"/>
                            </a:rPr>
                          </m:ctrlPr>
                        </m:sSubPr>
                        <m:e>
                          <m:r>
                            <a:rPr lang="en-US" sz="2200" i="1">
                              <a:latin typeface="Cambria Math" panose="02040503050406030204" pitchFamily="18" charset="0"/>
                              <a:ea typeface="Arial"/>
                              <a:cs typeface="Arial"/>
                              <a:sym typeface="Arial"/>
                            </a:rPr>
                            <m:t>𝜑</m:t>
                          </m:r>
                        </m:e>
                        <m:sub>
                          <m:r>
                            <m:rPr>
                              <m:sty m:val="p"/>
                            </m:rPr>
                            <a:rPr lang="en-US" sz="2200" b="0" i="1" smtClean="0">
                              <a:latin typeface="Cambria Math" panose="02040503050406030204" pitchFamily="18" charset="0"/>
                              <a:ea typeface="Arial"/>
                              <a:cs typeface="Arial"/>
                              <a:sym typeface="Arial"/>
                            </a:rPr>
                            <m:t>gyro</m:t>
                          </m:r>
                          <m:r>
                            <a:rPr lang="en-US" sz="2200" b="0" i="1" smtClean="0">
                              <a:latin typeface="Cambria Math" panose="02040503050406030204" pitchFamily="18" charset="0"/>
                              <a:ea typeface="Arial"/>
                              <a:cs typeface="Arial"/>
                              <a:sym typeface="Arial"/>
                            </a:rPr>
                            <m:t>,</m:t>
                          </m:r>
                          <m:r>
                            <a:rPr lang="en-US" sz="2200" i="1">
                              <a:latin typeface="Cambria Math" panose="02040503050406030204" pitchFamily="18" charset="0"/>
                              <a:ea typeface="Arial"/>
                              <a:cs typeface="Arial"/>
                              <a:sym typeface="Arial"/>
                            </a:rPr>
                            <m:t>𝑡</m:t>
                          </m:r>
                        </m:sub>
                      </m:sSub>
                      <m:r>
                        <a:rPr lang="en-US" sz="2200" i="1">
                          <a:latin typeface="Cambria Math" panose="02040503050406030204" pitchFamily="18" charset="0"/>
                          <a:ea typeface="Arial"/>
                          <a:cs typeface="Arial"/>
                          <a:sym typeface="Arial"/>
                        </a:rPr>
                        <m:t>+</m:t>
                      </m:r>
                      <m:sSub>
                        <m:sSubPr>
                          <m:ctrlPr>
                            <a:rPr lang="en-US" sz="2200" i="1">
                              <a:latin typeface="Cambria Math" panose="02040503050406030204" pitchFamily="18" charset="0"/>
                              <a:ea typeface="Arial"/>
                              <a:cs typeface="Arial"/>
                              <a:sym typeface="Arial"/>
                            </a:rPr>
                          </m:ctrlPr>
                        </m:sSubPr>
                        <m:e>
                          <m:r>
                            <a:rPr lang="en-US" sz="2200" i="1">
                              <a:latin typeface="Cambria Math" panose="02040503050406030204" pitchFamily="18" charset="0"/>
                              <a:ea typeface="Arial"/>
                              <a:cs typeface="Arial"/>
                              <a:sym typeface="Arial"/>
                            </a:rPr>
                            <m:t>𝜔</m:t>
                          </m:r>
                        </m:e>
                        <m:sub>
                          <m:r>
                            <m:rPr>
                              <m:sty m:val="p"/>
                            </m:rPr>
                            <a:rPr lang="en-US" sz="2200" b="0" i="1" smtClean="0">
                              <a:latin typeface="Cambria Math" panose="02040503050406030204" pitchFamily="18" charset="0"/>
                              <a:ea typeface="Arial"/>
                              <a:cs typeface="Arial"/>
                              <a:sym typeface="Arial"/>
                            </a:rPr>
                            <m:t>gyro</m:t>
                          </m:r>
                          <m:r>
                            <a:rPr lang="en-US" sz="2200" b="0" i="1" smtClean="0">
                              <a:latin typeface="Cambria Math" panose="02040503050406030204" pitchFamily="18" charset="0"/>
                              <a:ea typeface="Arial"/>
                              <a:cs typeface="Arial"/>
                              <a:sym typeface="Arial"/>
                            </a:rPr>
                            <m:t>,</m:t>
                          </m:r>
                          <m:r>
                            <a:rPr lang="en-US" sz="2200" i="1">
                              <a:latin typeface="Cambria Math" panose="02040503050406030204" pitchFamily="18" charset="0"/>
                              <a:ea typeface="Arial"/>
                              <a:cs typeface="Arial"/>
                              <a:sym typeface="Arial"/>
                            </a:rPr>
                            <m:t>𝑡</m:t>
                          </m:r>
                        </m:sub>
                      </m:sSub>
                      <m:r>
                        <m:rPr>
                          <m:sty m:val="p"/>
                        </m:rPr>
                        <a:rPr lang="en-US" sz="2200">
                          <a:latin typeface="Cambria Math" panose="02040503050406030204" pitchFamily="18" charset="0"/>
                          <a:ea typeface="Arial"/>
                          <a:cs typeface="Arial"/>
                          <a:sym typeface="Arial"/>
                        </a:rPr>
                        <m:t>Δ</m:t>
                      </m:r>
                      <m:r>
                        <a:rPr lang="en-US" sz="2200" i="1">
                          <a:latin typeface="Cambria Math" panose="02040503050406030204" pitchFamily="18" charset="0"/>
                          <a:ea typeface="Arial"/>
                          <a:cs typeface="Arial"/>
                          <a:sym typeface="Arial"/>
                        </a:rPr>
                        <m:t>𝑡</m:t>
                      </m:r>
                    </m:oMath>
                  </m:oMathPara>
                </a14:m>
                <a:endParaRPr lang="en-US" sz="2200" dirty="0">
                  <a:latin typeface="Arial"/>
                  <a:ea typeface="Arial"/>
                  <a:cs typeface="Arial"/>
                  <a:sym typeface="Arial"/>
                </a:endParaRPr>
              </a:p>
            </p:txBody>
          </p:sp>
        </mc:Choice>
        <mc:Fallback xmlns="">
          <p:sp>
            <p:nvSpPr>
              <p:cNvPr id="118" name="Google Shape;118;p29">
                <a:extLst>
                  <a:ext uri="{FF2B5EF4-FFF2-40B4-BE49-F238E27FC236}">
                    <a16:creationId xmlns:a16="http://schemas.microsoft.com/office/drawing/2014/main" id="{2E4FABCC-163C-F0AE-8588-DCE2CD7C130D}"/>
                  </a:ext>
                </a:extLst>
              </p:cNvPr>
              <p:cNvSpPr txBox="1">
                <a:spLocks noGrp="1" noRot="1" noChangeAspect="1" noMove="1" noResize="1" noEditPoints="1" noAdjustHandles="1" noChangeArrowheads="1" noChangeShapeType="1" noTextEdit="1"/>
              </p:cNvSpPr>
              <p:nvPr>
                <p:ph type="body" idx="1"/>
              </p:nvPr>
            </p:nvSpPr>
            <p:spPr>
              <a:xfrm>
                <a:off x="376809" y="1334279"/>
                <a:ext cx="11452008" cy="4821102"/>
              </a:xfrm>
              <a:prstGeom prst="rect">
                <a:avLst/>
              </a:prstGeom>
              <a:blipFill>
                <a:blip r:embed="rId3"/>
                <a:stretch>
                  <a:fillRect l="-692" t="-759"/>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EDD03238-2384-43A6-8220-8542D0CD6BA3}"/>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0BB4EEEC-EA22-B55B-1B23-3261523CE29D}"/>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Errors</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20CE7D8C-AED4-C1D8-7372-9894F313FBC5}"/>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8AA9872-DCFF-3BBB-26FB-D5233D0E512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1A06728-7240-0F73-C869-ECE2E2CDFE7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8ABCA7A4-2918-3BE4-EE20-C0DC59868BF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596E17D-98E1-36E7-8B52-68C6D8E0A39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240F9E8-4330-6907-DA90-50CEC948886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2706421883"/>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563740D-B40A-975C-D982-8E7FFD740152}"/>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C9D6B066-10FF-D37D-3D50-C7ECB17F38D3}"/>
                  </a:ext>
                </a:extLst>
              </p:cNvPr>
              <p:cNvSpPr txBox="1">
                <a:spLocks noGrp="1"/>
              </p:cNvSpPr>
              <p:nvPr>
                <p:ph type="body" idx="1"/>
              </p:nvPr>
            </p:nvSpPr>
            <p:spPr>
              <a:xfrm>
                <a:off x="376809" y="1334279"/>
                <a:ext cx="11452008"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rial"/>
                    <a:ea typeface="Arial"/>
                    <a:cs typeface="Arial"/>
                    <a:sym typeface="Arial"/>
                  </a:rPr>
                  <a:t>A Gyroscope’s output is:</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200" i="1">
                              <a:latin typeface="Cambria Math" panose="02040503050406030204" pitchFamily="18" charset="0"/>
                              <a:ea typeface="Arial"/>
                              <a:cs typeface="Arial"/>
                              <a:sym typeface="Arial"/>
                            </a:rPr>
                          </m:ctrlPr>
                        </m:sSubPr>
                        <m:e>
                          <m:r>
                            <a:rPr lang="en-US" sz="2200" i="1">
                              <a:latin typeface="Cambria Math" panose="02040503050406030204" pitchFamily="18" charset="0"/>
                              <a:ea typeface="Arial"/>
                              <a:cs typeface="Arial"/>
                              <a:sym typeface="Arial"/>
                            </a:rPr>
                            <m:t>𝜔</m:t>
                          </m:r>
                        </m:e>
                        <m:sub>
                          <m:r>
                            <m:rPr>
                              <m:sty m:val="p"/>
                            </m:rPr>
                            <a:rPr lang="en-US" sz="2200" i="1">
                              <a:latin typeface="Cambria Math" panose="02040503050406030204" pitchFamily="18" charset="0"/>
                              <a:ea typeface="Arial"/>
                              <a:cs typeface="Arial"/>
                              <a:sym typeface="Arial"/>
                            </a:rPr>
                            <m:t>gyro</m:t>
                          </m:r>
                          <m:r>
                            <a:rPr lang="en-US" sz="2200" i="1">
                              <a:latin typeface="Cambria Math" panose="02040503050406030204" pitchFamily="18" charset="0"/>
                              <a:ea typeface="Arial"/>
                              <a:cs typeface="Arial"/>
                              <a:sym typeface="Arial"/>
                            </a:rPr>
                            <m:t>,</m:t>
                          </m:r>
                          <m:r>
                            <a:rPr lang="en-US" sz="2200" i="1">
                              <a:latin typeface="Cambria Math" panose="02040503050406030204" pitchFamily="18" charset="0"/>
                              <a:ea typeface="Arial"/>
                              <a:cs typeface="Arial"/>
                              <a:sym typeface="Arial"/>
                            </a:rPr>
                            <m:t>𝑡</m:t>
                          </m:r>
                        </m:sub>
                      </m:sSub>
                      <m:r>
                        <a:rPr lang="en-US" sz="2200" b="0" i="1" smtClean="0">
                          <a:latin typeface="Cambria Math" panose="02040503050406030204" pitchFamily="18" charset="0"/>
                          <a:ea typeface="Arial"/>
                          <a:cs typeface="Arial"/>
                          <a:sym typeface="Arial"/>
                        </a:rPr>
                        <m:t>=</m:t>
                      </m:r>
                      <m:sSub>
                        <m:sSubPr>
                          <m:ctrlPr>
                            <a:rPr lang="en-US" sz="2200" i="1">
                              <a:latin typeface="Cambria Math" panose="02040503050406030204" pitchFamily="18" charset="0"/>
                              <a:ea typeface="Arial"/>
                              <a:cs typeface="Arial"/>
                              <a:sym typeface="Arial"/>
                            </a:rPr>
                          </m:ctrlPr>
                        </m:sSubPr>
                        <m:e>
                          <m:r>
                            <a:rPr lang="en-US" sz="2200" i="1">
                              <a:latin typeface="Cambria Math" panose="02040503050406030204" pitchFamily="18" charset="0"/>
                              <a:ea typeface="Arial"/>
                              <a:cs typeface="Arial"/>
                              <a:sym typeface="Arial"/>
                            </a:rPr>
                            <m:t>𝜔</m:t>
                          </m:r>
                        </m:e>
                        <m:sub>
                          <m:r>
                            <m:rPr>
                              <m:sty m:val="p"/>
                            </m:rPr>
                            <a:rPr lang="en-US" sz="2200" b="0" i="1" smtClean="0">
                              <a:latin typeface="Cambria Math" panose="02040503050406030204" pitchFamily="18" charset="0"/>
                              <a:ea typeface="Arial"/>
                              <a:cs typeface="Arial"/>
                              <a:sym typeface="Arial"/>
                            </a:rPr>
                            <m:t>true</m:t>
                          </m:r>
                          <m:r>
                            <a:rPr lang="en-US" sz="2200" i="1">
                              <a:latin typeface="Cambria Math" panose="02040503050406030204" pitchFamily="18" charset="0"/>
                              <a:ea typeface="Arial"/>
                              <a:cs typeface="Arial"/>
                              <a:sym typeface="Arial"/>
                            </a:rPr>
                            <m:t>,</m:t>
                          </m:r>
                          <m:r>
                            <a:rPr lang="en-US" sz="2200" i="1">
                              <a:latin typeface="Cambria Math" panose="02040503050406030204" pitchFamily="18" charset="0"/>
                              <a:ea typeface="Arial"/>
                              <a:cs typeface="Arial"/>
                              <a:sym typeface="Arial"/>
                            </a:rPr>
                            <m:t>𝑡</m:t>
                          </m:r>
                        </m:sub>
                      </m:sSub>
                      <m:r>
                        <a:rPr lang="en-US" sz="2200" b="0" i="1" smtClean="0">
                          <a:latin typeface="Cambria Math" panose="02040503050406030204" pitchFamily="18" charset="0"/>
                          <a:ea typeface="Arial"/>
                          <a:cs typeface="Arial"/>
                          <a:sym typeface="Arial"/>
                        </a:rPr>
                        <m:t>+</m:t>
                      </m:r>
                      <m:sSub>
                        <m:sSubPr>
                          <m:ctrlPr>
                            <a:rPr lang="en-US" sz="2200" b="0" i="1" smtClean="0">
                              <a:latin typeface="Cambria Math" panose="02040503050406030204" pitchFamily="18" charset="0"/>
                              <a:cs typeface="Arial"/>
                              <a:sym typeface="Arial"/>
                            </a:rPr>
                          </m:ctrlPr>
                        </m:sSubPr>
                        <m:e>
                          <m:r>
                            <a:rPr lang="en-US" sz="2200" b="0" i="1" smtClean="0">
                              <a:latin typeface="Cambria Math" panose="02040503050406030204" pitchFamily="18" charset="0"/>
                              <a:ea typeface="Cambria Math" panose="02040503050406030204" pitchFamily="18" charset="0"/>
                              <a:cs typeface="Arial"/>
                              <a:sym typeface="Arial"/>
                            </a:rPr>
                            <m:t>𝜖</m:t>
                          </m:r>
                        </m:e>
                        <m:sub>
                          <m:r>
                            <m:rPr>
                              <m:sty m:val="p"/>
                            </m:rPr>
                            <a:rPr lang="en-US" sz="2200" b="0" i="1" smtClean="0">
                              <a:latin typeface="Cambria Math" panose="02040503050406030204" pitchFamily="18" charset="0"/>
                              <a:cs typeface="Arial"/>
                              <a:sym typeface="Arial"/>
                            </a:rPr>
                            <m:t>bias</m:t>
                          </m:r>
                        </m:sub>
                      </m:sSub>
                      <m:r>
                        <a:rPr lang="en-US" sz="2200" b="0" i="1" smtClean="0">
                          <a:latin typeface="Cambria Math" panose="02040503050406030204" pitchFamily="18" charset="0"/>
                          <a:ea typeface="Arial"/>
                          <a:cs typeface="Arial"/>
                          <a:sym typeface="Arial"/>
                        </a:rPr>
                        <m:t>+</m:t>
                      </m:r>
                      <m:sSub>
                        <m:sSubPr>
                          <m:ctrlPr>
                            <a:rPr lang="en-US" sz="2200" i="1">
                              <a:latin typeface="Cambria Math" panose="02040503050406030204" pitchFamily="18" charset="0"/>
                              <a:cs typeface="Arial"/>
                              <a:sym typeface="Arial"/>
                            </a:rPr>
                          </m:ctrlPr>
                        </m:sSubPr>
                        <m:e>
                          <m:r>
                            <a:rPr lang="en-US" sz="2200" i="1">
                              <a:latin typeface="Cambria Math" panose="02040503050406030204" pitchFamily="18" charset="0"/>
                              <a:ea typeface="Cambria Math" panose="02040503050406030204" pitchFamily="18" charset="0"/>
                              <a:cs typeface="Arial"/>
                              <a:sym typeface="Arial"/>
                            </a:rPr>
                            <m:t>𝜖</m:t>
                          </m:r>
                        </m:e>
                        <m:sub>
                          <m:r>
                            <m:rPr>
                              <m:sty m:val="p"/>
                            </m:rPr>
                            <a:rPr lang="en-US" sz="2200" b="0" i="1" smtClean="0">
                              <a:latin typeface="Cambria Math" panose="02040503050406030204" pitchFamily="18" charset="0"/>
                              <a:ea typeface="Cambria Math" panose="02040503050406030204" pitchFamily="18" charset="0"/>
                              <a:cs typeface="Arial"/>
                              <a:sym typeface="Arial"/>
                            </a:rPr>
                            <m:t>noise</m:t>
                          </m:r>
                        </m:sub>
                      </m:sSub>
                    </m:oMath>
                  </m:oMathPara>
                </a14:m>
                <a:endParaRPr lang="en-US" sz="2200" dirty="0">
                  <a:latin typeface="Arial"/>
                  <a:ea typeface="Arial"/>
                  <a:cs typeface="Arial"/>
                  <a:sym typeface="Arial"/>
                </a:endParaRP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We assume that the noise </a:t>
                </a:r>
                <a14:m>
                  <m:oMath xmlns:m="http://schemas.openxmlformats.org/officeDocument/2006/math">
                    <m:sSub>
                      <m:sSubPr>
                        <m:ctrlPr>
                          <a:rPr lang="en-US" sz="2200" i="1" smtClean="0">
                            <a:latin typeface="Cambria Math" panose="02040503050406030204" pitchFamily="18" charset="0"/>
                            <a:cs typeface="Arial"/>
                            <a:sym typeface="Arial"/>
                          </a:rPr>
                        </m:ctrlPr>
                      </m:sSubPr>
                      <m:e>
                        <m:r>
                          <a:rPr lang="en-US" sz="2200" i="1">
                            <a:latin typeface="Cambria Math" panose="02040503050406030204" pitchFamily="18" charset="0"/>
                            <a:ea typeface="Cambria Math" panose="02040503050406030204" pitchFamily="18" charset="0"/>
                            <a:cs typeface="Arial"/>
                            <a:sym typeface="Arial"/>
                          </a:rPr>
                          <m:t>𝜖</m:t>
                        </m:r>
                      </m:e>
                      <m:sub>
                        <m:r>
                          <m:rPr>
                            <m:sty m:val="p"/>
                          </m:rPr>
                          <a:rPr lang="en-US" sz="2200" i="1">
                            <a:latin typeface="Cambria Math" panose="02040503050406030204" pitchFamily="18" charset="0"/>
                            <a:ea typeface="Cambria Math" panose="02040503050406030204" pitchFamily="18" charset="0"/>
                            <a:cs typeface="Arial"/>
                            <a:sym typeface="Arial"/>
                          </a:rPr>
                          <m:t>noise</m:t>
                        </m:r>
                      </m:sub>
                    </m:sSub>
                    <m:r>
                      <a:rPr lang="en-US" sz="2200" i="1" smtClean="0">
                        <a:latin typeface="Cambria Math" panose="02040503050406030204" pitchFamily="18" charset="0"/>
                        <a:ea typeface="Cambria Math" panose="02040503050406030204" pitchFamily="18" charset="0"/>
                        <a:cs typeface="Arial"/>
                        <a:sym typeface="Arial"/>
                      </a:rPr>
                      <m:t>~</m:t>
                    </m:r>
                    <m:r>
                      <a:rPr lang="en-US" sz="2200" b="0" i="1" smtClean="0">
                        <a:latin typeface="Cambria Math" panose="02040503050406030204" pitchFamily="18" charset="0"/>
                        <a:ea typeface="Cambria Math" panose="02040503050406030204" pitchFamily="18" charset="0"/>
                        <a:cs typeface="Arial"/>
                        <a:sym typeface="Arial"/>
                      </a:rPr>
                      <m:t>𝒩</m:t>
                    </m:r>
                    <m:d>
                      <m:dPr>
                        <m:ctrlPr>
                          <a:rPr lang="en-US" sz="2200" b="0" i="1" smtClean="0">
                            <a:latin typeface="Cambria Math" panose="02040503050406030204" pitchFamily="18" charset="0"/>
                            <a:ea typeface="Cambria Math" panose="02040503050406030204" pitchFamily="18" charset="0"/>
                            <a:cs typeface="Arial"/>
                            <a:sym typeface="Arial"/>
                          </a:rPr>
                        </m:ctrlPr>
                      </m:dPr>
                      <m:e>
                        <m:r>
                          <a:rPr lang="en-US" sz="2200" b="0" i="1" smtClean="0">
                            <a:latin typeface="Cambria Math" panose="02040503050406030204" pitchFamily="18" charset="0"/>
                            <a:ea typeface="Cambria Math" panose="02040503050406030204" pitchFamily="18" charset="0"/>
                            <a:cs typeface="Arial"/>
                            <a:sym typeface="Arial"/>
                          </a:rPr>
                          <m:t>0,</m:t>
                        </m:r>
                        <m:sSup>
                          <m:sSupPr>
                            <m:ctrlPr>
                              <a:rPr lang="en-US" sz="2200" b="0" i="1" smtClean="0">
                                <a:latin typeface="Cambria Math" panose="02040503050406030204" pitchFamily="18" charset="0"/>
                                <a:ea typeface="Cambria Math" panose="02040503050406030204" pitchFamily="18" charset="0"/>
                                <a:cs typeface="Arial"/>
                                <a:sym typeface="Arial"/>
                              </a:rPr>
                            </m:ctrlPr>
                          </m:sSupPr>
                          <m:e>
                            <m:r>
                              <a:rPr lang="en-US" sz="2200" b="0" i="1" smtClean="0">
                                <a:latin typeface="Cambria Math" panose="02040503050406030204" pitchFamily="18" charset="0"/>
                                <a:ea typeface="Cambria Math" panose="02040503050406030204" pitchFamily="18" charset="0"/>
                                <a:cs typeface="Arial"/>
                                <a:sym typeface="Arial"/>
                              </a:rPr>
                              <m:t>𝜎</m:t>
                            </m:r>
                          </m:e>
                          <m:sup>
                            <m:r>
                              <a:rPr lang="en-US" sz="2200" b="0" i="1" smtClean="0">
                                <a:latin typeface="Cambria Math" panose="02040503050406030204" pitchFamily="18" charset="0"/>
                                <a:ea typeface="Cambria Math" panose="02040503050406030204" pitchFamily="18" charset="0"/>
                                <a:cs typeface="Arial"/>
                                <a:sym typeface="Arial"/>
                              </a:rPr>
                              <m:t>2</m:t>
                            </m:r>
                          </m:sup>
                        </m:sSup>
                      </m:e>
                    </m:d>
                  </m:oMath>
                </a14:m>
                <a:r>
                  <a:rPr lang="en-US" sz="2200" dirty="0">
                    <a:latin typeface="Arial"/>
                    <a:ea typeface="Arial"/>
                    <a:cs typeface="Arial"/>
                    <a:sym typeface="Arial"/>
                  </a:rPr>
                  <a:t>, is “White Noise”, zero mean Gaussian noise.</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When we integrate the bias over time we:</a:t>
                </a: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nary>
                        <m:naryPr>
                          <m:limLoc m:val="undOvr"/>
                          <m:subHide m:val="on"/>
                          <m:supHide m:val="on"/>
                          <m:ctrlPr>
                            <a:rPr lang="en-US" sz="2200" i="1" dirty="0" smtClean="0">
                              <a:latin typeface="Cambria Math" panose="02040503050406030204" pitchFamily="18" charset="0"/>
                              <a:cs typeface="Arial"/>
                              <a:sym typeface="Arial"/>
                            </a:rPr>
                          </m:ctrlPr>
                        </m:naryPr>
                        <m:sub/>
                        <m:sup/>
                        <m:e>
                          <m:sSub>
                            <m:sSubPr>
                              <m:ctrlPr>
                                <a:rPr lang="en-US" sz="2200" i="1">
                                  <a:latin typeface="Cambria Math" panose="02040503050406030204" pitchFamily="18" charset="0"/>
                                  <a:cs typeface="Arial"/>
                                  <a:sym typeface="Arial"/>
                                </a:rPr>
                              </m:ctrlPr>
                            </m:sSubPr>
                            <m:e>
                              <m:r>
                                <a:rPr lang="en-US" sz="2200" i="1">
                                  <a:latin typeface="Cambria Math" panose="02040503050406030204" pitchFamily="18" charset="0"/>
                                  <a:ea typeface="Cambria Math" panose="02040503050406030204" pitchFamily="18" charset="0"/>
                                  <a:cs typeface="Arial"/>
                                  <a:sym typeface="Arial"/>
                                </a:rPr>
                                <m:t>𝜖</m:t>
                              </m:r>
                            </m:e>
                            <m:sub>
                              <m:r>
                                <m:rPr>
                                  <m:sty m:val="p"/>
                                </m:rPr>
                                <a:rPr lang="en-US" sz="2200" i="1">
                                  <a:latin typeface="Cambria Math" panose="02040503050406030204" pitchFamily="18" charset="0"/>
                                  <a:cs typeface="Arial"/>
                                  <a:sym typeface="Arial"/>
                                </a:rPr>
                                <m:t>bias</m:t>
                              </m:r>
                            </m:sub>
                          </m:sSub>
                        </m:e>
                      </m:nary>
                      <m:r>
                        <a:rPr lang="en-US" sz="2200" b="0" i="1" dirty="0" smtClean="0">
                          <a:latin typeface="Cambria Math" panose="02040503050406030204" pitchFamily="18" charset="0"/>
                          <a:cs typeface="Arial"/>
                          <a:sym typeface="Arial"/>
                        </a:rPr>
                        <m:t>𝑑𝑡</m:t>
                      </m:r>
                      <m:r>
                        <a:rPr lang="en-US" sz="2200" b="0" i="1" dirty="0" smtClean="0">
                          <a:latin typeface="Cambria Math" panose="02040503050406030204" pitchFamily="18" charset="0"/>
                          <a:cs typeface="Arial"/>
                          <a:sym typeface="Arial"/>
                        </a:rPr>
                        <m:t>=</m:t>
                      </m:r>
                      <m:sSub>
                        <m:sSubPr>
                          <m:ctrlPr>
                            <a:rPr lang="en-US" sz="2200" i="1">
                              <a:latin typeface="Cambria Math" panose="02040503050406030204" pitchFamily="18" charset="0"/>
                              <a:cs typeface="Arial"/>
                              <a:sym typeface="Arial"/>
                            </a:rPr>
                          </m:ctrlPr>
                        </m:sSubPr>
                        <m:e>
                          <m:r>
                            <a:rPr lang="en-US" sz="2200" i="1">
                              <a:latin typeface="Cambria Math" panose="02040503050406030204" pitchFamily="18" charset="0"/>
                              <a:ea typeface="Cambria Math" panose="02040503050406030204" pitchFamily="18" charset="0"/>
                              <a:cs typeface="Arial"/>
                              <a:sym typeface="Arial"/>
                            </a:rPr>
                            <m:t>𝜖</m:t>
                          </m:r>
                        </m:e>
                        <m:sub>
                          <m:r>
                            <m:rPr>
                              <m:sty m:val="p"/>
                            </m:rPr>
                            <a:rPr lang="en-US" sz="2200" i="1">
                              <a:latin typeface="Cambria Math" panose="02040503050406030204" pitchFamily="18" charset="0"/>
                              <a:cs typeface="Arial"/>
                              <a:sym typeface="Arial"/>
                            </a:rPr>
                            <m:t>bias</m:t>
                          </m:r>
                        </m:sub>
                      </m:sSub>
                      <m:r>
                        <a:rPr lang="en-US" sz="2200" i="1" smtClean="0">
                          <a:latin typeface="Cambria Math" panose="02040503050406030204" pitchFamily="18" charset="0"/>
                          <a:ea typeface="Cambria Math" panose="02040503050406030204" pitchFamily="18" charset="0"/>
                          <a:cs typeface="Arial"/>
                          <a:sym typeface="Arial"/>
                        </a:rPr>
                        <m:t>∆</m:t>
                      </m:r>
                      <m:r>
                        <a:rPr lang="en-US" sz="2200" b="0" i="1" smtClean="0">
                          <a:latin typeface="Cambria Math" panose="02040503050406030204" pitchFamily="18" charset="0"/>
                          <a:ea typeface="Cambria Math" panose="02040503050406030204" pitchFamily="18" charset="0"/>
                          <a:cs typeface="Arial"/>
                          <a:sym typeface="Arial"/>
                        </a:rPr>
                        <m:t>𝑡</m:t>
                      </m:r>
                    </m:oMath>
                  </m:oMathPara>
                </a14:m>
                <a:endParaRPr lang="en-US" sz="2200" b="0" i="1" dirty="0">
                  <a:latin typeface="Cambria Math" panose="02040503050406030204" pitchFamily="18" charset="0"/>
                  <a:ea typeface="Cambria Math" panose="02040503050406030204" pitchFamily="18" charset="0"/>
                  <a:cs typeface="Arial"/>
                  <a:sym typeface="Arial"/>
                </a:endParaRPr>
              </a:p>
              <a:p>
                <a:pPr marL="0" indent="0">
                  <a:lnSpc>
                    <a:spcPct val="100000"/>
                  </a:lnSpc>
                  <a:spcBef>
                    <a:spcPts val="0"/>
                  </a:spcBef>
                  <a:buSzPts val="3000"/>
                  <a:buNone/>
                </a:pPr>
                <a:r>
                  <a:rPr lang="en-US" sz="2000" dirty="0">
                    <a:latin typeface="+mj-lt"/>
                    <a:sym typeface="Arial"/>
                  </a:rPr>
                  <a:t>If the bias just 0.05 degrees / sec, how far off is our heading after 5 minutes?</a:t>
                </a:r>
              </a:p>
              <a:p>
                <a:pPr marL="0" indent="0">
                  <a:lnSpc>
                    <a:spcPct val="100000"/>
                  </a:lnSpc>
                  <a:spcBef>
                    <a:spcPts val="0"/>
                  </a:spcBef>
                  <a:buSzPts val="3000"/>
                  <a:buNone/>
                </a:pPr>
                <a:endParaRPr lang="en-US" sz="2000" b="0" i="1" dirty="0">
                  <a:latin typeface="+mj-lt"/>
                  <a:ea typeface="Cambria Math" panose="02040503050406030204" pitchFamily="18" charset="0"/>
                  <a:cs typeface="Arial"/>
                  <a:sym typeface="Arial"/>
                </a:endParaRPr>
              </a:p>
              <a:p>
                <a:pPr marL="0" indent="0" algn="ctr">
                  <a:lnSpc>
                    <a:spcPct val="100000"/>
                  </a:lnSpc>
                  <a:spcBef>
                    <a:spcPts val="0"/>
                  </a:spcBef>
                  <a:buSzPts val="3000"/>
                  <a:buNone/>
                </a:pPr>
                <a:r>
                  <a:rPr lang="en-US" sz="2000" b="1" dirty="0">
                    <a:latin typeface="+mj-lt"/>
                    <a:ea typeface="Cambria Math" panose="02040503050406030204" pitchFamily="18" charset="0"/>
                    <a:cs typeface="Arial"/>
                    <a:sym typeface="Arial"/>
                  </a:rPr>
                  <a:t>15 degrees!</a:t>
                </a:r>
              </a:p>
              <a:p>
                <a:pPr marL="0" indent="0" algn="ctr">
                  <a:lnSpc>
                    <a:spcPct val="100000"/>
                  </a:lnSpc>
                  <a:spcBef>
                    <a:spcPts val="0"/>
                  </a:spcBef>
                  <a:buSzPts val="3000"/>
                  <a:buNone/>
                </a:pPr>
                <a:endParaRPr lang="en-US" sz="2000" dirty="0">
                  <a:latin typeface="+mj-lt"/>
                  <a:ea typeface="Cambria Math" panose="02040503050406030204" pitchFamily="18" charset="0"/>
                  <a:cs typeface="Arial"/>
                  <a:sym typeface="Arial"/>
                </a:endParaRPr>
              </a:p>
              <a:p>
                <a:pPr marL="0" indent="0">
                  <a:lnSpc>
                    <a:spcPct val="100000"/>
                  </a:lnSpc>
                  <a:spcBef>
                    <a:spcPts val="0"/>
                  </a:spcBef>
                  <a:buSzPts val="3000"/>
                  <a:buNone/>
                </a:pPr>
                <a:r>
                  <a:rPr lang="en-US" sz="2000" b="0" dirty="0">
                    <a:latin typeface="+mj-lt"/>
                    <a:ea typeface="Cambria Math" panose="02040503050406030204" pitchFamily="18" charset="0"/>
                    <a:cs typeface="Arial"/>
                    <a:sym typeface="Arial"/>
                  </a:rPr>
                  <a:t>This is why we calibrate the IMU to measure and subtract </a:t>
                </a:r>
                <a:r>
                  <a:rPr lang="en-US" sz="2000" dirty="0">
                    <a:latin typeface="+mj-lt"/>
                    <a:ea typeface="Cambria Math" panose="02040503050406030204" pitchFamily="18" charset="0"/>
                    <a:cs typeface="Arial"/>
                    <a:sym typeface="Arial"/>
                  </a:rPr>
                  <a:t>the bias!</a:t>
                </a:r>
              </a:p>
            </p:txBody>
          </p:sp>
        </mc:Choice>
        <mc:Fallback xmlns="">
          <p:sp>
            <p:nvSpPr>
              <p:cNvPr id="118" name="Google Shape;118;p29">
                <a:extLst>
                  <a:ext uri="{FF2B5EF4-FFF2-40B4-BE49-F238E27FC236}">
                    <a16:creationId xmlns:a16="http://schemas.microsoft.com/office/drawing/2014/main" id="{C9D6B066-10FF-D37D-3D50-C7ECB17F38D3}"/>
                  </a:ext>
                </a:extLst>
              </p:cNvPr>
              <p:cNvSpPr txBox="1">
                <a:spLocks noGrp="1" noRot="1" noChangeAspect="1" noMove="1" noResize="1" noEditPoints="1" noAdjustHandles="1" noChangeArrowheads="1" noChangeShapeType="1" noTextEdit="1"/>
              </p:cNvSpPr>
              <p:nvPr>
                <p:ph type="body" idx="1"/>
              </p:nvPr>
            </p:nvSpPr>
            <p:spPr>
              <a:xfrm>
                <a:off x="376809" y="1334279"/>
                <a:ext cx="11452008" cy="4821102"/>
              </a:xfrm>
              <a:prstGeom prst="rect">
                <a:avLst/>
              </a:prstGeom>
              <a:blipFill>
                <a:blip r:embed="rId3"/>
                <a:stretch>
                  <a:fillRect l="-692" t="-759" b="-3413"/>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883F0A10-EFFC-5323-40FD-1D1FFBF6AAC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93407A49-6C11-D874-6A32-3003F68BE0B9}"/>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Errors</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A56CA6F7-0901-3CEC-6FB0-E66228551B05}"/>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44DC72C-6B58-7BA7-E1A4-C710EB414FD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57F213B-A91E-60C5-230B-0D87CD6E77B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FD322F9-1A52-C598-EA3E-7C5CCB0AD877}"/>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FEA3B39-C278-7651-9DBE-3B8CBD57337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65763C4-E967-CB76-B11A-580F7400131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1033556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18">
                                            <p:txEl>
                                              <p:pRg st="10" end="10"/>
                                            </p:txEl>
                                          </p:spTgt>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18">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5D14EA17-22FA-3DF2-3D01-D1CD2FDCC496}"/>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3F55EEE2-CDC3-7698-846D-CF39C2D6695A}"/>
                  </a:ext>
                </a:extLst>
              </p:cNvPr>
              <p:cNvSpPr txBox="1">
                <a:spLocks noGrp="1"/>
              </p:cNvSpPr>
              <p:nvPr>
                <p:ph type="body" idx="1"/>
              </p:nvPr>
            </p:nvSpPr>
            <p:spPr>
              <a:xfrm>
                <a:off x="376809" y="1334279"/>
                <a:ext cx="11452008"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rial"/>
                    <a:ea typeface="Arial"/>
                    <a:cs typeface="Arial"/>
                    <a:sym typeface="Arial"/>
                  </a:rPr>
                  <a:t>Now with the bias removed we now have White Noise that remains.</a:t>
                </a:r>
              </a:p>
              <a:p>
                <a:pPr marL="0" indent="0">
                  <a:lnSpc>
                    <a:spcPct val="100000"/>
                  </a:lnSpc>
                  <a:spcBef>
                    <a:spcPts val="0"/>
                  </a:spcBef>
                  <a:buSzPts val="3000"/>
                  <a:buNone/>
                </a:pPr>
                <a:endParaRPr lang="en-US" sz="2000" b="0" dirty="0">
                  <a:latin typeface="Arial"/>
                  <a:ea typeface="Cambria Math" panose="02040503050406030204" pitchFamily="18" charset="0"/>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000" i="1">
                              <a:latin typeface="Cambria Math" panose="02040503050406030204" pitchFamily="18" charset="0"/>
                              <a:ea typeface="Arial"/>
                              <a:cs typeface="Arial"/>
                              <a:sym typeface="Arial"/>
                            </a:rPr>
                          </m:ctrlPr>
                        </m:sSubPr>
                        <m:e>
                          <m:r>
                            <a:rPr lang="en-US" sz="2000" i="1">
                              <a:latin typeface="Cambria Math" panose="02040503050406030204" pitchFamily="18" charset="0"/>
                              <a:ea typeface="Arial"/>
                              <a:cs typeface="Arial"/>
                              <a:sym typeface="Arial"/>
                            </a:rPr>
                            <m:t>𝜔</m:t>
                          </m:r>
                        </m:e>
                        <m:sub>
                          <m:r>
                            <m:rPr>
                              <m:sty m:val="p"/>
                            </m:rPr>
                            <a:rPr lang="en-US" sz="2000" i="1">
                              <a:latin typeface="Cambria Math" panose="02040503050406030204" pitchFamily="18" charset="0"/>
                              <a:ea typeface="Arial"/>
                              <a:cs typeface="Arial"/>
                              <a:sym typeface="Arial"/>
                            </a:rPr>
                            <m:t>gyro</m:t>
                          </m:r>
                          <m:r>
                            <a:rPr lang="en-US" sz="2000" i="1">
                              <a:latin typeface="Cambria Math" panose="02040503050406030204" pitchFamily="18" charset="0"/>
                              <a:ea typeface="Arial"/>
                              <a:cs typeface="Arial"/>
                              <a:sym typeface="Arial"/>
                            </a:rPr>
                            <m:t>,</m:t>
                          </m:r>
                          <m:r>
                            <a:rPr lang="en-US" sz="2000" i="1">
                              <a:latin typeface="Cambria Math" panose="02040503050406030204" pitchFamily="18" charset="0"/>
                              <a:ea typeface="Arial"/>
                              <a:cs typeface="Arial"/>
                              <a:sym typeface="Arial"/>
                            </a:rPr>
                            <m:t>𝑡</m:t>
                          </m:r>
                        </m:sub>
                      </m:sSub>
                      <m:r>
                        <a:rPr lang="en-US" sz="2000" i="1">
                          <a:latin typeface="Cambria Math" panose="02040503050406030204" pitchFamily="18" charset="0"/>
                          <a:ea typeface="Arial"/>
                          <a:cs typeface="Arial"/>
                          <a:sym typeface="Arial"/>
                        </a:rPr>
                        <m:t>=</m:t>
                      </m:r>
                      <m:sSub>
                        <m:sSubPr>
                          <m:ctrlPr>
                            <a:rPr lang="en-US" sz="2000" i="1">
                              <a:latin typeface="Cambria Math" panose="02040503050406030204" pitchFamily="18" charset="0"/>
                              <a:ea typeface="Arial"/>
                              <a:cs typeface="Arial"/>
                              <a:sym typeface="Arial"/>
                            </a:rPr>
                          </m:ctrlPr>
                        </m:sSubPr>
                        <m:e>
                          <m:r>
                            <a:rPr lang="en-US" sz="2000" i="1">
                              <a:latin typeface="Cambria Math" panose="02040503050406030204" pitchFamily="18" charset="0"/>
                              <a:ea typeface="Arial"/>
                              <a:cs typeface="Arial"/>
                              <a:sym typeface="Arial"/>
                            </a:rPr>
                            <m:t>𝜔</m:t>
                          </m:r>
                        </m:e>
                        <m:sub>
                          <m:r>
                            <m:rPr>
                              <m:sty m:val="p"/>
                            </m:rPr>
                            <a:rPr lang="en-US" sz="2000" i="1">
                              <a:latin typeface="Cambria Math" panose="02040503050406030204" pitchFamily="18" charset="0"/>
                              <a:ea typeface="Arial"/>
                              <a:cs typeface="Arial"/>
                              <a:sym typeface="Arial"/>
                            </a:rPr>
                            <m:t>true</m:t>
                          </m:r>
                          <m:r>
                            <a:rPr lang="en-US" sz="2000" i="1">
                              <a:latin typeface="Cambria Math" panose="02040503050406030204" pitchFamily="18" charset="0"/>
                              <a:ea typeface="Arial"/>
                              <a:cs typeface="Arial"/>
                              <a:sym typeface="Arial"/>
                            </a:rPr>
                            <m:t>,</m:t>
                          </m:r>
                          <m:r>
                            <a:rPr lang="en-US" sz="2000" i="1">
                              <a:latin typeface="Cambria Math" panose="02040503050406030204" pitchFamily="18" charset="0"/>
                              <a:ea typeface="Arial"/>
                              <a:cs typeface="Arial"/>
                              <a:sym typeface="Arial"/>
                            </a:rPr>
                            <m:t>𝑡</m:t>
                          </m:r>
                        </m:sub>
                      </m:sSub>
                      <m:r>
                        <a:rPr lang="en-US" sz="2000" i="1">
                          <a:latin typeface="Cambria Math" panose="02040503050406030204" pitchFamily="18" charset="0"/>
                          <a:ea typeface="Arial"/>
                          <a:cs typeface="Arial"/>
                          <a:sym typeface="Arial"/>
                        </a:rPr>
                        <m:t>+</m:t>
                      </m:r>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ea typeface="Cambria Math" panose="02040503050406030204" pitchFamily="18" charset="0"/>
                              <a:cs typeface="Arial"/>
                              <a:sym typeface="Arial"/>
                            </a:rPr>
                            <m:t>𝜖</m:t>
                          </m:r>
                        </m:e>
                        <m:sub>
                          <m:r>
                            <m:rPr>
                              <m:sty m:val="p"/>
                            </m:rPr>
                            <a:rPr lang="en-US" sz="2000" i="1">
                              <a:latin typeface="Cambria Math" panose="02040503050406030204" pitchFamily="18" charset="0"/>
                              <a:ea typeface="Cambria Math" panose="02040503050406030204" pitchFamily="18" charset="0"/>
                              <a:cs typeface="Arial"/>
                              <a:sym typeface="Arial"/>
                            </a:rPr>
                            <m:t>noise</m:t>
                          </m:r>
                        </m:sub>
                      </m:sSub>
                    </m:oMath>
                  </m:oMathPara>
                </a14:m>
                <a:endParaRPr lang="en-US" sz="2000" b="0" dirty="0">
                  <a:latin typeface="+mj-lt"/>
                  <a:ea typeface="Cambria Math" panose="02040503050406030204" pitchFamily="18" charset="0"/>
                  <a:cs typeface="Arial"/>
                  <a:sym typeface="Arial"/>
                </a:endParaRPr>
              </a:p>
              <a:p>
                <a:pPr marL="0" indent="0">
                  <a:lnSpc>
                    <a:spcPct val="100000"/>
                  </a:lnSpc>
                  <a:spcBef>
                    <a:spcPts val="0"/>
                  </a:spcBef>
                  <a:buSzPts val="3000"/>
                  <a:buNone/>
                </a:pPr>
                <a:endParaRPr lang="en-US" sz="2000" dirty="0">
                  <a:latin typeface="+mj-lt"/>
                  <a:ea typeface="Cambria Math" panose="02040503050406030204" pitchFamily="18" charset="0"/>
                  <a:cs typeface="Arial"/>
                  <a:sym typeface="Arial"/>
                </a:endParaRPr>
              </a:p>
              <a:p>
                <a:pPr marL="0" indent="0">
                  <a:lnSpc>
                    <a:spcPct val="100000"/>
                  </a:lnSpc>
                  <a:spcBef>
                    <a:spcPts val="0"/>
                  </a:spcBef>
                  <a:buSzPts val="3000"/>
                  <a:buNone/>
                </a:pPr>
                <a:r>
                  <a:rPr lang="en-US" sz="2000" b="0" dirty="0">
                    <a:latin typeface="+mj-lt"/>
                    <a:ea typeface="Cambria Math" panose="02040503050406030204" pitchFamily="18" charset="0"/>
                    <a:cs typeface="Arial"/>
                    <a:sym typeface="Arial"/>
                  </a:rPr>
                  <a:t>Integrating </a:t>
                </a:r>
                <a:r>
                  <a:rPr lang="en-US" sz="2000" dirty="0">
                    <a:latin typeface="+mj-lt"/>
                    <a:ea typeface="Cambria Math" panose="02040503050406030204" pitchFamily="18" charset="0"/>
                    <a:cs typeface="Arial"/>
                    <a:sym typeface="Arial"/>
                  </a:rPr>
                  <a:t>white noise results in a “</a:t>
                </a:r>
                <a:r>
                  <a:rPr lang="en-US" sz="2000" b="1" dirty="0">
                    <a:latin typeface="+mj-lt"/>
                    <a:ea typeface="Cambria Math" panose="02040503050406030204" pitchFamily="18" charset="0"/>
                    <a:cs typeface="Arial"/>
                    <a:sym typeface="Arial"/>
                  </a:rPr>
                  <a:t>Random Walk</a:t>
                </a:r>
                <a:r>
                  <a:rPr lang="en-US" sz="2000" dirty="0">
                    <a:latin typeface="+mj-lt"/>
                    <a:ea typeface="Cambria Math" panose="02040503050406030204" pitchFamily="18" charset="0"/>
                    <a:cs typeface="Arial"/>
                    <a:sym typeface="Arial"/>
                  </a:rPr>
                  <a:t>” (a Wiener process in stochastic calculus).</a:t>
                </a:r>
              </a:p>
              <a:p>
                <a:pPr marL="0" indent="0">
                  <a:lnSpc>
                    <a:spcPct val="100000"/>
                  </a:lnSpc>
                  <a:spcBef>
                    <a:spcPts val="0"/>
                  </a:spcBef>
                  <a:buSzPts val="3000"/>
                  <a:buNone/>
                </a:pPr>
                <a:endParaRPr lang="en-US" sz="2000" b="0" dirty="0">
                  <a:latin typeface="+mj-lt"/>
                  <a:ea typeface="Cambria Math" panose="02040503050406030204" pitchFamily="18" charset="0"/>
                  <a:cs typeface="Arial"/>
                  <a:sym typeface="Arial"/>
                </a:endParaRPr>
              </a:p>
              <a:p>
                <a:pPr marL="0" indent="0">
                  <a:lnSpc>
                    <a:spcPct val="100000"/>
                  </a:lnSpc>
                  <a:spcBef>
                    <a:spcPts val="0"/>
                  </a:spcBef>
                  <a:buSzPts val="3000"/>
                  <a:buNone/>
                </a:pPr>
                <a:r>
                  <a:rPr lang="en-US" sz="2000" dirty="0">
                    <a:latin typeface="+mj-lt"/>
                    <a:ea typeface="Cambria Math" panose="02040503050406030204" pitchFamily="18" charset="0"/>
                    <a:cs typeface="Arial"/>
                    <a:sym typeface="Arial"/>
                  </a:rPr>
                  <a:t>The mean of the error over multiple “Random Walk” runs is centered at </a:t>
                </a:r>
                <a14:m>
                  <m:oMath xmlns:m="http://schemas.openxmlformats.org/officeDocument/2006/math">
                    <m:r>
                      <a:rPr lang="en-US" sz="2000" b="0" i="1" smtClean="0">
                        <a:latin typeface="Cambria Math" panose="02040503050406030204" pitchFamily="18" charset="0"/>
                        <a:ea typeface="Cambria Math" panose="02040503050406030204" pitchFamily="18" charset="0"/>
                        <a:cs typeface="Arial"/>
                        <a:sym typeface="Arial"/>
                      </a:rPr>
                      <m:t>0</m:t>
                    </m:r>
                  </m:oMath>
                </a14:m>
                <a:r>
                  <a:rPr lang="en-US" sz="2000" b="0" dirty="0">
                    <a:latin typeface="+mj-lt"/>
                    <a:ea typeface="Cambria Math" panose="02040503050406030204" pitchFamily="18" charset="0"/>
                    <a:cs typeface="Arial"/>
                    <a:sym typeface="Arial"/>
                  </a:rPr>
                  <a:t>.</a:t>
                </a:r>
              </a:p>
              <a:p>
                <a:pPr marL="0" indent="0">
                  <a:lnSpc>
                    <a:spcPct val="100000"/>
                  </a:lnSpc>
                  <a:spcBef>
                    <a:spcPts val="0"/>
                  </a:spcBef>
                  <a:buSzPts val="3000"/>
                  <a:buNone/>
                </a:pPr>
                <a:endParaRPr lang="en-US" sz="2000" dirty="0">
                  <a:latin typeface="+mj-lt"/>
                  <a:ea typeface="Cambria Math" panose="02040503050406030204" pitchFamily="18" charset="0"/>
                  <a:cs typeface="Arial"/>
                  <a:sym typeface="Arial"/>
                </a:endParaRPr>
              </a:p>
              <a:p>
                <a:pPr marL="0" indent="0">
                  <a:lnSpc>
                    <a:spcPct val="100000"/>
                  </a:lnSpc>
                  <a:spcBef>
                    <a:spcPts val="0"/>
                  </a:spcBef>
                  <a:buSzPts val="3000"/>
                  <a:buNone/>
                </a:pPr>
                <a:r>
                  <a:rPr lang="en-US" sz="2000" b="0" dirty="0">
                    <a:latin typeface="+mj-lt"/>
                    <a:ea typeface="Cambria Math" panose="02040503050406030204" pitchFamily="18" charset="0"/>
                    <a:cs typeface="Arial"/>
                    <a:sym typeface="Arial"/>
                  </a:rPr>
                  <a:t>The variance of the error grows linearly with time </a:t>
                </a:r>
                <a14:m>
                  <m:oMath xmlns:m="http://schemas.openxmlformats.org/officeDocument/2006/math">
                    <m:sSubSup>
                      <m:sSubSupPr>
                        <m:ctrlPr>
                          <a:rPr lang="en-US" sz="2000" b="0" i="1" dirty="0" smtClean="0">
                            <a:latin typeface="Cambria Math" panose="02040503050406030204" pitchFamily="18" charset="0"/>
                            <a:ea typeface="Cambria Math" panose="02040503050406030204" pitchFamily="18" charset="0"/>
                            <a:cs typeface="Arial"/>
                            <a:sym typeface="Arial"/>
                          </a:rPr>
                        </m:ctrlPr>
                      </m:sSubSupPr>
                      <m:e>
                        <m:r>
                          <a:rPr lang="en-US" sz="2000" b="0" i="1" dirty="0" smtClean="0">
                            <a:latin typeface="Cambria Math" panose="02040503050406030204" pitchFamily="18" charset="0"/>
                            <a:ea typeface="Cambria Math" panose="02040503050406030204" pitchFamily="18" charset="0"/>
                            <a:cs typeface="Arial"/>
                            <a:sym typeface="Arial"/>
                          </a:rPr>
                          <m:t>𝜎</m:t>
                        </m:r>
                      </m:e>
                      <m:sub>
                        <m:r>
                          <a:rPr lang="en-US" sz="2000" b="0" i="1" dirty="0" smtClean="0">
                            <a:latin typeface="Cambria Math" panose="02040503050406030204" pitchFamily="18" charset="0"/>
                            <a:ea typeface="Cambria Math" panose="02040503050406030204" pitchFamily="18" charset="0"/>
                            <a:cs typeface="Arial"/>
                            <a:sym typeface="Arial"/>
                          </a:rPr>
                          <m:t>𝜑</m:t>
                        </m:r>
                      </m:sub>
                      <m:sup>
                        <m:r>
                          <a:rPr lang="en-US" sz="2000" b="0" i="1" dirty="0" smtClean="0">
                            <a:latin typeface="Cambria Math" panose="02040503050406030204" pitchFamily="18" charset="0"/>
                            <a:ea typeface="Cambria Math" panose="02040503050406030204" pitchFamily="18" charset="0"/>
                            <a:cs typeface="Arial"/>
                            <a:sym typeface="Arial"/>
                          </a:rPr>
                          <m:t>2</m:t>
                        </m:r>
                      </m:sup>
                    </m:sSubSup>
                    <m:r>
                      <a:rPr lang="en-US" sz="2000" b="0" i="1" dirty="0" smtClean="0">
                        <a:latin typeface="Cambria Math" panose="02040503050406030204" pitchFamily="18" charset="0"/>
                        <a:ea typeface="Cambria Math" panose="02040503050406030204" pitchFamily="18" charset="0"/>
                        <a:cs typeface="Arial"/>
                        <a:sym typeface="Arial"/>
                      </a:rPr>
                      <m:t>=</m:t>
                    </m:r>
                    <m:sSubSup>
                      <m:sSubSupPr>
                        <m:ctrlPr>
                          <a:rPr lang="en-US" sz="2000" b="0" i="1" dirty="0" smtClean="0">
                            <a:latin typeface="Cambria Math" panose="02040503050406030204" pitchFamily="18" charset="0"/>
                            <a:ea typeface="Cambria Math" panose="02040503050406030204" pitchFamily="18" charset="0"/>
                            <a:cs typeface="Arial"/>
                            <a:sym typeface="Arial"/>
                          </a:rPr>
                        </m:ctrlPr>
                      </m:sSubSupPr>
                      <m:e>
                        <m:r>
                          <a:rPr lang="en-US" sz="2000" i="1" dirty="0">
                            <a:latin typeface="Cambria Math" panose="02040503050406030204" pitchFamily="18" charset="0"/>
                            <a:ea typeface="Cambria Math" panose="02040503050406030204" pitchFamily="18" charset="0"/>
                            <a:cs typeface="Arial"/>
                            <a:sym typeface="Arial"/>
                          </a:rPr>
                          <m:t>𝜎</m:t>
                        </m:r>
                      </m:e>
                      <m:sub>
                        <m:r>
                          <a:rPr lang="en-US" sz="2000" i="1" dirty="0" smtClean="0">
                            <a:latin typeface="Cambria Math" panose="02040503050406030204" pitchFamily="18" charset="0"/>
                            <a:ea typeface="Cambria Math" panose="02040503050406030204" pitchFamily="18" charset="0"/>
                            <a:cs typeface="Arial"/>
                            <a:sym typeface="Arial"/>
                          </a:rPr>
                          <m:t>𝜔</m:t>
                        </m:r>
                      </m:sub>
                      <m:sup>
                        <m:r>
                          <a:rPr lang="en-US" sz="2000" i="1" dirty="0">
                            <a:latin typeface="Cambria Math" panose="02040503050406030204" pitchFamily="18" charset="0"/>
                            <a:ea typeface="Cambria Math" panose="02040503050406030204" pitchFamily="18" charset="0"/>
                            <a:cs typeface="Arial"/>
                            <a:sym typeface="Arial"/>
                          </a:rPr>
                          <m:t>2</m:t>
                        </m:r>
                      </m:sup>
                    </m:sSubSup>
                    <m:r>
                      <m:rPr>
                        <m:sty m:val="p"/>
                      </m:rPr>
                      <a:rPr lang="en-US" sz="2000" i="0" dirty="0" smtClean="0">
                        <a:latin typeface="Cambria Math" panose="02040503050406030204" pitchFamily="18" charset="0"/>
                        <a:ea typeface="Cambria Math" panose="02040503050406030204" pitchFamily="18" charset="0"/>
                        <a:cs typeface="Arial"/>
                        <a:sym typeface="Arial"/>
                      </a:rPr>
                      <m:t>Δ</m:t>
                    </m:r>
                    <m:r>
                      <a:rPr lang="en-US" sz="2000" i="1" dirty="0" smtClean="0">
                        <a:latin typeface="Cambria Math" panose="02040503050406030204" pitchFamily="18" charset="0"/>
                        <a:ea typeface="Cambria Math" panose="02040503050406030204" pitchFamily="18" charset="0"/>
                        <a:cs typeface="Arial"/>
                        <a:sym typeface="Arial"/>
                      </a:rPr>
                      <m:t>𝑡</m:t>
                    </m:r>
                  </m:oMath>
                </a14:m>
                <a:r>
                  <a:rPr lang="en-US" sz="2000" b="0" dirty="0">
                    <a:latin typeface="+mj-lt"/>
                    <a:ea typeface="Cambria Math" panose="02040503050406030204" pitchFamily="18" charset="0"/>
                    <a:cs typeface="Arial"/>
                    <a:sym typeface="Arial"/>
                  </a:rPr>
                  <a:t>.</a:t>
                </a:r>
              </a:p>
              <a:p>
                <a:pPr marL="0" indent="0">
                  <a:lnSpc>
                    <a:spcPct val="100000"/>
                  </a:lnSpc>
                  <a:spcBef>
                    <a:spcPts val="0"/>
                  </a:spcBef>
                  <a:buSzPts val="3000"/>
                  <a:buNone/>
                </a:pPr>
                <a:endParaRPr lang="en-US" sz="2000" dirty="0">
                  <a:latin typeface="+mj-lt"/>
                  <a:ea typeface="Cambria Math" panose="02040503050406030204" pitchFamily="18" charset="0"/>
                  <a:cs typeface="Arial"/>
                  <a:sym typeface="Arial"/>
                </a:endParaRPr>
              </a:p>
              <a:p>
                <a:pPr marL="0" indent="0">
                  <a:lnSpc>
                    <a:spcPct val="100000"/>
                  </a:lnSpc>
                  <a:spcBef>
                    <a:spcPts val="0"/>
                  </a:spcBef>
                  <a:buSzPts val="3000"/>
                  <a:buNone/>
                </a:pPr>
                <a:r>
                  <a:rPr lang="en-US" sz="2000" b="0" dirty="0">
                    <a:latin typeface="+mj-lt"/>
                    <a:ea typeface="Cambria Math" panose="02040503050406030204" pitchFamily="18" charset="0"/>
                    <a:cs typeface="Arial"/>
                    <a:sym typeface="Arial"/>
                  </a:rPr>
                  <a:t>The standard deviation (the actual angular error) grows proportional to the square root of time </a:t>
                </a:r>
                <a14:m>
                  <m:oMath xmlns:m="http://schemas.openxmlformats.org/officeDocument/2006/math">
                    <m:r>
                      <a:rPr lang="en-US" sz="2000" b="0" i="1" smtClean="0">
                        <a:latin typeface="Cambria Math" panose="02040503050406030204" pitchFamily="18" charset="0"/>
                        <a:ea typeface="Cambria Math" panose="02040503050406030204" pitchFamily="18" charset="0"/>
                        <a:cs typeface="Arial"/>
                        <a:sym typeface="Arial"/>
                      </a:rPr>
                      <m:t>∝ </m:t>
                    </m:r>
                    <m:rad>
                      <m:radPr>
                        <m:degHide m:val="on"/>
                        <m:ctrlPr>
                          <a:rPr lang="en-US" sz="2000" b="0" i="1" smtClean="0">
                            <a:latin typeface="Cambria Math" panose="02040503050406030204" pitchFamily="18" charset="0"/>
                            <a:ea typeface="Cambria Math" panose="02040503050406030204" pitchFamily="18" charset="0"/>
                            <a:cs typeface="Arial"/>
                            <a:sym typeface="Arial"/>
                          </a:rPr>
                        </m:ctrlPr>
                      </m:radPr>
                      <m:deg/>
                      <m:e>
                        <m:r>
                          <m:rPr>
                            <m:sty m:val="p"/>
                          </m:rPr>
                          <a:rPr lang="en-US" sz="2000" b="0" i="1" smtClean="0">
                            <a:latin typeface="Cambria Math" panose="02040503050406030204" pitchFamily="18" charset="0"/>
                            <a:ea typeface="Cambria Math" panose="02040503050406030204" pitchFamily="18" charset="0"/>
                            <a:cs typeface="Arial"/>
                            <a:sym typeface="Arial"/>
                          </a:rPr>
                          <m:t>t</m:t>
                        </m:r>
                      </m:e>
                    </m:rad>
                  </m:oMath>
                </a14:m>
                <a:r>
                  <a:rPr lang="en-US" sz="2000" b="0" dirty="0">
                    <a:latin typeface="+mj-lt"/>
                    <a:ea typeface="Cambria Math" panose="02040503050406030204" pitchFamily="18" charset="0"/>
                    <a:cs typeface="Arial"/>
                    <a:sym typeface="Arial"/>
                  </a:rPr>
                  <a:t>. The math for proving this is very complicated, so just take it as truth!</a:t>
                </a:r>
              </a:p>
              <a:p>
                <a:pPr marL="0" indent="0">
                  <a:lnSpc>
                    <a:spcPct val="100000"/>
                  </a:lnSpc>
                  <a:spcBef>
                    <a:spcPts val="0"/>
                  </a:spcBef>
                  <a:buSzPts val="3000"/>
                  <a:buNone/>
                </a:pPr>
                <a:endParaRPr lang="en-US" sz="2000" dirty="0">
                  <a:latin typeface="+mj-lt"/>
                  <a:ea typeface="Cambria Math" panose="02040503050406030204" pitchFamily="18" charset="0"/>
                  <a:cs typeface="Arial"/>
                  <a:sym typeface="Arial"/>
                </a:endParaRPr>
              </a:p>
              <a:p>
                <a:pPr marL="0" indent="0">
                  <a:lnSpc>
                    <a:spcPct val="100000"/>
                  </a:lnSpc>
                  <a:spcBef>
                    <a:spcPts val="0"/>
                  </a:spcBef>
                  <a:buSzPts val="3000"/>
                  <a:buNone/>
                </a:pPr>
                <a:r>
                  <a:rPr lang="en-US" sz="2000" b="0" dirty="0">
                    <a:latin typeface="+mj-lt"/>
                    <a:ea typeface="Cambria Math" panose="02040503050406030204" pitchFamily="18" charset="0"/>
                    <a:cs typeface="Arial"/>
                    <a:sym typeface="Arial"/>
                  </a:rPr>
                  <a:t>Thus, over long period, the gyro’s heading becomes entirely unreliable!</a:t>
                </a:r>
              </a:p>
            </p:txBody>
          </p:sp>
        </mc:Choice>
        <mc:Fallback xmlns="">
          <p:sp>
            <p:nvSpPr>
              <p:cNvPr id="118" name="Google Shape;118;p29">
                <a:extLst>
                  <a:ext uri="{FF2B5EF4-FFF2-40B4-BE49-F238E27FC236}">
                    <a16:creationId xmlns:a16="http://schemas.microsoft.com/office/drawing/2014/main" id="{3F55EEE2-CDC3-7698-846D-CF39C2D6695A}"/>
                  </a:ext>
                </a:extLst>
              </p:cNvPr>
              <p:cNvSpPr txBox="1">
                <a:spLocks noGrp="1" noRot="1" noChangeAspect="1" noMove="1" noResize="1" noEditPoints="1" noAdjustHandles="1" noChangeArrowheads="1" noChangeShapeType="1" noTextEdit="1"/>
              </p:cNvSpPr>
              <p:nvPr>
                <p:ph type="body" idx="1"/>
              </p:nvPr>
            </p:nvSpPr>
            <p:spPr>
              <a:xfrm>
                <a:off x="376809" y="1334279"/>
                <a:ext cx="11452008" cy="4821102"/>
              </a:xfrm>
              <a:prstGeom prst="rect">
                <a:avLst/>
              </a:prstGeom>
              <a:blipFill>
                <a:blip r:embed="rId3"/>
                <a:stretch>
                  <a:fillRect l="-586" t="-632" r="-426"/>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BCCA73AD-AA1E-2D97-1917-94C9CDB20059}"/>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2BE9989F-8446-367B-618F-9DB175E76A2C}"/>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Errors</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4E7F7F1A-01A7-55F0-5779-25826F9F009E}"/>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91E1EBB-952C-3C2F-0907-D4E69F11975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713308A-B3D1-2B72-D5B6-B72A8F7580EA}"/>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AB07FE0D-ED47-C4D3-E1D6-FB8D8946832C}"/>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089F874-F92D-A95D-E31C-7183544FF05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92073D7-C169-435E-AFF0-A93F4C88DAF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272767044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18">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A7F0F48-FD66-0068-0226-3C6653FA95FD}"/>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4D9362EA-C21F-AC39-D262-FB7E55F37A4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53010643-9872-014A-0B92-EE6B2A60F208}"/>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Errors</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0536A73D-1A13-80E5-A640-A1746D959178}"/>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9170DFE-6B7C-76DE-03C6-BD9005BC389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D2E760C-D6C1-3E9C-55A1-9C9AB59AD35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57436059-DAF3-0389-B9F7-FCC00B34062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FCF9F0C8-EDDD-B2B7-55CC-FDE177E364C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29F9111-220C-C228-C249-7BB180BFE28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
        <p:nvSpPr>
          <p:cNvPr id="3" name="Text Placeholder 2">
            <a:extLst>
              <a:ext uri="{FF2B5EF4-FFF2-40B4-BE49-F238E27FC236}">
                <a16:creationId xmlns:a16="http://schemas.microsoft.com/office/drawing/2014/main" id="{7E1B50D1-3054-D474-FE00-026AAFAE2E96}"/>
              </a:ext>
            </a:extLst>
          </p:cNvPr>
          <p:cNvSpPr>
            <a:spLocks noGrp="1"/>
          </p:cNvSpPr>
          <p:nvPr>
            <p:ph type="body" idx="1"/>
          </p:nvPr>
        </p:nvSpPr>
        <p:spPr/>
        <p:txBody>
          <a:bodyPr/>
          <a:lstStyle/>
          <a:p>
            <a:endParaRPr lang="en-US" dirty="0"/>
          </a:p>
        </p:txBody>
      </p:sp>
      <p:pic>
        <p:nvPicPr>
          <p:cNvPr id="5" name="Graphic 4">
            <a:extLst>
              <a:ext uri="{FF2B5EF4-FFF2-40B4-BE49-F238E27FC236}">
                <a16:creationId xmlns:a16="http://schemas.microsoft.com/office/drawing/2014/main" id="{51BAB843-7088-724C-E33B-5C28CB5B4365}"/>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371725" y="931562"/>
            <a:ext cx="7448550" cy="5592478"/>
          </a:xfrm>
          <a:prstGeom prst="rect">
            <a:avLst/>
          </a:prstGeom>
        </p:spPr>
      </p:pic>
    </p:spTree>
    <p:extLst>
      <p:ext uri="{BB962C8B-B14F-4D97-AF65-F5344CB8AC3E}">
        <p14:creationId xmlns:p14="http://schemas.microsoft.com/office/powerpoint/2010/main" val="1491280028"/>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6EB7BBF-8F98-212E-9B38-36FE45DFCDE5}"/>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10A399D8-64C2-AE55-3A69-840F4E06BC6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199A499A-632D-6A56-C2F5-1855F4F2DC60}"/>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Errors</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54B2CCCD-63B6-C535-4B41-062E4AF9879C}"/>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1EC8CDA-780F-8BB0-B80E-D99CCB76324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2BDBDA4-CB51-BA47-3436-AA41BF9E44C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5BBD68F-B9D8-6300-DB49-7583D7FF6F1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59B3F97-F3C8-481A-6A8A-8F517BC6891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9D2E4EF-9215-4863-9B7F-F8EDB9C571E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7" name="Graphic 6">
            <a:extLst>
              <a:ext uri="{FF2B5EF4-FFF2-40B4-BE49-F238E27FC236}">
                <a16:creationId xmlns:a16="http://schemas.microsoft.com/office/drawing/2014/main" id="{315ED8E6-1A93-6BA4-35DD-15A6BF9A8007}"/>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65100" y="1412985"/>
            <a:ext cx="5848350" cy="4391025"/>
          </a:xfrm>
          <a:prstGeom prst="rect">
            <a:avLst/>
          </a:prstGeom>
        </p:spPr>
      </p:pic>
      <p:pic>
        <p:nvPicPr>
          <p:cNvPr id="9" name="Graphic 8">
            <a:extLst>
              <a:ext uri="{FF2B5EF4-FFF2-40B4-BE49-F238E27FC236}">
                <a16:creationId xmlns:a16="http://schemas.microsoft.com/office/drawing/2014/main" id="{5EDCFAED-D88C-BF40-EBFD-F63257E52099}"/>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6178550" y="1412985"/>
            <a:ext cx="5848350" cy="4391025"/>
          </a:xfrm>
          <a:prstGeom prst="rect">
            <a:avLst/>
          </a:prstGeom>
        </p:spPr>
      </p:pic>
    </p:spTree>
    <p:extLst>
      <p:ext uri="{BB962C8B-B14F-4D97-AF65-F5344CB8AC3E}">
        <p14:creationId xmlns:p14="http://schemas.microsoft.com/office/powerpoint/2010/main" val="199675365"/>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3D56EF7-A6A6-2EEE-0343-809D003BA8F6}"/>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0A269514-6DAD-F5AA-6FFB-B61271607433}"/>
              </a:ext>
            </a:extLst>
          </p:cNvPr>
          <p:cNvSpPr txBox="1">
            <a:spLocks noGrp="1"/>
          </p:cNvSpPr>
          <p:nvPr>
            <p:ph type="body" idx="1"/>
          </p:nvPr>
        </p:nvSpPr>
        <p:spPr>
          <a:xfrm>
            <a:off x="376809" y="1334279"/>
            <a:ext cx="11452008"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b="1" dirty="0">
                <a:latin typeface="+mj-lt"/>
                <a:ea typeface="Cambria Math" panose="02040503050406030204" pitchFamily="18" charset="0"/>
                <a:cs typeface="Arial"/>
                <a:sym typeface="Arial"/>
              </a:rPr>
              <a:t>Encoders</a:t>
            </a:r>
            <a:r>
              <a:rPr lang="en-US" sz="2000" dirty="0">
                <a:latin typeface="+mj-lt"/>
                <a:ea typeface="Cambria Math" panose="02040503050406030204" pitchFamily="18" charset="0"/>
                <a:cs typeface="Arial"/>
                <a:sym typeface="Arial"/>
              </a:rPr>
              <a:t> are good at low speeds and measuring exact distance, but terrible at heading due to wheel slip.</a:t>
            </a:r>
          </a:p>
          <a:p>
            <a:pPr marL="0" indent="0">
              <a:lnSpc>
                <a:spcPct val="100000"/>
              </a:lnSpc>
              <a:spcBef>
                <a:spcPts val="0"/>
              </a:spcBef>
              <a:buSzPts val="3000"/>
              <a:buNone/>
            </a:pPr>
            <a:endParaRPr lang="en-US" sz="2000" dirty="0">
              <a:latin typeface="+mj-lt"/>
              <a:ea typeface="Cambria Math" panose="02040503050406030204" pitchFamily="18" charset="0"/>
              <a:cs typeface="Arial"/>
              <a:sym typeface="Arial"/>
            </a:endParaRPr>
          </a:p>
          <a:p>
            <a:pPr marL="0" indent="0">
              <a:lnSpc>
                <a:spcPct val="100000"/>
              </a:lnSpc>
              <a:spcBef>
                <a:spcPts val="0"/>
              </a:spcBef>
              <a:buSzPts val="3000"/>
              <a:buNone/>
            </a:pPr>
            <a:r>
              <a:rPr lang="en-US" sz="2000" b="1" dirty="0">
                <a:latin typeface="+mj-lt"/>
                <a:ea typeface="Cambria Math" panose="02040503050406030204" pitchFamily="18" charset="0"/>
                <a:cs typeface="Arial"/>
                <a:sym typeface="Arial"/>
              </a:rPr>
              <a:t>Gyroscopes</a:t>
            </a:r>
            <a:r>
              <a:rPr lang="en-US" sz="2000" dirty="0">
                <a:latin typeface="+mj-lt"/>
                <a:ea typeface="Cambria Math" panose="02040503050406030204" pitchFamily="18" charset="0"/>
                <a:cs typeface="Arial"/>
                <a:sym typeface="Arial"/>
              </a:rPr>
              <a:t> are highly accurate for rapid rotations and </a:t>
            </a:r>
            <a:r>
              <a:rPr lang="en-US" sz="2000" b="1" dirty="0">
                <a:latin typeface="+mj-lt"/>
                <a:ea typeface="Cambria Math" panose="02040503050406030204" pitchFamily="18" charset="0"/>
                <a:cs typeface="Arial"/>
                <a:sym typeface="Arial"/>
              </a:rPr>
              <a:t>immune to wheel slip</a:t>
            </a:r>
            <a:r>
              <a:rPr lang="en-US" sz="2000" dirty="0">
                <a:latin typeface="+mj-lt"/>
                <a:ea typeface="Cambria Math" panose="02040503050406030204" pitchFamily="18" charset="0"/>
                <a:cs typeface="Arial"/>
                <a:sym typeface="Arial"/>
              </a:rPr>
              <a:t>, but drift over time due to integrated noise.</a:t>
            </a:r>
          </a:p>
          <a:p>
            <a:pPr marL="0" indent="0">
              <a:lnSpc>
                <a:spcPct val="100000"/>
              </a:lnSpc>
              <a:spcBef>
                <a:spcPts val="0"/>
              </a:spcBef>
              <a:buSzPts val="3000"/>
              <a:buNone/>
            </a:pPr>
            <a:endParaRPr lang="en-US" sz="2000" dirty="0">
              <a:latin typeface="+mj-lt"/>
              <a:ea typeface="Cambria Math" panose="02040503050406030204" pitchFamily="18" charset="0"/>
              <a:cs typeface="Arial"/>
              <a:sym typeface="Arial"/>
            </a:endParaRPr>
          </a:p>
          <a:p>
            <a:pPr marL="0" indent="0">
              <a:lnSpc>
                <a:spcPct val="100000"/>
              </a:lnSpc>
              <a:spcBef>
                <a:spcPts val="0"/>
              </a:spcBef>
              <a:buSzPts val="3000"/>
              <a:buNone/>
            </a:pPr>
            <a:r>
              <a:rPr lang="en-US" sz="2000" dirty="0">
                <a:latin typeface="+mj-lt"/>
                <a:ea typeface="Cambria Math" panose="02040503050406030204" pitchFamily="18" charset="0"/>
                <a:cs typeface="Arial"/>
                <a:sym typeface="Arial"/>
              </a:rPr>
              <a:t>Sensor Fusion is the mathematical process of combining these complementary sensors.</a:t>
            </a:r>
          </a:p>
          <a:p>
            <a:pPr marL="0" indent="0">
              <a:lnSpc>
                <a:spcPct val="100000"/>
              </a:lnSpc>
              <a:spcBef>
                <a:spcPts val="0"/>
              </a:spcBef>
              <a:buSzPts val="3000"/>
              <a:buNone/>
            </a:pPr>
            <a:endParaRPr lang="en-US" sz="2000" dirty="0">
              <a:latin typeface="+mj-lt"/>
              <a:ea typeface="Cambria Math" panose="02040503050406030204" pitchFamily="18" charset="0"/>
              <a:cs typeface="Arial"/>
              <a:sym typeface="Arial"/>
            </a:endParaRPr>
          </a:p>
          <a:p>
            <a:pPr marL="0" indent="0">
              <a:lnSpc>
                <a:spcPct val="100000"/>
              </a:lnSpc>
              <a:spcBef>
                <a:spcPts val="0"/>
              </a:spcBef>
              <a:buSzPts val="3000"/>
              <a:buNone/>
            </a:pPr>
            <a:r>
              <a:rPr lang="en-US" sz="2000" dirty="0">
                <a:latin typeface="+mj-lt"/>
                <a:ea typeface="Cambria Math" panose="02040503050406030204" pitchFamily="18" charset="0"/>
                <a:cs typeface="Arial"/>
                <a:sym typeface="Arial"/>
              </a:rPr>
              <a:t>We use algorithms like Complementary Filters or Kalman Filters to merge the data.</a:t>
            </a:r>
          </a:p>
        </p:txBody>
      </p:sp>
      <p:sp>
        <p:nvSpPr>
          <p:cNvPr id="119" name="Google Shape;119;p29">
            <a:extLst>
              <a:ext uri="{FF2B5EF4-FFF2-40B4-BE49-F238E27FC236}">
                <a16:creationId xmlns:a16="http://schemas.microsoft.com/office/drawing/2014/main" id="{D3E99706-43F5-E2CC-6110-681317CD100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C3A37D41-05DF-EED9-C42F-2D6CCB04BE45}"/>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Errors</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DF5148C3-83FA-3D56-C528-763CF889AB17}"/>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AB08BDAD-B6E3-ABF9-6DC7-443405D7057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E760EB37-479E-38C3-2C5B-4C5A0862544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74E265C-005B-78DB-F324-FBFBF4223ED0}"/>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1559F94-09E0-04AF-0EB1-3385ABF453B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1B3DD9B-DE85-4A97-D002-0876EB133A7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727309850"/>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CDA8285-DC09-1ED3-C502-2D0EE0A78873}"/>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47B62C66-340C-F490-FF7C-9F3B56DFC07F}"/>
                  </a:ext>
                </a:extLst>
              </p:cNvPr>
              <p:cNvSpPr txBox="1">
                <a:spLocks noGrp="1"/>
              </p:cNvSpPr>
              <p:nvPr>
                <p:ph type="body" idx="1"/>
              </p:nvPr>
            </p:nvSpPr>
            <p:spPr>
              <a:xfrm>
                <a:off x="376809" y="1334279"/>
                <a:ext cx="11452008"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mj-lt"/>
                    <a:ea typeface="Cambria Math" panose="02040503050406030204" pitchFamily="18" charset="0"/>
                    <a:cs typeface="Arial"/>
                    <a:sym typeface="Arial"/>
                  </a:rPr>
                  <a:t>Very briefly the Complementary Filter (very simple filter) blends a </a:t>
                </a:r>
                <a:r>
                  <a:rPr lang="en-US" sz="2000" b="1" dirty="0">
                    <a:latin typeface="+mj-lt"/>
                    <a:ea typeface="Cambria Math" panose="02040503050406030204" pitchFamily="18" charset="0"/>
                    <a:cs typeface="Arial"/>
                    <a:sym typeface="Arial"/>
                  </a:rPr>
                  <a:t>high-pass</a:t>
                </a:r>
                <a:r>
                  <a:rPr lang="en-US" sz="2000" dirty="0">
                    <a:latin typeface="+mj-lt"/>
                    <a:ea typeface="Cambria Math" panose="02040503050406030204" pitchFamily="18" charset="0"/>
                    <a:cs typeface="Arial"/>
                    <a:sym typeface="Arial"/>
                  </a:rPr>
                  <a:t> filtered signal and a </a:t>
                </a:r>
                <a:r>
                  <a:rPr lang="en-US" sz="2000" b="1" dirty="0">
                    <a:latin typeface="+mj-lt"/>
                    <a:ea typeface="Cambria Math" panose="02040503050406030204" pitchFamily="18" charset="0"/>
                    <a:cs typeface="Arial"/>
                    <a:sym typeface="Arial"/>
                  </a:rPr>
                  <a:t>low-pass</a:t>
                </a:r>
                <a:r>
                  <a:rPr lang="en-US" sz="2000" dirty="0">
                    <a:latin typeface="+mj-lt"/>
                    <a:ea typeface="Cambria Math" panose="02040503050406030204" pitchFamily="18" charset="0"/>
                    <a:cs typeface="Arial"/>
                    <a:sym typeface="Arial"/>
                  </a:rPr>
                  <a:t> filtered signal. </a:t>
                </a:r>
              </a:p>
              <a:p>
                <a:pPr marL="0" indent="0">
                  <a:lnSpc>
                    <a:spcPct val="100000"/>
                  </a:lnSpc>
                  <a:spcBef>
                    <a:spcPts val="0"/>
                  </a:spcBef>
                  <a:buSzPts val="3000"/>
                  <a:buNone/>
                </a:pPr>
                <a:endParaRPr lang="en-US" sz="2000" dirty="0">
                  <a:latin typeface="+mj-lt"/>
                  <a:ea typeface="Cambria Math" panose="02040503050406030204" pitchFamily="18" charset="0"/>
                  <a:cs typeface="Arial"/>
                  <a:sym typeface="Arial"/>
                </a:endParaRPr>
              </a:p>
              <a:p>
                <a:pPr marL="0" indent="0">
                  <a:lnSpc>
                    <a:spcPct val="100000"/>
                  </a:lnSpc>
                  <a:spcBef>
                    <a:spcPts val="0"/>
                  </a:spcBef>
                  <a:buSzPts val="3000"/>
                  <a:buNone/>
                </a:pPr>
                <a:r>
                  <a:rPr lang="en-US" sz="2000" dirty="0">
                    <a:latin typeface="+mj-lt"/>
                    <a:ea typeface="Cambria Math" panose="02040503050406030204" pitchFamily="18" charset="0"/>
                    <a:cs typeface="Arial"/>
                    <a:sym typeface="Arial"/>
                  </a:rPr>
                  <a:t>For heading, we pass the integrated Gyro data through a </a:t>
                </a:r>
                <a:r>
                  <a:rPr lang="en-US" sz="2000" b="1" dirty="0">
                    <a:latin typeface="+mj-lt"/>
                    <a:ea typeface="Cambria Math" panose="02040503050406030204" pitchFamily="18" charset="0"/>
                    <a:cs typeface="Arial"/>
                    <a:sym typeface="Arial"/>
                  </a:rPr>
                  <a:t>High-Pass</a:t>
                </a:r>
                <a:r>
                  <a:rPr lang="en-US" sz="2000" dirty="0">
                    <a:latin typeface="+mj-lt"/>
                    <a:ea typeface="Cambria Math" panose="02040503050406030204" pitchFamily="18" charset="0"/>
                    <a:cs typeface="Arial"/>
                    <a:sym typeface="Arial"/>
                  </a:rPr>
                  <a:t> filter (trusting it in the short term).</a:t>
                </a:r>
              </a:p>
              <a:p>
                <a:pPr marL="0" indent="0">
                  <a:lnSpc>
                    <a:spcPct val="100000"/>
                  </a:lnSpc>
                  <a:spcBef>
                    <a:spcPts val="0"/>
                  </a:spcBef>
                  <a:buSzPts val="3000"/>
                  <a:buNone/>
                </a:pPr>
                <a:endParaRPr lang="en-US" sz="2000" b="0" dirty="0">
                  <a:latin typeface="+mj-lt"/>
                  <a:ea typeface="Cambria Math" panose="02040503050406030204" pitchFamily="18" charset="0"/>
                  <a:cs typeface="Arial"/>
                  <a:sym typeface="Arial"/>
                </a:endParaRPr>
              </a:p>
              <a:p>
                <a:pPr marL="0" indent="0">
                  <a:lnSpc>
                    <a:spcPct val="100000"/>
                  </a:lnSpc>
                  <a:spcBef>
                    <a:spcPts val="0"/>
                  </a:spcBef>
                  <a:buSzPts val="3000"/>
                  <a:buNone/>
                </a:pPr>
                <a:r>
                  <a:rPr lang="en-US" sz="2000" dirty="0">
                    <a:latin typeface="+mj-lt"/>
                    <a:ea typeface="Cambria Math" panose="02040503050406030204" pitchFamily="18" charset="0"/>
                    <a:cs typeface="Arial"/>
                    <a:sym typeface="Arial"/>
                  </a:rPr>
                  <a:t>We pass an absolute heading measurement (like a Magnetometer, if available) through a </a:t>
                </a:r>
                <a:r>
                  <a:rPr lang="en-US" sz="2000" b="1" dirty="0">
                    <a:latin typeface="+mj-lt"/>
                    <a:ea typeface="Cambria Math" panose="02040503050406030204" pitchFamily="18" charset="0"/>
                    <a:cs typeface="Arial"/>
                    <a:sym typeface="Arial"/>
                  </a:rPr>
                  <a:t>Low-Pass</a:t>
                </a:r>
                <a:r>
                  <a:rPr lang="en-US" sz="2000" dirty="0">
                    <a:latin typeface="+mj-lt"/>
                    <a:ea typeface="Cambria Math" panose="02040503050406030204" pitchFamily="18" charset="0"/>
                    <a:cs typeface="Arial"/>
                    <a:sym typeface="Arial"/>
                  </a:rPr>
                  <a:t> filter (trusting it in the long term).</a:t>
                </a:r>
              </a:p>
              <a:p>
                <a:pPr marL="0" indent="0">
                  <a:lnSpc>
                    <a:spcPct val="100000"/>
                  </a:lnSpc>
                  <a:spcBef>
                    <a:spcPts val="0"/>
                  </a:spcBef>
                  <a:buSzPts val="3000"/>
                  <a:buNone/>
                </a:pPr>
                <a:endParaRPr lang="en-US" sz="2000" b="0" dirty="0">
                  <a:latin typeface="+mj-lt"/>
                  <a:ea typeface="Cambria Math" panose="02040503050406030204" pitchFamily="18" charset="0"/>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000" b="0" i="1" dirty="0" smtClean="0">
                              <a:latin typeface="Cambria Math" panose="02040503050406030204" pitchFamily="18" charset="0"/>
                              <a:ea typeface="Cambria Math" panose="02040503050406030204" pitchFamily="18" charset="0"/>
                              <a:cs typeface="Arial"/>
                              <a:sym typeface="Arial"/>
                            </a:rPr>
                          </m:ctrlPr>
                        </m:sSubPr>
                        <m:e>
                          <m:r>
                            <a:rPr lang="en-US" sz="2000" b="0" i="1" dirty="0" smtClean="0">
                              <a:latin typeface="Cambria Math" panose="02040503050406030204" pitchFamily="18" charset="0"/>
                              <a:ea typeface="Cambria Math" panose="02040503050406030204" pitchFamily="18" charset="0"/>
                              <a:cs typeface="Arial"/>
                              <a:sym typeface="Arial"/>
                            </a:rPr>
                            <m:t>𝜑</m:t>
                          </m:r>
                        </m:e>
                        <m:sub>
                          <m:r>
                            <a:rPr lang="en-US" sz="2000" b="0" i="1" dirty="0" smtClean="0">
                              <a:latin typeface="Cambria Math" panose="02040503050406030204" pitchFamily="18" charset="0"/>
                              <a:ea typeface="Cambria Math" panose="02040503050406030204" pitchFamily="18" charset="0"/>
                              <a:cs typeface="Arial"/>
                              <a:sym typeface="Arial"/>
                            </a:rPr>
                            <m:t>𝑓𝑢𝑠𝑒𝑑</m:t>
                          </m:r>
                        </m:sub>
                      </m:sSub>
                      <m:r>
                        <a:rPr lang="en-US" sz="2000" b="0" i="1" dirty="0" smtClean="0">
                          <a:latin typeface="Cambria Math" panose="02040503050406030204" pitchFamily="18" charset="0"/>
                          <a:ea typeface="Cambria Math" panose="02040503050406030204" pitchFamily="18" charset="0"/>
                          <a:cs typeface="Arial"/>
                          <a:sym typeface="Arial"/>
                        </a:rPr>
                        <m:t>=</m:t>
                      </m:r>
                      <m:r>
                        <a:rPr lang="en-US" sz="2000" b="0" i="1" dirty="0" smtClean="0">
                          <a:latin typeface="Cambria Math" panose="02040503050406030204" pitchFamily="18" charset="0"/>
                          <a:ea typeface="Cambria Math" panose="02040503050406030204" pitchFamily="18" charset="0"/>
                          <a:cs typeface="Arial"/>
                          <a:sym typeface="Arial"/>
                        </a:rPr>
                        <m:t>𝛼</m:t>
                      </m:r>
                      <m:d>
                        <m:dPr>
                          <m:ctrlPr>
                            <a:rPr lang="en-US" sz="2000" b="0" i="1" dirty="0" smtClean="0">
                              <a:latin typeface="Cambria Math" panose="02040503050406030204" pitchFamily="18" charset="0"/>
                              <a:ea typeface="Cambria Math" panose="02040503050406030204" pitchFamily="18" charset="0"/>
                              <a:cs typeface="Arial"/>
                              <a:sym typeface="Arial"/>
                            </a:rPr>
                          </m:ctrlPr>
                        </m:dPr>
                        <m:e>
                          <m:sSub>
                            <m:sSubPr>
                              <m:ctrlPr>
                                <a:rPr lang="en-US" sz="2000" b="0" i="1" dirty="0" smtClean="0">
                                  <a:latin typeface="Cambria Math" panose="02040503050406030204" pitchFamily="18" charset="0"/>
                                  <a:ea typeface="Cambria Math" panose="02040503050406030204" pitchFamily="18" charset="0"/>
                                  <a:cs typeface="Arial"/>
                                  <a:sym typeface="Arial"/>
                                </a:rPr>
                              </m:ctrlPr>
                            </m:sSubPr>
                            <m:e>
                              <m:r>
                                <a:rPr lang="en-US" sz="2000" b="0" i="1" dirty="0" smtClean="0">
                                  <a:latin typeface="Cambria Math" panose="02040503050406030204" pitchFamily="18" charset="0"/>
                                  <a:ea typeface="Cambria Math" panose="02040503050406030204" pitchFamily="18" charset="0"/>
                                  <a:cs typeface="Arial"/>
                                  <a:sym typeface="Arial"/>
                                </a:rPr>
                                <m:t>𝜑</m:t>
                              </m:r>
                            </m:e>
                            <m:sub>
                              <m:r>
                                <a:rPr lang="en-US" sz="2000" b="0" i="1" dirty="0" smtClean="0">
                                  <a:latin typeface="Cambria Math" panose="02040503050406030204" pitchFamily="18" charset="0"/>
                                  <a:ea typeface="Cambria Math" panose="02040503050406030204" pitchFamily="18" charset="0"/>
                                  <a:cs typeface="Arial"/>
                                  <a:sym typeface="Arial"/>
                                </a:rPr>
                                <m:t>𝑓𝑢𝑠𝑒𝑑</m:t>
                              </m:r>
                            </m:sub>
                          </m:sSub>
                          <m:r>
                            <a:rPr lang="en-US" sz="2000" b="0" i="1" dirty="0" smtClean="0">
                              <a:latin typeface="Cambria Math" panose="02040503050406030204" pitchFamily="18" charset="0"/>
                              <a:ea typeface="Cambria Math" panose="02040503050406030204" pitchFamily="18" charset="0"/>
                              <a:cs typeface="Arial"/>
                              <a:sym typeface="Arial"/>
                            </a:rPr>
                            <m:t>+</m:t>
                          </m:r>
                          <m:sSub>
                            <m:sSubPr>
                              <m:ctrlPr>
                                <a:rPr lang="en-US" sz="2000" b="0" i="1" dirty="0" smtClean="0">
                                  <a:latin typeface="Cambria Math" panose="02040503050406030204" pitchFamily="18" charset="0"/>
                                  <a:ea typeface="Cambria Math" panose="02040503050406030204" pitchFamily="18" charset="0"/>
                                  <a:cs typeface="Arial"/>
                                  <a:sym typeface="Arial"/>
                                </a:rPr>
                              </m:ctrlPr>
                            </m:sSubPr>
                            <m:e>
                              <m:r>
                                <a:rPr lang="en-US" sz="2000" b="0" i="1" dirty="0" smtClean="0">
                                  <a:latin typeface="Cambria Math" panose="02040503050406030204" pitchFamily="18" charset="0"/>
                                  <a:ea typeface="Cambria Math" panose="02040503050406030204" pitchFamily="18" charset="0"/>
                                  <a:cs typeface="Arial"/>
                                  <a:sym typeface="Arial"/>
                                </a:rPr>
                                <m:t>𝜔</m:t>
                              </m:r>
                            </m:e>
                            <m:sub>
                              <m:r>
                                <a:rPr lang="en-US" sz="2000" b="0" i="1" dirty="0" smtClean="0">
                                  <a:latin typeface="Cambria Math" panose="02040503050406030204" pitchFamily="18" charset="0"/>
                                  <a:ea typeface="Cambria Math" panose="02040503050406030204" pitchFamily="18" charset="0"/>
                                  <a:cs typeface="Arial"/>
                                  <a:sym typeface="Arial"/>
                                </a:rPr>
                                <m:t>𝑔𝑦𝑟𝑜</m:t>
                              </m:r>
                            </m:sub>
                          </m:sSub>
                          <m:r>
                            <m:rPr>
                              <m:sty m:val="p"/>
                            </m:rPr>
                            <a:rPr lang="en-US" sz="2000" b="0" i="0" dirty="0" smtClean="0">
                              <a:latin typeface="Cambria Math" panose="02040503050406030204" pitchFamily="18" charset="0"/>
                              <a:ea typeface="Cambria Math" panose="02040503050406030204" pitchFamily="18" charset="0"/>
                              <a:cs typeface="Arial"/>
                              <a:sym typeface="Arial"/>
                            </a:rPr>
                            <m:t>Δ</m:t>
                          </m:r>
                          <m:r>
                            <a:rPr lang="en-US" sz="2000" b="0" i="1" dirty="0" smtClean="0">
                              <a:latin typeface="Cambria Math" panose="02040503050406030204" pitchFamily="18" charset="0"/>
                              <a:ea typeface="Cambria Math" panose="02040503050406030204" pitchFamily="18" charset="0"/>
                              <a:cs typeface="Arial"/>
                              <a:sym typeface="Arial"/>
                            </a:rPr>
                            <m:t>𝑡</m:t>
                          </m:r>
                        </m:e>
                      </m:d>
                      <m:r>
                        <a:rPr lang="en-US" sz="2000" b="0" i="1" dirty="0" smtClean="0">
                          <a:latin typeface="Cambria Math" panose="02040503050406030204" pitchFamily="18" charset="0"/>
                          <a:ea typeface="Cambria Math" panose="02040503050406030204" pitchFamily="18" charset="0"/>
                          <a:cs typeface="Arial"/>
                          <a:sym typeface="Arial"/>
                        </a:rPr>
                        <m:t>+</m:t>
                      </m:r>
                      <m:d>
                        <m:dPr>
                          <m:ctrlPr>
                            <a:rPr lang="en-US" sz="2000" b="0" i="1" dirty="0" smtClean="0">
                              <a:latin typeface="Cambria Math" panose="02040503050406030204" pitchFamily="18" charset="0"/>
                              <a:ea typeface="Cambria Math" panose="02040503050406030204" pitchFamily="18" charset="0"/>
                              <a:cs typeface="Arial"/>
                              <a:sym typeface="Arial"/>
                            </a:rPr>
                          </m:ctrlPr>
                        </m:dPr>
                        <m:e>
                          <m:r>
                            <a:rPr lang="en-US" sz="2000" b="0" i="1" dirty="0" smtClean="0">
                              <a:latin typeface="Cambria Math" panose="02040503050406030204" pitchFamily="18" charset="0"/>
                              <a:ea typeface="Cambria Math" panose="02040503050406030204" pitchFamily="18" charset="0"/>
                              <a:cs typeface="Arial"/>
                              <a:sym typeface="Arial"/>
                            </a:rPr>
                            <m:t>1−</m:t>
                          </m:r>
                          <m:r>
                            <a:rPr lang="en-US" sz="2000" b="0" i="1" dirty="0" smtClean="0">
                              <a:latin typeface="Cambria Math" panose="02040503050406030204" pitchFamily="18" charset="0"/>
                              <a:ea typeface="Cambria Math" panose="02040503050406030204" pitchFamily="18" charset="0"/>
                              <a:cs typeface="Arial"/>
                              <a:sym typeface="Arial"/>
                            </a:rPr>
                            <m:t>𝛼</m:t>
                          </m:r>
                        </m:e>
                      </m:d>
                      <m:d>
                        <m:dPr>
                          <m:ctrlPr>
                            <a:rPr lang="en-US" sz="2000" b="0" i="1" dirty="0" smtClean="0">
                              <a:latin typeface="Cambria Math" panose="02040503050406030204" pitchFamily="18" charset="0"/>
                              <a:ea typeface="Cambria Math" panose="02040503050406030204" pitchFamily="18" charset="0"/>
                              <a:cs typeface="Arial"/>
                              <a:sym typeface="Arial"/>
                            </a:rPr>
                          </m:ctrlPr>
                        </m:dPr>
                        <m:e>
                          <m:sSub>
                            <m:sSubPr>
                              <m:ctrlPr>
                                <a:rPr lang="en-US" sz="2000" b="0" i="1" dirty="0" smtClean="0">
                                  <a:latin typeface="Cambria Math" panose="02040503050406030204" pitchFamily="18" charset="0"/>
                                  <a:ea typeface="Cambria Math" panose="02040503050406030204" pitchFamily="18" charset="0"/>
                                  <a:cs typeface="Arial"/>
                                  <a:sym typeface="Arial"/>
                                </a:rPr>
                              </m:ctrlPr>
                            </m:sSubPr>
                            <m:e>
                              <m:r>
                                <a:rPr lang="en-US" sz="2000" b="0" i="1" dirty="0" smtClean="0">
                                  <a:latin typeface="Cambria Math" panose="02040503050406030204" pitchFamily="18" charset="0"/>
                                  <a:ea typeface="Cambria Math" panose="02040503050406030204" pitchFamily="18" charset="0"/>
                                  <a:cs typeface="Arial"/>
                                  <a:sym typeface="Arial"/>
                                </a:rPr>
                                <m:t>𝜑</m:t>
                              </m:r>
                            </m:e>
                            <m:sub>
                              <m:r>
                                <a:rPr lang="en-US" sz="2000" b="0" i="1" dirty="0" smtClean="0">
                                  <a:latin typeface="Cambria Math" panose="02040503050406030204" pitchFamily="18" charset="0"/>
                                  <a:ea typeface="Cambria Math" panose="02040503050406030204" pitchFamily="18" charset="0"/>
                                  <a:cs typeface="Arial"/>
                                  <a:sym typeface="Arial"/>
                                </a:rPr>
                                <m:t>𝑚𝑎𝑔</m:t>
                              </m:r>
                            </m:sub>
                          </m:sSub>
                        </m:e>
                      </m:d>
                    </m:oMath>
                  </m:oMathPara>
                </a14:m>
                <a:endParaRPr lang="en-US" sz="2000" dirty="0">
                  <a:latin typeface="+mj-lt"/>
                  <a:ea typeface="Cambria Math" panose="02040503050406030204" pitchFamily="18" charset="0"/>
                  <a:cs typeface="Arial"/>
                  <a:sym typeface="Arial"/>
                </a:endParaRPr>
              </a:p>
              <a:p>
                <a:pPr marL="0" indent="0">
                  <a:lnSpc>
                    <a:spcPct val="100000"/>
                  </a:lnSpc>
                  <a:spcBef>
                    <a:spcPts val="0"/>
                  </a:spcBef>
                  <a:buSzPts val="3000"/>
                  <a:buNone/>
                </a:pPr>
                <a:endParaRPr lang="en-US" sz="2000" dirty="0">
                  <a:latin typeface="+mj-lt"/>
                  <a:ea typeface="Cambria Math" panose="02040503050406030204" pitchFamily="18" charset="0"/>
                  <a:cs typeface="Arial"/>
                  <a:sym typeface="Arial"/>
                </a:endParaRPr>
              </a:p>
              <a:p>
                <a:pPr marL="0" indent="0">
                  <a:lnSpc>
                    <a:spcPct val="100000"/>
                  </a:lnSpc>
                  <a:spcBef>
                    <a:spcPts val="0"/>
                  </a:spcBef>
                  <a:buSzPts val="3000"/>
                  <a:buNone/>
                </a:pPr>
                <a:r>
                  <a:rPr lang="en-US" sz="2000" b="0" dirty="0">
                    <a:latin typeface="+mj-lt"/>
                    <a:ea typeface="Cambria Math" panose="02040503050406030204" pitchFamily="18" charset="0"/>
                    <a:cs typeface="Arial"/>
                    <a:sym typeface="Arial"/>
                  </a:rPr>
                  <a:t>Where </a:t>
                </a:r>
                <a14:m>
                  <m:oMath xmlns:m="http://schemas.openxmlformats.org/officeDocument/2006/math">
                    <m:r>
                      <a:rPr lang="en-US" sz="2000" i="1" dirty="0">
                        <a:latin typeface="Cambria Math" panose="02040503050406030204" pitchFamily="18" charset="0"/>
                        <a:ea typeface="Cambria Math" panose="02040503050406030204" pitchFamily="18" charset="0"/>
                        <a:cs typeface="Arial"/>
                        <a:sym typeface="Arial"/>
                      </a:rPr>
                      <m:t>𝛼</m:t>
                    </m:r>
                  </m:oMath>
                </a14:m>
                <a:r>
                  <a:rPr lang="en-US" sz="2000" b="0" dirty="0">
                    <a:latin typeface="+mj-lt"/>
                    <a:ea typeface="Cambria Math" panose="02040503050406030204" pitchFamily="18" charset="0"/>
                    <a:cs typeface="Arial"/>
                    <a:sym typeface="Arial"/>
                  </a:rPr>
                  <a:t> is a tuning constant close to 1 (e.g., 0.98).</a:t>
                </a:r>
              </a:p>
              <a:p>
                <a:pPr marL="0" indent="0">
                  <a:lnSpc>
                    <a:spcPct val="100000"/>
                  </a:lnSpc>
                  <a:spcBef>
                    <a:spcPts val="0"/>
                  </a:spcBef>
                  <a:buSzPts val="3000"/>
                  <a:buNone/>
                </a:pPr>
                <a:endParaRPr lang="en-US" sz="2000" dirty="0">
                  <a:latin typeface="+mj-lt"/>
                  <a:ea typeface="Cambria Math" panose="02040503050406030204" pitchFamily="18" charset="0"/>
                  <a:cs typeface="Arial"/>
                  <a:sym typeface="Arial"/>
                </a:endParaRPr>
              </a:p>
              <a:p>
                <a:pPr marL="0" indent="0">
                  <a:lnSpc>
                    <a:spcPct val="100000"/>
                  </a:lnSpc>
                  <a:spcBef>
                    <a:spcPts val="0"/>
                  </a:spcBef>
                  <a:buSzPts val="3000"/>
                  <a:buNone/>
                </a:pPr>
                <a:r>
                  <a:rPr lang="en-US" sz="2000" b="0" dirty="0">
                    <a:latin typeface="+mj-lt"/>
                    <a:ea typeface="Cambria Math" panose="02040503050406030204" pitchFamily="18" charset="0"/>
                    <a:cs typeface="Arial"/>
                    <a:sym typeface="Arial"/>
                  </a:rPr>
                  <a:t>This is essential an </a:t>
                </a:r>
                <a:r>
                  <a:rPr lang="en-US" sz="2000" b="1" dirty="0">
                    <a:latin typeface="+mj-lt"/>
                    <a:ea typeface="Cambria Math" panose="02040503050406030204" pitchFamily="18" charset="0"/>
                    <a:cs typeface="Arial"/>
                    <a:sym typeface="Arial"/>
                  </a:rPr>
                  <a:t>exponential moving average</a:t>
                </a:r>
                <a:r>
                  <a:rPr lang="en-US" sz="2000" b="0" dirty="0">
                    <a:latin typeface="+mj-lt"/>
                    <a:ea typeface="Cambria Math" panose="02040503050406030204" pitchFamily="18" charset="0"/>
                    <a:cs typeface="Arial"/>
                    <a:sym typeface="Arial"/>
                  </a:rPr>
                  <a:t>,</a:t>
                </a:r>
              </a:p>
            </p:txBody>
          </p:sp>
        </mc:Choice>
        <mc:Fallback xmlns="">
          <p:sp>
            <p:nvSpPr>
              <p:cNvPr id="118" name="Google Shape;118;p29">
                <a:extLst>
                  <a:ext uri="{FF2B5EF4-FFF2-40B4-BE49-F238E27FC236}">
                    <a16:creationId xmlns:a16="http://schemas.microsoft.com/office/drawing/2014/main" id="{47B62C66-340C-F490-FF7C-9F3B56DFC07F}"/>
                  </a:ext>
                </a:extLst>
              </p:cNvPr>
              <p:cNvSpPr txBox="1">
                <a:spLocks noGrp="1" noRot="1" noChangeAspect="1" noMove="1" noResize="1" noEditPoints="1" noAdjustHandles="1" noChangeArrowheads="1" noChangeShapeType="1" noTextEdit="1"/>
              </p:cNvSpPr>
              <p:nvPr>
                <p:ph type="body" idx="1"/>
              </p:nvPr>
            </p:nvSpPr>
            <p:spPr>
              <a:xfrm>
                <a:off x="376809" y="1334279"/>
                <a:ext cx="11452008" cy="4821102"/>
              </a:xfrm>
              <a:prstGeom prst="rect">
                <a:avLst/>
              </a:prstGeom>
              <a:blipFill>
                <a:blip r:embed="rId3"/>
                <a:stretch>
                  <a:fillRect l="-586" t="-632" r="-373"/>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14B87A26-8095-AF99-227F-510FB5C3BA6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6EE31207-2716-447E-2BA9-E1B9A7D251C1}"/>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Errors</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042A9982-05DB-6F73-B8EC-D09B27E42C88}"/>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C99DEF0-5402-0DB2-7D7A-3DBD5AFDE8C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1AF00F84-60E9-B614-EAC2-ED2315745D6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CC4F01B-EC53-802F-C922-49E25B44062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F0412205-CE9E-29CB-0CEC-BF3D44E9087E}"/>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3A177C12-A39B-4531-DC7D-AED77A785DB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70608133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38.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0F40AAD7-3C70-0239-BE97-EF6B1AEBBC16}"/>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B381550B-E51B-39E7-AB68-DF10E73EB82D}"/>
              </a:ext>
            </a:extLst>
          </p:cNvPr>
          <p:cNvSpPr txBox="1"/>
          <p:nvPr/>
        </p:nvSpPr>
        <p:spPr>
          <a:xfrm>
            <a:off x="1295400" y="2948490"/>
            <a:ext cx="9601200" cy="1338788"/>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rial"/>
                <a:ea typeface="Arial"/>
                <a:cs typeface="Arial"/>
                <a:sym typeface="Arial"/>
              </a:rPr>
              <a:t>SLAM</a:t>
            </a:r>
            <a:endParaRPr dirty="0"/>
          </a:p>
          <a:p>
            <a:pPr marL="0" marR="0" lvl="0" indent="0" algn="ctr" rtl="0">
              <a:lnSpc>
                <a:spcPct val="100000"/>
              </a:lnSpc>
              <a:spcBef>
                <a:spcPts val="0"/>
              </a:spcBef>
              <a:spcAft>
                <a:spcPts val="0"/>
              </a:spcAft>
              <a:buClr>
                <a:srgbClr val="000000"/>
              </a:buClr>
              <a:buSzPts val="1800"/>
              <a:buFont typeface="Arial"/>
              <a:buNone/>
            </a:pPr>
            <a:endParaRPr sz="1800" b="1" i="0" u="none" strike="noStrike" cap="none" dirty="0">
              <a:solidFill>
                <a:srgbClr val="15264B"/>
              </a:solidFill>
              <a:latin typeface="Arial"/>
              <a:ea typeface="Arial"/>
              <a:cs typeface="Arial"/>
              <a:sym typeface="Arial"/>
            </a:endParaRPr>
          </a:p>
          <a:p>
            <a:pPr marL="0" marR="0" lvl="0" indent="0" algn="ctr" rtl="0">
              <a:lnSpc>
                <a:spcPct val="100000"/>
              </a:lnSpc>
              <a:spcBef>
                <a:spcPts val="0"/>
              </a:spcBef>
              <a:spcAft>
                <a:spcPts val="0"/>
              </a:spcAft>
              <a:buNone/>
            </a:pPr>
            <a:r>
              <a:rPr lang="en-US" sz="1800" b="0" i="0" u="none" strike="noStrike" cap="none" dirty="0">
                <a:solidFill>
                  <a:srgbClr val="15264B"/>
                </a:solidFill>
                <a:latin typeface="Arial"/>
                <a:ea typeface="Arial"/>
                <a:cs typeface="Arial"/>
                <a:sym typeface="Arial"/>
              </a:rPr>
              <a:t>(A VERY brief introduction.)</a:t>
            </a:r>
            <a:endParaRPr sz="1800" b="0" i="0" u="none" strike="noStrike" cap="none" dirty="0">
              <a:solidFill>
                <a:srgbClr val="15264B"/>
              </a:solidFill>
              <a:latin typeface="Arial"/>
              <a:ea typeface="Arial"/>
              <a:cs typeface="Arial"/>
              <a:sym typeface="Arial"/>
            </a:endParaRPr>
          </a:p>
        </p:txBody>
      </p:sp>
      <p:grpSp>
        <p:nvGrpSpPr>
          <p:cNvPr id="105" name="Google Shape;105;p28">
            <a:extLst>
              <a:ext uri="{FF2B5EF4-FFF2-40B4-BE49-F238E27FC236}">
                <a16:creationId xmlns:a16="http://schemas.microsoft.com/office/drawing/2014/main" id="{886C8F2C-3094-70B9-E5B7-0A254DCCDB7B}"/>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049ED9E9-3E25-C0E2-CB1B-3FCF0628DC3A}"/>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344D8AC0-C32F-A041-B910-965B57F18239}"/>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FF2B5EF4-FFF2-40B4-BE49-F238E27FC236}">
                <a16:creationId xmlns:a16="http://schemas.microsoft.com/office/drawing/2014/main" id="{A6DDEACD-1773-6FF9-7690-1230679E5BC2}"/>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E4695ABA-95A9-C78B-810A-C68E4452EC7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A2926152-23DF-12CF-E52B-4C5D5F6CA9C2}"/>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3C32CFBC-7B48-C0B6-0953-B829AB823F69}"/>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0CD90CE1-8CF2-827A-46DE-1DE9B00D244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371DF5EA-F26C-A777-C778-5B0F0DF4A3A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2448917208"/>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0EB45AC-EA78-3764-0C90-46082F038F41}"/>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E72CD263-623E-E1DA-AC7D-BD304FCD99FC}"/>
              </a:ext>
            </a:extLst>
          </p:cNvPr>
          <p:cNvSpPr txBox="1">
            <a:spLocks noGrp="1"/>
          </p:cNvSpPr>
          <p:nvPr>
            <p:ph type="body" idx="1"/>
          </p:nvPr>
        </p:nvSpPr>
        <p:spPr>
          <a:xfrm>
            <a:off x="376809" y="1334279"/>
            <a:ext cx="11452008"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mj-lt"/>
                <a:ea typeface="Cambria Math" panose="02040503050406030204" pitchFamily="18" charset="0"/>
                <a:cs typeface="Arial"/>
                <a:sym typeface="Arial"/>
              </a:rPr>
              <a:t>Even with perfect sensor fusion of internal sensors, drift will eventually occur.</a:t>
            </a:r>
          </a:p>
          <a:p>
            <a:pPr marL="0" indent="0">
              <a:lnSpc>
                <a:spcPct val="100000"/>
              </a:lnSpc>
              <a:spcBef>
                <a:spcPts val="0"/>
              </a:spcBef>
              <a:buSzPts val="3000"/>
              <a:buNone/>
            </a:pPr>
            <a:endParaRPr lang="en-US" sz="2000" dirty="0">
              <a:latin typeface="+mj-lt"/>
              <a:ea typeface="Cambria Math" panose="02040503050406030204" pitchFamily="18" charset="0"/>
              <a:cs typeface="Arial"/>
              <a:sym typeface="Arial"/>
            </a:endParaRPr>
          </a:p>
          <a:p>
            <a:pPr marL="0" indent="0">
              <a:lnSpc>
                <a:spcPct val="100000"/>
              </a:lnSpc>
              <a:spcBef>
                <a:spcPts val="0"/>
              </a:spcBef>
              <a:buSzPts val="3000"/>
              <a:buNone/>
            </a:pPr>
            <a:r>
              <a:rPr lang="en-US" sz="2000" dirty="0">
                <a:latin typeface="+mj-lt"/>
                <a:ea typeface="Cambria Math" panose="02040503050406030204" pitchFamily="18" charset="0"/>
                <a:cs typeface="Arial"/>
                <a:sym typeface="Arial"/>
              </a:rPr>
              <a:t>To truly fix our global position, we must look at the external world using active or passive sensors.</a:t>
            </a:r>
          </a:p>
          <a:p>
            <a:pPr marL="0" indent="0">
              <a:lnSpc>
                <a:spcPct val="100000"/>
              </a:lnSpc>
              <a:spcBef>
                <a:spcPts val="0"/>
              </a:spcBef>
              <a:buSzPts val="3000"/>
              <a:buNone/>
            </a:pPr>
            <a:endParaRPr lang="en-US" sz="2000" dirty="0">
              <a:latin typeface="+mj-lt"/>
              <a:ea typeface="Cambria Math" panose="02040503050406030204" pitchFamily="18" charset="0"/>
              <a:cs typeface="Arial"/>
              <a:sym typeface="Arial"/>
            </a:endParaRPr>
          </a:p>
          <a:p>
            <a:pPr marL="0" indent="0">
              <a:lnSpc>
                <a:spcPct val="100000"/>
              </a:lnSpc>
              <a:spcBef>
                <a:spcPts val="0"/>
              </a:spcBef>
              <a:buSzPts val="3000"/>
              <a:buNone/>
            </a:pPr>
            <a:r>
              <a:rPr lang="en-US" sz="2000" dirty="0">
                <a:latin typeface="+mj-lt"/>
                <a:ea typeface="Cambria Math" panose="02040503050406030204" pitchFamily="18" charset="0"/>
                <a:cs typeface="Arial"/>
                <a:sym typeface="Arial"/>
              </a:rPr>
              <a:t>We detect </a:t>
            </a:r>
            <a:r>
              <a:rPr lang="en-US" sz="2000" b="1" dirty="0">
                <a:latin typeface="+mj-lt"/>
                <a:ea typeface="Cambria Math" panose="02040503050406030204" pitchFamily="18" charset="0"/>
                <a:cs typeface="Arial"/>
                <a:sym typeface="Arial"/>
              </a:rPr>
              <a:t>Landmarks</a:t>
            </a:r>
            <a:r>
              <a:rPr lang="en-US" sz="2000" dirty="0">
                <a:latin typeface="+mj-lt"/>
                <a:ea typeface="Cambria Math" panose="02040503050406030204" pitchFamily="18" charset="0"/>
                <a:cs typeface="Arial"/>
                <a:sym typeface="Arial"/>
              </a:rPr>
              <a:t>: recognizable, distinct features in the environment with known coordinates.</a:t>
            </a:r>
          </a:p>
          <a:p>
            <a:pPr marL="0" indent="0">
              <a:lnSpc>
                <a:spcPct val="100000"/>
              </a:lnSpc>
              <a:spcBef>
                <a:spcPts val="0"/>
              </a:spcBef>
              <a:buSzPts val="3000"/>
              <a:buNone/>
            </a:pPr>
            <a:endParaRPr lang="en-US" sz="2000" dirty="0">
              <a:latin typeface="+mj-lt"/>
              <a:ea typeface="Cambria Math" panose="02040503050406030204" pitchFamily="18" charset="0"/>
              <a:cs typeface="Arial"/>
              <a:sym typeface="Arial"/>
            </a:endParaRPr>
          </a:p>
          <a:p>
            <a:pPr marL="0" indent="0">
              <a:lnSpc>
                <a:spcPct val="100000"/>
              </a:lnSpc>
              <a:spcBef>
                <a:spcPts val="0"/>
              </a:spcBef>
              <a:buSzPts val="3000"/>
              <a:buNone/>
            </a:pPr>
            <a:r>
              <a:rPr lang="en-US" sz="2000" dirty="0">
                <a:latin typeface="+mj-lt"/>
                <a:ea typeface="Cambria Math" panose="02040503050406030204" pitchFamily="18" charset="0"/>
                <a:cs typeface="Arial"/>
                <a:sym typeface="Arial"/>
              </a:rPr>
              <a:t>When we see a landmark, we calculate our relative distance to it and use that to instantly reset our accumulated odometry error.</a:t>
            </a:r>
          </a:p>
          <a:p>
            <a:pPr marL="0" indent="0">
              <a:lnSpc>
                <a:spcPct val="100000"/>
              </a:lnSpc>
              <a:spcBef>
                <a:spcPts val="0"/>
              </a:spcBef>
              <a:buSzPts val="3000"/>
              <a:buNone/>
            </a:pPr>
            <a:endParaRPr lang="en-US" sz="2000" dirty="0">
              <a:latin typeface="+mj-lt"/>
              <a:ea typeface="Cambria Math" panose="02040503050406030204" pitchFamily="18" charset="0"/>
              <a:cs typeface="Arial"/>
              <a:sym typeface="Arial"/>
            </a:endParaRPr>
          </a:p>
          <a:p>
            <a:pPr marL="0" indent="0">
              <a:lnSpc>
                <a:spcPct val="100000"/>
              </a:lnSpc>
              <a:spcBef>
                <a:spcPts val="0"/>
              </a:spcBef>
              <a:buSzPts val="3000"/>
              <a:buNone/>
            </a:pPr>
            <a:r>
              <a:rPr lang="en-US" sz="2000" dirty="0">
                <a:latin typeface="+mj-lt"/>
                <a:ea typeface="Cambria Math" panose="02040503050406030204" pitchFamily="18" charset="0"/>
                <a:cs typeface="Arial"/>
                <a:sym typeface="Arial"/>
              </a:rPr>
              <a:t>When you are driving / walking and you are lost what are some landmarks that you use to relocate yourself?</a:t>
            </a:r>
          </a:p>
          <a:p>
            <a:pPr marL="0" indent="0">
              <a:lnSpc>
                <a:spcPct val="100000"/>
              </a:lnSpc>
              <a:spcBef>
                <a:spcPts val="0"/>
              </a:spcBef>
              <a:buSzPts val="3000"/>
              <a:buNone/>
            </a:pPr>
            <a:endParaRPr lang="en-US" sz="2000" dirty="0">
              <a:latin typeface="+mj-lt"/>
              <a:ea typeface="Cambria Math" panose="02040503050406030204" pitchFamily="18" charset="0"/>
              <a:cs typeface="Arial"/>
              <a:sym typeface="Arial"/>
            </a:endParaRPr>
          </a:p>
          <a:p>
            <a:pPr marL="0" indent="0">
              <a:lnSpc>
                <a:spcPct val="100000"/>
              </a:lnSpc>
              <a:spcBef>
                <a:spcPts val="0"/>
              </a:spcBef>
              <a:buSzPts val="3000"/>
              <a:buNone/>
            </a:pPr>
            <a:r>
              <a:rPr lang="en-US" sz="2000" dirty="0">
                <a:latin typeface="+mj-lt"/>
                <a:ea typeface="Cambria Math" panose="02040503050406030204" pitchFamily="18" charset="0"/>
                <a:cs typeface="Arial"/>
                <a:sym typeface="Arial"/>
              </a:rPr>
              <a:t>Examples:</a:t>
            </a:r>
          </a:p>
          <a:p>
            <a:pPr marL="342900">
              <a:lnSpc>
                <a:spcPct val="100000"/>
              </a:lnSpc>
              <a:spcBef>
                <a:spcPts val="0"/>
              </a:spcBef>
              <a:buSzPts val="3000"/>
            </a:pPr>
            <a:r>
              <a:rPr lang="en-US" sz="2000" dirty="0">
                <a:latin typeface="+mj-lt"/>
                <a:ea typeface="Cambria Math" panose="02040503050406030204" pitchFamily="18" charset="0"/>
                <a:cs typeface="Arial"/>
                <a:sym typeface="Arial"/>
              </a:rPr>
              <a:t>Specific buildings</a:t>
            </a:r>
          </a:p>
          <a:p>
            <a:pPr marL="342900">
              <a:lnSpc>
                <a:spcPct val="100000"/>
              </a:lnSpc>
              <a:spcBef>
                <a:spcPts val="0"/>
              </a:spcBef>
              <a:buSzPts val="3000"/>
            </a:pPr>
            <a:r>
              <a:rPr lang="en-US" sz="2000" dirty="0">
                <a:latin typeface="+mj-lt"/>
                <a:ea typeface="Cambria Math" panose="02040503050406030204" pitchFamily="18" charset="0"/>
                <a:cs typeface="Arial"/>
                <a:sym typeface="Arial"/>
              </a:rPr>
              <a:t>Specific road names</a:t>
            </a:r>
          </a:p>
        </p:txBody>
      </p:sp>
      <p:sp>
        <p:nvSpPr>
          <p:cNvPr id="119" name="Google Shape;119;p29">
            <a:extLst>
              <a:ext uri="{FF2B5EF4-FFF2-40B4-BE49-F238E27FC236}">
                <a16:creationId xmlns:a16="http://schemas.microsoft.com/office/drawing/2014/main" id="{37B0DD54-FC64-0F3B-F71B-8C1058204A5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34D2AB1D-5CF6-B189-3F48-52DE03AEB19A}"/>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SLAM</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957EE7A8-1B97-72AC-E06B-2EBD3A60E649}"/>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07044C4-B1F4-C675-0908-CB705CD61D7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63C3E96-5D03-CF53-7CB2-38025197893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0CCF6D3-45A9-68B5-8CDD-17CA1675D7E7}"/>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F12EA43F-98B8-E675-26FE-19217803E89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17A9E4EA-919D-2DE5-13C6-78E390C5841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14834762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10" end="1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18">
                                            <p:txEl>
                                              <p:pRg st="11" end="11"/>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18">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F2C20967-0045-E533-F966-4754683C97A8}"/>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6513AC27-5103-E9B7-BB43-E214728B8C75}"/>
              </a:ext>
            </a:extLst>
          </p:cNvPr>
          <p:cNvSpPr txBox="1">
            <a:spLocks noGrp="1"/>
          </p:cNvSpPr>
          <p:nvPr>
            <p:ph type="body" idx="1"/>
          </p:nvPr>
        </p:nvSpPr>
        <p:spPr>
          <a:xfrm>
            <a:off x="376809" y="1334279"/>
            <a:ext cx="11452008"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mj-lt"/>
                <a:ea typeface="Cambria Math" panose="02040503050406030204" pitchFamily="18" charset="0"/>
                <a:cs typeface="Arial"/>
                <a:sym typeface="Arial"/>
              </a:rPr>
              <a:t>The 2 sensors that we can use in our robot is the LiDAR and the camera.</a:t>
            </a:r>
          </a:p>
          <a:p>
            <a:pPr marL="0" indent="0">
              <a:lnSpc>
                <a:spcPct val="100000"/>
              </a:lnSpc>
              <a:spcBef>
                <a:spcPts val="0"/>
              </a:spcBef>
              <a:buSzPts val="3000"/>
              <a:buNone/>
            </a:pPr>
            <a:endParaRPr lang="en-US" sz="2000" dirty="0">
              <a:latin typeface="+mj-lt"/>
              <a:ea typeface="Cambria Math" panose="02040503050406030204" pitchFamily="18" charset="0"/>
              <a:cs typeface="Arial"/>
              <a:sym typeface="Arial"/>
            </a:endParaRPr>
          </a:p>
          <a:p>
            <a:pPr marL="0" indent="0">
              <a:lnSpc>
                <a:spcPct val="100000"/>
              </a:lnSpc>
              <a:spcBef>
                <a:spcPts val="0"/>
              </a:spcBef>
              <a:buSzPts val="3000"/>
              <a:buNone/>
            </a:pPr>
            <a:r>
              <a:rPr lang="en-US" sz="2000" dirty="0">
                <a:latin typeface="+mj-lt"/>
                <a:ea typeface="Cambria Math" panose="02040503050406030204" pitchFamily="18" charset="0"/>
                <a:cs typeface="Arial"/>
                <a:sym typeface="Arial"/>
              </a:rPr>
              <a:t>For the camera, we can create specific tags to place in the environment as landmarks. The most common is called </a:t>
            </a:r>
            <a:r>
              <a:rPr lang="en-US" sz="2000" dirty="0" err="1">
                <a:latin typeface="+mj-lt"/>
                <a:ea typeface="Cambria Math" panose="02040503050406030204" pitchFamily="18" charset="0"/>
                <a:cs typeface="Arial"/>
                <a:sym typeface="Arial"/>
              </a:rPr>
              <a:t>AprilTags</a:t>
            </a:r>
            <a:r>
              <a:rPr lang="en-US" sz="2000" dirty="0">
                <a:latin typeface="+mj-lt"/>
                <a:ea typeface="Cambria Math" panose="02040503050406030204" pitchFamily="18" charset="0"/>
                <a:cs typeface="Arial"/>
                <a:sym typeface="Arial"/>
              </a:rPr>
              <a:t>, </a:t>
            </a:r>
          </a:p>
          <a:p>
            <a:pPr marL="0" indent="0">
              <a:lnSpc>
                <a:spcPct val="100000"/>
              </a:lnSpc>
              <a:spcBef>
                <a:spcPts val="0"/>
              </a:spcBef>
              <a:buSzPts val="3000"/>
              <a:buNone/>
            </a:pPr>
            <a:endParaRPr lang="en-US" sz="2000" dirty="0">
              <a:latin typeface="+mj-lt"/>
              <a:ea typeface="Cambria Math" panose="02040503050406030204" pitchFamily="18" charset="0"/>
              <a:cs typeface="Arial"/>
              <a:sym typeface="Arial"/>
            </a:endParaRPr>
          </a:p>
          <a:p>
            <a:pPr marL="0" indent="0">
              <a:lnSpc>
                <a:spcPct val="100000"/>
              </a:lnSpc>
              <a:spcBef>
                <a:spcPts val="0"/>
              </a:spcBef>
              <a:buSzPts val="3000"/>
              <a:buNone/>
            </a:pPr>
            <a:r>
              <a:rPr lang="en-US" sz="2000" dirty="0">
                <a:latin typeface="+mj-lt"/>
                <a:ea typeface="Cambria Math" panose="02040503050406030204" pitchFamily="18" charset="0"/>
                <a:cs typeface="Arial"/>
                <a:sym typeface="Arial"/>
              </a:rPr>
              <a:t>If you cannot place landmarks in your environment, then it becomes much more complicated as a process:</a:t>
            </a:r>
          </a:p>
          <a:p>
            <a:pPr marL="342900">
              <a:lnSpc>
                <a:spcPct val="100000"/>
              </a:lnSpc>
              <a:spcBef>
                <a:spcPts val="0"/>
              </a:spcBef>
              <a:buSzPts val="3000"/>
            </a:pPr>
            <a:r>
              <a:rPr lang="en-US" sz="2000" dirty="0">
                <a:latin typeface="+mj-lt"/>
                <a:ea typeface="Cambria Math" panose="02040503050406030204" pitchFamily="18" charset="0"/>
                <a:cs typeface="Arial"/>
                <a:sym typeface="Arial"/>
              </a:rPr>
              <a:t>Look at images, find pixels that represent landmarks</a:t>
            </a:r>
          </a:p>
          <a:p>
            <a:pPr marL="342900">
              <a:lnSpc>
                <a:spcPct val="100000"/>
              </a:lnSpc>
              <a:spcBef>
                <a:spcPts val="0"/>
              </a:spcBef>
              <a:buSzPts val="3000"/>
            </a:pPr>
            <a:r>
              <a:rPr lang="en-US" sz="2000" dirty="0">
                <a:latin typeface="+mj-lt"/>
                <a:ea typeface="Cambria Math" panose="02040503050406030204" pitchFamily="18" charset="0"/>
                <a:cs typeface="Arial"/>
                <a:sym typeface="Arial"/>
              </a:rPr>
              <a:t>At the next frame match to find those previous landmarks</a:t>
            </a:r>
          </a:p>
          <a:p>
            <a:pPr marL="342900">
              <a:lnSpc>
                <a:spcPct val="100000"/>
              </a:lnSpc>
              <a:spcBef>
                <a:spcPts val="0"/>
              </a:spcBef>
              <a:buSzPts val="3000"/>
            </a:pPr>
            <a:r>
              <a:rPr lang="en-US" sz="2000" dirty="0">
                <a:latin typeface="+mj-lt"/>
                <a:ea typeface="Cambria Math" panose="02040503050406030204" pitchFamily="18" charset="0"/>
                <a:cs typeface="Arial"/>
                <a:sym typeface="Arial"/>
              </a:rPr>
              <a:t>Calculate the 6DOF movement your camera did to achieve the landmark transform</a:t>
            </a:r>
          </a:p>
          <a:p>
            <a:pPr marL="342900">
              <a:lnSpc>
                <a:spcPct val="100000"/>
              </a:lnSpc>
              <a:spcBef>
                <a:spcPts val="0"/>
              </a:spcBef>
              <a:buSzPts val="3000"/>
            </a:pPr>
            <a:r>
              <a:rPr lang="en-US" sz="2000" dirty="0">
                <a:latin typeface="+mj-lt"/>
                <a:ea typeface="Cambria Math" panose="02040503050406030204" pitchFamily="18" charset="0"/>
                <a:cs typeface="Arial"/>
                <a:sym typeface="Arial"/>
              </a:rPr>
              <a:t>Calculculate the odometry</a:t>
            </a:r>
          </a:p>
          <a:p>
            <a:pPr marL="342900">
              <a:lnSpc>
                <a:spcPct val="100000"/>
              </a:lnSpc>
              <a:spcBef>
                <a:spcPts val="0"/>
              </a:spcBef>
              <a:buSzPts val="3000"/>
            </a:pPr>
            <a:r>
              <a:rPr lang="en-US" sz="2000" dirty="0">
                <a:latin typeface="+mj-lt"/>
                <a:ea typeface="Cambria Math" panose="02040503050406030204" pitchFamily="18" charset="0"/>
                <a:cs typeface="Arial"/>
                <a:sym typeface="Arial"/>
              </a:rPr>
              <a:t>If you perform a loop, correct any error through loop closure</a:t>
            </a:r>
          </a:p>
        </p:txBody>
      </p:sp>
      <p:sp>
        <p:nvSpPr>
          <p:cNvPr id="119" name="Google Shape;119;p29">
            <a:extLst>
              <a:ext uri="{FF2B5EF4-FFF2-40B4-BE49-F238E27FC236}">
                <a16:creationId xmlns:a16="http://schemas.microsoft.com/office/drawing/2014/main" id="{37281661-9413-8F8C-B65D-A007B4F965E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1742C6EE-4DE4-86E2-C13A-CA06F30AC742}"/>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SLAM</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BAE86D17-8E98-6A63-6B74-D2408714F3DD}"/>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80F4C9FC-87B0-08FB-A25B-DA4A75C8A2B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DFA5E1E-7EB5-751C-7BD1-C1810D3816C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52F08FA-B9EE-CE20-0AE6-266072DD1CF0}"/>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4C10FC1-36A0-F976-0DB8-6F992C4FC83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F5AA4580-E7EB-4864-2967-CE885B803F4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60640915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2A8ACF3-73D5-55D0-CFD9-1C5F04332040}"/>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5F6559EB-E085-7ED1-DBA5-EBF170C9C67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9A9A4914-5ED0-DC4A-37F7-3B2C6E997D84}"/>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SLAM</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6FC8F399-7B1F-2B67-C6D7-59AAD6438969}"/>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65AD0B2-69C1-51AB-7871-70CC031F9A6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D7DF00C-6079-0A18-5CEA-A4BE451EC4F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6C9B5354-B8AA-C744-144F-8BA91C99C6F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F8FB027-9172-FA8F-FA88-F24C844172C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1059704A-6EAA-B4AD-6978-179821A8366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
        <p:nvSpPr>
          <p:cNvPr id="3" name="Text Placeholder 2">
            <a:extLst>
              <a:ext uri="{FF2B5EF4-FFF2-40B4-BE49-F238E27FC236}">
                <a16:creationId xmlns:a16="http://schemas.microsoft.com/office/drawing/2014/main" id="{58F76EE2-92E0-0223-2826-F4330C0AA86E}"/>
              </a:ext>
            </a:extLst>
          </p:cNvPr>
          <p:cNvSpPr>
            <a:spLocks noGrp="1"/>
          </p:cNvSpPr>
          <p:nvPr>
            <p:ph type="body" idx="1"/>
          </p:nvPr>
        </p:nvSpPr>
        <p:spPr/>
        <p:txBody>
          <a:bodyPr/>
          <a:lstStyle/>
          <a:p>
            <a:endParaRPr lang="en-US" dirty="0"/>
          </a:p>
        </p:txBody>
      </p:sp>
      <p:pic>
        <p:nvPicPr>
          <p:cNvPr id="2050" name="Picture 2" descr="The visualization interface showing the results of the ORB-SLAM and... |  Download Scientific Diagram">
            <a:extLst>
              <a:ext uri="{FF2B5EF4-FFF2-40B4-BE49-F238E27FC236}">
                <a16:creationId xmlns:a16="http://schemas.microsoft.com/office/drawing/2014/main" id="{3FF978FE-3B23-FBD7-7C9B-C9235E17DCAB}"/>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978762" y="961569"/>
            <a:ext cx="5127513" cy="5247774"/>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864AF9AD-162D-1E9E-9C01-61B463D08624}"/>
              </a:ext>
            </a:extLst>
          </p:cNvPr>
          <p:cNvSpPr txBox="1"/>
          <p:nvPr/>
        </p:nvSpPr>
        <p:spPr>
          <a:xfrm>
            <a:off x="6978762" y="6170559"/>
            <a:ext cx="5067300" cy="369332"/>
          </a:xfrm>
          <a:prstGeom prst="rect">
            <a:avLst/>
          </a:prstGeom>
          <a:noFill/>
        </p:spPr>
        <p:txBody>
          <a:bodyPr wrap="square">
            <a:spAutoFit/>
          </a:bodyPr>
          <a:lstStyle/>
          <a:p>
            <a:pPr algn="ctr"/>
            <a:r>
              <a:rPr lang="en-US" sz="900" dirty="0">
                <a:hlinkClick r:id="rId5"/>
              </a:rPr>
              <a:t>https://www.researchgate.net/publication/355183350_PSL-SLAM_a_monocular_SLAM_system_using_points_and_structure_lines_in_Manhattan_World</a:t>
            </a:r>
            <a:r>
              <a:rPr lang="en-US" sz="900" dirty="0"/>
              <a:t> </a:t>
            </a:r>
          </a:p>
        </p:txBody>
      </p:sp>
      <p:pic>
        <p:nvPicPr>
          <p:cNvPr id="3074" name="Picture 2" descr="AprilTag">
            <a:extLst>
              <a:ext uri="{FF2B5EF4-FFF2-40B4-BE49-F238E27FC236}">
                <a16:creationId xmlns:a16="http://schemas.microsoft.com/office/drawing/2014/main" id="{75E36511-A060-74B2-042C-98B852A9EFA4}"/>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0" y="1786841"/>
            <a:ext cx="6979146" cy="3533745"/>
          </a:xfrm>
          <a:prstGeom prst="rect">
            <a:avLst/>
          </a:prstGeom>
          <a:noFill/>
          <a:extLst>
            <a:ext uri="{909E8E84-426E-40DD-AFC4-6F175D3DCCD1}">
              <a14:hiddenFill xmlns:a14="http://schemas.microsoft.com/office/drawing/2010/main">
                <a:solidFill>
                  <a:srgbClr val="FFFFFF"/>
                </a:solidFill>
              </a14:hiddenFill>
            </a:ext>
          </a:extLst>
        </p:spPr>
      </p:pic>
      <p:sp>
        <p:nvSpPr>
          <p:cNvPr id="7" name="TextBox 6">
            <a:extLst>
              <a:ext uri="{FF2B5EF4-FFF2-40B4-BE49-F238E27FC236}">
                <a16:creationId xmlns:a16="http://schemas.microsoft.com/office/drawing/2014/main" id="{CFB65907-4711-BE75-9EBD-F89FDFB51589}"/>
              </a:ext>
            </a:extLst>
          </p:cNvPr>
          <p:cNvSpPr txBox="1"/>
          <p:nvPr/>
        </p:nvSpPr>
        <p:spPr>
          <a:xfrm>
            <a:off x="1606798" y="6228302"/>
            <a:ext cx="3765550" cy="246221"/>
          </a:xfrm>
          <a:prstGeom prst="rect">
            <a:avLst/>
          </a:prstGeom>
          <a:noFill/>
        </p:spPr>
        <p:txBody>
          <a:bodyPr wrap="square">
            <a:spAutoFit/>
          </a:bodyPr>
          <a:lstStyle/>
          <a:p>
            <a:pPr algn="ctr"/>
            <a:r>
              <a:rPr lang="en-US" sz="1000" dirty="0">
                <a:hlinkClick r:id="rId7"/>
              </a:rPr>
              <a:t>https://april.eecs.umich.edu/software/apriltag</a:t>
            </a:r>
            <a:r>
              <a:rPr lang="en-US" sz="1000" dirty="0"/>
              <a:t> </a:t>
            </a:r>
          </a:p>
        </p:txBody>
      </p:sp>
    </p:spTree>
    <p:extLst>
      <p:ext uri="{BB962C8B-B14F-4D97-AF65-F5344CB8AC3E}">
        <p14:creationId xmlns:p14="http://schemas.microsoft.com/office/powerpoint/2010/main" val="1200663339"/>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C8282C2-B8F7-2C7A-F07C-5EF82EFDEC3C}"/>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95CE1ED7-1976-2C3A-F985-18B04F2C078A}"/>
              </a:ext>
            </a:extLst>
          </p:cNvPr>
          <p:cNvSpPr txBox="1">
            <a:spLocks noGrp="1"/>
          </p:cNvSpPr>
          <p:nvPr>
            <p:ph type="body" idx="1"/>
          </p:nvPr>
        </p:nvSpPr>
        <p:spPr>
          <a:xfrm>
            <a:off x="376809" y="1334279"/>
            <a:ext cx="11452008"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mj-lt"/>
                <a:ea typeface="Cambria Math" panose="02040503050406030204" pitchFamily="18" charset="0"/>
                <a:cs typeface="Arial"/>
                <a:sym typeface="Arial"/>
              </a:rPr>
              <a:t>What if there are no </a:t>
            </a:r>
            <a:r>
              <a:rPr lang="en-US" sz="2000" dirty="0" err="1">
                <a:latin typeface="+mj-lt"/>
                <a:ea typeface="Cambria Math" panose="02040503050406030204" pitchFamily="18" charset="0"/>
                <a:cs typeface="Arial"/>
                <a:sym typeface="Arial"/>
              </a:rPr>
              <a:t>AprilTags</a:t>
            </a:r>
            <a:r>
              <a:rPr lang="en-US" sz="2000" dirty="0">
                <a:latin typeface="+mj-lt"/>
                <a:ea typeface="Cambria Math" panose="02040503050406030204" pitchFamily="18" charset="0"/>
                <a:cs typeface="Arial"/>
                <a:sym typeface="Arial"/>
              </a:rPr>
              <a:t> and we don’t know the map beforehand?</a:t>
            </a:r>
          </a:p>
          <a:p>
            <a:pPr marL="0" indent="0">
              <a:lnSpc>
                <a:spcPct val="100000"/>
              </a:lnSpc>
              <a:spcBef>
                <a:spcPts val="0"/>
              </a:spcBef>
              <a:buSzPts val="3000"/>
              <a:buNone/>
            </a:pPr>
            <a:endParaRPr lang="en-US" sz="2000" dirty="0">
              <a:latin typeface="+mj-lt"/>
              <a:ea typeface="Cambria Math" panose="02040503050406030204" pitchFamily="18" charset="0"/>
              <a:cs typeface="Arial"/>
              <a:sym typeface="Arial"/>
            </a:endParaRPr>
          </a:p>
          <a:p>
            <a:pPr marL="0" indent="0">
              <a:lnSpc>
                <a:spcPct val="100000"/>
              </a:lnSpc>
              <a:spcBef>
                <a:spcPts val="0"/>
              </a:spcBef>
              <a:buSzPts val="3000"/>
              <a:buNone/>
            </a:pPr>
            <a:r>
              <a:rPr lang="en-US" sz="2000" dirty="0">
                <a:latin typeface="+mj-lt"/>
                <a:ea typeface="Cambria Math" panose="02040503050406030204" pitchFamily="18" charset="0"/>
                <a:cs typeface="Arial"/>
                <a:sym typeface="Arial"/>
              </a:rPr>
              <a:t>We use </a:t>
            </a:r>
            <a:r>
              <a:rPr lang="en-US" sz="2000" b="1" dirty="0">
                <a:latin typeface="+mj-lt"/>
                <a:ea typeface="Cambria Math" panose="02040503050406030204" pitchFamily="18" charset="0"/>
                <a:cs typeface="Arial"/>
                <a:sym typeface="Arial"/>
              </a:rPr>
              <a:t>SLAM: Simultaneous Localization and Mapping</a:t>
            </a:r>
            <a:r>
              <a:rPr lang="en-US" sz="2000" dirty="0">
                <a:latin typeface="+mj-lt"/>
                <a:ea typeface="Cambria Math" panose="02040503050406030204" pitchFamily="18" charset="0"/>
                <a:cs typeface="Arial"/>
                <a:sym typeface="Arial"/>
              </a:rPr>
              <a:t>.</a:t>
            </a:r>
          </a:p>
          <a:p>
            <a:pPr marL="0" indent="0">
              <a:lnSpc>
                <a:spcPct val="100000"/>
              </a:lnSpc>
              <a:spcBef>
                <a:spcPts val="0"/>
              </a:spcBef>
              <a:buSzPts val="3000"/>
              <a:buNone/>
            </a:pPr>
            <a:endParaRPr lang="en-US" sz="2000" dirty="0">
              <a:latin typeface="+mj-lt"/>
              <a:ea typeface="Cambria Math" panose="02040503050406030204" pitchFamily="18" charset="0"/>
              <a:cs typeface="Arial"/>
              <a:sym typeface="Arial"/>
            </a:endParaRPr>
          </a:p>
          <a:p>
            <a:pPr marL="0" indent="0">
              <a:lnSpc>
                <a:spcPct val="100000"/>
              </a:lnSpc>
              <a:spcBef>
                <a:spcPts val="0"/>
              </a:spcBef>
              <a:buSzPts val="3000"/>
              <a:buNone/>
            </a:pPr>
            <a:r>
              <a:rPr lang="en-US" sz="2000" dirty="0">
                <a:latin typeface="+mj-lt"/>
                <a:ea typeface="Cambria Math" panose="02040503050406030204" pitchFamily="18" charset="0"/>
                <a:cs typeface="Arial"/>
                <a:sym typeface="Arial"/>
              </a:rPr>
              <a:t>The rapidly spinning LiDAR generates a dense 2D point cloud.</a:t>
            </a:r>
          </a:p>
          <a:p>
            <a:pPr marL="0" indent="0">
              <a:lnSpc>
                <a:spcPct val="100000"/>
              </a:lnSpc>
              <a:spcBef>
                <a:spcPts val="0"/>
              </a:spcBef>
              <a:buSzPts val="3000"/>
              <a:buNone/>
            </a:pPr>
            <a:endParaRPr lang="en-US" sz="2000" dirty="0">
              <a:latin typeface="+mj-lt"/>
              <a:ea typeface="Cambria Math" panose="02040503050406030204" pitchFamily="18" charset="0"/>
              <a:cs typeface="Arial"/>
              <a:sym typeface="Arial"/>
            </a:endParaRPr>
          </a:p>
          <a:p>
            <a:pPr marL="0" indent="0">
              <a:lnSpc>
                <a:spcPct val="100000"/>
              </a:lnSpc>
              <a:spcBef>
                <a:spcPts val="0"/>
              </a:spcBef>
              <a:buSzPts val="3000"/>
              <a:buNone/>
            </a:pPr>
            <a:r>
              <a:rPr lang="en-US" sz="2000" dirty="0">
                <a:latin typeface="+mj-lt"/>
                <a:ea typeface="Cambria Math" panose="02040503050406030204" pitchFamily="18" charset="0"/>
                <a:cs typeface="Arial"/>
                <a:sym typeface="Arial"/>
              </a:rPr>
              <a:t>As the robot moves, it takes a new point cloud scan and compares it to the previous scan.</a:t>
            </a:r>
          </a:p>
          <a:p>
            <a:pPr marL="0" indent="0">
              <a:lnSpc>
                <a:spcPct val="100000"/>
              </a:lnSpc>
              <a:spcBef>
                <a:spcPts val="0"/>
              </a:spcBef>
              <a:buSzPts val="3000"/>
              <a:buNone/>
            </a:pPr>
            <a:endParaRPr lang="en-US" sz="2000" dirty="0">
              <a:latin typeface="+mj-lt"/>
              <a:ea typeface="Cambria Math" panose="02040503050406030204" pitchFamily="18" charset="0"/>
              <a:cs typeface="Arial"/>
              <a:sym typeface="Arial"/>
            </a:endParaRPr>
          </a:p>
          <a:p>
            <a:pPr marL="0" indent="0">
              <a:lnSpc>
                <a:spcPct val="100000"/>
              </a:lnSpc>
              <a:spcBef>
                <a:spcPts val="0"/>
              </a:spcBef>
              <a:buSzPts val="3000"/>
              <a:buNone/>
            </a:pPr>
            <a:r>
              <a:rPr lang="en-US" sz="2000" dirty="0">
                <a:latin typeface="+mj-lt"/>
                <a:ea typeface="Cambria Math" panose="02040503050406030204" pitchFamily="18" charset="0"/>
                <a:cs typeface="Arial"/>
                <a:sym typeface="Arial"/>
              </a:rPr>
              <a:t>How do we align two-point clouds taken a few seconds apart?</a:t>
            </a:r>
          </a:p>
          <a:p>
            <a:pPr marL="0" indent="0">
              <a:lnSpc>
                <a:spcPct val="100000"/>
              </a:lnSpc>
              <a:spcBef>
                <a:spcPts val="0"/>
              </a:spcBef>
              <a:buSzPts val="3000"/>
              <a:buNone/>
            </a:pPr>
            <a:endParaRPr lang="en-US" sz="2000" dirty="0">
              <a:latin typeface="+mj-lt"/>
              <a:ea typeface="Cambria Math" panose="02040503050406030204" pitchFamily="18" charset="0"/>
              <a:cs typeface="Arial"/>
              <a:sym typeface="Arial"/>
            </a:endParaRPr>
          </a:p>
          <a:p>
            <a:pPr marL="0" indent="0">
              <a:lnSpc>
                <a:spcPct val="100000"/>
              </a:lnSpc>
              <a:spcBef>
                <a:spcPts val="0"/>
              </a:spcBef>
              <a:buSzPts val="3000"/>
              <a:buNone/>
            </a:pPr>
            <a:r>
              <a:rPr lang="en-US" sz="2000" dirty="0">
                <a:latin typeface="+mj-lt"/>
                <a:ea typeface="Cambria Math" panose="02040503050406030204" pitchFamily="18" charset="0"/>
                <a:cs typeface="Arial"/>
                <a:sym typeface="Arial"/>
              </a:rPr>
              <a:t>The </a:t>
            </a:r>
            <a:r>
              <a:rPr lang="en-US" sz="2000" b="1" dirty="0">
                <a:latin typeface="+mj-lt"/>
                <a:ea typeface="Cambria Math" panose="02040503050406030204" pitchFamily="18" charset="0"/>
                <a:cs typeface="Arial"/>
                <a:sym typeface="Arial"/>
              </a:rPr>
              <a:t>Iterative Closest Point </a:t>
            </a:r>
            <a:r>
              <a:rPr lang="en-US" sz="2000" dirty="0">
                <a:latin typeface="+mj-lt"/>
                <a:ea typeface="Cambria Math" panose="02040503050406030204" pitchFamily="18" charset="0"/>
                <a:cs typeface="Arial"/>
                <a:sym typeface="Arial"/>
              </a:rPr>
              <a:t>(ICP) algorithm rotates and translates the new scan until it best overlaps with the old scan.</a:t>
            </a:r>
          </a:p>
          <a:p>
            <a:pPr marL="0" indent="0">
              <a:lnSpc>
                <a:spcPct val="100000"/>
              </a:lnSpc>
              <a:spcBef>
                <a:spcPts val="0"/>
              </a:spcBef>
              <a:buSzPts val="3000"/>
              <a:buNone/>
            </a:pPr>
            <a:r>
              <a:rPr lang="en-US" sz="2000" dirty="0">
                <a:latin typeface="+mj-lt"/>
                <a:ea typeface="Cambria Math" panose="02040503050406030204" pitchFamily="18" charset="0"/>
                <a:cs typeface="Arial"/>
                <a:sym typeface="Arial"/>
              </a:rPr>
              <a:t>The required rotation and translation to make them match is exactly how much the robot moved.</a:t>
            </a:r>
          </a:p>
          <a:p>
            <a:pPr marL="0" indent="0">
              <a:lnSpc>
                <a:spcPct val="100000"/>
              </a:lnSpc>
              <a:spcBef>
                <a:spcPts val="0"/>
              </a:spcBef>
              <a:buSzPts val="3000"/>
              <a:buNone/>
            </a:pPr>
            <a:endParaRPr lang="en-US" sz="2000" dirty="0">
              <a:latin typeface="+mj-lt"/>
              <a:ea typeface="Cambria Math" panose="02040503050406030204" pitchFamily="18" charset="0"/>
              <a:cs typeface="Arial"/>
              <a:sym typeface="Arial"/>
            </a:endParaRPr>
          </a:p>
          <a:p>
            <a:pPr marL="0" indent="0">
              <a:lnSpc>
                <a:spcPct val="100000"/>
              </a:lnSpc>
              <a:spcBef>
                <a:spcPts val="0"/>
              </a:spcBef>
              <a:buSzPts val="3000"/>
              <a:buNone/>
            </a:pPr>
            <a:r>
              <a:rPr lang="en-US" sz="2000" dirty="0">
                <a:latin typeface="+mj-lt"/>
                <a:ea typeface="Cambria Math" panose="02040503050406030204" pitchFamily="18" charset="0"/>
                <a:cs typeface="Arial"/>
                <a:sym typeface="Arial"/>
              </a:rPr>
              <a:t>This provides highly accurate odometry without relying on wheel friction!</a:t>
            </a:r>
          </a:p>
        </p:txBody>
      </p:sp>
      <p:sp>
        <p:nvSpPr>
          <p:cNvPr id="119" name="Google Shape;119;p29">
            <a:extLst>
              <a:ext uri="{FF2B5EF4-FFF2-40B4-BE49-F238E27FC236}">
                <a16:creationId xmlns:a16="http://schemas.microsoft.com/office/drawing/2014/main" id="{3D2CBD79-B09D-4A1A-D424-198FE3FCF82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E21CF9B9-16B9-FD6A-65BB-39BA1BC53D46}"/>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SLAM</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DEA74EE3-353C-BFEB-02A1-EB2ADA66BB98}"/>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AEDBA326-B5E5-2C59-1228-C66D18D7C77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4534A93-68BD-813E-749E-00679824197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A632EEC3-8BF1-8EEE-86F6-1FC36B036F50}"/>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BF00C73-C1E8-9FBB-D56F-9D11722D80B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02CF559-1ACB-C91F-F963-7AFB3AB9111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536699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18">
                                            <p:txEl>
                                              <p:pRg st="11" end="11"/>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18">
                                            <p:txEl>
                                              <p:pRg st="13" end="1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2402C20-D953-7C0C-D93B-860DAD41BED3}"/>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886DAF9B-3B5F-D59E-B260-648DB1D97B1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7B7B7ACA-492A-FE25-9EF8-B9DADD809451}"/>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SLAM</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55335854-BF20-4E4F-D021-B1F0B24AAD0B}"/>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3A6A320B-E0AF-7459-5905-3E723742E55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05D5065-1E47-71C0-FB3B-D7D0402DE45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0448CC38-4904-8F30-D988-0446753908E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C35E5C1-F08F-6552-9591-AC3C2BDB49F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301CCFAA-C4F6-1B3E-8241-1AF794E32A9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
        <p:nvSpPr>
          <p:cNvPr id="3" name="Text Placeholder 2">
            <a:extLst>
              <a:ext uri="{FF2B5EF4-FFF2-40B4-BE49-F238E27FC236}">
                <a16:creationId xmlns:a16="http://schemas.microsoft.com/office/drawing/2014/main" id="{17BFE57B-5E75-7438-0A86-EE797C3EFD47}"/>
              </a:ext>
            </a:extLst>
          </p:cNvPr>
          <p:cNvSpPr>
            <a:spLocks noGrp="1"/>
          </p:cNvSpPr>
          <p:nvPr>
            <p:ph type="body" idx="1"/>
          </p:nvPr>
        </p:nvSpPr>
        <p:spPr/>
        <p:txBody>
          <a:bodyPr/>
          <a:lstStyle/>
          <a:p>
            <a:endParaRPr lang="en-US"/>
          </a:p>
        </p:txBody>
      </p:sp>
      <p:pic>
        <p:nvPicPr>
          <p:cNvPr id="4098" name="Picture 2" descr="iterative-closest-point-stanford-bunny-converging-iterations-point2point-point2plane">
            <a:extLst>
              <a:ext uri="{FF2B5EF4-FFF2-40B4-BE49-F238E27FC236}">
                <a16:creationId xmlns:a16="http://schemas.microsoft.com/office/drawing/2014/main" id="{38F2D035-EEDF-B5B1-7F00-156C87F5E51B}"/>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607672" y="1344132"/>
            <a:ext cx="6555753" cy="4169737"/>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306B1B59-D863-F10E-30F1-E16A89DDD63E}"/>
              </a:ext>
            </a:extLst>
          </p:cNvPr>
          <p:cNvSpPr txBox="1"/>
          <p:nvPr/>
        </p:nvSpPr>
        <p:spPr>
          <a:xfrm>
            <a:off x="3048000" y="6184228"/>
            <a:ext cx="6096000" cy="246221"/>
          </a:xfrm>
          <a:prstGeom prst="rect">
            <a:avLst/>
          </a:prstGeom>
          <a:noFill/>
        </p:spPr>
        <p:txBody>
          <a:bodyPr wrap="square">
            <a:spAutoFit/>
          </a:bodyPr>
          <a:lstStyle/>
          <a:p>
            <a:pPr algn="ctr"/>
            <a:r>
              <a:rPr lang="en-US" sz="1000" dirty="0">
                <a:hlinkClick r:id="rId5"/>
              </a:rPr>
              <a:t>https://learnopencv.com/iterative-closest-point-icp-explained/</a:t>
            </a:r>
            <a:r>
              <a:rPr lang="en-US" sz="1000" dirty="0"/>
              <a:t> </a:t>
            </a:r>
          </a:p>
        </p:txBody>
      </p:sp>
      <p:pic>
        <p:nvPicPr>
          <p:cNvPr id="7" name="Picture 6">
            <a:extLst>
              <a:ext uri="{FF2B5EF4-FFF2-40B4-BE49-F238E27FC236}">
                <a16:creationId xmlns:a16="http://schemas.microsoft.com/office/drawing/2014/main" id="{749C5622-0D26-7FC2-2E63-53E62FF28A68}"/>
              </a:ext>
            </a:extLst>
          </p:cNvPr>
          <p:cNvPicPr>
            <a:picLocks noChangeAspect="1"/>
          </p:cNvPicPr>
          <p:nvPr/>
        </p:nvPicPr>
        <p:blipFill>
          <a:blip r:embed="rId6"/>
          <a:stretch>
            <a:fillRect/>
          </a:stretch>
        </p:blipFill>
        <p:spPr>
          <a:xfrm>
            <a:off x="28575" y="1347554"/>
            <a:ext cx="5550522" cy="4162892"/>
          </a:xfrm>
          <a:prstGeom prst="rect">
            <a:avLst/>
          </a:prstGeom>
        </p:spPr>
      </p:pic>
    </p:spTree>
    <p:extLst>
      <p:ext uri="{BB962C8B-B14F-4D97-AF65-F5344CB8AC3E}">
        <p14:creationId xmlns:p14="http://schemas.microsoft.com/office/powerpoint/2010/main" val="1704198435"/>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63">
          <a:extLst>
            <a:ext uri="{FF2B5EF4-FFF2-40B4-BE49-F238E27FC236}">
              <a16:creationId xmlns:a16="http://schemas.microsoft.com/office/drawing/2014/main" id="{FA145421-BB40-88A0-CFFD-DC4D9CAC5BB5}"/>
            </a:ext>
          </a:extLst>
        </p:cNvPr>
        <p:cNvGrpSpPr/>
        <p:nvPr/>
      </p:nvGrpSpPr>
      <p:grpSpPr>
        <a:xfrm>
          <a:off x="0" y="0"/>
          <a:ext cx="0" cy="0"/>
          <a:chOff x="0" y="0"/>
          <a:chExt cx="0" cy="0"/>
        </a:xfrm>
      </p:grpSpPr>
      <p:sp>
        <p:nvSpPr>
          <p:cNvPr id="264" name="Google Shape;264;p37">
            <a:extLst>
              <a:ext uri="{FF2B5EF4-FFF2-40B4-BE49-F238E27FC236}">
                <a16:creationId xmlns:a16="http://schemas.microsoft.com/office/drawing/2014/main" id="{B5B2745B-F5C6-8FBF-1FAE-FE621EFA88F0}"/>
              </a:ext>
            </a:extLst>
          </p:cNvPr>
          <p:cNvSpPr txBox="1"/>
          <p:nvPr/>
        </p:nvSpPr>
        <p:spPr>
          <a:xfrm>
            <a:off x="2275515" y="2823928"/>
            <a:ext cx="7640969" cy="1210143"/>
          </a:xfrm>
          <a:prstGeom prst="rect">
            <a:avLst/>
          </a:prstGeom>
          <a:noFill/>
          <a:ln>
            <a:noFill/>
          </a:ln>
        </p:spPr>
        <p:txBody>
          <a:bodyPr spcFirstLastPara="1" wrap="square" lIns="91425" tIns="45700" rIns="91425" bIns="45700" anchor="t" anchorCtr="0">
            <a:noAutofit/>
          </a:bodyPr>
          <a:lstStyle/>
          <a:p>
            <a:pPr lvl="0" algn="ctr"/>
            <a:r>
              <a:rPr lang="en-US" sz="6600" b="1" dirty="0">
                <a:solidFill>
                  <a:schemeClr val="lt1"/>
                </a:solidFill>
              </a:rPr>
              <a:t>Questions</a:t>
            </a:r>
            <a:r>
              <a:rPr lang="en-US" sz="5400" b="1" dirty="0">
                <a:solidFill>
                  <a:schemeClr val="lt1"/>
                </a:solidFill>
              </a:rPr>
              <a:t>?</a:t>
            </a:r>
          </a:p>
        </p:txBody>
      </p:sp>
      <p:pic>
        <p:nvPicPr>
          <p:cNvPr id="265" name="Google Shape;265;p37">
            <a:extLst>
              <a:ext uri="{FF2B5EF4-FFF2-40B4-BE49-F238E27FC236}">
                <a16:creationId xmlns:a16="http://schemas.microsoft.com/office/drawing/2014/main" id="{EDC8C897-5AB2-076F-5135-9B30ACCBD22F}"/>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266" name="Google Shape;266;p37">
            <a:extLst>
              <a:ext uri="{FF2B5EF4-FFF2-40B4-BE49-F238E27FC236}">
                <a16:creationId xmlns:a16="http://schemas.microsoft.com/office/drawing/2014/main" id="{CF8648FC-7240-4BBB-9E09-C030BD1A805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rial"/>
                <a:ea typeface="Arial"/>
                <a:cs typeface="Arial"/>
                <a:sym typeface="Arial"/>
              </a:rPr>
              <a:t>GRAINGER ENGINEERING</a:t>
            </a:r>
            <a:endParaRPr/>
          </a:p>
        </p:txBody>
      </p:sp>
      <p:sp>
        <p:nvSpPr>
          <p:cNvPr id="267" name="Google Shape;267;p37">
            <a:extLst>
              <a:ext uri="{FF2B5EF4-FFF2-40B4-BE49-F238E27FC236}">
                <a16:creationId xmlns:a16="http://schemas.microsoft.com/office/drawing/2014/main" id="{6A5B7064-0FC6-E501-D020-2C92B5A6057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268" name="Google Shape;268;p37">
            <a:extLst>
              <a:ext uri="{FF2B5EF4-FFF2-40B4-BE49-F238E27FC236}">
                <a16:creationId xmlns:a16="http://schemas.microsoft.com/office/drawing/2014/main" id="{69F24B96-E9CD-EB54-C22A-3DD90799A7A7}"/>
              </a:ext>
            </a:extLst>
          </p:cNvPr>
          <p:cNvGrpSpPr/>
          <p:nvPr/>
        </p:nvGrpSpPr>
        <p:grpSpPr>
          <a:xfrm>
            <a:off x="4066674" y="6601537"/>
            <a:ext cx="5233412" cy="70446"/>
            <a:chOff x="4033424" y="6601537"/>
            <a:chExt cx="5233412" cy="70446"/>
          </a:xfrm>
        </p:grpSpPr>
        <p:cxnSp>
          <p:nvCxnSpPr>
            <p:cNvPr id="269" name="Google Shape;269;p37">
              <a:extLst>
                <a:ext uri="{FF2B5EF4-FFF2-40B4-BE49-F238E27FC236}">
                  <a16:creationId xmlns:a16="http://schemas.microsoft.com/office/drawing/2014/main" id="{BDF89024-C4A2-8F3A-DA57-A772C1368044}"/>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270" name="Google Shape;270;p37">
              <a:extLst>
                <a:ext uri="{FF2B5EF4-FFF2-40B4-BE49-F238E27FC236}">
                  <a16:creationId xmlns:a16="http://schemas.microsoft.com/office/drawing/2014/main" id="{B3758997-614E-F4D9-9F4D-D716DCC856BA}"/>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rial"/>
                <a:ea typeface="Arial"/>
                <a:cs typeface="Arial"/>
                <a:sym typeface="Arial"/>
              </a:endParaRPr>
            </a:p>
          </p:txBody>
        </p:sp>
      </p:grpSp>
    </p:spTree>
    <p:extLst>
      <p:ext uri="{BB962C8B-B14F-4D97-AF65-F5344CB8AC3E}">
        <p14:creationId xmlns:p14="http://schemas.microsoft.com/office/powerpoint/2010/main" val="2315989789"/>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74"/>
        <p:cNvGrpSpPr/>
        <p:nvPr/>
      </p:nvGrpSpPr>
      <p:grpSpPr>
        <a:xfrm>
          <a:off x="0" y="0"/>
          <a:ext cx="0" cy="0"/>
          <a:chOff x="0" y="0"/>
          <a:chExt cx="0" cy="0"/>
        </a:xfrm>
      </p:grpSpPr>
      <p:pic>
        <p:nvPicPr>
          <p:cNvPr id="275" name="Google Shape;275;p38"/>
          <p:cNvPicPr preferRelativeResize="0"/>
          <p:nvPr/>
        </p:nvPicPr>
        <p:blipFill rotWithShape="1">
          <a:blip r:embed="rId4">
            <a:alphaModFix/>
          </a:blip>
          <a:srcRect/>
          <a:stretch/>
        </p:blipFill>
        <p:spPr>
          <a:xfrm>
            <a:off x="2259350" y="2791508"/>
            <a:ext cx="5414193" cy="1274984"/>
          </a:xfrm>
          <a:prstGeom prst="rect">
            <a:avLst/>
          </a:prstGeom>
          <a:noFill/>
          <a:ln>
            <a:noFill/>
          </a:ln>
        </p:spPr>
      </p:pic>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1079</TotalTime>
  <Words>2796</Words>
  <Application>Microsoft Office PowerPoint</Application>
  <PresentationFormat>Widescreen</PresentationFormat>
  <Paragraphs>439</Paragraphs>
  <Slides>45</Slides>
  <Notes>45</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45</vt:i4>
      </vt:variant>
    </vt:vector>
  </HeadingPairs>
  <TitlesOfParts>
    <vt:vector size="49" baseType="lpstr">
      <vt:lpstr>Arial</vt:lpstr>
      <vt:lpstr>Calibri</vt:lpstr>
      <vt:lpstr>Cambria Math</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Nielsen, Joshua</dc:creator>
  <cp:lastModifiedBy>Juston, Marius F</cp:lastModifiedBy>
  <cp:revision>217</cp:revision>
  <dcterms:created xsi:type="dcterms:W3CDTF">2019-01-14T22:06:33Z</dcterms:created>
  <dcterms:modified xsi:type="dcterms:W3CDTF">2026-03-11T06:33:14Z</dcterms:modified>
</cp:coreProperties>
</file>