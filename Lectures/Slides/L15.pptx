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7"/>
  </p:notesMasterIdLst>
  <p:sldIdLst>
    <p:sldId id="256" r:id="rId2"/>
    <p:sldId id="417" r:id="rId3"/>
    <p:sldId id="413" r:id="rId4"/>
    <p:sldId id="272" r:id="rId5"/>
    <p:sldId id="258" r:id="rId6"/>
    <p:sldId id="418" r:id="rId7"/>
    <p:sldId id="419" r:id="rId8"/>
    <p:sldId id="431" r:id="rId9"/>
    <p:sldId id="420" r:id="rId10"/>
    <p:sldId id="422" r:id="rId11"/>
    <p:sldId id="421" r:id="rId12"/>
    <p:sldId id="423" r:id="rId13"/>
    <p:sldId id="424" r:id="rId14"/>
    <p:sldId id="425" r:id="rId15"/>
    <p:sldId id="426" r:id="rId16"/>
    <p:sldId id="427" r:id="rId17"/>
    <p:sldId id="428" r:id="rId18"/>
    <p:sldId id="429" r:id="rId19"/>
    <p:sldId id="430" r:id="rId20"/>
    <p:sldId id="432" r:id="rId21"/>
    <p:sldId id="433" r:id="rId22"/>
    <p:sldId id="434" r:id="rId23"/>
    <p:sldId id="435" r:id="rId24"/>
    <p:sldId id="437" r:id="rId25"/>
    <p:sldId id="436" r:id="rId26"/>
    <p:sldId id="438" r:id="rId27"/>
    <p:sldId id="439" r:id="rId28"/>
    <p:sldId id="440" r:id="rId29"/>
    <p:sldId id="441" r:id="rId30"/>
    <p:sldId id="442" r:id="rId31"/>
    <p:sldId id="443" r:id="rId32"/>
    <p:sldId id="445" r:id="rId33"/>
    <p:sldId id="447" r:id="rId34"/>
    <p:sldId id="444" r:id="rId35"/>
    <p:sldId id="448" r:id="rId36"/>
    <p:sldId id="449" r:id="rId37"/>
    <p:sldId id="450" r:id="rId38"/>
    <p:sldId id="453" r:id="rId39"/>
    <p:sldId id="452" r:id="rId40"/>
    <p:sldId id="454" r:id="rId41"/>
    <p:sldId id="455" r:id="rId42"/>
    <p:sldId id="456" r:id="rId43"/>
    <p:sldId id="457" r:id="rId44"/>
    <p:sldId id="271" r:id="rId45"/>
    <p:sldId id="270" r:id="rId4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customschemas.google.com/relationships/presentationmetadata" Target="metadata"/><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B53992-DBCC-1A47-D509-2283B20A38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6DA2EB-93A5-88B8-DC24-FDB0D7C203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478B48-83E8-4F87-AFC3-6B61F37266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20615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2299D0-F2DF-2356-8F5D-682A0BE7C9F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BFF871-D58C-A13F-05E6-8187B1841C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EA7B009-B8C1-1542-E4CE-DCB5DF2C63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28028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BDCF605-DB66-3DD8-A8A0-6D35958FA67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02E670-274B-DC92-6DB4-BFE4DE6C159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11C997B-FB9B-774B-A490-29210A94FA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96658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B651D49-3479-47FA-7613-7F7702EE7D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4F75C1-2CF2-34C0-628E-6E9C6FAAEE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DA9332-2978-2177-38B5-199FC4B4F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886068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F33BE4-7944-0CAC-5025-FDDEFA89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3DD3F6-0220-7B32-EFA0-6D346AE14DB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49740B-1434-96E0-9676-BA411739A3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087787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5A1C2D-BECA-E00E-F164-FF942FFBD53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31F6D0-06BD-901E-DF0D-C74E488C3F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DDECD3-ECE8-3672-CFE4-E18B766A61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207305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021E94-44B8-042C-6B56-F12EBC0327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B3D157-37C5-4682-E55E-3DA940A373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CB970C-19F6-D507-BC57-D1ED575003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924680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CAC9A3-7125-FD97-0CA4-A355EEE39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19C0B7-7AE7-11C0-74B4-E0B94DFEA5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42D5B97-F6BA-0D23-7160-3CB1F275915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9715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987C942-D3CF-1804-8160-A38896B35D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FE11EB-6697-2CB2-9EAF-C7E6F2392D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544C7C4-01B9-E1A6-5D43-A05FE36ED2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13407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004C50-F47E-3B80-F9D3-3739D7D6B5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4E0809-82D7-C156-383F-518AE8E408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71A57EE-2D5E-F334-A42F-B62547745A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36539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64C2C3-87F7-1595-A01A-6F364F1F8A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F55EC0-3655-24FE-F888-BD002EFC09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FBF68B-B41F-C902-C4E0-EB730111C2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019078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D332CC8-A2C1-CE72-3B84-DEFCEA9495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CAC600-6939-5063-9D45-2AC087D7FF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0BF6BC-389E-B6CA-CB50-D93BE7AE30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64328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8BF7BF-60B9-DA48-4BBA-5AE075B7891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52BEC4-864E-8F7F-A658-A7B016F230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F18C965-0CD5-C9CE-69E8-F3852ECC9E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061204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99F037-8C12-8E40-3C8A-7B9469DE6E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F04FE2-FC42-93C3-5D44-30170411F5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5C32F6B-4D61-6B49-5521-323F0FA5AA7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7352046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8477EE1-B993-CD06-EEBA-78F4E3E996A7}"/>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DDE1DD-0E78-2BFA-2A76-8DED2AF53B0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D793B7F-E5AF-6B99-0CD5-C800BF3361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50712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501867-95D6-B00D-B73A-61ADCE518A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56DAAE-3D4D-31C8-FB91-1907718A15A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A39EDE-9C73-1A82-E878-714DAFCE79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46169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0165D6-2B0F-CB6D-C842-2A2FF9492C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026F1C-4C24-07F8-27C2-86F7FD232D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DF6B970-ADAE-795C-7359-E1A3A3509F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445171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BCA9D6-B738-6212-9801-A17EA0F7D7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EC23B1-F7A4-CD59-51F9-9B142FEFE7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A8222C-089B-B207-19A5-D181061FD2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937960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DFC25D6-F64E-F7E8-7EF1-3D44F16ED8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153428-DA95-9E30-E05C-D3596A229A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47BDBCA-A110-5052-2B7B-FC61B3E5AE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23333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7FD0AD-19F7-20B6-BA4F-7E3AAC382C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AE6DE1-5D24-0B2E-7458-EDC1FF5CC4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0D2DC7-DEA1-7039-7FA0-68E49DB85C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609514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F7D257-51B6-449D-D309-A44A8C94CF6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B16CDF0-DC3E-FDA5-4F24-CFF7458913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FD72445-7521-A8A2-A874-E396361A840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3544307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C4B48CB-5C0F-03DE-F40A-08B17A02EB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663EDC-AF68-787D-7D9D-3E906F44B5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C147F73-9515-16E8-9473-45D5A2CF1E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0472774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71A3041-965F-B8AF-4344-9285AC280A9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3B1803F9-CCE5-8947-EB0A-D44E1D61DF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F6543B3-BB15-6911-9334-5DD954C236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7984205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C28518-8438-CF4E-817F-4B7ED567B4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48EAA-70A3-52A4-ACAF-EB10715B71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2E4230-B6A7-901E-BA7D-5E85C8C5A1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18687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3CC5AD-2C8B-6CD3-3B0F-E22C5A50A82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BE3EB9-8751-82E7-7BCC-CBA885B139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7E28E4B-E391-46A0-FCF6-EEE337283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762962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922E025-D59A-768B-8EF2-4E6891E706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087AD0-D746-1DB3-AFCB-C3B298F1B3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0831774-8FB6-D3C9-F4E1-8AEF2ECE0E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1625967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6E2D6C-ADDD-7919-8B01-F2430F6C1A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43FE519-7DBE-3B61-21CD-B3B0C226BB7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E5B633-BC28-01CE-8413-F37070E050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3548879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7ECC29-CFF4-8ABF-C915-3169F433EBB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2B0F87-E6CF-D7A1-40B9-495F109176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AB015F-7BBC-E4B3-1037-CA3DAE9E89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477211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44B803-FB2A-FE28-C110-D02F02F3A9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D9D84A-304A-E55E-9324-85274DFA518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BB618D-94FA-58A9-4155-F121609E52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00424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D6B2225-C0B2-56EA-3045-806081BC79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CA1C512-4501-0D1D-A2AA-3AEE7779B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C4BDA5A-BCA5-4965-0EEA-A9AB0F4BB3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078966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41BC26-EB58-4C22-AF95-3E749992E4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13548C-5DB0-865E-C740-34E11AC2AD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D382200-C9EB-25C0-9161-F002EF3907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63664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2E8F99-4EF5-8C1C-B8FB-DC0D9E9D452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5A67404-F6AF-3E18-349F-311E3E7B2CB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5FD715-7DE0-1C44-D1A0-F523F61750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834905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E18440F-1056-DAFA-176A-D26254D36010}"/>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BD88BCB-8134-07CA-DB5D-25E76AF8BD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2EAE820-72DD-88C2-F9F9-F6BD94102F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9406424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458109F-86CB-C8B2-DBD1-6B4C043A93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1227C0-9987-B6FE-943E-02589440820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ED54106-1EA5-D09F-5297-4E5F9FA4D4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901358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B4C103-FD70-DC24-3807-8A9F53C1797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65B16-AED5-042F-9941-627D2421E5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C881E0-573D-D8BA-0B4E-6AAC9475B2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5676319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C82AC7-8202-F2C9-A3D9-B5D987B1AA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B8A00E-83B2-E80F-3506-85A7613BD93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B61B05-1962-E37D-BC7D-A134229005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0818873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D9D9EA-5589-19AF-E262-E2F2F623AF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399A02-E788-A483-A486-8A6EB9147E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C2689D-70E1-4B17-76A2-B86E57C8819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67836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1FFF0E-C97C-278C-3F77-3CC6B4049B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A5001F4-2420-5D75-35F6-B8AF968F11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098A410-8313-E2B4-8AEA-70E986C0E9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010014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HW4.pdf"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hyperlink" Target="https://www.frontiersin.org/journals/robotics-and-ai/articles/10.3389/frobt.2025.1671673/full" TargetMode="External"/><Relationship Id="rId5" Type="http://schemas.openxmlformats.org/officeDocument/2006/relationships/image" Target="../media/image8.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hyperlink" Target="https://en.wikipedia.org/wiki/Differential_wheeled_robot"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hyperlink" Target="https://en.wikipedia.org/wiki/Observational_error" TargetMode="Externa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hyperlink" Target="https://en.wikipedia.org/wiki/Observational_error" TargetMode="External"/><Relationship Id="rId5" Type="http://schemas.openxmlformats.org/officeDocument/2006/relationships/image" Target="../media/image29.svg"/><Relationship Id="rId4" Type="http://schemas.openxmlformats.org/officeDocument/2006/relationships/image" Target="../media/image28.png"/></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38.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36.svg"/><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april.eecs.umich.edu/software/aprilta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41.jpeg"/><Relationship Id="rId5" Type="http://schemas.openxmlformats.org/officeDocument/2006/relationships/hyperlink" Target="https://www.researchgate.net/publication/355183350_PSL-SLAM_a_monocular_SLAM_system_using_points_and_structure_lines_in_Manhattan_World" TargetMode="External"/><Relationship Id="rId4" Type="http://schemas.openxmlformats.org/officeDocument/2006/relationships/image" Target="../media/image40.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43.gif"/><Relationship Id="rId5" Type="http://schemas.openxmlformats.org/officeDocument/2006/relationships/hyperlink" Target="https://learnopencv.com/iterative-closest-point-icp-explained/" TargetMode="External"/><Relationship Id="rId4" Type="http://schemas.openxmlformats.org/officeDocument/2006/relationships/image" Target="../media/image42.gif"/></Relationships>
</file>

<file path=ppt/slides/_rels/slide4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44.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15: Coordinate Transforms &amp; Dead-reckoning</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Wednesday, March 11</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Stand up and with your partner and:</a:t>
            </a:r>
          </a:p>
          <a:p>
            <a:pPr lvl="1" indent="-457200">
              <a:lnSpc>
                <a:spcPct val="100000"/>
              </a:lnSpc>
              <a:spcBef>
                <a:spcPts val="0"/>
              </a:spcBef>
              <a:buSzPts val="3000"/>
              <a:buFont typeface="+mj-lt"/>
              <a:buAutoNum type="arabicPeriod"/>
            </a:pPr>
            <a:r>
              <a:rPr lang="en-US" dirty="0">
                <a:latin typeface="Arial"/>
                <a:ea typeface="Arial"/>
                <a:cs typeface="Arial"/>
                <a:sym typeface="Arial"/>
              </a:rPr>
              <a:t>Agree on a starting position and a target position</a:t>
            </a:r>
          </a:p>
          <a:p>
            <a:pPr lvl="1" indent="-457200">
              <a:lnSpc>
                <a:spcPct val="100000"/>
              </a:lnSpc>
              <a:spcBef>
                <a:spcPts val="0"/>
              </a:spcBef>
              <a:buSzPts val="3000"/>
              <a:buFont typeface="+mj-lt"/>
              <a:buAutoNum type="arabicPeriod"/>
            </a:pPr>
            <a:r>
              <a:rPr lang="en-US" dirty="0">
                <a:latin typeface="Arial"/>
                <a:ea typeface="Arial"/>
                <a:cs typeface="Arial"/>
                <a:sym typeface="Arial"/>
              </a:rPr>
              <a:t>Discuss ways how one would go from point A to B as accurately as possible with their eyes closed.</a:t>
            </a:r>
          </a:p>
          <a:p>
            <a:pPr lvl="1" indent="-457200">
              <a:lnSpc>
                <a:spcPct val="100000"/>
              </a:lnSpc>
              <a:spcBef>
                <a:spcPts val="0"/>
              </a:spcBef>
              <a:buSzPts val="3000"/>
              <a:buFont typeface="+mj-lt"/>
              <a:buAutoNum type="arabicPeriod"/>
            </a:pPr>
            <a:r>
              <a:rPr lang="en-US" dirty="0">
                <a:latin typeface="Arial"/>
                <a:ea typeface="Arial"/>
                <a:cs typeface="Arial"/>
                <a:sym typeface="Arial"/>
              </a:rPr>
              <a:t>One of you closes your eyes (the partner should keep the other safe during the activity) and performs the strategy to try to get from point A to B. The other partner should not provide information during that time (Dead-Reckoning).</a:t>
            </a:r>
          </a:p>
          <a:p>
            <a:pPr lvl="1" indent="-457200">
              <a:lnSpc>
                <a:spcPct val="100000"/>
              </a:lnSpc>
              <a:spcBef>
                <a:spcPts val="0"/>
              </a:spcBef>
              <a:buSzPts val="3000"/>
              <a:buFont typeface="+mj-lt"/>
              <a:buAutoNum type="arabicPeriod"/>
            </a:pPr>
            <a:r>
              <a:rPr lang="en-US" dirty="0">
                <a:latin typeface="Arial"/>
                <a:ea typeface="Arial"/>
                <a:cs typeface="Arial"/>
                <a:sym typeface="Arial"/>
              </a:rPr>
              <a:t>Now redo the task but now your partner can only tell you distance to the target as well (type IR sensor).</a:t>
            </a: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Spring Break next week, no 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endParaRPr lang="en-US" sz="1800" b="1" dirty="0">
              <a:latin typeface="Arial"/>
              <a:ea typeface="Arial"/>
              <a:cs typeface="Arial"/>
              <a:sym typeface="Arial"/>
            </a:endParaRP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5 this week. This a 1-week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3 </a:t>
            </a:r>
            <a:r>
              <a:rPr lang="en-US" sz="1800" dirty="0">
                <a:latin typeface="Arial"/>
                <a:ea typeface="Arial"/>
                <a:cs typeface="Arial"/>
                <a:sym typeface="Arial"/>
              </a:rPr>
              <a:t>Ex 5 are due </a:t>
            </a:r>
            <a:r>
              <a:rPr lang="en-US" sz="1800" b="1" dirty="0">
                <a:latin typeface="Arial"/>
                <a:ea typeface="Arial"/>
                <a:cs typeface="Arial"/>
                <a:sym typeface="Arial"/>
              </a:rPr>
              <a:t>March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a:t>
            </a:r>
            <a:r>
              <a:rPr lang="en-US" sz="1800" dirty="0">
                <a:latin typeface="Arial"/>
                <a:ea typeface="Arial"/>
                <a:cs typeface="Arial"/>
                <a:sym typeface="Arial"/>
                <a:hlinkClick r:id="rId3"/>
              </a:rPr>
              <a:t>homework 3</a:t>
            </a:r>
            <a:r>
              <a:rPr lang="en-US" sz="1800" dirty="0">
                <a:latin typeface="Arial"/>
                <a:ea typeface="Arial"/>
                <a:cs typeface="Arial"/>
                <a:sym typeface="Arial"/>
              </a:rPr>
              <a:t> are due </a:t>
            </a:r>
            <a:r>
              <a:rPr lang="en-US" sz="1800" b="1" dirty="0">
                <a:latin typeface="Arial"/>
                <a:ea typeface="Arial"/>
                <a:cs typeface="Arial"/>
                <a:sym typeface="Arial"/>
              </a:rPr>
              <a:t>March 25, 9AM</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4"/>
              </a:rPr>
              <a:t>homework 4</a:t>
            </a:r>
            <a:r>
              <a:rPr lang="en-US" sz="1800" dirty="0">
                <a:latin typeface="Arial"/>
                <a:ea typeface="Arial"/>
                <a:cs typeface="Arial"/>
                <a:sym typeface="Arial"/>
              </a:rPr>
              <a:t> Ex 2 and 3 are due </a:t>
            </a:r>
            <a:r>
              <a:rPr lang="en-US" sz="1800" b="1" dirty="0">
                <a:latin typeface="Arial"/>
                <a:ea typeface="Arial"/>
                <a:cs typeface="Arial"/>
                <a:sym typeface="Arial"/>
              </a:rPr>
              <a:t>March 31, 5PM (The end of office hours)</a:t>
            </a:r>
            <a:endParaRPr lang="en-US" sz="1800" dirty="0">
              <a:latin typeface="Arial"/>
              <a:ea typeface="Arial"/>
              <a:cs typeface="Arial"/>
              <a:sym typeface="Arial"/>
            </a:endParaRP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Localization</a:t>
            </a:r>
            <a:endParaRPr dirty="0"/>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rial"/>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rial"/>
                <a:ea typeface="Arial"/>
                <a:cs typeface="Arial"/>
                <a:sym typeface="Arial"/>
              </a:rPr>
              <a:t>(A brief introduction.)</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D54E6D-ADE0-FF7B-8B3B-FBB787005E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D34F85F-14ED-8196-483A-A9B0CBE868E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We now have sensors to figure out where obstacles are. We have sensors to figure out the internal state of the robot.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We also know how to make a robot drive straight or follow a wall using feedback control.</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However, if we ask the robot to “go to coordinates (5, 5) on the map,” how does it know where it currently is?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This is the fundamental question of </a:t>
            </a:r>
            <a:r>
              <a:rPr lang="en-US" sz="2400" b="1" dirty="0">
                <a:latin typeface="Arial"/>
                <a:ea typeface="Arial"/>
                <a:cs typeface="Arial"/>
                <a:sym typeface="Arial"/>
              </a:rPr>
              <a:t>Localization</a:t>
            </a:r>
            <a:r>
              <a:rPr lang="en-US" sz="2400" dirty="0">
                <a:latin typeface="Arial"/>
                <a:ea typeface="Arial"/>
                <a:cs typeface="Arial"/>
                <a:sym typeface="Arial"/>
              </a:rPr>
              <a:t>!</a:t>
            </a:r>
          </a:p>
        </p:txBody>
      </p:sp>
      <p:sp>
        <p:nvSpPr>
          <p:cNvPr id="119" name="Google Shape;119;p29">
            <a:extLst>
              <a:ext uri="{FF2B5EF4-FFF2-40B4-BE49-F238E27FC236}">
                <a16:creationId xmlns:a16="http://schemas.microsoft.com/office/drawing/2014/main" id="{13215573-5A7C-3A19-B5FC-59A2DAECEA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C2BE7C5-E357-C849-95D1-A8AFC2B878C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3909E4A-4D7E-B978-3B33-F09D062D44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4271AA3-DDA8-8911-F3E0-99DCC109AC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8E6136-75ED-E9E8-7811-4C19C9302C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E3BB8A-CC27-EE8F-6806-F3A50294728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81700D1-F08F-06B9-193E-676EC039D7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EC927B8-E359-2078-0EE4-ADC57931A9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435854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E6B0AB0-4051-A09B-7311-A4F931BA9B5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A21696-5A9A-3401-67CD-214B116713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To solve localization, we need to understand that the world is not perfect and not a single sensor gives the exact solution.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first estimate movement using internal sensors (Dead-Reckoning).</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is a problem with just using internal sensors?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internal sensors drift and accumulate errors!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Think of this as walking blind and relying on just counting your steps as you did at the beginning of the lecture.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Finally, we use external sensors (LiDAR, Cameras) to look at landmarks and correct these errors (SLAM)</a:t>
            </a:r>
          </a:p>
        </p:txBody>
      </p:sp>
      <p:sp>
        <p:nvSpPr>
          <p:cNvPr id="119" name="Google Shape;119;p29">
            <a:extLst>
              <a:ext uri="{FF2B5EF4-FFF2-40B4-BE49-F238E27FC236}">
                <a16:creationId xmlns:a16="http://schemas.microsoft.com/office/drawing/2014/main" id="{EB1C9771-CEDB-F231-50E7-056ABA96B1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844BD46-26EE-7A92-2F40-585E66379FA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9C415F-6234-A563-9685-6C58F007F7C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01D358-E660-5A3A-79D7-E72117E7D0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D20787-DE13-FFAB-59C4-53CB0535AE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6E81C41-95EC-5910-AE81-9E9E0016E9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CB493-F98D-DEB8-5A08-571961CCE9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C2CB86-A719-5322-78B8-CD4308B7CD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81437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F4750B5-B14A-01C9-2B88-F206A73A34D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6D4F231-FAC7-950C-5B45-988055DD235B}"/>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Coordinate Transformation</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62E38B49-2E3A-FDD3-E87E-670AC8567A9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D84C68B-3657-9A09-BA27-13DFBD4178B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5955F79-2034-08CB-A687-A865D40FE7A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17795A85-70CE-C4BB-770A-9D34F3334B4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4D5F0B-0552-CD63-B00C-A9C2A0CD86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1B59352F-72AC-C977-FC71-D1436D4ABDC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0FE4BDD-F9D0-96A9-034F-99CDC779B4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C43F291-FBED-C820-8FD0-BF27F8527BF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EA57A2F-DF5A-9E87-A66E-340D67185C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193652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D68A14-2D43-55A7-F8C0-E002E2C62A8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C3FD844-676E-2C29-2373-9E0220DF013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A robot experiences the world from its own perspective, which we call the </a:t>
            </a:r>
            <a:r>
              <a:rPr lang="en-US" sz="2200" b="1" dirty="0">
                <a:latin typeface="Arial"/>
                <a:ea typeface="Arial"/>
                <a:cs typeface="Arial"/>
                <a:sym typeface="Arial"/>
              </a:rPr>
              <a:t>Local Frame </a:t>
            </a:r>
            <a:r>
              <a:rPr lang="en-US" sz="2200" dirty="0">
                <a:latin typeface="Arial"/>
                <a:ea typeface="Arial"/>
                <a:cs typeface="Arial"/>
                <a:sym typeface="Arial"/>
              </a:rPr>
              <a:t>(or Body Frame).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map or the room exists in a fixed, global reference frame, called the </a:t>
            </a:r>
            <a:r>
              <a:rPr lang="en-US" sz="2200" b="1" dirty="0">
                <a:latin typeface="Arial"/>
                <a:ea typeface="Arial"/>
                <a:cs typeface="Arial"/>
                <a:sym typeface="Arial"/>
              </a:rPr>
              <a:t>Global / World Frame</a:t>
            </a:r>
            <a:r>
              <a:rPr lang="en-US" sz="2200" dirty="0">
                <a:latin typeface="Arial"/>
                <a:ea typeface="Arial"/>
                <a:cs typeface="Arial"/>
                <a:sym typeface="Arial"/>
              </a:rPr>
              <a:t> (or Inertial Frame).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When driving a car, your local reference frame is your point of view inside the car, only you have that viewpoint, and the global reference is the shared viewpoint, which is provided by the GPS map.</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Each of the sensors view its information in its own Local Frame; however, to navigate a room, we must translate the local sensor data into the global map!</a:t>
            </a:r>
          </a:p>
        </p:txBody>
      </p:sp>
      <p:sp>
        <p:nvSpPr>
          <p:cNvPr id="119" name="Google Shape;119;p29">
            <a:extLst>
              <a:ext uri="{FF2B5EF4-FFF2-40B4-BE49-F238E27FC236}">
                <a16:creationId xmlns:a16="http://schemas.microsoft.com/office/drawing/2014/main" id="{311CB4E9-9255-9A87-DA02-4531EC6F08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A387E6F-1A16-5B7F-0DBD-EBB05D4C03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144F908-2DC1-FD6A-B6DD-0AE2DF0578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58C51D-5F5B-C5C1-7E3B-4E7961D336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A28F24-8ED6-D3C4-9D30-E11CE6FE4A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31BB56-3D10-4E51-1059-7704B1202A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D18472-15CC-951B-22D9-2D16BE443B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7BAC9-1191-2046-BCDC-AE807074BCA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5606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D5CD33-FBA4-E607-F00C-CE9B0B73E3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BD59CC6-7569-F8D1-B339-8E469DAB4A90}"/>
                  </a:ext>
                </a:extLst>
              </p:cNvPr>
              <p:cNvSpPr txBox="1">
                <a:spLocks noGrp="1"/>
              </p:cNvSpPr>
              <p:nvPr>
                <p:ph type="body" idx="1"/>
              </p:nvPr>
            </p:nvSpPr>
            <p:spPr>
              <a:xfrm>
                <a:off x="376809" y="1334279"/>
                <a:ext cx="584989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local frames of each of the sensors can be of different positions and orientation than the robot’s </a:t>
                </a:r>
                <a:r>
                  <a:rPr lang="en-US" sz="2200" b="1" dirty="0">
                    <a:latin typeface="Arial"/>
                    <a:ea typeface="Arial"/>
                    <a:cs typeface="Arial"/>
                    <a:sym typeface="Arial"/>
                  </a:rPr>
                  <a:t>body frame</a:t>
                </a:r>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a:t>
                </a:r>
                <a:r>
                  <a:rPr lang="en-US" sz="2200" b="1" dirty="0">
                    <a:latin typeface="Arial"/>
                    <a:ea typeface="Arial"/>
                    <a:cs typeface="Arial"/>
                    <a:sym typeface="Arial"/>
                  </a:rPr>
                  <a:t>body frame</a:t>
                </a:r>
                <a:r>
                  <a:rPr lang="en-US" sz="2200" dirty="0">
                    <a:latin typeface="Arial"/>
                    <a:ea typeface="Arial"/>
                    <a:cs typeface="Arial"/>
                    <a:sym typeface="Arial"/>
                  </a:rPr>
                  <a:t> is typically the frame where you define the </a:t>
                </a:r>
                <a14:m>
                  <m:oMath xmlns:m="http://schemas.openxmlformats.org/officeDocument/2006/math">
                    <m:r>
                      <a:rPr lang="en-US" sz="2200" b="0" i="0" smtClean="0">
                        <a:latin typeface="Cambria Math" panose="02040503050406030204" pitchFamily="18" charset="0"/>
                        <a:ea typeface="Cambria Math" panose="02040503050406030204" pitchFamily="18" charset="0"/>
                        <a:cs typeface="Arial"/>
                        <a:sym typeface="Arial"/>
                      </a:rPr>
                      <m:t>(</m:t>
                    </m:r>
                    <m:r>
                      <m:rPr>
                        <m:sty m:val="p"/>
                      </m:rPr>
                      <a:rPr lang="en-US" sz="2200" b="0" i="0" smtClean="0">
                        <a:latin typeface="Cambria Math" panose="02040503050406030204" pitchFamily="18" charset="0"/>
                        <a:ea typeface="Cambria Math" panose="02040503050406030204" pitchFamily="18" charset="0"/>
                        <a:cs typeface="Arial"/>
                        <a:sym typeface="Arial"/>
                      </a:rPr>
                      <m:t>x</m:t>
                    </m:r>
                    <m:r>
                      <a:rPr lang="en-US" sz="2200" b="0" i="1" smtClean="0">
                        <a:latin typeface="Cambria Math" panose="02040503050406030204" pitchFamily="18" charset="0"/>
                        <a:ea typeface="Cambria Math" panose="02040503050406030204" pitchFamily="18" charset="0"/>
                        <a:cs typeface="Arial"/>
                        <a:sym typeface="Arial"/>
                      </a:rPr>
                      <m:t>, </m:t>
                    </m:r>
                    <m:r>
                      <m:rPr>
                        <m:sty m:val="p"/>
                      </m:rPr>
                      <a:rPr lang="en-US" sz="2200" b="0" i="1" smtClean="0">
                        <a:latin typeface="Cambria Math" panose="02040503050406030204" pitchFamily="18" charset="0"/>
                        <a:ea typeface="Cambria Math" panose="02040503050406030204" pitchFamily="18" charset="0"/>
                        <a:cs typeface="Arial"/>
                        <a:sym typeface="Arial"/>
                      </a:rPr>
                      <m:t>y</m:t>
                    </m:r>
                    <m:r>
                      <a:rPr lang="en-US" sz="2200" b="0" i="1" smtClean="0">
                        <a:latin typeface="Cambria Math" panose="02040503050406030204" pitchFamily="18" charset="0"/>
                        <a:ea typeface="Cambria Math" panose="02040503050406030204" pitchFamily="18" charset="0"/>
                        <a:cs typeface="Arial"/>
                        <a:sym typeface="Arial"/>
                      </a:rPr>
                      <m:t>, </m:t>
                    </m:r>
                    <m:r>
                      <a:rPr lang="en-US" sz="2200" i="1" smtClean="0">
                        <a:latin typeface="Cambria Math" panose="02040503050406030204" pitchFamily="18" charset="0"/>
                        <a:ea typeface="Cambria Math" panose="02040503050406030204" pitchFamily="18" charset="0"/>
                        <a:cs typeface="Arial"/>
                        <a:sym typeface="Arial"/>
                      </a:rPr>
                      <m:t>𝜃</m:t>
                    </m:r>
                    <m:r>
                      <a:rPr lang="en-US" sz="2200" b="0" i="1" smtClean="0">
                        <a:latin typeface="Cambria Math" panose="02040503050406030204" pitchFamily="18" charset="0"/>
                        <a:ea typeface="Cambria Math" panose="02040503050406030204" pitchFamily="18" charset="0"/>
                        <a:cs typeface="Arial"/>
                        <a:sym typeface="Arial"/>
                      </a:rPr>
                      <m:t>)</m:t>
                    </m:r>
                  </m:oMath>
                </a14:m>
                <a:r>
                  <a:rPr lang="en-US" sz="2200" dirty="0">
                    <a:latin typeface="Arial"/>
                    <a:ea typeface="Arial"/>
                    <a:cs typeface="Arial"/>
                    <a:sym typeface="Arial"/>
                  </a:rPr>
                  <a:t> of the robot.</a:t>
                </a:r>
              </a:p>
              <a:p>
                <a:pPr marL="0" indent="0">
                  <a:lnSpc>
                    <a:spcPct val="100000"/>
                  </a:lnSpc>
                  <a:spcBef>
                    <a:spcPts val="0"/>
                  </a:spcBef>
                  <a:buSzPts val="3000"/>
                  <a:buNone/>
                </a:pPr>
                <a:endParaRPr lang="en-US" sz="2200" b="1"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So, we need to translate the sensor frames to the body frame, and then the body frame to the global frame.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the robot to the right moves “forward 1 meter”, does its local x coordinate increase or it’s y? What about it’s world x, y coordinates?</a:t>
                </a:r>
              </a:p>
            </p:txBody>
          </p:sp>
        </mc:Choice>
        <mc:Fallback xmlns="">
          <p:sp>
            <p:nvSpPr>
              <p:cNvPr id="118" name="Google Shape;118;p29">
                <a:extLst>
                  <a:ext uri="{FF2B5EF4-FFF2-40B4-BE49-F238E27FC236}">
                    <a16:creationId xmlns:a16="http://schemas.microsoft.com/office/drawing/2014/main" id="{9BD59CC6-7569-F8D1-B339-8E469DAB4A90}"/>
                  </a:ext>
                </a:extLst>
              </p:cNvPr>
              <p:cNvSpPr txBox="1">
                <a:spLocks noGrp="1" noRot="1" noChangeAspect="1" noMove="1" noResize="1" noEditPoints="1" noAdjustHandles="1" noChangeArrowheads="1" noChangeShapeType="1" noTextEdit="1"/>
              </p:cNvSpPr>
              <p:nvPr>
                <p:ph type="body" idx="1"/>
              </p:nvPr>
            </p:nvSpPr>
            <p:spPr>
              <a:xfrm>
                <a:off x="376809" y="1334279"/>
                <a:ext cx="5849892" cy="4821102"/>
              </a:xfrm>
              <a:prstGeom prst="rect">
                <a:avLst/>
              </a:prstGeom>
              <a:blipFill>
                <a:blip r:embed="rId3"/>
                <a:stretch>
                  <a:fillRect l="-1356" t="-759" r="-2398" b="-189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987ECFB-4495-249A-40BA-0241CD1976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120AD81-C680-622A-A674-17B52CFBCB3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E6BBCA4-CFCB-DA91-9B41-79074E15B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D8624EF-6C6D-92FE-D024-BBB996549B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7E90F5-76C0-896B-E43F-E5F1FCF11E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0D82D89-6AC9-3A75-EBED-5C3049E2BF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169CED0-53AD-DEF9-1671-4E93DE5248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D50A90D-323B-E878-049D-26D4F411BC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Picture 6">
            <a:extLst>
              <a:ext uri="{FF2B5EF4-FFF2-40B4-BE49-F238E27FC236}">
                <a16:creationId xmlns:a16="http://schemas.microsoft.com/office/drawing/2014/main" id="{B09C676A-C7CC-590E-E845-C95E05865DD4}"/>
              </a:ext>
            </a:extLst>
          </p:cNvPr>
          <p:cNvPicPr>
            <a:picLocks noChangeAspect="1"/>
          </p:cNvPicPr>
          <p:nvPr/>
        </p:nvPicPr>
        <p:blipFill>
          <a:blip r:embed="rId5"/>
          <a:stretch>
            <a:fillRect/>
          </a:stretch>
        </p:blipFill>
        <p:spPr>
          <a:xfrm>
            <a:off x="6226701" y="1651719"/>
            <a:ext cx="5965299" cy="3846662"/>
          </a:xfrm>
          <a:prstGeom prst="rect">
            <a:avLst/>
          </a:prstGeom>
        </p:spPr>
      </p:pic>
      <p:sp>
        <p:nvSpPr>
          <p:cNvPr id="9" name="TextBox 8">
            <a:extLst>
              <a:ext uri="{FF2B5EF4-FFF2-40B4-BE49-F238E27FC236}">
                <a16:creationId xmlns:a16="http://schemas.microsoft.com/office/drawing/2014/main" id="{EF53D97B-B5D7-BF27-4A42-A1F5ECA4416E}"/>
              </a:ext>
            </a:extLst>
          </p:cNvPr>
          <p:cNvSpPr txBox="1"/>
          <p:nvPr/>
        </p:nvSpPr>
        <p:spPr>
          <a:xfrm>
            <a:off x="6588338" y="5603472"/>
            <a:ext cx="5353050" cy="246221"/>
          </a:xfrm>
          <a:prstGeom prst="rect">
            <a:avLst/>
          </a:prstGeom>
          <a:noFill/>
        </p:spPr>
        <p:txBody>
          <a:bodyPr wrap="square">
            <a:spAutoFit/>
          </a:bodyPr>
          <a:lstStyle/>
          <a:p>
            <a:pPr algn="ctr"/>
            <a:r>
              <a:rPr lang="en-US" sz="1000" dirty="0">
                <a:hlinkClick r:id="rId6"/>
              </a:rPr>
              <a:t>https://www.frontiersin.org/journals/robotics-and-ai/articles/10.3389/frobt.2025.1671673/full</a:t>
            </a:r>
            <a:r>
              <a:rPr lang="en-US" sz="1000" dirty="0"/>
              <a:t> </a:t>
            </a:r>
          </a:p>
        </p:txBody>
      </p:sp>
    </p:spTree>
    <p:extLst>
      <p:ext uri="{BB962C8B-B14F-4D97-AF65-F5344CB8AC3E}">
        <p14:creationId xmlns:p14="http://schemas.microsoft.com/office/powerpoint/2010/main" val="2534883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8F7FA4-F548-74E2-0628-F61D456ACFC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1564308-C01B-3265-8F48-407500B31E86}"/>
                  </a:ext>
                </a:extLst>
              </p:cNvPr>
              <p:cNvSpPr txBox="1">
                <a:spLocks noGrp="1"/>
              </p:cNvSpPr>
              <p:nvPr>
                <p:ph type="body" idx="1"/>
              </p:nvPr>
            </p:nvSpPr>
            <p:spPr>
              <a:xfrm>
                <a:off x="376809" y="1334279"/>
                <a:ext cx="597065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Let the </a:t>
                </a:r>
                <a:r>
                  <a:rPr lang="en-US" sz="2200" b="1" dirty="0">
                    <a:latin typeface="Arial"/>
                    <a:ea typeface="Arial"/>
                    <a:cs typeface="Arial"/>
                    <a:sym typeface="Arial"/>
                  </a:rPr>
                  <a:t>World Frame </a:t>
                </a:r>
                <a:r>
                  <a:rPr lang="en-US" sz="2200" dirty="0">
                    <a:latin typeface="Arial"/>
                    <a:ea typeface="Arial"/>
                    <a:cs typeface="Arial"/>
                    <a:sym typeface="Arial"/>
                  </a:rPr>
                  <a:t>be defined by axes </a:t>
                </a:r>
                <a14:m>
                  <m:oMath xmlns:m="http://schemas.openxmlformats.org/officeDocument/2006/math">
                    <m:r>
                      <m:rPr>
                        <m:sty m:val="p"/>
                      </m:rPr>
                      <a:rPr lang="en-US" sz="2200" b="0" i="1" dirty="0" smtClean="0">
                        <a:latin typeface="Cambria Math" panose="02040503050406030204" pitchFamily="18" charset="0"/>
                        <a:ea typeface="Arial"/>
                        <a:cs typeface="Arial"/>
                        <a:sym typeface="Arial"/>
                      </a:rPr>
                      <m:t>X</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Y</m:t>
                    </m:r>
                  </m:oMath>
                </a14:m>
                <a:r>
                  <a:rPr lang="en-US" sz="2200" dirty="0">
                    <a:latin typeface="Arial"/>
                    <a:ea typeface="Arial"/>
                    <a:cs typeface="Arial"/>
                    <a:sym typeface="Arial"/>
                  </a:rPr>
                  <a:t> with origin </a:t>
                </a:r>
                <a14:m>
                  <m:oMath xmlns:m="http://schemas.openxmlformats.org/officeDocument/2006/math">
                    <m:r>
                      <m:rPr>
                        <m:sty m:val="p"/>
                      </m:rPr>
                      <a:rPr lang="en-US" sz="2200" b="0" i="1" dirty="0" smtClean="0">
                        <a:latin typeface="Cambria Math" panose="02040503050406030204" pitchFamily="18" charset="0"/>
                        <a:ea typeface="Arial"/>
                        <a:cs typeface="Arial"/>
                        <a:sym typeface="Arial"/>
                      </a:rPr>
                      <m:t>O</m:t>
                    </m:r>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Let the </a:t>
                </a:r>
                <a:r>
                  <a:rPr lang="en-US" sz="2200" b="1" dirty="0">
                    <a:latin typeface="Arial"/>
                    <a:ea typeface="Arial"/>
                    <a:cs typeface="Arial"/>
                    <a:sym typeface="Arial"/>
                  </a:rPr>
                  <a:t>Body Frame </a:t>
                </a:r>
                <a:r>
                  <a:rPr lang="en-US" sz="2200" dirty="0">
                    <a:latin typeface="Arial"/>
                    <a:ea typeface="Arial"/>
                    <a:cs typeface="Arial"/>
                    <a:sym typeface="Arial"/>
                  </a:rPr>
                  <a:t>be defined by axes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𝑋</m:t>
                        </m:r>
                      </m:e>
                      <m:sub>
                        <m:r>
                          <a:rPr lang="en-US" sz="2200" i="1" dirty="0" smtClean="0">
                            <a:latin typeface="Cambria Math" panose="02040503050406030204" pitchFamily="18" charset="0"/>
                            <a:ea typeface="Arial"/>
                            <a:cs typeface="Arial"/>
                            <a:sym typeface="Arial"/>
                          </a:rPr>
                          <m:t>𝐵</m:t>
                        </m:r>
                      </m:sub>
                    </m:sSub>
                  </m:oMath>
                </a14:m>
                <a:r>
                  <a:rPr lang="en-US" sz="2200" dirty="0">
                    <a:latin typeface="Arial"/>
                    <a:ea typeface="Arial"/>
                    <a:cs typeface="Arial"/>
                    <a:sym typeface="Arial"/>
                  </a:rPr>
                  <a:t> (pointing forward) and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𝑌</m:t>
                        </m:r>
                      </m:e>
                      <m:sub>
                        <m:r>
                          <a:rPr lang="en-US" sz="2200" i="1" dirty="0" smtClean="0">
                            <a:latin typeface="Cambria Math" panose="02040503050406030204" pitchFamily="18" charset="0"/>
                            <a:ea typeface="Arial"/>
                            <a:cs typeface="Arial"/>
                            <a:sym typeface="Arial"/>
                          </a:rPr>
                          <m:t>𝐵</m:t>
                        </m:r>
                      </m:sub>
                    </m:sSub>
                  </m:oMath>
                </a14:m>
                <a:r>
                  <a:rPr lang="en-US" sz="2200" dirty="0">
                    <a:latin typeface="Arial"/>
                    <a:ea typeface="Arial"/>
                    <a:cs typeface="Arial"/>
                    <a:sym typeface="Arial"/>
                  </a:rPr>
                  <a:t> (pointing left) with origin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𝑂</m:t>
                        </m:r>
                      </m:e>
                      <m:sub>
                        <m:r>
                          <a:rPr lang="en-US" sz="2200" i="1" dirty="0" smtClean="0">
                            <a:latin typeface="Cambria Math" panose="02040503050406030204" pitchFamily="18" charset="0"/>
                            <a:ea typeface="Arial"/>
                            <a:cs typeface="Arial"/>
                            <a:sym typeface="Arial"/>
                          </a:rPr>
                          <m:t>𝐵</m:t>
                        </m:r>
                      </m:sub>
                    </m:sSub>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robot’s pose in the world is defined by its position and it’s heading angle.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𝑝</m:t>
                      </m:r>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𝜃</m:t>
                          </m:r>
                        </m:e>
                      </m:d>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91564308-C01B-3265-8F48-407500B31E86}"/>
                  </a:ext>
                </a:extLst>
              </p:cNvPr>
              <p:cNvSpPr txBox="1">
                <a:spLocks noGrp="1" noRot="1" noChangeAspect="1" noMove="1" noResize="1" noEditPoints="1" noAdjustHandles="1" noChangeArrowheads="1" noChangeShapeType="1" noTextEdit="1"/>
              </p:cNvSpPr>
              <p:nvPr>
                <p:ph type="body" idx="1"/>
              </p:nvPr>
            </p:nvSpPr>
            <p:spPr>
              <a:xfrm>
                <a:off x="376809" y="1334279"/>
                <a:ext cx="5970651" cy="4821102"/>
              </a:xfrm>
              <a:prstGeom prst="rect">
                <a:avLst/>
              </a:prstGeom>
              <a:blipFill>
                <a:blip r:embed="rId3"/>
                <a:stretch>
                  <a:fillRect l="-1328"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7B17B77-EFCB-B07C-6B3E-77C7461953A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0D28FD7-4978-E5ED-7F8D-57889B5F842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B5F77DB-0C03-D850-1132-AB3E9EF3E4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895157-E85B-3373-ABEC-3F96A0B3DF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2CEFC3-26C7-0E1C-3C98-2F715F4690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021548D-DD99-A7E1-6B5F-6FB7164D92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1B026BE-F922-29E2-8125-9DC50A8F3D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1173063-51F2-6EE4-485D-76EC01E386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B01BA914-F748-37D2-7034-19DF3A5F114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47460" y="906290"/>
            <a:ext cx="5373498" cy="5373498"/>
          </a:xfrm>
          <a:prstGeom prst="rect">
            <a:avLst/>
          </a:prstGeom>
        </p:spPr>
      </p:pic>
      <p:sp>
        <p:nvSpPr>
          <p:cNvPr id="5" name="TextBox 4">
            <a:extLst>
              <a:ext uri="{FF2B5EF4-FFF2-40B4-BE49-F238E27FC236}">
                <a16:creationId xmlns:a16="http://schemas.microsoft.com/office/drawing/2014/main" id="{CA17C04D-6741-0831-1652-246378C3FBE8}"/>
              </a:ext>
            </a:extLst>
          </p:cNvPr>
          <p:cNvSpPr txBox="1"/>
          <p:nvPr/>
        </p:nvSpPr>
        <p:spPr>
          <a:xfrm>
            <a:off x="7384479" y="6277819"/>
            <a:ext cx="3299459" cy="246221"/>
          </a:xfrm>
          <a:prstGeom prst="rect">
            <a:avLst/>
          </a:prstGeom>
          <a:noFill/>
        </p:spPr>
        <p:txBody>
          <a:bodyPr wrap="square">
            <a:spAutoFit/>
          </a:bodyPr>
          <a:lstStyle/>
          <a:p>
            <a:pPr algn="ctr"/>
            <a:r>
              <a:rPr lang="en-US" sz="1000" dirty="0">
                <a:hlinkClick r:id="rId7"/>
              </a:rPr>
              <a:t>https://en.wikipedia.org/wiki/Differential_wheeled_robot</a:t>
            </a:r>
            <a:r>
              <a:rPr lang="en-US" sz="1000" dirty="0"/>
              <a:t> </a:t>
            </a:r>
          </a:p>
        </p:txBody>
      </p:sp>
    </p:spTree>
    <p:extLst>
      <p:ext uri="{BB962C8B-B14F-4D97-AF65-F5344CB8AC3E}">
        <p14:creationId xmlns:p14="http://schemas.microsoft.com/office/powerpoint/2010/main" val="40323990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E8A154-AC74-35C1-3F62-BF4ECDA82F3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FE8C429-6DB1-3359-08A6-437C1380A5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If the robot’s heading </a:t>
                </a:r>
                <a14:m>
                  <m:oMath xmlns:m="http://schemas.openxmlformats.org/officeDocument/2006/math">
                    <m:r>
                      <a:rPr lang="en-US" sz="2200" i="1" dirty="0" smtClean="0">
                        <a:latin typeface="Cambria Math" panose="02040503050406030204" pitchFamily="18" charset="0"/>
                        <a:ea typeface="Arial"/>
                        <a:cs typeface="Arial"/>
                        <a:sym typeface="Arial"/>
                      </a:rPr>
                      <m:t>𝜃</m:t>
                    </m:r>
                    <m:r>
                      <a:rPr lang="en-US" sz="2200" i="1" dirty="0" smtClean="0">
                        <a:latin typeface="Cambria Math" panose="02040503050406030204" pitchFamily="18" charset="0"/>
                        <a:ea typeface="Arial"/>
                        <a:cs typeface="Arial"/>
                        <a:sym typeface="Arial"/>
                      </a:rPr>
                      <m:t>= 0</m:t>
                    </m:r>
                  </m:oMath>
                </a14:m>
                <a:r>
                  <a:rPr lang="en-US" sz="2200" dirty="0">
                    <a:latin typeface="Arial"/>
                    <a:ea typeface="Arial"/>
                    <a:cs typeface="Arial"/>
                    <a:sym typeface="Arial"/>
                  </a:rPr>
                  <a:t>, its axes are perfectly aligned with the world axes.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Thus, moving from the robot frame to the world frame is simply a vector addition!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the robot is at world coordinates </a:t>
                </a:r>
                <a14:m>
                  <m:oMath xmlns:m="http://schemas.openxmlformats.org/officeDocument/2006/math">
                    <m:r>
                      <m:rPr>
                        <m:sty m:val="p"/>
                      </m:rPr>
                      <a:rPr lang="en-US" sz="2200" b="0" i="0" dirty="0" smtClean="0">
                        <a:latin typeface="Cambria Math" panose="02040503050406030204" pitchFamily="18" charset="0"/>
                        <a:ea typeface="Arial"/>
                        <a:cs typeface="Arial"/>
                        <a:sym typeface="Arial"/>
                      </a:rPr>
                      <m:t>T</m:t>
                    </m:r>
                    <m:r>
                      <a:rPr lang="en-US" sz="2200" b="0" i="0" dirty="0" smtClean="0">
                        <a:latin typeface="Cambria Math" panose="02040503050406030204" pitchFamily="18" charset="0"/>
                        <a:ea typeface="Arial"/>
                        <a:cs typeface="Arial"/>
                        <a:sym typeface="Arial"/>
                      </a:rPr>
                      <m:t> = </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e>
                    </m:d>
                  </m:oMath>
                </a14:m>
                <a:r>
                  <a:rPr lang="en-US" sz="2200" dirty="0">
                    <a:latin typeface="Arial"/>
                    <a:ea typeface="Arial"/>
                    <a:cs typeface="Arial"/>
                    <a:sym typeface="Arial"/>
                  </a:rPr>
                  <a:t>, a point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𝑅</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𝑥</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𝑦</m:t>
                            </m:r>
                          </m:e>
                          <m:sub>
                            <m:r>
                              <a:rPr lang="en-US" sz="2200" i="1" dirty="0" err="1" smtClean="0">
                                <a:latin typeface="Cambria Math" panose="02040503050406030204" pitchFamily="18" charset="0"/>
                                <a:ea typeface="Arial"/>
                                <a:cs typeface="Arial"/>
                                <a:sym typeface="Arial"/>
                              </a:rPr>
                              <m:t>𝑟</m:t>
                            </m:r>
                          </m:sub>
                        </m:sSub>
                      </m:e>
                    </m:d>
                  </m:oMath>
                </a14:m>
                <a:r>
                  <a:rPr lang="en-US" sz="2200" dirty="0">
                    <a:latin typeface="Arial"/>
                    <a:ea typeface="Arial"/>
                    <a:cs typeface="Arial"/>
                    <a:sym typeface="Arial"/>
                  </a:rPr>
                  <a:t> in the robot frame is: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𝑥</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𝑦</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In the world frame. In vector math, this is represented as: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𝑅</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𝑇</m:t>
                      </m:r>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Translation is linear and simple; however, robot also rotate.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1FE8C429-6DB1-3359-08A6-437C1380A52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C648B22-4C8A-850E-9587-A1590E4518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30B33C5-0225-FBE9-0908-901ED49E9D1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Translation (Shifting)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AC15EB2-7579-6C29-F6F7-B64D04FEE3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90D5DF-B320-4FDB-D9FB-2FA72D34B29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B0321E-1AF6-31FA-3CB3-08866A7578C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419A7F9-C906-D65A-6614-000B07D3D3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4ABDE9-C9F2-0B62-868F-083C8BEB5A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F8F44F-83E4-8FA9-AB0A-E4FF934520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047760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23D0E7-A089-75A4-9164-B7EC38D4630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826FE40-7422-2C5B-E2F3-79825B7343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660EFA5-ABBD-8C82-F8B2-DFD888A442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Translation (Shifting)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ECBFA23-E630-2125-C665-9F89AC6E15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47AD65-BCD5-502E-A5E1-AB8464363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894D45-370F-1CBC-D425-121EEC5B05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5DCACAB-A035-59E2-CB7F-440B651FC0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58007C-7062-4319-7E96-933E98DE90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3FA883B-820E-A7D2-8378-770B243B64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8" name="Group 17">
            <a:extLst>
              <a:ext uri="{FF2B5EF4-FFF2-40B4-BE49-F238E27FC236}">
                <a16:creationId xmlns:a16="http://schemas.microsoft.com/office/drawing/2014/main" id="{5F751BDC-B070-4E06-803F-F7D670B67D61}"/>
              </a:ext>
            </a:extLst>
          </p:cNvPr>
          <p:cNvGrpSpPr/>
          <p:nvPr/>
        </p:nvGrpSpPr>
        <p:grpSpPr>
          <a:xfrm>
            <a:off x="3409251" y="1150542"/>
            <a:ext cx="5373498" cy="5373498"/>
            <a:chOff x="3145074" y="1150542"/>
            <a:chExt cx="5373498" cy="5373498"/>
          </a:xfrm>
        </p:grpSpPr>
        <p:pic>
          <p:nvPicPr>
            <p:cNvPr id="4" name="Graphic 3">
              <a:extLst>
                <a:ext uri="{FF2B5EF4-FFF2-40B4-BE49-F238E27FC236}">
                  <a16:creationId xmlns:a16="http://schemas.microsoft.com/office/drawing/2014/main" id="{D2324FFB-0CF5-F03C-B042-14E9646FD156}"/>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145074" y="1150542"/>
              <a:ext cx="5373498" cy="5373498"/>
            </a:xfrm>
            <a:prstGeom prst="rect">
              <a:avLst/>
            </a:prstGeom>
          </p:spPr>
        </p:pic>
        <p:cxnSp>
          <p:nvCxnSpPr>
            <p:cNvPr id="6" name="Straight Arrow Connector 5">
              <a:extLst>
                <a:ext uri="{FF2B5EF4-FFF2-40B4-BE49-F238E27FC236}">
                  <a16:creationId xmlns:a16="http://schemas.microsoft.com/office/drawing/2014/main" id="{551523CE-1BC1-05ED-CF5F-F26E9E2DB367}"/>
                </a:ext>
              </a:extLst>
            </p:cNvPr>
            <p:cNvCxnSpPr/>
            <p:nvPr/>
          </p:nvCxnSpPr>
          <p:spPr>
            <a:xfrm flipV="1">
              <a:off x="3543300" y="4183380"/>
              <a:ext cx="2552700" cy="189738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8514D51C-6E7B-4880-6E2D-ECB9AA151E1A}"/>
                </a:ext>
              </a:extLst>
            </p:cNvPr>
            <p:cNvSpPr txBox="1"/>
            <p:nvPr/>
          </p:nvSpPr>
          <p:spPr>
            <a:xfrm>
              <a:off x="4583430" y="4639330"/>
              <a:ext cx="335280" cy="523220"/>
            </a:xfrm>
            <a:prstGeom prst="rect">
              <a:avLst/>
            </a:prstGeom>
            <a:noFill/>
          </p:spPr>
          <p:txBody>
            <a:bodyPr wrap="square" rtlCol="0">
              <a:spAutoFit/>
            </a:bodyPr>
            <a:lstStyle/>
            <a:p>
              <a:pPr algn="ctr"/>
              <a:r>
                <a:rPr lang="en-US" sz="2800" b="1" dirty="0">
                  <a:solidFill>
                    <a:srgbClr val="FF0000"/>
                  </a:solidFill>
                </a:rPr>
                <a:t>T</a:t>
              </a:r>
            </a:p>
          </p:txBody>
        </p:sp>
        <p:cxnSp>
          <p:nvCxnSpPr>
            <p:cNvPr id="8" name="Straight Arrow Connector 7">
              <a:extLst>
                <a:ext uri="{FF2B5EF4-FFF2-40B4-BE49-F238E27FC236}">
                  <a16:creationId xmlns:a16="http://schemas.microsoft.com/office/drawing/2014/main" id="{BB651C9E-B1E4-5597-C4F4-DFF98447751D}"/>
                </a:ext>
              </a:extLst>
            </p:cNvPr>
            <p:cNvCxnSpPr>
              <a:cxnSpLocks/>
            </p:cNvCxnSpPr>
            <p:nvPr/>
          </p:nvCxnSpPr>
          <p:spPr>
            <a:xfrm>
              <a:off x="6030936" y="4183039"/>
              <a:ext cx="954578" cy="0"/>
            </a:xfrm>
            <a:prstGeom prst="straightConnector1">
              <a:avLst/>
            </a:prstGeom>
            <a:ln w="5715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8F83A95D-4753-CD5C-B982-8098E5269963}"/>
                </a:ext>
              </a:extLst>
            </p:cNvPr>
            <p:cNvSpPr txBox="1"/>
            <p:nvPr/>
          </p:nvSpPr>
          <p:spPr>
            <a:xfrm>
              <a:off x="6344473" y="3602036"/>
              <a:ext cx="609052" cy="523220"/>
            </a:xfrm>
            <a:prstGeom prst="rect">
              <a:avLst/>
            </a:prstGeom>
            <a:noFill/>
          </p:spPr>
          <p:txBody>
            <a:bodyPr wrap="square" rtlCol="0">
              <a:spAutoFit/>
            </a:bodyPr>
            <a:lstStyle/>
            <a:p>
              <a:pPr algn="ctr"/>
              <a:r>
                <a:rPr lang="en-US" sz="2800" b="1" dirty="0" err="1">
                  <a:solidFill>
                    <a:srgbClr val="FF0000"/>
                  </a:solidFill>
                </a:rPr>
                <a:t>P</a:t>
              </a:r>
              <a:r>
                <a:rPr lang="en-US" sz="2800" b="1" baseline="-25000" dirty="0" err="1">
                  <a:solidFill>
                    <a:srgbClr val="FF0000"/>
                  </a:solidFill>
                </a:rPr>
                <a:t>r</a:t>
              </a:r>
              <a:endParaRPr lang="en-US" sz="2800" b="1" dirty="0">
                <a:solidFill>
                  <a:srgbClr val="FF0000"/>
                </a:solidFill>
              </a:endParaRPr>
            </a:p>
          </p:txBody>
        </p:sp>
        <p:cxnSp>
          <p:nvCxnSpPr>
            <p:cNvPr id="12" name="Straight Arrow Connector 11">
              <a:extLst>
                <a:ext uri="{FF2B5EF4-FFF2-40B4-BE49-F238E27FC236}">
                  <a16:creationId xmlns:a16="http://schemas.microsoft.com/office/drawing/2014/main" id="{1F53EEDE-9C6A-1C4C-67A2-6599B0F78B9D}"/>
                </a:ext>
              </a:extLst>
            </p:cNvPr>
            <p:cNvCxnSpPr>
              <a:cxnSpLocks/>
            </p:cNvCxnSpPr>
            <p:nvPr/>
          </p:nvCxnSpPr>
          <p:spPr>
            <a:xfrm flipV="1">
              <a:off x="3543300" y="4244340"/>
              <a:ext cx="3410225" cy="1836420"/>
            </a:xfrm>
            <a:prstGeom prst="straightConnector1">
              <a:avLst/>
            </a:prstGeom>
            <a:ln w="571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73FC0BC-1231-9DF3-339A-15D422721845}"/>
                </a:ext>
              </a:extLst>
            </p:cNvPr>
            <p:cNvSpPr txBox="1"/>
            <p:nvPr/>
          </p:nvSpPr>
          <p:spPr>
            <a:xfrm>
              <a:off x="5248412" y="5054279"/>
              <a:ext cx="609052" cy="523220"/>
            </a:xfrm>
            <a:prstGeom prst="rect">
              <a:avLst/>
            </a:prstGeom>
            <a:noFill/>
          </p:spPr>
          <p:txBody>
            <a:bodyPr wrap="square" rtlCol="0">
              <a:spAutoFit/>
            </a:bodyPr>
            <a:lstStyle/>
            <a:p>
              <a:pPr algn="ctr"/>
              <a:r>
                <a:rPr lang="en-US" sz="2800" b="1" dirty="0">
                  <a:solidFill>
                    <a:srgbClr val="FF0000"/>
                  </a:solidFill>
                </a:rPr>
                <a:t>P</a:t>
              </a:r>
              <a:r>
                <a:rPr lang="en-US" sz="2800" b="1" baseline="-25000" dirty="0">
                  <a:solidFill>
                    <a:srgbClr val="FF0000"/>
                  </a:solidFill>
                </a:rPr>
                <a:t>w</a:t>
              </a:r>
              <a:endParaRPr lang="en-US" sz="2800" b="1" dirty="0">
                <a:solidFill>
                  <a:srgbClr val="FF0000"/>
                </a:solidFill>
              </a:endParaRPr>
            </a:p>
          </p:txBody>
        </p:sp>
      </p:grpSp>
    </p:spTree>
    <p:extLst>
      <p:ext uri="{BB962C8B-B14F-4D97-AF65-F5344CB8AC3E}">
        <p14:creationId xmlns:p14="http://schemas.microsoft.com/office/powerpoint/2010/main" val="42078189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55C7DE8-314F-0DB5-8E86-BDD53E860A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6A47D07-6F84-A133-8D6D-0C151E6B66A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Suppose the robot frame is at the world origin but rotated by and angle </a:t>
                </a:r>
                <a14:m>
                  <m:oMath xmlns:m="http://schemas.openxmlformats.org/officeDocument/2006/math">
                    <m:r>
                      <a:rPr lang="en-US" sz="2200" b="0" i="1" dirty="0" smtClean="0">
                        <a:latin typeface="Cambria Math" panose="02040503050406030204" pitchFamily="18" charset="0"/>
                        <a:ea typeface="Arial"/>
                        <a:cs typeface="Arial"/>
                        <a:sym typeface="Arial"/>
                      </a:rPr>
                      <m:t>𝜑</m:t>
                    </m:r>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want to map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rial"/>
                    <a:ea typeface="Arial"/>
                    <a:cs typeface="Arial"/>
                    <a:sym typeface="Arial"/>
                  </a:rPr>
                  <a:t>, from the rotated frame to the fixed frame.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Let point </a:t>
                </a:r>
                <a14:m>
                  <m:oMath xmlns:m="http://schemas.openxmlformats.org/officeDocument/2006/math">
                    <m:r>
                      <m:rPr>
                        <m:sty m:val="p"/>
                      </m:rPr>
                      <a:rPr lang="en-US" sz="2200" i="1">
                        <a:latin typeface="Cambria Math" panose="02040503050406030204" pitchFamily="18" charset="0"/>
                        <a:ea typeface="Arial"/>
                        <a:cs typeface="Arial"/>
                        <a:sym typeface="Arial"/>
                      </a:rPr>
                      <m:t>P</m:t>
                    </m:r>
                  </m:oMath>
                </a14:m>
                <a:r>
                  <a:rPr lang="en-US" sz="2200" dirty="0">
                    <a:latin typeface="Arial"/>
                    <a:ea typeface="Arial"/>
                    <a:cs typeface="Arial"/>
                    <a:sym typeface="Arial"/>
                  </a:rPr>
                  <a:t> have polar coordinates </a:t>
                </a:r>
                <a14:m>
                  <m:oMath xmlns:m="http://schemas.openxmlformats.org/officeDocument/2006/math">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𝑟</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Cambria Math" panose="02040503050406030204" pitchFamily="18" charset="0"/>
                            <a:cs typeface="Arial"/>
                            <a:sym typeface="Arial"/>
                          </a:rPr>
                          <m:t>𝛼</m:t>
                        </m:r>
                      </m:e>
                    </m:d>
                  </m:oMath>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Therefore,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200" i="1" smtClean="0">
                              <a:latin typeface="Cambria Math" panose="02040503050406030204" pitchFamily="18" charset="0"/>
                              <a:ea typeface="Arial"/>
                              <a:cs typeface="Arial"/>
                              <a:sym typeface="Arial"/>
                            </a:rPr>
                          </m:ctrlPr>
                        </m:dPr>
                        <m:e>
                          <m:sSub>
                            <m:sSubPr>
                              <m:ctrlPr>
                                <a:rPr lang="en-US" sz="2200" i="1" smtClean="0">
                                  <a:latin typeface="Cambria Math" panose="02040503050406030204" pitchFamily="18" charset="0"/>
                                  <a:ea typeface="Arial"/>
                                  <a:cs typeface="Arial"/>
                                  <a:sym typeface="Arial"/>
                                </a:rPr>
                              </m:ctrlPr>
                            </m:sSubPr>
                            <m:e>
                              <m:r>
                                <a:rPr lang="en-US" sz="2200" i="1" smtClean="0">
                                  <a:latin typeface="Cambria Math" panose="02040503050406030204" pitchFamily="18" charset="0"/>
                                  <a:ea typeface="Arial"/>
                                  <a:cs typeface="Arial"/>
                                  <a:sym typeface="Arial"/>
                                </a:rPr>
                                <m:t>𝑥</m:t>
                              </m:r>
                            </m:e>
                            <m:sub>
                              <m:r>
                                <a:rPr lang="en-US" sz="2200" i="1" smtClean="0">
                                  <a:latin typeface="Cambria Math" panose="02040503050406030204" pitchFamily="18" charset="0"/>
                                  <a:ea typeface="Arial"/>
                                  <a:cs typeface="Arial"/>
                                  <a:sym typeface="Arial"/>
                                </a:rPr>
                                <m:t>𝑟</m:t>
                              </m:r>
                            </m:sub>
                          </m:sSub>
                          <m:r>
                            <a:rPr lang="en-US" sz="2200" i="1" smtClean="0">
                              <a:latin typeface="Cambria Math" panose="02040503050406030204" pitchFamily="18" charset="0"/>
                              <a:ea typeface="Arial"/>
                              <a:cs typeface="Arial"/>
                              <a:sym typeface="Arial"/>
                            </a:rPr>
                            <m:t>,</m:t>
                          </m:r>
                          <m:sSub>
                            <m:sSubPr>
                              <m:ctrlPr>
                                <a:rPr lang="en-US" sz="2200" i="1" smtClean="0">
                                  <a:latin typeface="Cambria Math" panose="02040503050406030204" pitchFamily="18" charset="0"/>
                                  <a:ea typeface="Arial"/>
                                  <a:cs typeface="Arial"/>
                                  <a:sym typeface="Arial"/>
                                </a:rPr>
                              </m:ctrlPr>
                            </m:sSubPr>
                            <m:e>
                              <m:r>
                                <a:rPr lang="en-US" sz="2200" i="1" smtClean="0">
                                  <a:latin typeface="Cambria Math" panose="02040503050406030204" pitchFamily="18" charset="0"/>
                                  <a:ea typeface="Arial"/>
                                  <a:cs typeface="Arial"/>
                                  <a:sym typeface="Arial"/>
                                </a:rPr>
                                <m:t>𝑦</m:t>
                              </m:r>
                            </m:e>
                            <m:sub>
                              <m:r>
                                <a:rPr lang="en-US" sz="2200" i="1" smtClean="0">
                                  <a:latin typeface="Cambria Math" panose="02040503050406030204" pitchFamily="18" charset="0"/>
                                  <a:ea typeface="Arial"/>
                                  <a:cs typeface="Arial"/>
                                  <a:sym typeface="Arial"/>
                                </a:rPr>
                                <m:t>𝑟</m:t>
                              </m:r>
                            </m:sub>
                          </m:sSub>
                        </m:e>
                      </m:d>
                      <m:r>
                        <a:rPr lang="en-US" sz="2200" i="1" smtClean="0">
                          <a:latin typeface="Cambria Math" panose="02040503050406030204" pitchFamily="18" charset="0"/>
                          <a:ea typeface="Arial"/>
                          <a:cs typeface="Arial"/>
                          <a:sym typeface="Arial"/>
                        </a:rPr>
                        <m:t>=</m:t>
                      </m:r>
                      <m:d>
                        <m:dPr>
                          <m:ctrlPr>
                            <a:rPr lang="en-US" sz="2200" i="1" smtClean="0">
                              <a:latin typeface="Cambria Math" panose="02040503050406030204" pitchFamily="18" charset="0"/>
                              <a:ea typeface="Arial"/>
                              <a:cs typeface="Arial"/>
                              <a:sym typeface="Arial"/>
                            </a:rPr>
                          </m:ctrlPr>
                        </m:dPr>
                        <m:e>
                          <m:r>
                            <a:rPr lang="en-US" sz="2200" i="1" smtClean="0">
                              <a:latin typeface="Cambria Math" panose="02040503050406030204" pitchFamily="18" charset="0"/>
                              <a:ea typeface="Arial"/>
                              <a:cs typeface="Arial"/>
                              <a:sym typeface="Arial"/>
                            </a:rPr>
                            <m:t>𝑟</m:t>
                          </m:r>
                          <m:func>
                            <m:funcPr>
                              <m:ctrlPr>
                                <a:rPr lang="en-US" sz="2200" i="1" smtClean="0">
                                  <a:latin typeface="Cambria Math" panose="02040503050406030204" pitchFamily="18" charset="0"/>
                                  <a:ea typeface="Arial"/>
                                  <a:cs typeface="Arial"/>
                                  <a:sym typeface="Arial"/>
                                </a:rPr>
                              </m:ctrlPr>
                            </m:funcPr>
                            <m:fName>
                              <m:r>
                                <m:rPr>
                                  <m:sty m:val="p"/>
                                </m:rPr>
                                <a:rPr lang="en-US" sz="2200" i="0" smtClean="0">
                                  <a:latin typeface="Cambria Math" panose="02040503050406030204" pitchFamily="18" charset="0"/>
                                  <a:ea typeface="Arial"/>
                                  <a:cs typeface="Arial"/>
                                  <a:sym typeface="Arial"/>
                                </a:rPr>
                                <m:t>cos</m:t>
                              </m:r>
                            </m:fName>
                            <m:e>
                              <m:d>
                                <m:dPr>
                                  <m:ctrlPr>
                                    <a:rPr lang="en-US" sz="2200" i="1" smtClean="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r>
                            <a:rPr lang="en-US" sz="2200" i="1" smtClean="0">
                              <a:latin typeface="Cambria Math" panose="02040503050406030204" pitchFamily="18" charset="0"/>
                              <a:ea typeface="Arial"/>
                              <a:cs typeface="Arial"/>
                              <a:sym typeface="Arial"/>
                            </a:rPr>
                            <m:t>,</m:t>
                          </m:r>
                          <m:r>
                            <a:rPr lang="en-US" sz="2200" i="1" smtClean="0">
                              <a:latin typeface="Cambria Math" panose="02040503050406030204" pitchFamily="18" charset="0"/>
                              <a:ea typeface="Arial"/>
                              <a:cs typeface="Arial"/>
                              <a:sym typeface="Arial"/>
                            </a:rPr>
                            <m:t>𝑟</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d>
                                <m:dPr>
                                  <m:ctrlPr>
                                    <a:rPr lang="en-US" sz="2200" b="0" i="1" smtClean="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e>
                      </m:d>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6A47D07-6F84-A133-8D6D-0C151E6B66A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842C1AC-5D0C-3A76-450C-3E588E2667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80FE1C3-C537-E5D9-D47C-056FAAD1A9D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Rotation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66FA607-B34C-992F-C6D1-B410F67BF69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3AD0D2C-5813-CB1A-5D4E-EC745974E2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3EE0C5-CE02-242B-83CB-68C3208D7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F1C51F-4B83-02A9-40A7-23DB12DD08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D4CEF0-0C0A-C03F-A2A9-DA24FD61CD0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3121A2-9B41-35EC-9169-F7214FC028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838886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892C1B-92BF-003C-3EF9-8A7ED9DF1D2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B5C8D38-99A7-8356-97D9-07F33A6E15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61346E-6CF8-8D98-A005-416B1227695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Translation (Shifting)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7EC33ED-7158-4F69-413E-0D1C07BC51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C85C74-FD2B-E893-CE8B-F988748FB9B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879E27-5D19-8048-5032-039BC33934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F494A4-56B2-46CD-BBF8-65F2A2777E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5E8381-537D-B47E-7841-ACA562186C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CBE326-D393-7BE0-9B3B-90A885BB11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28" name="Group 27">
            <a:extLst>
              <a:ext uri="{FF2B5EF4-FFF2-40B4-BE49-F238E27FC236}">
                <a16:creationId xmlns:a16="http://schemas.microsoft.com/office/drawing/2014/main" id="{316B47BB-D91F-47C6-B481-40ADD75831E6}"/>
              </a:ext>
            </a:extLst>
          </p:cNvPr>
          <p:cNvGrpSpPr/>
          <p:nvPr/>
        </p:nvGrpSpPr>
        <p:grpSpPr>
          <a:xfrm>
            <a:off x="3730942" y="1303743"/>
            <a:ext cx="4730115" cy="4785116"/>
            <a:chOff x="3322320" y="1223172"/>
            <a:chExt cx="4730115" cy="4785116"/>
          </a:xfrm>
        </p:grpSpPr>
        <p:pic>
          <p:nvPicPr>
            <p:cNvPr id="9" name="Graphic 8">
              <a:extLst>
                <a:ext uri="{FF2B5EF4-FFF2-40B4-BE49-F238E27FC236}">
                  <a16:creationId xmlns:a16="http://schemas.microsoft.com/office/drawing/2014/main" id="{6CD07C2B-9CCD-5838-F433-5C2EBF3516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322320" y="1223172"/>
              <a:ext cx="4730115" cy="4785116"/>
            </a:xfrm>
            <a:prstGeom prst="rect">
              <a:avLst/>
            </a:prstGeom>
          </p:spPr>
        </p:pic>
        <p:cxnSp>
          <p:nvCxnSpPr>
            <p:cNvPr id="14" name="Straight Arrow Connector 13">
              <a:extLst>
                <a:ext uri="{FF2B5EF4-FFF2-40B4-BE49-F238E27FC236}">
                  <a16:creationId xmlns:a16="http://schemas.microsoft.com/office/drawing/2014/main" id="{7654EE0D-8A73-08A3-EC61-6FD9221B5F1D}"/>
                </a:ext>
              </a:extLst>
            </p:cNvPr>
            <p:cNvCxnSpPr>
              <a:cxnSpLocks/>
            </p:cNvCxnSpPr>
            <p:nvPr/>
          </p:nvCxnSpPr>
          <p:spPr>
            <a:xfrm flipV="1">
              <a:off x="4597400" y="3322113"/>
              <a:ext cx="787400" cy="1059387"/>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9B4AA9F-BC45-FBD2-24CC-A75631C95223}"/>
                </a:ext>
              </a:extLst>
            </p:cNvPr>
            <p:cNvSpPr txBox="1"/>
            <p:nvPr/>
          </p:nvSpPr>
          <p:spPr>
            <a:xfrm>
              <a:off x="4655820" y="3492303"/>
              <a:ext cx="335280" cy="523220"/>
            </a:xfrm>
            <a:prstGeom prst="rect">
              <a:avLst/>
            </a:prstGeom>
            <a:noFill/>
          </p:spPr>
          <p:txBody>
            <a:bodyPr wrap="square" rtlCol="0">
              <a:spAutoFit/>
            </a:bodyPr>
            <a:lstStyle/>
            <a:p>
              <a:pPr algn="ctr"/>
              <a:r>
                <a:rPr lang="en-US" sz="2800" b="1" dirty="0">
                  <a:solidFill>
                    <a:srgbClr val="FF0000"/>
                  </a:solidFill>
                </a:rPr>
                <a:t>r</a:t>
              </a:r>
            </a:p>
          </p:txBody>
        </p:sp>
        <p:sp>
          <p:nvSpPr>
            <p:cNvPr id="26" name="Arc 25">
              <a:extLst>
                <a:ext uri="{FF2B5EF4-FFF2-40B4-BE49-F238E27FC236}">
                  <a16:creationId xmlns:a16="http://schemas.microsoft.com/office/drawing/2014/main" id="{18E13975-9F2C-97A8-846B-023DE637B157}"/>
                </a:ext>
              </a:extLst>
            </p:cNvPr>
            <p:cNvSpPr/>
            <p:nvPr/>
          </p:nvSpPr>
          <p:spPr>
            <a:xfrm>
              <a:off x="4597400" y="3429000"/>
              <a:ext cx="1498600" cy="2086608"/>
            </a:xfrm>
            <a:prstGeom prst="arc">
              <a:avLst/>
            </a:prstGeom>
            <a:ln w="57150">
              <a:solidFill>
                <a:srgbClr val="FF0000"/>
              </a:solidFill>
              <a:headEnd type="arrow"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6DD1DF76-ED24-CD5D-5508-2808579CA9A5}"/>
                    </a:ext>
                  </a:extLst>
                </p:cNvPr>
                <p:cNvSpPr txBox="1"/>
                <p:nvPr/>
              </p:nvSpPr>
              <p:spPr>
                <a:xfrm>
                  <a:off x="5760720" y="3858280"/>
                  <a:ext cx="335280" cy="52322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800" b="1" i="1" dirty="0" smtClean="0">
                            <a:solidFill>
                              <a:srgbClr val="FF0000"/>
                            </a:solidFill>
                            <a:latin typeface="Cambria Math" panose="02040503050406030204" pitchFamily="18" charset="0"/>
                            <a:ea typeface="Cambria Math" panose="02040503050406030204" pitchFamily="18" charset="0"/>
                          </a:rPr>
                          <m:t>𝜶</m:t>
                        </m:r>
                      </m:oMath>
                    </m:oMathPara>
                  </a14:m>
                  <a:endParaRPr lang="en-US" sz="2800" b="1" dirty="0">
                    <a:solidFill>
                      <a:srgbClr val="FF0000"/>
                    </a:solidFill>
                  </a:endParaRPr>
                </a:p>
              </p:txBody>
            </p:sp>
          </mc:Choice>
          <mc:Fallback xmlns="">
            <p:sp>
              <p:nvSpPr>
                <p:cNvPr id="27" name="TextBox 26">
                  <a:extLst>
                    <a:ext uri="{FF2B5EF4-FFF2-40B4-BE49-F238E27FC236}">
                      <a16:creationId xmlns:a16="http://schemas.microsoft.com/office/drawing/2014/main" id="{6DD1DF76-ED24-CD5D-5508-2808579CA9A5}"/>
                    </a:ext>
                  </a:extLst>
                </p:cNvPr>
                <p:cNvSpPr txBox="1">
                  <a:spLocks noRot="1" noChangeAspect="1" noMove="1" noResize="1" noEditPoints="1" noAdjustHandles="1" noChangeArrowheads="1" noChangeShapeType="1" noTextEdit="1"/>
                </p:cNvSpPr>
                <p:nvPr/>
              </p:nvSpPr>
              <p:spPr>
                <a:xfrm>
                  <a:off x="5760720" y="3858280"/>
                  <a:ext cx="335280" cy="523220"/>
                </a:xfrm>
                <a:prstGeom prst="rect">
                  <a:avLst/>
                </a:prstGeom>
                <a:blipFill>
                  <a:blip r:embed="rId6"/>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9079767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81A3E-3D56-C164-A2FC-F2DA10375F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0EC19A9-AFBD-E6C2-C07C-A37D11F7758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In the world frame, the angle of point </a:t>
                </a:r>
                <a14:m>
                  <m:oMath xmlns:m="http://schemas.openxmlformats.org/officeDocument/2006/math">
                    <m:r>
                      <m:rPr>
                        <m:sty m:val="p"/>
                      </m:rPr>
                      <a:rPr lang="en-US" sz="2200" i="1">
                        <a:latin typeface="Cambria Math" panose="02040503050406030204" pitchFamily="18" charset="0"/>
                        <a:ea typeface="Arial"/>
                        <a:cs typeface="Arial"/>
                        <a:sym typeface="Arial"/>
                      </a:rPr>
                      <m:t>P</m:t>
                    </m:r>
                  </m:oMath>
                </a14:m>
                <a:r>
                  <a:rPr lang="en-US" sz="2200" dirty="0">
                    <a:latin typeface="Arial"/>
                    <a:ea typeface="Arial"/>
                    <a:cs typeface="Arial"/>
                    <a:sym typeface="Arial"/>
                  </a:rPr>
                  <a:t> is now at </a:t>
                </a:r>
                <a14:m>
                  <m:oMath xmlns:m="http://schemas.openxmlformats.org/officeDocument/2006/math">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𝜑</m:t>
                        </m:r>
                      </m:e>
                    </m:d>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world coordinates are thus,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𝑟</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can expand the following using standard trigonometric sum identities: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𝑟</m:t>
                      </m:r>
                      <m:d>
                        <m:dPr>
                          <m:ctrlPr>
                            <a:rPr lang="en-US" sz="2200" i="1" dirty="0" smtClean="0">
                              <a:latin typeface="Cambria Math" panose="02040503050406030204" pitchFamily="18" charset="0"/>
                              <a:ea typeface="Arial"/>
                              <a:cs typeface="Arial"/>
                              <a:sym typeface="Arial"/>
                            </a:rPr>
                          </m:ctrlPr>
                        </m:dP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𝑟</m:t>
                      </m:r>
                      <m:d>
                        <m:dPr>
                          <m:ctrlPr>
                            <a:rPr lang="en-US" sz="2200" i="1" dirty="0" smtClean="0">
                              <a:latin typeface="Cambria Math" panose="02040503050406030204" pitchFamily="18" charset="0"/>
                              <a:ea typeface="Arial"/>
                              <a:cs typeface="Arial"/>
                              <a:sym typeface="Arial"/>
                            </a:rPr>
                          </m:ctrlPr>
                        </m:dP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C0EC19A9-AFBD-E6C2-C07C-A37D11F7758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E58156-E687-C0DB-8460-334E2B228A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F0D65F-5004-61BE-E75F-17A7F254D52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Rotation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1FE1D8-A5B6-6740-5D0A-72186E8A619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8DC7A2-511D-22BD-BDE8-C065032C80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C2FE57-0C4A-BECE-CAFB-227B8903DD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A0869F-F0CC-AE4D-B16E-937B98B960E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9B7A72-39DE-A3D5-143A-6A5A2A599A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46B403-42C7-ED39-606B-884D2F1E1D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062131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A79B86-76EF-FA13-ECD9-5791898508F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7FEF1EF-52E6-7FB0-AFBC-6B376D9851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Substituting back in the location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200" i="1">
                              <a:latin typeface="Cambria Math" panose="02040503050406030204" pitchFamily="18" charset="0"/>
                              <a:ea typeface="Arial"/>
                              <a:cs typeface="Arial"/>
                              <a:sym typeface="Arial"/>
                            </a:rPr>
                          </m:ctrlPr>
                        </m:dPr>
                        <m:e>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𝑥</m:t>
                              </m:r>
                            </m:e>
                            <m:sub>
                              <m:r>
                                <a:rPr lang="en-US" sz="2200" i="1">
                                  <a:latin typeface="Cambria Math" panose="02040503050406030204" pitchFamily="18" charset="0"/>
                                  <a:ea typeface="Arial"/>
                                  <a:cs typeface="Arial"/>
                                  <a:sym typeface="Arial"/>
                                </a:rPr>
                                <m:t>𝑟</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𝑦</m:t>
                              </m:r>
                            </m:e>
                            <m:sub>
                              <m:r>
                                <a:rPr lang="en-US" sz="2200" i="1">
                                  <a:latin typeface="Cambria Math" panose="02040503050406030204" pitchFamily="18" charset="0"/>
                                  <a:ea typeface="Arial"/>
                                  <a:cs typeface="Arial"/>
                                  <a:sym typeface="Arial"/>
                                </a:rPr>
                                <m:t>𝑟</m:t>
                              </m:r>
                            </m:sub>
                          </m:sSub>
                        </m:e>
                      </m:d>
                      <m:r>
                        <a:rPr lang="en-US" sz="2200" i="1">
                          <a:latin typeface="Cambria Math" panose="02040503050406030204" pitchFamily="18" charset="0"/>
                          <a:ea typeface="Arial"/>
                          <a:cs typeface="Arial"/>
                          <a:sym typeface="Arial"/>
                        </a:rPr>
                        <m:t>=</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𝑟</m:t>
                          </m:r>
                          <m:func>
                            <m:funcPr>
                              <m:ctrlPr>
                                <a:rPr lang="en-US" sz="2200" i="1">
                                  <a:latin typeface="Cambria Math" panose="02040503050406030204" pitchFamily="18" charset="0"/>
                                  <a:ea typeface="Arial"/>
                                  <a:cs typeface="Arial"/>
                                  <a:sym typeface="Arial"/>
                                </a:rPr>
                              </m:ctrlPr>
                            </m:funcPr>
                            <m:fName>
                              <m:r>
                                <m:rPr>
                                  <m:sty m:val="p"/>
                                </m:rPr>
                                <a:rPr lang="en-US" sz="2200">
                                  <a:latin typeface="Cambria Math" panose="02040503050406030204" pitchFamily="18" charset="0"/>
                                  <a:ea typeface="Arial"/>
                                  <a:cs typeface="Arial"/>
                                  <a:sym typeface="Arial"/>
                                </a:rPr>
                                <m:t>cos</m:t>
                              </m:r>
                            </m:fName>
                            <m:e>
                              <m:d>
                                <m:dPr>
                                  <m:ctrlPr>
                                    <a:rPr lang="en-US" sz="2200" i="1">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𝑟</m:t>
                          </m:r>
                          <m:func>
                            <m:funcPr>
                              <m:ctrlPr>
                                <a:rPr lang="en-US" sz="2200" i="1">
                                  <a:latin typeface="Cambria Math" panose="02040503050406030204" pitchFamily="18" charset="0"/>
                                  <a:ea typeface="Arial"/>
                                  <a:cs typeface="Arial"/>
                                  <a:sym typeface="Arial"/>
                                </a:rPr>
                              </m:ctrlPr>
                            </m:funcPr>
                            <m:fName>
                              <m:r>
                                <m:rPr>
                                  <m:sty m:val="p"/>
                                </m:rPr>
                                <a:rPr lang="en-US" sz="2200">
                                  <a:latin typeface="Cambria Math" panose="02040503050406030204" pitchFamily="18" charset="0"/>
                                  <a:ea typeface="Arial"/>
                                  <a:cs typeface="Arial"/>
                                  <a:sym typeface="Arial"/>
                                </a:rPr>
                                <m:t>sin</m:t>
                              </m:r>
                            </m:fName>
                            <m:e>
                              <m:d>
                                <m:dPr>
                                  <m:ctrlPr>
                                    <a:rPr lang="en-US" sz="2200" i="1">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To the global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d>
                        <m:dPr>
                          <m:ctrlPr>
                            <a:rPr lang="en-US" sz="2200" i="1" dirty="0">
                              <a:latin typeface="Cambria Math" panose="02040503050406030204" pitchFamily="18" charset="0"/>
                              <a:ea typeface="Arial"/>
                              <a:cs typeface="Arial"/>
                              <a:sym typeface="Arial"/>
                            </a:rPr>
                          </m:ctrlPr>
                        </m:dPr>
                        <m:e>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d>
                        <m:dPr>
                          <m:ctrlPr>
                            <a:rPr lang="en-US" sz="2200" i="1" dirty="0">
                              <a:latin typeface="Cambria Math" panose="02040503050406030204" pitchFamily="18" charset="0"/>
                              <a:ea typeface="Arial"/>
                              <a:cs typeface="Arial"/>
                              <a:sym typeface="Arial"/>
                            </a:rPr>
                          </m:ctrlPr>
                        </m:dPr>
                        <m:e>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thus get: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Which is elegantly expressed using matrix multiplications!</a:t>
                </a:r>
              </a:p>
            </p:txBody>
          </p:sp>
        </mc:Choice>
        <mc:Fallback xmlns="">
          <p:sp>
            <p:nvSpPr>
              <p:cNvPr id="118" name="Google Shape;118;p29">
                <a:extLst>
                  <a:ext uri="{FF2B5EF4-FFF2-40B4-BE49-F238E27FC236}">
                    <a16:creationId xmlns:a16="http://schemas.microsoft.com/office/drawing/2014/main" id="{87FEF1EF-52E6-7FB0-AFBC-6B376D9851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D97D2A1-F794-A63C-4C7B-83E5B6A35D7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4B5F628-9D9D-5E9D-58BF-65AB1EA9BB5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Rotation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4DAADA-42CC-6438-B643-F13AF6C395C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B31738-EE9E-66EA-16C7-3D482C040E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5A0E4D-22AD-1433-5819-4424B3A681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2C8B04-29C5-8E83-F037-77A70D9D11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A34AC5D-DA2F-352E-E249-15D9A58F49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AA62FB-FF34-1297-EADD-715AE979A04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6292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D19D13-E4B9-45BB-CB92-CB34C802DB5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3CEFAEE-C8AB-32F3-C659-25F3B0FA39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system of equations can be written as a 2x2 matrix </a:t>
                </a:r>
                <a14:m>
                  <m:oMath xmlns:m="http://schemas.openxmlformats.org/officeDocument/2006/math">
                    <m:sSub>
                      <m:sSubPr>
                        <m:ctrlPr>
                          <a:rPr lang="en-US" sz="2200" i="1" smtClean="0">
                            <a:latin typeface="Cambria Math" panose="02040503050406030204" pitchFamily="18" charset="0"/>
                            <a:cs typeface="Arial"/>
                            <a:sym typeface="Arial"/>
                          </a:rPr>
                        </m:ctrlPr>
                      </m:sSubPr>
                      <m:e>
                        <m:r>
                          <m:rPr>
                            <m:sty m:val="p"/>
                          </m:rPr>
                          <a:rPr lang="en-US" sz="2200" b="0" i="1" smtClean="0">
                            <a:latin typeface="Cambria Math" panose="02040503050406030204" pitchFamily="18" charset="0"/>
                            <a:cs typeface="Arial"/>
                            <a:sym typeface="Arial"/>
                          </a:rPr>
                          <m:t>P</m:t>
                        </m:r>
                      </m:e>
                      <m:sub>
                        <m:r>
                          <m:rPr>
                            <m:sty m:val="p"/>
                          </m:rPr>
                          <a:rPr lang="en-US" sz="2200" b="0" i="1" smtClean="0">
                            <a:latin typeface="Cambria Math" panose="02040503050406030204" pitchFamily="18" charset="0"/>
                            <a:cs typeface="Arial"/>
                            <a:sym typeface="Arial"/>
                          </a:rPr>
                          <m:t>w</m:t>
                        </m:r>
                      </m:sub>
                    </m:sSub>
                    <m:r>
                      <a:rPr lang="en-US" sz="2200" b="0" i="1" smtClean="0">
                        <a:latin typeface="Cambria Math" panose="02040503050406030204" pitchFamily="18" charset="0"/>
                        <a:cs typeface="Arial"/>
                        <a:sym typeface="Arial"/>
                      </a:rPr>
                      <m:t>=</m:t>
                    </m:r>
                    <m:r>
                      <a:rPr lang="en-US" sz="2200" b="0" i="1" smtClean="0">
                        <a:latin typeface="Cambria Math" panose="02040503050406030204" pitchFamily="18" charset="0"/>
                        <a:cs typeface="Arial"/>
                        <a:sym typeface="Arial"/>
                      </a:rPr>
                      <m:t>𝑅</m:t>
                    </m:r>
                    <m:d>
                      <m:dPr>
                        <m:ctrlPr>
                          <a:rPr lang="en-US" sz="2200" b="0" i="1" smtClean="0">
                            <a:latin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𝜑</m:t>
                        </m:r>
                      </m:e>
                    </m:d>
                    <m:sSub>
                      <m:sSubPr>
                        <m:ctrlPr>
                          <a:rPr lang="en-US" sz="2200" b="0" i="1" smtClean="0">
                            <a:latin typeface="Cambria Math" panose="02040503050406030204" pitchFamily="18" charset="0"/>
                            <a:cs typeface="Arial"/>
                            <a:sym typeface="Arial"/>
                          </a:rPr>
                        </m:ctrlPr>
                      </m:sSubPr>
                      <m:e>
                        <m:r>
                          <m:rPr>
                            <m:sty m:val="p"/>
                          </m:rPr>
                          <a:rPr lang="en-US" sz="2200" b="0" i="1" smtClean="0">
                            <a:latin typeface="Cambria Math" panose="02040503050406030204" pitchFamily="18" charset="0"/>
                            <a:cs typeface="Arial"/>
                            <a:sym typeface="Arial"/>
                          </a:rPr>
                          <m:t>P</m:t>
                        </m:r>
                      </m:e>
                      <m:sub>
                        <m:r>
                          <m:rPr>
                            <m:sty m:val="p"/>
                          </m:rPr>
                          <a:rPr lang="en-US" sz="2200" b="0" i="1" smtClean="0">
                            <a:latin typeface="Cambria Math" panose="02040503050406030204" pitchFamily="18" charset="0"/>
                            <a:cs typeface="Arial"/>
                            <a:sym typeface="Arial"/>
                          </a:rPr>
                          <m:t>r</m:t>
                        </m:r>
                      </m:sub>
                    </m:sSub>
                  </m:oMath>
                </a14:m>
                <a:endParaRPr lang="en-US" sz="2200" b="0" dirty="0">
                  <a:latin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200" i="1" dirty="0" smtClean="0">
                                  <a:latin typeface="Cambria Math" panose="02040503050406030204" pitchFamily="18" charset="0"/>
                                  <a:ea typeface="Arial"/>
                                  <a:cs typeface="Arial"/>
                                  <a:sym typeface="Arial"/>
                                </a:rPr>
                              </m:ctrlPr>
                            </m:mP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𝑊</m:t>
                                    </m:r>
                                  </m:sub>
                                </m:sSub>
                              </m:e>
                            </m:m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𝑊</m:t>
                                    </m:r>
                                  </m:sub>
                                </m:sSub>
                              </m:e>
                            </m:mr>
                          </m:m>
                        </m:e>
                      </m:d>
                      <m:r>
                        <a:rPr lang="en-US" sz="2200" i="1" dirty="0" smtClean="0">
                          <a:latin typeface="Cambria Math" panose="02040503050406030204" pitchFamily="18" charset="0"/>
                          <a:ea typeface="Arial"/>
                          <a:cs typeface="Arial"/>
                          <a:sym typeface="Arial"/>
                        </a:rPr>
                        <m:t>=</m:t>
                      </m:r>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200" i="1" dirty="0" smtClean="0">
                                  <a:latin typeface="Cambria Math" panose="02040503050406030204" pitchFamily="18" charset="0"/>
                                  <a:ea typeface="Arial"/>
                                  <a:cs typeface="Arial"/>
                                  <a:sym typeface="Arial"/>
                                </a:rPr>
                              </m:ctrlPr>
                            </m:mPr>
                            <m:m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e>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mr>
                            <m:m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mr>
                          </m:m>
                        </m:e>
                      </m:d>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200" b="0" i="1" dirty="0" smtClean="0">
                                  <a:latin typeface="Cambria Math" panose="02040503050406030204" pitchFamily="18" charset="0"/>
                                  <a:ea typeface="Arial"/>
                                  <a:cs typeface="Arial"/>
                                  <a:sym typeface="Arial"/>
                                </a:rPr>
                              </m:ctrlPr>
                            </m:mPr>
                            <m:mr>
                              <m:e>
                                <m:sSub>
                                  <m:sSubPr>
                                    <m:ctrlPr>
                                      <a:rPr lang="en-US" sz="2200" b="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𝑅</m:t>
                                    </m:r>
                                  </m:sub>
                                </m:sSub>
                              </m:e>
                            </m:m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𝑅</m:t>
                                    </m:r>
                                  </m:sub>
                                </m:sSub>
                              </m:e>
                            </m:mr>
                          </m:m>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matrix </a:t>
                </a:r>
                <a14:m>
                  <m:oMath xmlns:m="http://schemas.openxmlformats.org/officeDocument/2006/math">
                    <m:r>
                      <m:rPr>
                        <m:sty m:val="p"/>
                      </m:rPr>
                      <a:rPr lang="en-US" sz="2200" i="1">
                        <a:latin typeface="Cambria Math" panose="02040503050406030204" pitchFamily="18" charset="0"/>
                        <a:cs typeface="Arial"/>
                        <a:sym typeface="Arial"/>
                      </a:rPr>
                      <m:t>R</m:t>
                    </m:r>
                    <m:r>
                      <a:rPr lang="en-US" sz="2200" i="1">
                        <a:latin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𝜑</m:t>
                    </m:r>
                    <m:r>
                      <a:rPr lang="en-US" sz="2200" i="1">
                        <a:latin typeface="Cambria Math" panose="02040503050406030204" pitchFamily="18" charset="0"/>
                        <a:cs typeface="Arial"/>
                        <a:sym typeface="Arial"/>
                      </a:rPr>
                      <m:t>)</m:t>
                    </m:r>
                  </m:oMath>
                </a14:m>
                <a:r>
                  <a:rPr lang="en-US" sz="2200" dirty="0">
                    <a:latin typeface="Arial"/>
                    <a:ea typeface="Arial"/>
                    <a:cs typeface="Arial"/>
                    <a:sym typeface="Arial"/>
                  </a:rPr>
                  <a:t>, belongs to the Special Orthogonal Group SO(2).</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Given that the determinant represents how much the space gets scaled after the transformation. What is the determinant of rotation matrices without doing any calculation?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It should be 1, meaning it preserves the scale and area! The robot doesn’t stretch as it turns!</a:t>
                </a:r>
              </a:p>
            </p:txBody>
          </p:sp>
        </mc:Choice>
        <mc:Fallback xmlns="">
          <p:sp>
            <p:nvSpPr>
              <p:cNvPr id="118" name="Google Shape;118;p29">
                <a:extLst>
                  <a:ext uri="{FF2B5EF4-FFF2-40B4-BE49-F238E27FC236}">
                    <a16:creationId xmlns:a16="http://schemas.microsoft.com/office/drawing/2014/main" id="{D3CEFAEE-C8AB-32F3-C659-25F3B0FA39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49C0FBF-CFA2-3227-A6CC-5DA1DEE27C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AD0D1AC-88E9-6B99-F6B6-FB61BA0F1A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Rotation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94E767F-94FA-5C74-B8F7-C9D0D45634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D1106FB-3363-8585-0316-C803DCBD4E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61F083E-2DC3-AD55-FE03-2086743AE4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B90F9FE-87A0-76AA-08F4-8895DA2623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907236-35CD-6121-AFDA-0F4BA9D75F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709BA9-9D14-62AE-C74B-D3557CA299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71145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CD361C-ED36-ABE5-9819-CF32FC53572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20135AA-01F7-8991-C890-ACD802AED0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In reality, a robot is both translated and rotated!</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Thus, the complete transformation is: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𝑅</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𝑇</m:t>
                      </m:r>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can, however, make this into a single matrix operation, through Homogeneous Coordinates,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200" i="1" smtClean="0">
                              <a:latin typeface="Cambria Math" panose="02040503050406030204" pitchFamily="18" charset="0"/>
                              <a:cs typeface="Arial"/>
                              <a:sym typeface="Arial"/>
                            </a:rPr>
                          </m:ctrlPr>
                        </m:dPr>
                        <m:e>
                          <m:m>
                            <m:mPr>
                              <m:plcHide m:val="on"/>
                              <m:mcs>
                                <m:mc>
                                  <m:mcPr>
                                    <m:count m:val="1"/>
                                    <m:mcJc m:val="center"/>
                                  </m:mcPr>
                                </m:mc>
                              </m:mcs>
                              <m:ctrlPr>
                                <a:rPr lang="en-US" sz="2200" i="1">
                                  <a:latin typeface="Cambria Math" panose="02040503050406030204" pitchFamily="18" charset="0"/>
                                  <a:cs typeface="Arial"/>
                                  <a:sym typeface="Arial"/>
                                </a:rPr>
                              </m:ctrlPr>
                            </m:mP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𝑥</m:t>
                                    </m:r>
                                  </m:e>
                                  <m:sub>
                                    <m:r>
                                      <a:rPr lang="en-US" sz="2200" i="1">
                                        <a:latin typeface="Cambria Math" panose="02040503050406030204" pitchFamily="18" charset="0"/>
                                        <a:cs typeface="Arial"/>
                                        <a:sym typeface="Arial"/>
                                      </a:rPr>
                                      <m:t>𝑊</m:t>
                                    </m:r>
                                  </m:sub>
                                </m:sSub>
                              </m:e>
                            </m:m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𝑦</m:t>
                                    </m:r>
                                  </m:e>
                                  <m:sub>
                                    <m:r>
                                      <a:rPr lang="en-US" sz="2200" i="1">
                                        <a:latin typeface="Cambria Math" panose="02040503050406030204" pitchFamily="18" charset="0"/>
                                        <a:cs typeface="Arial"/>
                                        <a:sym typeface="Arial"/>
                                      </a:rPr>
                                      <m:t>𝑊</m:t>
                                    </m:r>
                                  </m:sub>
                                </m:sSub>
                              </m:e>
                            </m:mr>
                            <m:mr>
                              <m:e>
                                <m:r>
                                  <a:rPr lang="en-US" sz="2200" i="1">
                                    <a:latin typeface="Cambria Math" panose="02040503050406030204" pitchFamily="18" charset="0"/>
                                    <a:cs typeface="Arial"/>
                                    <a:sym typeface="Arial"/>
                                  </a:rPr>
                                  <m:t>1</m:t>
                                </m:r>
                              </m:e>
                            </m:mr>
                          </m:m>
                        </m:e>
                      </m:d>
                      <m:r>
                        <a:rPr lang="en-US" sz="2200" i="1">
                          <a:latin typeface="Cambria Math" panose="02040503050406030204" pitchFamily="18" charset="0"/>
                          <a:cs typeface="Arial"/>
                          <a:sym typeface="Arial"/>
                        </a:rPr>
                        <m:t>=</m:t>
                      </m:r>
                      <m:d>
                        <m:dPr>
                          <m:begChr m:val="["/>
                          <m:endChr m:val="]"/>
                          <m:ctrlPr>
                            <a:rPr lang="en-US" sz="2200" i="1">
                              <a:latin typeface="Cambria Math" panose="02040503050406030204" pitchFamily="18" charset="0"/>
                              <a:cs typeface="Arial"/>
                              <a:sym typeface="Arial"/>
                            </a:rPr>
                          </m:ctrlPr>
                        </m:dPr>
                        <m:e>
                          <m:m>
                            <m:mPr>
                              <m:plcHide m:val="on"/>
                              <m:mcs>
                                <m:mc>
                                  <m:mcPr>
                                    <m:count m:val="3"/>
                                    <m:mcJc m:val="center"/>
                                  </m:mcPr>
                                </m:mc>
                              </m:mcs>
                              <m:ctrlPr>
                                <a:rPr lang="en-US" sz="2200" i="1">
                                  <a:latin typeface="Cambria Math" panose="02040503050406030204" pitchFamily="18" charset="0"/>
                                  <a:cs typeface="Arial"/>
                                  <a:sym typeface="Arial"/>
                                </a:rPr>
                              </m:ctrlPr>
                            </m:mPr>
                            <m:mr>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cos</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r>
                                  <a:rPr lang="en-US" sz="2200" i="1">
                                    <a:latin typeface="Cambria Math" panose="02040503050406030204" pitchFamily="18" charset="0"/>
                                    <a:cs typeface="Arial"/>
                                    <a:sym typeface="Arial"/>
                                  </a:rPr>
                                  <m:t>−</m:t>
                                </m:r>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sin</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𝑡</m:t>
                                    </m:r>
                                  </m:e>
                                  <m:sub>
                                    <m:r>
                                      <a:rPr lang="en-US" sz="2200" i="1">
                                        <a:latin typeface="Cambria Math" panose="02040503050406030204" pitchFamily="18" charset="0"/>
                                        <a:cs typeface="Arial"/>
                                        <a:sym typeface="Arial"/>
                                      </a:rPr>
                                      <m:t>𝑥</m:t>
                                    </m:r>
                                  </m:sub>
                                </m:sSub>
                              </m:e>
                            </m:mr>
                            <m:mr>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sin</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cos</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𝑡</m:t>
                                    </m:r>
                                  </m:e>
                                  <m:sub>
                                    <m:r>
                                      <a:rPr lang="en-US" sz="2200" i="1">
                                        <a:latin typeface="Cambria Math" panose="02040503050406030204" pitchFamily="18" charset="0"/>
                                        <a:cs typeface="Arial"/>
                                        <a:sym typeface="Arial"/>
                                      </a:rPr>
                                      <m:t>𝑦</m:t>
                                    </m:r>
                                  </m:sub>
                                </m:sSub>
                              </m:e>
                            </m:mr>
                            <m:mr>
                              <m:e>
                                <m:r>
                                  <a:rPr lang="en-US" sz="2200" i="1">
                                    <a:latin typeface="Cambria Math" panose="02040503050406030204" pitchFamily="18" charset="0"/>
                                    <a:cs typeface="Arial"/>
                                    <a:sym typeface="Arial"/>
                                  </a:rPr>
                                  <m:t>0</m:t>
                                </m:r>
                              </m:e>
                              <m:e>
                                <m:r>
                                  <a:rPr lang="en-US" sz="2200" i="1">
                                    <a:latin typeface="Cambria Math" panose="02040503050406030204" pitchFamily="18" charset="0"/>
                                    <a:cs typeface="Arial"/>
                                    <a:sym typeface="Arial"/>
                                  </a:rPr>
                                  <m:t>0</m:t>
                                </m:r>
                              </m:e>
                              <m:e>
                                <m:r>
                                  <a:rPr lang="en-US" sz="2200" i="1">
                                    <a:latin typeface="Cambria Math" panose="02040503050406030204" pitchFamily="18" charset="0"/>
                                    <a:cs typeface="Arial"/>
                                    <a:sym typeface="Arial"/>
                                  </a:rPr>
                                  <m:t>1</m:t>
                                </m:r>
                              </m:e>
                            </m:mr>
                          </m:m>
                        </m:e>
                      </m:d>
                      <m:d>
                        <m:dPr>
                          <m:begChr m:val="["/>
                          <m:endChr m:val="]"/>
                          <m:ctrlPr>
                            <a:rPr lang="en-US" sz="2200" i="1">
                              <a:latin typeface="Cambria Math" panose="02040503050406030204" pitchFamily="18" charset="0"/>
                              <a:cs typeface="Arial"/>
                              <a:sym typeface="Arial"/>
                            </a:rPr>
                          </m:ctrlPr>
                        </m:dPr>
                        <m:e>
                          <m:m>
                            <m:mPr>
                              <m:plcHide m:val="on"/>
                              <m:mcs>
                                <m:mc>
                                  <m:mcPr>
                                    <m:count m:val="1"/>
                                    <m:mcJc m:val="center"/>
                                  </m:mcPr>
                                </m:mc>
                              </m:mcs>
                              <m:ctrlPr>
                                <a:rPr lang="en-US" sz="2200" i="1">
                                  <a:latin typeface="Cambria Math" panose="02040503050406030204" pitchFamily="18" charset="0"/>
                                  <a:cs typeface="Arial"/>
                                  <a:sym typeface="Arial"/>
                                </a:rPr>
                              </m:ctrlPr>
                            </m:mP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𝑥</m:t>
                                    </m:r>
                                  </m:e>
                                  <m:sub>
                                    <m:r>
                                      <a:rPr lang="en-US" sz="2200" i="1">
                                        <a:latin typeface="Cambria Math" panose="02040503050406030204" pitchFamily="18" charset="0"/>
                                        <a:cs typeface="Arial"/>
                                        <a:sym typeface="Arial"/>
                                      </a:rPr>
                                      <m:t>𝑅</m:t>
                                    </m:r>
                                  </m:sub>
                                </m:sSub>
                              </m:e>
                            </m:m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𝑦</m:t>
                                    </m:r>
                                  </m:e>
                                  <m:sub>
                                    <m:r>
                                      <a:rPr lang="en-US" sz="2200" i="1">
                                        <a:latin typeface="Cambria Math" panose="02040503050406030204" pitchFamily="18" charset="0"/>
                                        <a:cs typeface="Arial"/>
                                        <a:sym typeface="Arial"/>
                                      </a:rPr>
                                      <m:t>𝑅</m:t>
                                    </m:r>
                                  </m:sub>
                                </m:sSub>
                              </m:e>
                            </m:mr>
                            <m:mr>
                              <m:e>
                                <m:r>
                                  <a:rPr lang="en-US" sz="2200" i="1">
                                    <a:latin typeface="Cambria Math" panose="02040503050406030204" pitchFamily="18" charset="0"/>
                                    <a:cs typeface="Arial"/>
                                    <a:sym typeface="Arial"/>
                                  </a:rPr>
                                  <m:t>1</m:t>
                                </m:r>
                              </m:e>
                            </m:mr>
                          </m:m>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This is the standard representation used in all modern software!</a:t>
                </a:r>
              </a:p>
            </p:txBody>
          </p:sp>
        </mc:Choice>
        <mc:Fallback xmlns="">
          <p:sp>
            <p:nvSpPr>
              <p:cNvPr id="118" name="Google Shape;118;p29">
                <a:extLst>
                  <a:ext uri="{FF2B5EF4-FFF2-40B4-BE49-F238E27FC236}">
                    <a16:creationId xmlns:a16="http://schemas.microsoft.com/office/drawing/2014/main" id="{020135AA-01F7-8991-C890-ACD802AED09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303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A66C57D-F8CC-2A5D-2826-17B2687097C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775F582-E62E-1E2C-EBCA-6B81D8D329C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a:t>
            </a:r>
            <a:r>
              <a:rPr lang="en-US" sz="2400" dirty="0">
                <a:solidFill>
                  <a:schemeClr val="lt1"/>
                </a:solidFill>
              </a:rPr>
              <a:t>Transformation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7BF9703-75D4-5BEC-32F9-92E742B7358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3ECD335-88E3-1F5C-4AF2-F154036938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5A1250-FC85-E05D-0323-3CC58487EB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C8D9FF-1E65-AF12-4144-CE31AA85554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2CFDBE-369D-4997-B870-B2490CC019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064D805-6A3E-76A2-32A4-8AB02C0572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465411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003DBA8-F0EE-7A22-EECC-6CE22D8D7D90}"/>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33A86ED6-4DC7-D943-6E29-803F04E665DB}"/>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Dead-Reckoning</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A54F4AD2-AB55-7796-9ABE-4F39D29A5DCB}"/>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34A7D88-E360-EB16-FCA9-8E885645889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F88F421-414E-164E-B4ED-B4B462EEAA1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CF03D2F-4F72-8459-308D-0040D39D875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CE6466B-2EC0-A1C8-A879-2158D9950F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5552E20-7932-836C-C1D4-8AD0AECB2E4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42C4F67-CCF0-5AB2-F66B-FBE61AD2C32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92AB1F5-0781-1062-0241-F845D51464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CD61A3-7A16-91AA-5192-C6A9020C190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655002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8CA634-4831-01C6-8EA6-BBE5568D003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05EEDB-42F9-FAA2-1387-53D2600C921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Now that we can map local coordinates to the world, how do we track our movement?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Dead-Reckoning</a:t>
            </a:r>
            <a:r>
              <a:rPr lang="en-US" sz="2200" dirty="0">
                <a:latin typeface="Arial"/>
                <a:ea typeface="Arial"/>
                <a:cs typeface="Arial"/>
                <a:sym typeface="Arial"/>
              </a:rPr>
              <a:t> (Odometry) is the process of calculating current position by integrating previously determined positions and estimated speeds over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It relies purely on internal sensors, primarily wheel encoders and IMUs.</a:t>
            </a: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9F9C4E86-2059-2F53-44CE-2578DE5F22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5E596FE-6AFE-8196-D13A-F814D1380D5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FEB1D0A-0294-06D0-49F9-7559AF0030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8B7B6B-C90B-DF3C-AFC2-837D1CEA9C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04A08-FFA6-6526-4F2C-246633C4C4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209202-F3D0-595E-D216-48593FD280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680A86-620E-E794-69D6-1EDC21AE83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939B723-B1AE-0162-8BE8-E9D79EF600C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3954728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7596F2-2742-F064-E09C-B164BDD2A38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2688BC5-82AC-D694-7270-7824EEC16AA8}"/>
                  </a:ext>
                </a:extLst>
              </p:cNvPr>
              <p:cNvSpPr txBox="1">
                <a:spLocks noGrp="1"/>
              </p:cNvSpPr>
              <p:nvPr>
                <p:ph type="body" idx="1"/>
              </p:nvPr>
            </p:nvSpPr>
            <p:spPr>
              <a:xfrm>
                <a:off x="376809" y="1334279"/>
                <a:ext cx="5578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Our robot uses a differential drive system (2 independently driven wheels).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robot’s overall forward linear velocity </a:t>
                </a:r>
                <a14:m>
                  <m:oMath xmlns:m="http://schemas.openxmlformats.org/officeDocument/2006/math">
                    <m:r>
                      <m:rPr>
                        <m:sty m:val="p"/>
                      </m:rPr>
                      <a:rPr lang="en-US" sz="2200" b="0" i="1" smtClean="0">
                        <a:latin typeface="Cambria Math" panose="02040503050406030204" pitchFamily="18" charset="0"/>
                        <a:ea typeface="Arial"/>
                        <a:cs typeface="Arial"/>
                        <a:sym typeface="Arial"/>
                      </a:rPr>
                      <m:t>V</m:t>
                    </m:r>
                  </m:oMath>
                </a14:m>
                <a:r>
                  <a:rPr lang="en-US" sz="2200" dirty="0">
                    <a:latin typeface="Arial"/>
                    <a:ea typeface="Arial"/>
                    <a:cs typeface="Arial"/>
                    <a:sym typeface="Arial"/>
                  </a:rPr>
                  <a:t> is the average of the two wheels: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1" smtClean="0">
                          <a:latin typeface="Cambria Math" panose="02040503050406030204" pitchFamily="18" charset="0"/>
                          <a:ea typeface="Arial"/>
                          <a:cs typeface="Arial"/>
                          <a:sym typeface="Arial"/>
                        </a:rPr>
                        <m:t>V</m:t>
                      </m:r>
                      <m:r>
                        <a:rPr lang="en-US" sz="2200" b="0" i="1" smtClean="0">
                          <a:latin typeface="Cambria Math" panose="02040503050406030204" pitchFamily="18" charset="0"/>
                          <a:ea typeface="Arial"/>
                          <a:cs typeface="Arial"/>
                          <a:sym typeface="Arial"/>
                        </a:rPr>
                        <m:t> = </m:t>
                      </m:r>
                      <m:f>
                        <m:fPr>
                          <m:ctrlPr>
                            <a:rPr lang="en-US" sz="2200" b="0" i="1" smtClean="0">
                              <a:latin typeface="Cambria Math" panose="02040503050406030204" pitchFamily="18" charset="0"/>
                              <a:cs typeface="Arial"/>
                              <a:sym typeface="Arial"/>
                            </a:rPr>
                          </m:ctrlPr>
                        </m:fPr>
                        <m:num>
                          <m:sSub>
                            <m:sSubPr>
                              <m:ctrlPr>
                                <a:rPr lang="en-US" sz="2200" b="0" i="1" smtClean="0">
                                  <a:latin typeface="Cambria Math" panose="02040503050406030204" pitchFamily="18" charset="0"/>
                                  <a:cs typeface="Arial"/>
                                  <a:sym typeface="Arial"/>
                                </a:rPr>
                              </m:ctrlPr>
                            </m:sSubPr>
                            <m:e>
                              <m:r>
                                <a:rPr lang="en-US" sz="2200" b="0" i="1" smtClean="0">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num>
                        <m:den>
                          <m:r>
                            <a:rPr lang="en-US" sz="2200" b="0" i="1" smtClean="0">
                              <a:latin typeface="Cambria Math" panose="02040503050406030204" pitchFamily="18" charset="0"/>
                              <a:cs typeface="Arial"/>
                              <a:sym typeface="Arial"/>
                            </a:rPr>
                            <m:t>2</m:t>
                          </m:r>
                        </m:den>
                      </m:f>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oMath>
                </a14:m>
                <a:r>
                  <a:rPr lang="en-US" sz="2200" dirty="0">
                    <a:latin typeface="Arial"/>
                    <a:ea typeface="Arial"/>
                    <a:cs typeface="Arial"/>
                    <a:sym typeface="Arial"/>
                  </a:rPr>
                  <a:t>, what is the robot doing?</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robot goes forward!</a:t>
                </a:r>
              </a:p>
            </p:txBody>
          </p:sp>
        </mc:Choice>
        <mc:Fallback xmlns="">
          <p:sp>
            <p:nvSpPr>
              <p:cNvPr id="118" name="Google Shape;118;p29">
                <a:extLst>
                  <a:ext uri="{FF2B5EF4-FFF2-40B4-BE49-F238E27FC236}">
                    <a16:creationId xmlns:a16="http://schemas.microsoft.com/office/drawing/2014/main" id="{32688BC5-82AC-D694-7270-7824EEC16AA8}"/>
                  </a:ext>
                </a:extLst>
              </p:cNvPr>
              <p:cNvSpPr txBox="1">
                <a:spLocks noGrp="1" noRot="1" noChangeAspect="1" noMove="1" noResize="1" noEditPoints="1" noAdjustHandles="1" noChangeArrowheads="1" noChangeShapeType="1" noTextEdit="1"/>
              </p:cNvSpPr>
              <p:nvPr>
                <p:ph type="body" idx="1"/>
              </p:nvPr>
            </p:nvSpPr>
            <p:spPr>
              <a:xfrm>
                <a:off x="376809" y="1334279"/>
                <a:ext cx="5578977" cy="4821102"/>
              </a:xfrm>
              <a:prstGeom prst="rect">
                <a:avLst/>
              </a:prstGeom>
              <a:blipFill>
                <a:blip r:embed="rId3"/>
                <a:stretch>
                  <a:fillRect l="-142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C70F1B9-8FBD-9378-3D6C-38D8EEF074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197B72B-0BBE-DB7C-DCAD-5AC1D4F755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6B647A7-08C1-14CE-3B38-A837400BF9D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4678A8-E78E-C419-E0D1-59C77137D1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E148F5-308D-06B9-1B17-CC47F80F5F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A83BCF-D259-CF0A-B373-B3116E973A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AB970E-943C-C43E-E8FE-8CDF477D63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DFA668-60EF-A2D7-8705-3EAE377B5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F253A45E-17E9-77F6-0CF5-586594A729A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41335" y="1170007"/>
            <a:ext cx="5151828" cy="5151828"/>
          </a:xfrm>
          <a:prstGeom prst="rect">
            <a:avLst/>
          </a:prstGeom>
        </p:spPr>
      </p:pic>
    </p:spTree>
    <p:extLst>
      <p:ext uri="{BB962C8B-B14F-4D97-AF65-F5344CB8AC3E}">
        <p14:creationId xmlns:p14="http://schemas.microsoft.com/office/powerpoint/2010/main" val="20685615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A15486-6503-567B-E7AB-34A32A3439B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38A167ED-CA43-8D9C-F58E-9D8FF9531F0C}"/>
                  </a:ext>
                </a:extLst>
              </p:cNvPr>
              <p:cNvSpPr txBox="1">
                <a:spLocks noGrp="1"/>
              </p:cNvSpPr>
              <p:nvPr>
                <p:ph type="body" idx="1"/>
              </p:nvPr>
            </p:nvSpPr>
            <p:spPr>
              <a:xfrm>
                <a:off x="376809" y="1334279"/>
                <a:ext cx="5578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robot’s angular velocity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rial"/>
                    <a:ea typeface="Arial"/>
                    <a:cs typeface="Arial"/>
                    <a:sym typeface="Arial"/>
                  </a:rPr>
                  <a:t> depends on the difference between the wheel speeds.</a:t>
                </a:r>
              </a:p>
              <a:p>
                <a:pPr marL="0" indent="0">
                  <a:lnSpc>
                    <a:spcPct val="100000"/>
                  </a:lnSpc>
                  <a:spcBef>
                    <a:spcPts val="0"/>
                  </a:spcBef>
                  <a:buSzPts val="3000"/>
                  <a:buNone/>
                </a:pPr>
                <a:endParaRPr lang="en-US" sz="2200" i="1" dirty="0">
                  <a:latin typeface="Cambria Math" panose="02040503050406030204" pitchFamily="18" charset="0"/>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r>
                            <m:rPr>
                              <m:sty m:val="p"/>
                            </m:rPr>
                            <a:rPr lang="en-US" sz="2200" b="0" i="1" smtClean="0">
                              <a:latin typeface="Cambria Math" panose="02040503050406030204" pitchFamily="18" charset="0"/>
                              <a:ea typeface="Cambria Math" panose="02040503050406030204" pitchFamily="18" charset="0"/>
                              <a:cs typeface="Arial"/>
                              <a:sym typeface="Arial"/>
                            </a:rPr>
                            <m:t>b</m:t>
                          </m:r>
                        </m:den>
                      </m:f>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b="0" i="1" smtClean="0">
                            <a:latin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R</m:t>
                        </m:r>
                      </m:sub>
                    </m:sSub>
                  </m:oMath>
                </a14:m>
                <a:r>
                  <a:rPr lang="en-US" sz="2200" dirty="0">
                    <a:latin typeface="Arial"/>
                    <a:ea typeface="Arial"/>
                    <a:cs typeface="Arial"/>
                    <a:sym typeface="Arial"/>
                  </a:rPr>
                  <a:t>, what is the robot doing?</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robot rotates in place (a zero-radius turn).</a:t>
                </a:r>
              </a:p>
            </p:txBody>
          </p:sp>
        </mc:Choice>
        <mc:Fallback>
          <p:sp>
            <p:nvSpPr>
              <p:cNvPr id="118" name="Google Shape;118;p29">
                <a:extLst>
                  <a:ext uri="{FF2B5EF4-FFF2-40B4-BE49-F238E27FC236}">
                    <a16:creationId xmlns:a16="http://schemas.microsoft.com/office/drawing/2014/main" id="{38A167ED-CA43-8D9C-F58E-9D8FF9531F0C}"/>
                  </a:ext>
                </a:extLst>
              </p:cNvPr>
              <p:cNvSpPr txBox="1">
                <a:spLocks noGrp="1" noRot="1" noChangeAspect="1" noMove="1" noResize="1" noEditPoints="1" noAdjustHandles="1" noChangeArrowheads="1" noChangeShapeType="1" noTextEdit="1"/>
              </p:cNvSpPr>
              <p:nvPr>
                <p:ph type="body" idx="1"/>
              </p:nvPr>
            </p:nvSpPr>
            <p:spPr>
              <a:xfrm>
                <a:off x="376809" y="1334279"/>
                <a:ext cx="5578977" cy="4821102"/>
              </a:xfrm>
              <a:prstGeom prst="rect">
                <a:avLst/>
              </a:prstGeom>
              <a:blipFill>
                <a:blip r:embed="rId3"/>
                <a:stretch>
                  <a:fillRect l="-1421" t="-759"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6F5731-9133-2A83-1490-A162C6CA0D5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4AE384-93CC-E4DF-6B31-7BDE820DD89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CFD877-CDF0-D4BD-E60A-9067506D345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D44CBA4-B734-E9CF-3559-B3AD8CAB1D0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C54C6A-2C0C-84C8-770D-8E0420DB51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179F3D-CD65-66D3-B7C0-3349F801FD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17C78F-E1EA-2A01-A48C-3AF2294FC2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8EB5C8-A671-2A53-1ED6-73C6A8BF07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5981030D-0294-627F-8D3B-A114FD5891D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41335" y="1170007"/>
            <a:ext cx="5151828" cy="5151828"/>
          </a:xfrm>
          <a:prstGeom prst="rect">
            <a:avLst/>
          </a:prstGeom>
        </p:spPr>
      </p:pic>
    </p:spTree>
    <p:extLst>
      <p:ext uri="{BB962C8B-B14F-4D97-AF65-F5344CB8AC3E}">
        <p14:creationId xmlns:p14="http://schemas.microsoft.com/office/powerpoint/2010/main" val="4156444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AA458C-FDB8-0ACE-9813-541CF7D31E7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C76EF0D-39CE-39D6-1DD6-733B92389290}"/>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Assuming that the wheels are at contacting the ground, the wheels describe arcs in the plane in such a way that the robot always rotates around a point (the </a:t>
                </a:r>
                <a:r>
                  <a:rPr lang="en-US" sz="2200" b="1" dirty="0">
                    <a:latin typeface="Arial"/>
                    <a:ea typeface="Arial"/>
                    <a:cs typeface="Arial"/>
                    <a:sym typeface="Arial"/>
                  </a:rPr>
                  <a:t>ICR </a:t>
                </a:r>
                <a:r>
                  <a:rPr lang="en-US" sz="2200" dirty="0">
                    <a:latin typeface="Arial"/>
                    <a:ea typeface="Arial"/>
                    <a:cs typeface="Arial"/>
                    <a:sym typeface="Arial"/>
                  </a:rPr>
                  <a:t>refers to the instantaneous center of rotation).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rotation leads the robot to have the rotation of the vehicle to be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rial"/>
                    <a:ea typeface="Arial"/>
                    <a:cs typeface="Arial"/>
                    <a:sym typeface="Arial"/>
                  </a:rPr>
                  <a:t> around the </a:t>
                </a:r>
                <a:r>
                  <a:rPr lang="en-US" sz="2200" b="1" dirty="0">
                    <a:latin typeface="Arial"/>
                    <a:ea typeface="Arial"/>
                    <a:cs typeface="Arial"/>
                    <a:sym typeface="Arial"/>
                  </a:rPr>
                  <a:t>ICR</a:t>
                </a:r>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Following the angular velocity equation </a:t>
                </a:r>
                <a14:m>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r>
                      <m:rPr>
                        <m:sty m:val="p"/>
                      </m:rPr>
                      <a:rPr lang="en-US" sz="2200" b="0" i="1" smtClean="0">
                        <a:latin typeface="Cambria Math" panose="02040503050406030204" pitchFamily="18" charset="0"/>
                        <a:ea typeface="Cambria Math" panose="02040503050406030204" pitchFamily="18" charset="0"/>
                        <a:cs typeface="Arial"/>
                        <a:sym typeface="Arial"/>
                      </a:rPr>
                      <m:t>r</m:t>
                    </m:r>
                    <m:r>
                      <a:rPr lang="en-US" sz="2200" b="0" i="1" smtClean="0">
                        <a:latin typeface="Cambria Math" panose="02040503050406030204" pitchFamily="18" charset="0"/>
                        <a:ea typeface="Cambria Math" panose="02040503050406030204" pitchFamily="18" charset="0"/>
                        <a:cs typeface="Arial"/>
                        <a:sym typeface="Arial"/>
                      </a:rPr>
                      <m:t>𝜈</m:t>
                    </m:r>
                    <m:r>
                      <a:rPr lang="en-US" sz="2200" b="0" i="1" smtClean="0">
                        <a:latin typeface="Cambria Math" panose="02040503050406030204" pitchFamily="18" charset="0"/>
                        <a:ea typeface="Cambria Math" panose="02040503050406030204" pitchFamily="18" charset="0"/>
                        <a:cs typeface="Arial"/>
                        <a:sym typeface="Arial"/>
                      </a:rPr>
                      <m:t> </m:t>
                    </m:r>
                  </m:oMath>
                </a14:m>
                <a:r>
                  <a:rPr lang="en-US" sz="2200" dirty="0">
                    <a:latin typeface="Arial"/>
                    <a:ea typeface="Arial"/>
                    <a:cs typeface="Arial"/>
                    <a:sym typeface="Arial"/>
                  </a:rPr>
                  <a:t>, we have,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d>
                        <m:dPr>
                          <m:ctrlPr>
                            <a:rPr lang="en-US" sz="2200" b="0" i="1" smtClean="0">
                              <a:latin typeface="Cambria Math" panose="02040503050406030204" pitchFamily="18" charset="0"/>
                              <a:ea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𝑅</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b="0" i="1" smtClean="0">
                                  <a:latin typeface="Cambria Math" panose="02040503050406030204" pitchFamily="18" charset="0"/>
                                  <a:ea typeface="Cambria Math" panose="02040503050406030204" pitchFamily="18" charset="0"/>
                                  <a:cs typeface="Arial"/>
                                  <a:sym typeface="Arial"/>
                                </a:rPr>
                              </m:ctrlPr>
                            </m:fPr>
                            <m:num>
                              <m:r>
                                <m:rPr>
                                  <m:sty m:val="p"/>
                                </m:rPr>
                                <a:rPr lang="en-US" sz="2200" b="0" i="1" smtClean="0">
                                  <a:latin typeface="Cambria Math" panose="02040503050406030204" pitchFamily="18" charset="0"/>
                                  <a:ea typeface="Cambria Math" panose="02040503050406030204" pitchFamily="18" charset="0"/>
                                  <a:cs typeface="Arial"/>
                                  <a:sym typeface="Arial"/>
                                </a:rPr>
                                <m:t>b</m:t>
                              </m:r>
                            </m:num>
                            <m:den>
                              <m:r>
                                <a:rPr lang="en-US" sz="2200" b="0" i="1" smtClean="0">
                                  <a:latin typeface="Cambria Math" panose="02040503050406030204" pitchFamily="18" charset="0"/>
                                  <a:ea typeface="Cambria Math" panose="02040503050406030204" pitchFamily="18" charset="0"/>
                                  <a:cs typeface="Arial"/>
                                  <a:sym typeface="Arial"/>
                                </a:rPr>
                                <m:t>2</m:t>
                              </m:r>
                            </m:den>
                          </m:f>
                        </m:e>
                      </m:d>
                      <m:sSub>
                        <m:sSubPr>
                          <m:ctrlPr>
                            <a:rPr lang="en-US" sz="2200" b="0" i="1" smtClean="0">
                              <a:latin typeface="Cambria Math" panose="02040503050406030204" pitchFamily="18" charset="0"/>
                              <a:ea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oMath>
                  </m:oMathPara>
                </a14:m>
                <a:endParaRPr lang="en-US" sz="2200" b="0" dirty="0">
                  <a:latin typeface="Arial"/>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i="1">
                          <a:latin typeface="Cambria Math" panose="02040503050406030204" pitchFamily="18" charset="0"/>
                          <a:ea typeface="Cambria Math" panose="02040503050406030204" pitchFamily="18" charset="0"/>
                          <a:cs typeface="Arial"/>
                          <a:sym typeface="Arial"/>
                        </a:rPr>
                        <m:t>=</m:t>
                      </m:r>
                      <m:d>
                        <m:dPr>
                          <m:ctrlPr>
                            <a:rPr lang="en-US" sz="2200" i="1">
                              <a:latin typeface="Cambria Math" panose="02040503050406030204" pitchFamily="18" charset="0"/>
                              <a:ea typeface="Cambria Math" panose="02040503050406030204" pitchFamily="18" charset="0"/>
                              <a:cs typeface="Arial"/>
                              <a:sym typeface="Arial"/>
                            </a:rPr>
                          </m:ctrlPr>
                        </m:dPr>
                        <m:e>
                          <m:r>
                            <a:rPr lang="en-US" sz="2200" i="1" smtClean="0">
                              <a:latin typeface="Cambria Math" panose="02040503050406030204" pitchFamily="18" charset="0"/>
                              <a:ea typeface="Cambria Math" panose="02040503050406030204" pitchFamily="18" charset="0"/>
                              <a:cs typeface="Arial"/>
                              <a:sym typeface="Arial"/>
                            </a:rPr>
                            <m:t>𝑅</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ea typeface="Cambria Math" panose="02040503050406030204" pitchFamily="18" charset="0"/>
                                  <a:cs typeface="Arial"/>
                                  <a:sym typeface="Arial"/>
                                </a:rPr>
                              </m:ctrlPr>
                            </m:fPr>
                            <m:num>
                              <m:r>
                                <m:rPr>
                                  <m:sty m:val="p"/>
                                </m:rPr>
                                <a:rPr lang="en-US" sz="2200" i="1">
                                  <a:latin typeface="Cambria Math" panose="02040503050406030204" pitchFamily="18" charset="0"/>
                                  <a:ea typeface="Cambria Math" panose="02040503050406030204" pitchFamily="18" charset="0"/>
                                  <a:cs typeface="Arial"/>
                                  <a:sym typeface="Arial"/>
                                </a:rPr>
                                <m:t>b</m:t>
                              </m:r>
                            </m:num>
                            <m:den>
                              <m:r>
                                <a:rPr lang="en-US" sz="2200" i="1">
                                  <a:latin typeface="Cambria Math" panose="02040503050406030204" pitchFamily="18" charset="0"/>
                                  <a:ea typeface="Cambria Math" panose="02040503050406030204" pitchFamily="18" charset="0"/>
                                  <a:cs typeface="Arial"/>
                                  <a:sym typeface="Arial"/>
                                </a:rPr>
                                <m:t>2</m:t>
                              </m:r>
                            </m:den>
                          </m:f>
                        </m:e>
                      </m:d>
                      <m:sSub>
                        <m:sSubPr>
                          <m:ctrlPr>
                            <a:rPr lang="en-US" sz="2200" i="1">
                              <a:latin typeface="Cambria Math" panose="02040503050406030204" pitchFamily="18" charset="0"/>
                              <a:ea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8C76EF0D-39CE-39D6-1DD6-733B92389290}"/>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r="-193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047C59-56C9-ADF3-FB5D-C717D92C80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08FD53B-4723-ABD0-9FCF-CABC2AEF745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EC9F23A-B72D-4ED6-16CE-1CFFC4DAFA6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9FC659-2FBE-6D45-D427-4D988D2D67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1809E5-DC5A-8030-41B9-21D95E6BB0F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BAE7C5-F4C5-22C4-50A7-80ACB3E5C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9E3CE9D-BA9A-F61E-A0A1-4D7E55B3D00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A05BA9-51EF-31FA-93C7-F068C56FE7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057E820A-FAFB-0518-9A2F-DF8DB1F9797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12468457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13026-6ABA-1E9D-FD91-85F548236C0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1C57B75-374F-1071-DAC6-B28E22E5DDB8}"/>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Solving for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rial"/>
                    <a:ea typeface="Arial"/>
                    <a:cs typeface="Arial"/>
                    <a:sym typeface="Arial"/>
                  </a:rPr>
                  <a:t> and R, we get that,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i="1">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r>
                            <m:rPr>
                              <m:sty m:val="p"/>
                            </m:rPr>
                            <a:rPr lang="en-US" sz="2200" i="1">
                              <a:latin typeface="Cambria Math" panose="02040503050406030204" pitchFamily="18" charset="0"/>
                              <a:ea typeface="Cambria Math" panose="02040503050406030204" pitchFamily="18" charset="0"/>
                              <a:cs typeface="Arial"/>
                              <a:sym typeface="Arial"/>
                            </a:rPr>
                            <m:t>b</m:t>
                          </m:r>
                        </m:den>
                      </m:f>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0" smtClean="0">
                          <a:latin typeface="Cambria Math" panose="02040503050406030204" pitchFamily="18" charset="0"/>
                          <a:ea typeface="Cambria Math" panose="02040503050406030204" pitchFamily="18" charset="0"/>
                          <a:cs typeface="Arial"/>
                          <a:sym typeface="Arial"/>
                        </a:rPr>
                        <m:t>R</m:t>
                      </m:r>
                      <m:r>
                        <a:rPr lang="en-US" sz="2200" i="1">
                          <a:latin typeface="Cambria Math" panose="02040503050406030204" pitchFamily="18" charset="0"/>
                          <a:ea typeface="Cambria Math" panose="02040503050406030204" pitchFamily="18" charset="0"/>
                          <a:cs typeface="Arial"/>
                          <a:sym typeface="Arial"/>
                        </a:rPr>
                        <m:t>=</m:t>
                      </m:r>
                      <m:f>
                        <m:fPr>
                          <m:ctrlPr>
                            <a:rPr lang="en-US" sz="2200" i="1" smtClean="0">
                              <a:latin typeface="Cambria Math" panose="02040503050406030204" pitchFamily="18" charset="0"/>
                              <a:ea typeface="Cambria Math" panose="02040503050406030204" pitchFamily="18" charset="0"/>
                              <a:cs typeface="Arial"/>
                              <a:sym typeface="Arial"/>
                            </a:rPr>
                          </m:ctrlPr>
                        </m:fPr>
                        <m:num>
                          <m:r>
                            <m:rPr>
                              <m:sty m:val="p"/>
                            </m:rPr>
                            <a:rPr lang="en-US" sz="2200" b="0" i="1" smtClean="0">
                              <a:latin typeface="Cambria Math" panose="02040503050406030204" pitchFamily="18" charset="0"/>
                              <a:ea typeface="Cambria Math" panose="02040503050406030204" pitchFamily="18" charset="0"/>
                              <a:cs typeface="Arial"/>
                              <a:sym typeface="Arial"/>
                            </a:rPr>
                            <m:t>b</m:t>
                          </m:r>
                        </m:num>
                        <m:den>
                          <m:r>
                            <a:rPr lang="en-US" sz="2200" b="0" i="1" smtClean="0">
                              <a:latin typeface="Cambria Math" panose="02040503050406030204" pitchFamily="18" charset="0"/>
                              <a:ea typeface="Cambria Math" panose="02040503050406030204" pitchFamily="18" charset="0"/>
                              <a:cs typeface="Arial"/>
                              <a:sym typeface="Arial"/>
                            </a:rPr>
                            <m:t>2</m:t>
                          </m:r>
                        </m:den>
                      </m:f>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m:t>
                          </m:r>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 -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den>
                      </m:f>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Very simple!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When </a:t>
                </a:r>
                <a14:m>
                  <m:oMath xmlns:m="http://schemas.openxmlformats.org/officeDocument/2006/math">
                    <m:r>
                      <m:rPr>
                        <m:sty m:val="p"/>
                      </m:rPr>
                      <a:rPr lang="en-US" sz="2200">
                        <a:latin typeface="Cambria Math" panose="02040503050406030204" pitchFamily="18" charset="0"/>
                        <a:ea typeface="Cambria Math" panose="02040503050406030204" pitchFamily="18" charset="0"/>
                        <a:cs typeface="Arial"/>
                        <a:sym typeface="Arial"/>
                      </a:rPr>
                      <m:t>R</m:t>
                    </m:r>
                    <m:r>
                      <a:rPr lang="en-US" sz="2200" b="0" i="0" smtClean="0">
                        <a:latin typeface="Cambria Math" panose="02040503050406030204" pitchFamily="18" charset="0"/>
                        <a:ea typeface="Cambria Math" panose="02040503050406030204" pitchFamily="18" charset="0"/>
                        <a:cs typeface="Arial"/>
                        <a:sym typeface="Arial"/>
                      </a:rPr>
                      <m:t> = </m:t>
                    </m:r>
                    <m:r>
                      <a:rPr lang="en-US" sz="2200" b="0" i="1" smtClean="0">
                        <a:latin typeface="Cambria Math" panose="02040503050406030204" pitchFamily="18" charset="0"/>
                        <a:ea typeface="Cambria Math" panose="02040503050406030204" pitchFamily="18" charset="0"/>
                        <a:cs typeface="Arial"/>
                        <a:sym typeface="Arial"/>
                      </a:rPr>
                      <m:t>∞</m:t>
                    </m:r>
                  </m:oMath>
                </a14:m>
                <a:r>
                  <a:rPr lang="en-US" sz="2200" dirty="0">
                    <a:latin typeface="Arial"/>
                    <a:ea typeface="Arial"/>
                    <a:cs typeface="Arial"/>
                    <a:sym typeface="Arial"/>
                  </a:rPr>
                  <a:t>, what is the robot doing?</a:t>
                </a:r>
              </a:p>
              <a:p>
                <a:pPr marL="0" indent="0">
                  <a:lnSpc>
                    <a:spcPct val="100000"/>
                  </a:lnSpc>
                  <a:spcBef>
                    <a:spcPts val="0"/>
                  </a:spcBef>
                  <a:buSzPts val="3000"/>
                  <a:buNone/>
                </a:pPr>
                <a:r>
                  <a:rPr lang="en-US" sz="2200" dirty="0">
                    <a:latin typeface="Arial"/>
                    <a:ea typeface="Arial"/>
                    <a:cs typeface="Arial"/>
                    <a:sym typeface="Arial"/>
                  </a:rPr>
                  <a:t>When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 0</m:t>
                    </m:r>
                  </m:oMath>
                </a14:m>
                <a:r>
                  <a:rPr lang="en-US" sz="2200" dirty="0">
                    <a:latin typeface="Arial"/>
                    <a:ea typeface="Arial"/>
                    <a:cs typeface="Arial"/>
                    <a:sym typeface="Arial"/>
                  </a:rPr>
                  <a:t>, what is the robot doing?</a:t>
                </a:r>
              </a:p>
              <a:p>
                <a:pPr marL="0" indent="0">
                  <a:lnSpc>
                    <a:spcPct val="100000"/>
                  </a:lnSpc>
                  <a:spcBef>
                    <a:spcPts val="0"/>
                  </a:spcBef>
                  <a:buSzPts val="3000"/>
                  <a:buNone/>
                </a:pPr>
                <a:endParaRPr lang="en-US" sz="2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A1C57B75-374F-1071-DAC6-B28E22E5DDB8}"/>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E687758-CA04-3163-CE38-B6AC64638D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77F1CC9-EFE6-DAB7-FFA6-DD570FFFE54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A7089C-3F15-063A-06F6-26A95EC357B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61F874-C670-686C-7B21-1E745FD655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A627F39-0053-02A9-6FC5-F35434AD01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02E0AB-6328-8DF2-7D09-67833D2F6D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123FD1-A272-CDDD-5538-194CF66621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59382F-689C-A388-0D11-423AC33E80B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2E5442EB-5FDF-63B8-74EC-F0DEBD0C35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67429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82A523-5CFF-0ACA-94BC-DF8BADF9F34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CBA2C7AC-C42D-ACEC-6107-387F1EE0C0EE}"/>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Based on the calculated forward velocity from the encoders, </a:t>
                </a:r>
                <a14:m>
                  <m:oMath xmlns:m="http://schemas.openxmlformats.org/officeDocument/2006/math">
                    <m:r>
                      <m:rPr>
                        <m:sty m:val="p"/>
                      </m:rPr>
                      <a:rPr lang="en-US" sz="2200" b="0" i="1" smtClean="0">
                        <a:latin typeface="Cambria Math" panose="02040503050406030204" pitchFamily="18" charset="0"/>
                        <a:ea typeface="Arial"/>
                        <a:cs typeface="Arial"/>
                        <a:sym typeface="Arial"/>
                      </a:rPr>
                      <m:t>V</m:t>
                    </m:r>
                  </m:oMath>
                </a14:m>
                <a:r>
                  <a:rPr lang="en-US" sz="2200" dirty="0">
                    <a:latin typeface="Arial"/>
                    <a:ea typeface="Arial"/>
                    <a:cs typeface="Arial"/>
                    <a:sym typeface="Arial"/>
                  </a:rPr>
                  <a:t>, in lab we already calculate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ea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L</m:t>
                        </m:r>
                      </m:sub>
                    </m:sSub>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Using forward Euler integration, we update our world </a:t>
                </a:r>
                <a14:m>
                  <m:oMath xmlns:m="http://schemas.openxmlformats.org/officeDocument/2006/math">
                    <m:r>
                      <m:rPr>
                        <m:sty m:val="p"/>
                      </m:rPr>
                      <a:rPr lang="en-US" sz="2200" b="0" i="1" smtClean="0">
                        <a:latin typeface="Cambria Math" panose="02040503050406030204" pitchFamily="18" charset="0"/>
                        <a:ea typeface="Arial"/>
                        <a:cs typeface="Arial"/>
                        <a:sym typeface="Arial"/>
                      </a:rPr>
                      <m:t>X</m:t>
                    </m:r>
                  </m:oMath>
                </a14:m>
                <a:r>
                  <a:rPr lang="en-US" sz="2200" dirty="0">
                    <a:latin typeface="Arial"/>
                    <a:ea typeface="Arial"/>
                    <a:cs typeface="Arial"/>
                    <a:sym typeface="Arial"/>
                  </a:rPr>
                  <a:t> and </a:t>
                </a:r>
                <a14:m>
                  <m:oMath xmlns:m="http://schemas.openxmlformats.org/officeDocument/2006/math">
                    <m:r>
                      <m:rPr>
                        <m:sty m:val="p"/>
                      </m:rPr>
                      <a:rPr lang="en-US" sz="2200" b="0" i="1" smtClean="0">
                        <a:latin typeface="Cambria Math" panose="02040503050406030204" pitchFamily="18" charset="0"/>
                        <a:ea typeface="Arial"/>
                        <a:cs typeface="Arial"/>
                        <a:sym typeface="Arial"/>
                      </a:rPr>
                      <m:t>Y</m:t>
                    </m:r>
                  </m:oMath>
                </a14:m>
                <a:r>
                  <a:rPr lang="en-US" sz="2200" dirty="0">
                    <a:latin typeface="Arial"/>
                    <a:ea typeface="Arial"/>
                    <a:cs typeface="Arial"/>
                    <a:sym typeface="Arial"/>
                  </a:rPr>
                  <a:t> coordinates using our current heading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𝑉</m:t>
                          </m:r>
                        </m:e>
                        <m:sub>
                          <m:r>
                            <a:rPr lang="en-US" sz="2200" b="0" i="1" smtClean="0">
                              <a:latin typeface="Cambria Math" panose="02040503050406030204" pitchFamily="18" charset="0"/>
                              <a:ea typeface="Arial"/>
                              <a:cs typeface="Arial"/>
                              <a:sym typeface="Arial"/>
                            </a:rPr>
                            <m:t>𝑡</m:t>
                          </m:r>
                        </m:sub>
                      </m:sSub>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e>
                          </m:d>
                        </m:e>
                      </m:func>
                      <m:r>
                        <a:rPr lang="en-US" sz="2200" b="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b="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smtClean="0">
                              <a:latin typeface="Cambria Math" panose="02040503050406030204" pitchFamily="18" charset="0"/>
                              <a:ea typeface="Arial"/>
                              <a:cs typeface="Arial"/>
                              <a:sym typeface="Arial"/>
                            </a:rPr>
                          </m:ctrlPr>
                        </m:sSubPr>
                        <m:e>
                          <m:r>
                            <m:rPr>
                              <m:sty m:val="p"/>
                            </m:rPr>
                            <a:rPr lang="en-US" sz="2200" b="0" i="1" smtClean="0">
                              <a:latin typeface="Cambria Math" panose="02040503050406030204" pitchFamily="18" charset="0"/>
                              <a:ea typeface="Arial"/>
                              <a:cs typeface="Arial"/>
                              <a:sym typeface="Arial"/>
                            </a:rPr>
                            <m:t>y</m:t>
                          </m:r>
                        </m:e>
                        <m:sub>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+1</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m:rPr>
                              <m:sty m:val="p"/>
                            </m:rPr>
                            <a:rPr lang="en-US" sz="2200" b="0" i="1" smtClean="0">
                              <a:latin typeface="Cambria Math" panose="02040503050406030204" pitchFamily="18" charset="0"/>
                              <a:ea typeface="Arial"/>
                              <a:cs typeface="Arial"/>
                              <a:sym typeface="Arial"/>
                            </a:rPr>
                            <m:t>y</m:t>
                          </m:r>
                        </m:e>
                        <m:sub>
                          <m:r>
                            <a:rPr lang="en-US" sz="2200" i="1">
                              <a:latin typeface="Cambria Math" panose="02040503050406030204" pitchFamily="18" charset="0"/>
                              <a:ea typeface="Arial"/>
                              <a:cs typeface="Arial"/>
                              <a:sym typeface="Arial"/>
                            </a:rPr>
                            <m:t>𝑡</m:t>
                          </m:r>
                        </m:sub>
                      </m:sSub>
                      <m:r>
                        <a:rPr lang="en-US" sz="2200" i="1">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𝑉</m:t>
                          </m:r>
                        </m:e>
                        <m:sub>
                          <m:r>
                            <a:rPr lang="en-US" sz="2200" b="0" i="1" smtClean="0">
                              <a:latin typeface="Cambria Math" panose="02040503050406030204" pitchFamily="18" charset="0"/>
                              <a:ea typeface="Arial"/>
                              <a:cs typeface="Arial"/>
                              <a:sym typeface="Arial"/>
                            </a:rPr>
                            <m:t>𝑡</m:t>
                          </m:r>
                        </m:sub>
                      </m:sSub>
                      <m:func>
                        <m:funcPr>
                          <m:ctrlPr>
                            <a:rPr lang="en-US" sz="2200" i="1">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d>
                            <m:dPr>
                              <m:ctrlPr>
                                <a:rPr lang="en-US" sz="2200" i="1">
                                  <a:latin typeface="Cambria Math" panose="02040503050406030204" pitchFamily="18" charset="0"/>
                                  <a:ea typeface="Arial"/>
                                  <a:cs typeface="Arial"/>
                                  <a:sym typeface="Arial"/>
                                </a:rPr>
                              </m:ctrlPr>
                            </m:dPr>
                            <m:e>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a:rPr lang="en-US" sz="2200" i="1">
                                      <a:latin typeface="Cambria Math" panose="02040503050406030204" pitchFamily="18" charset="0"/>
                                      <a:ea typeface="Arial"/>
                                      <a:cs typeface="Arial"/>
                                      <a:sym typeface="Arial"/>
                                    </a:rPr>
                                    <m:t>𝑡</m:t>
                                  </m:r>
                                </m:sub>
                              </m:sSub>
                            </m:e>
                          </m:d>
                        </m:e>
                      </m:func>
                      <m:r>
                        <a:rPr lang="en-US" sz="2200" i="1">
                          <a:latin typeface="Cambria Math" panose="02040503050406030204" pitchFamily="18" charset="0"/>
                          <a:ea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𝑡</m:t>
                      </m:r>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𝜔</m:t>
                          </m:r>
                        </m:e>
                        <m:sub>
                          <m:r>
                            <a:rPr lang="en-US" sz="2200" b="0" i="1" smtClean="0">
                              <a:latin typeface="Cambria Math" panose="02040503050406030204" pitchFamily="18" charset="0"/>
                              <a:ea typeface="Arial"/>
                              <a:cs typeface="Arial"/>
                              <a:sym typeface="Arial"/>
                            </a:rPr>
                            <m:t>𝑡</m:t>
                          </m:r>
                        </m:sub>
                      </m:sSub>
                      <m:r>
                        <m:rPr>
                          <m:sty m:val="p"/>
                        </m:rPr>
                        <a:rPr lang="en-US" sz="2200" b="0" i="0" smtClean="0">
                          <a:latin typeface="Cambria Math" panose="02040503050406030204" pitchFamily="18" charset="0"/>
                          <a:ea typeface="Arial"/>
                          <a:cs typeface="Arial"/>
                          <a:sym typeface="Arial"/>
                        </a:rPr>
                        <m:t>Δ</m:t>
                      </m:r>
                      <m:r>
                        <a:rPr lang="en-US" sz="2200" b="0" i="1" smtClean="0">
                          <a:latin typeface="Cambria Math" panose="02040503050406030204" pitchFamily="18" charset="0"/>
                          <a:ea typeface="Arial"/>
                          <a:cs typeface="Arial"/>
                          <a:sym typeface="Arial"/>
                        </a:rPr>
                        <m:t>𝑡</m:t>
                      </m:r>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There we go! </a:t>
                </a:r>
              </a:p>
              <a:p>
                <a:pPr marL="0" indent="0">
                  <a:lnSpc>
                    <a:spcPct val="100000"/>
                  </a:lnSpc>
                  <a:spcBef>
                    <a:spcPts val="0"/>
                  </a:spcBef>
                  <a:buSzPts val="3000"/>
                  <a:buNone/>
                </a:pPr>
                <a:r>
                  <a:rPr lang="en-US" sz="2200" dirty="0">
                    <a:latin typeface="Arial"/>
                    <a:ea typeface="Arial"/>
                    <a:cs typeface="Arial"/>
                    <a:sym typeface="Arial"/>
                  </a:rPr>
                  <a:t>We now have 2 ways to get the robot’s position, integrating the </a:t>
                </a:r>
                <a:r>
                  <a:rPr lang="en-US" sz="2200" b="1" dirty="0">
                    <a:latin typeface="Arial"/>
                    <a:ea typeface="Arial"/>
                    <a:cs typeface="Arial"/>
                    <a:sym typeface="Arial"/>
                  </a:rPr>
                  <a:t>IMU</a:t>
                </a:r>
                <a:r>
                  <a:rPr lang="en-US" sz="2200" dirty="0">
                    <a:latin typeface="Arial"/>
                    <a:ea typeface="Arial"/>
                    <a:cs typeface="Arial"/>
                    <a:sym typeface="Arial"/>
                  </a:rPr>
                  <a:t> or integrating the </a:t>
                </a:r>
                <a:r>
                  <a:rPr lang="en-US" sz="2200" b="1" dirty="0">
                    <a:latin typeface="Arial"/>
                    <a:ea typeface="Arial"/>
                    <a:cs typeface="Arial"/>
                    <a:sym typeface="Arial"/>
                  </a:rPr>
                  <a:t>wheel encoder</a:t>
                </a:r>
                <a:r>
                  <a:rPr lang="en-US" sz="2200" dirty="0">
                    <a:latin typeface="Arial"/>
                    <a:ea typeface="Arial"/>
                    <a:cs typeface="Arial"/>
                    <a:sym typeface="Arial"/>
                  </a:rPr>
                  <a:t> information!</a:t>
                </a:r>
              </a:p>
            </p:txBody>
          </p:sp>
        </mc:Choice>
        <mc:Fallback>
          <p:sp>
            <p:nvSpPr>
              <p:cNvPr id="118" name="Google Shape;118;p29">
                <a:extLst>
                  <a:ext uri="{FF2B5EF4-FFF2-40B4-BE49-F238E27FC236}">
                    <a16:creationId xmlns:a16="http://schemas.microsoft.com/office/drawing/2014/main" id="{CBA2C7AC-C42D-ACEC-6107-387F1EE0C0EE}"/>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b="-189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BD52C4-FB11-1D29-BFDF-5B4E8934433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9CAE51B-7AB3-0DB7-D54C-59C13FCCDF4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F32EABB-D6FA-75C0-53E7-C8751917955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734D7BA-0767-2C19-95E6-454294A6D0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4982E7F-3E1F-964D-42F3-0AFE7A4109E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2BD7EA-4E6F-479B-2A5D-E7CCD38B52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261583-041E-282D-A7E1-0D5DD1FA22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C65B02-D03F-D72D-D15E-30F178A5C34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08DCB2E8-FF30-3015-8E18-F5DE0586C1B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3746760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51E58F-B0D3-64FE-8ECA-A61DCF5EC77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46A2FE-E7C1-B3B3-8DC0-D9BD94BBC89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Given the 2 methods of calculating the robot’s position, if we run this integration for 10 minutes, will the robot’s calculated position match its real physical location?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Will the IMU and the wheel encoder measurements match?</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Absolutely not! Dead-reckoning is subject to unbounded accumulating errors.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Any small measurement error is added to the previous state, meaning the error grows infinitely over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This is known as drift. </a:t>
            </a:r>
            <a:r>
              <a:rPr lang="en-US" sz="2200" b="1" dirty="0">
                <a:latin typeface="Arial"/>
                <a:ea typeface="Arial"/>
                <a:cs typeface="Arial"/>
                <a:sym typeface="Arial"/>
              </a:rPr>
              <a:t>Odometry Drift </a:t>
            </a:r>
            <a:r>
              <a:rPr lang="en-US" sz="2200" dirty="0">
                <a:latin typeface="Arial"/>
                <a:ea typeface="Arial"/>
                <a:cs typeface="Arial"/>
                <a:sym typeface="Arial"/>
              </a:rPr>
              <a:t>for wheel encoders and </a:t>
            </a:r>
            <a:r>
              <a:rPr lang="en-US" sz="2200" b="1" dirty="0">
                <a:latin typeface="Arial"/>
                <a:ea typeface="Arial"/>
                <a:cs typeface="Arial"/>
                <a:sym typeface="Arial"/>
              </a:rPr>
              <a:t>IMU Drift </a:t>
            </a:r>
            <a:r>
              <a:rPr lang="en-US" sz="2200" dirty="0">
                <a:latin typeface="Arial"/>
                <a:ea typeface="Arial"/>
                <a:cs typeface="Arial"/>
                <a:sym typeface="Arial"/>
              </a:rPr>
              <a:t>for the IMU.</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In later lectures we will learn about the </a:t>
            </a:r>
            <a:r>
              <a:rPr lang="en-US" sz="2200" b="1" dirty="0">
                <a:latin typeface="Arial"/>
                <a:ea typeface="Arial"/>
                <a:cs typeface="Arial"/>
                <a:sym typeface="Arial"/>
              </a:rPr>
              <a:t>Kalman Filter</a:t>
            </a:r>
            <a:r>
              <a:rPr lang="en-US" sz="2200" dirty="0">
                <a:latin typeface="Arial"/>
                <a:ea typeface="Arial"/>
                <a:cs typeface="Arial"/>
                <a:sym typeface="Arial"/>
              </a:rPr>
              <a:t> to be able to </a:t>
            </a:r>
            <a:r>
              <a:rPr lang="en-US" sz="2200" b="1" dirty="0">
                <a:latin typeface="Arial"/>
                <a:ea typeface="Arial"/>
                <a:cs typeface="Arial"/>
                <a:sym typeface="Arial"/>
              </a:rPr>
              <a:t>fuse</a:t>
            </a:r>
            <a:r>
              <a:rPr lang="en-US" sz="2200" dirty="0">
                <a:latin typeface="Arial"/>
                <a:ea typeface="Arial"/>
                <a:cs typeface="Arial"/>
                <a:sym typeface="Arial"/>
              </a:rPr>
              <a:t> both sensors to get a more accurate measurement!</a:t>
            </a:r>
            <a:endParaRPr lang="en-US" sz="22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34C8F507-239D-C9EC-C9EB-02845847F1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80215FE-B039-301D-3E61-8D4098F31C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BCE2F3B-F0FE-C028-ACA2-31FAC3B19FA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482B0C-A27E-3C2F-060D-38EFD34CB5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4EDF2B-390A-8D89-CC48-B965C45253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4F9939-589D-2C2A-57F8-95382EE942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DAF25A3-E8DC-0901-7582-6410FF6EA39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4A40C6-C9DF-00B3-4F34-3B7D2E65E3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09733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55DE9A2-4DDF-039E-DDAF-7A13C7FF489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E610F3D-B5AB-6389-3923-76F72CAA4B93}"/>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Errors</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3FD5944D-11A0-0159-1787-EB384114A92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2A880CC-F404-6122-90C1-83EE02CE141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C519B51-4066-5507-542E-6DF70D43E48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BA564C6-8367-E96B-3958-0E14D3BC050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1EA9C19-F18B-EE1A-8D9D-3A88F9D567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2515B72-FE76-84E0-8C6A-55EE1991219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B1DE7DB-A0B0-75A1-CBED-7A9F8DC484F5}"/>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40AF3A3-B001-E849-E7F3-3550D3B69F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4A8C815-0A54-93F7-5BB4-B00385F14DD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443532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5BE669C-2B00-75F3-4971-C61FBC7A446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5EB9E38-337B-DBD1-54F7-5D0A0A717ECB}"/>
              </a:ext>
            </a:extLst>
          </p:cNvPr>
          <p:cNvSpPr txBox="1">
            <a:spLocks noGrp="1"/>
          </p:cNvSpPr>
          <p:nvPr>
            <p:ph type="body" idx="1"/>
          </p:nvPr>
        </p:nvSpPr>
        <p:spPr>
          <a:xfrm>
            <a:off x="376809" y="1334279"/>
            <a:ext cx="65103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There are 2-types of errors in measurements,</a:t>
            </a:r>
          </a:p>
          <a:p>
            <a:pPr marL="0" indent="0">
              <a:lnSpc>
                <a:spcPct val="100000"/>
              </a:lnSpc>
              <a:spcBef>
                <a:spcPts val="0"/>
              </a:spcBef>
              <a:buSzPts val="3000"/>
              <a:buNone/>
            </a:pPr>
            <a:endParaRPr lang="en-US" sz="2200" b="1"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Systematic Error:</a:t>
            </a:r>
          </a:p>
          <a:p>
            <a:pPr marL="342900">
              <a:lnSpc>
                <a:spcPct val="100000"/>
              </a:lnSpc>
              <a:spcBef>
                <a:spcPts val="0"/>
              </a:spcBef>
              <a:buSzPts val="3000"/>
            </a:pPr>
            <a:r>
              <a:rPr lang="en-US" sz="2200" dirty="0">
                <a:latin typeface="Arial"/>
                <a:ea typeface="Arial"/>
                <a:cs typeface="Arial"/>
                <a:sym typeface="Arial"/>
              </a:rPr>
              <a:t>Built into the physical mechanism of the sensor</a:t>
            </a:r>
          </a:p>
          <a:p>
            <a:pPr marL="342900">
              <a:lnSpc>
                <a:spcPct val="100000"/>
              </a:lnSpc>
              <a:spcBef>
                <a:spcPts val="0"/>
              </a:spcBef>
              <a:buSzPts val="3000"/>
            </a:pPr>
            <a:r>
              <a:rPr lang="en-US" sz="2200" dirty="0">
                <a:latin typeface="Arial"/>
                <a:ea typeface="Arial"/>
                <a:cs typeface="Arial"/>
                <a:sym typeface="Arial"/>
              </a:rPr>
              <a:t>Always occurs, with the same value, when we the instrument in the same way and in the same case</a:t>
            </a:r>
          </a:p>
          <a:p>
            <a:pPr marL="342900">
              <a:lnSpc>
                <a:spcPct val="100000"/>
              </a:lnSpc>
              <a:spcBef>
                <a:spcPts val="0"/>
              </a:spcBef>
              <a:buSzPts val="3000"/>
            </a:pPr>
            <a:r>
              <a:rPr lang="en-US" sz="2200" dirty="0">
                <a:latin typeface="Arial"/>
                <a:ea typeface="Arial"/>
                <a:cs typeface="Arial"/>
                <a:sym typeface="Arial"/>
              </a:rPr>
              <a:t>Can often be accounted for</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Examples:</a:t>
            </a:r>
          </a:p>
          <a:p>
            <a:pPr marL="342900">
              <a:lnSpc>
                <a:spcPct val="100000"/>
              </a:lnSpc>
              <a:spcBef>
                <a:spcPts val="0"/>
              </a:spcBef>
              <a:buSzPts val="3000"/>
            </a:pPr>
            <a:r>
              <a:rPr lang="en-US" sz="2200" dirty="0">
                <a:latin typeface="Arial"/>
                <a:ea typeface="Arial"/>
                <a:cs typeface="Arial"/>
                <a:sym typeface="Arial"/>
              </a:rPr>
              <a:t>Unequal wheel diameter</a:t>
            </a:r>
          </a:p>
          <a:p>
            <a:pPr marL="342900">
              <a:lnSpc>
                <a:spcPct val="100000"/>
              </a:lnSpc>
              <a:spcBef>
                <a:spcPts val="0"/>
              </a:spcBef>
              <a:buSzPts val="3000"/>
            </a:pPr>
            <a:r>
              <a:rPr lang="en-US" sz="2200" dirty="0">
                <a:latin typeface="Arial"/>
                <a:ea typeface="Arial"/>
                <a:cs typeface="Arial"/>
                <a:sym typeface="Arial"/>
              </a:rPr>
              <a:t>Constant accelerometer bias</a:t>
            </a:r>
          </a:p>
        </p:txBody>
      </p:sp>
      <p:sp>
        <p:nvSpPr>
          <p:cNvPr id="119" name="Google Shape;119;p29">
            <a:extLst>
              <a:ext uri="{FF2B5EF4-FFF2-40B4-BE49-F238E27FC236}">
                <a16:creationId xmlns:a16="http://schemas.microsoft.com/office/drawing/2014/main" id="{3E6EB404-38A3-3078-53F7-2A622DF78E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B3713E9-A7EA-D0F6-AD5F-805D75ABF2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4087137-D673-EF1F-12EF-21120A0AC1E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192D8A-BACB-65A7-1B09-C1A281B40C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0CFA20-AAF2-61D5-D03C-DA107E4AADF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91EE80-93F3-810D-3B2E-CF3B8D481E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F99E3C-1FAB-8B2F-6396-376C698966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A4F2C0-3CD8-0E25-D566-2C4EC1B57C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D7E15BB6-082A-1B39-6E44-A4C768B729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82450" y="1896269"/>
            <a:ext cx="4941617" cy="3065462"/>
          </a:xfrm>
          <a:prstGeom prst="rect">
            <a:avLst/>
          </a:prstGeom>
        </p:spPr>
      </p:pic>
      <p:sp>
        <p:nvSpPr>
          <p:cNvPr id="5" name="TextBox 4">
            <a:extLst>
              <a:ext uri="{FF2B5EF4-FFF2-40B4-BE49-F238E27FC236}">
                <a16:creationId xmlns:a16="http://schemas.microsoft.com/office/drawing/2014/main" id="{61C32CC8-D63B-A3FD-3D08-E79B19EF3637}"/>
              </a:ext>
            </a:extLst>
          </p:cNvPr>
          <p:cNvSpPr txBox="1"/>
          <p:nvPr/>
        </p:nvSpPr>
        <p:spPr>
          <a:xfrm>
            <a:off x="8358203" y="4838620"/>
            <a:ext cx="2928633" cy="246221"/>
          </a:xfrm>
          <a:prstGeom prst="rect">
            <a:avLst/>
          </a:prstGeom>
          <a:noFill/>
        </p:spPr>
        <p:txBody>
          <a:bodyPr wrap="square">
            <a:spAutoFit/>
          </a:bodyPr>
          <a:lstStyle/>
          <a:p>
            <a:pPr algn="ctr"/>
            <a:r>
              <a:rPr lang="en-US" sz="1000" dirty="0">
                <a:hlinkClick r:id="rId6"/>
              </a:rPr>
              <a:t>https://en.wikipedia.org/wiki/Observational_error</a:t>
            </a:r>
            <a:r>
              <a:rPr lang="en-US" sz="1000" dirty="0"/>
              <a:t> </a:t>
            </a:r>
          </a:p>
        </p:txBody>
      </p:sp>
    </p:spTree>
    <p:extLst>
      <p:ext uri="{BB962C8B-B14F-4D97-AF65-F5344CB8AC3E}">
        <p14:creationId xmlns:p14="http://schemas.microsoft.com/office/powerpoint/2010/main" val="13992272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1BEFAD-91CA-E8E7-1264-DC5CF82694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85BC22F-0A0D-05F1-899A-1386CF6A242D}"/>
              </a:ext>
            </a:extLst>
          </p:cNvPr>
          <p:cNvSpPr txBox="1">
            <a:spLocks noGrp="1"/>
          </p:cNvSpPr>
          <p:nvPr>
            <p:ph type="body" idx="1"/>
          </p:nvPr>
        </p:nvSpPr>
        <p:spPr>
          <a:xfrm>
            <a:off x="376809" y="1334279"/>
            <a:ext cx="65103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There are 2-types of errors in measurements,</a:t>
            </a:r>
          </a:p>
          <a:p>
            <a:pPr marL="0" indent="0">
              <a:lnSpc>
                <a:spcPct val="100000"/>
              </a:lnSpc>
              <a:spcBef>
                <a:spcPts val="0"/>
              </a:spcBef>
              <a:buSzPts val="3000"/>
              <a:buNone/>
            </a:pPr>
            <a:endParaRPr lang="en-US" sz="2200" b="1"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Random Error:</a:t>
            </a:r>
          </a:p>
          <a:p>
            <a:pPr marL="342900">
              <a:lnSpc>
                <a:spcPct val="100000"/>
              </a:lnSpc>
              <a:spcBef>
                <a:spcPts val="0"/>
              </a:spcBef>
              <a:buSzPts val="3000"/>
            </a:pPr>
            <a:r>
              <a:rPr lang="en-US" sz="2200" dirty="0">
                <a:latin typeface="Arial"/>
                <a:ea typeface="Arial"/>
                <a:cs typeface="Arial"/>
                <a:sym typeface="Arial"/>
              </a:rPr>
              <a:t>Random and due to environment factors</a:t>
            </a:r>
          </a:p>
          <a:p>
            <a:pPr marL="342900">
              <a:lnSpc>
                <a:spcPct val="100000"/>
              </a:lnSpc>
              <a:spcBef>
                <a:spcPts val="0"/>
              </a:spcBef>
              <a:buSzPts val="3000"/>
            </a:pPr>
            <a:r>
              <a:rPr lang="en-US" sz="2200" dirty="0">
                <a:latin typeface="Arial"/>
                <a:ea typeface="Arial"/>
                <a:cs typeface="Arial"/>
                <a:sym typeface="Arial"/>
              </a:rPr>
              <a:t>May vary from observation to another</a:t>
            </a:r>
          </a:p>
          <a:p>
            <a:pPr marL="342900">
              <a:lnSpc>
                <a:spcPct val="100000"/>
              </a:lnSpc>
              <a:spcBef>
                <a:spcPts val="0"/>
              </a:spcBef>
              <a:buSzPts val="3000"/>
            </a:pPr>
            <a:r>
              <a:rPr lang="en-US" sz="2200" dirty="0">
                <a:latin typeface="Arial"/>
                <a:ea typeface="Arial"/>
                <a:cs typeface="Arial"/>
                <a:sym typeface="Arial"/>
              </a:rPr>
              <a:t>These fluctuations may be in part due to interference of the environment with the measurement process</a:t>
            </a:r>
          </a:p>
          <a:p>
            <a:pPr marL="342900">
              <a:lnSpc>
                <a:spcPct val="100000"/>
              </a:lnSpc>
              <a:spcBef>
                <a:spcPts val="0"/>
              </a:spcBef>
              <a:buSzPts val="3000"/>
            </a:pPr>
            <a:r>
              <a:rPr lang="en-US" sz="2200" dirty="0">
                <a:latin typeface="Arial"/>
                <a:ea typeface="Arial"/>
                <a:cs typeface="Arial"/>
                <a:sym typeface="Arial"/>
              </a:rPr>
              <a:t>Much harder to model (often assumed to be Gaussian)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Examples:</a:t>
            </a:r>
          </a:p>
          <a:p>
            <a:pPr marL="342900">
              <a:lnSpc>
                <a:spcPct val="100000"/>
              </a:lnSpc>
              <a:spcBef>
                <a:spcPts val="0"/>
              </a:spcBef>
              <a:buSzPts val="3000"/>
            </a:pPr>
            <a:r>
              <a:rPr lang="en-US" sz="2200" dirty="0">
                <a:latin typeface="Arial"/>
                <a:ea typeface="Arial"/>
                <a:cs typeface="Arial"/>
                <a:sym typeface="Arial"/>
              </a:rPr>
              <a:t>Wheel slip</a:t>
            </a:r>
          </a:p>
          <a:p>
            <a:pPr marL="342900">
              <a:lnSpc>
                <a:spcPct val="100000"/>
              </a:lnSpc>
              <a:spcBef>
                <a:spcPts val="0"/>
              </a:spcBef>
              <a:buSzPts val="3000"/>
            </a:pPr>
            <a:r>
              <a:rPr lang="en-US" sz="2200" dirty="0">
                <a:latin typeface="Arial"/>
                <a:ea typeface="Arial"/>
                <a:cs typeface="Arial"/>
                <a:sym typeface="Arial"/>
              </a:rPr>
              <a:t>Loose components</a:t>
            </a:r>
          </a:p>
        </p:txBody>
      </p:sp>
      <p:sp>
        <p:nvSpPr>
          <p:cNvPr id="119" name="Google Shape;119;p29">
            <a:extLst>
              <a:ext uri="{FF2B5EF4-FFF2-40B4-BE49-F238E27FC236}">
                <a16:creationId xmlns:a16="http://schemas.microsoft.com/office/drawing/2014/main" id="{9B10AA86-5C04-976D-1D91-14FF3107E6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DF0EBEC-6851-570C-6040-ACC21DBC099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4BAFB68-3222-53BF-C007-A3E286A7E6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9F2D5A-DBC1-5D87-77EA-2A965CB793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C3C1EB-5B32-4D47-53E4-29E6C73943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F938CC-49DE-9D5E-D35D-64023195FD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13090A-5BCC-44BA-784B-C0C3B69FF6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5A83F5-3BBE-B05C-F582-83391096D97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5AB07676-E75C-9490-A2CF-AB34E41E2BC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82450" y="1896269"/>
            <a:ext cx="4941617" cy="3065462"/>
          </a:xfrm>
          <a:prstGeom prst="rect">
            <a:avLst/>
          </a:prstGeom>
        </p:spPr>
      </p:pic>
      <p:sp>
        <p:nvSpPr>
          <p:cNvPr id="5" name="TextBox 4">
            <a:extLst>
              <a:ext uri="{FF2B5EF4-FFF2-40B4-BE49-F238E27FC236}">
                <a16:creationId xmlns:a16="http://schemas.microsoft.com/office/drawing/2014/main" id="{524B60A4-F0E0-4D1F-F8A9-30DA0CA75CA8}"/>
              </a:ext>
            </a:extLst>
          </p:cNvPr>
          <p:cNvSpPr txBox="1"/>
          <p:nvPr/>
        </p:nvSpPr>
        <p:spPr>
          <a:xfrm>
            <a:off x="8358203" y="4838620"/>
            <a:ext cx="2928633" cy="246221"/>
          </a:xfrm>
          <a:prstGeom prst="rect">
            <a:avLst/>
          </a:prstGeom>
          <a:noFill/>
        </p:spPr>
        <p:txBody>
          <a:bodyPr wrap="square">
            <a:spAutoFit/>
          </a:bodyPr>
          <a:lstStyle/>
          <a:p>
            <a:pPr algn="ctr"/>
            <a:r>
              <a:rPr lang="en-US" sz="1000" dirty="0">
                <a:hlinkClick r:id="rId6"/>
              </a:rPr>
              <a:t>https://en.wikipedia.org/wiki/Observational_error</a:t>
            </a:r>
            <a:r>
              <a:rPr lang="en-US" sz="1000" dirty="0"/>
              <a:t> </a:t>
            </a:r>
          </a:p>
        </p:txBody>
      </p:sp>
    </p:spTree>
    <p:extLst>
      <p:ext uri="{BB962C8B-B14F-4D97-AF65-F5344CB8AC3E}">
        <p14:creationId xmlns:p14="http://schemas.microsoft.com/office/powerpoint/2010/main" val="42312058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0298F2-87D7-F51C-1066-930A3A6DA04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2E4FABCC-163C-F0AE-8588-DCE2CD7C130D}"/>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In robotics the best way to handle noise is just by adding more sensors / different sensors.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more different opinions / viewpoints you have the more likely that the majority will agree or will provide useful information to help compensate from the fault of others!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How does one calculate how much the error drift?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To help combat heading drift from encoders, we use the Z-axis rate gyro from our IMU.</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 </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+1</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m:rPr>
                          <m:sty m:val="p"/>
                        </m:rPr>
                        <a:rPr lang="en-US" sz="2200">
                          <a:latin typeface="Cambria Math" panose="02040503050406030204" pitchFamily="18" charset="0"/>
                          <a:ea typeface="Arial"/>
                          <a:cs typeface="Arial"/>
                          <a:sym typeface="Arial"/>
                        </a:rPr>
                        <m:t>Δ</m:t>
                      </m:r>
                      <m:r>
                        <a:rPr lang="en-US" sz="2200" i="1">
                          <a:latin typeface="Cambria Math" panose="02040503050406030204" pitchFamily="18" charset="0"/>
                          <a:ea typeface="Arial"/>
                          <a:cs typeface="Arial"/>
                          <a:sym typeface="Arial"/>
                        </a:rPr>
                        <m:t>𝑡</m:t>
                      </m:r>
                    </m:oMath>
                  </m:oMathPara>
                </a14:m>
                <a:endParaRPr lang="en-US" sz="2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2E4FABCC-163C-F0AE-8588-DCE2CD7C130D}"/>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692"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DD03238-2384-43A6-8220-8542D0CD6B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BB4EEEC-EA22-B55B-1B23-3261523CE29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0CE7D8C-AED4-C1D8-7372-9894F313FBC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8AA9872-DCFF-3BBB-26FB-D5233D0E51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A06728-7240-0F73-C869-ECE2E2CDFE7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ABCA7A4-2918-3BE4-EE20-C0DC59868B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96E17D-98E1-36E7-8B52-68C6D8E0A3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40F9E8-4330-6907-DA90-50CEC94888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064218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563740D-B40A-975C-D982-8E7FFD740152}"/>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C9D6B066-10FF-D37D-3D50-C7ECB17F38D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A Gyroscope’s output is: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i="1">
                              <a:latin typeface="Cambria Math" panose="02040503050406030204" pitchFamily="18" charset="0"/>
                              <a:ea typeface="Arial"/>
                              <a:cs typeface="Arial"/>
                              <a:sym typeface="Arial"/>
                            </a:rPr>
                            <m:t>gyro</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b="0" i="1" smtClean="0">
                              <a:latin typeface="Cambria Math" panose="02040503050406030204" pitchFamily="18" charset="0"/>
                              <a:ea typeface="Arial"/>
                              <a:cs typeface="Arial"/>
                              <a:sym typeface="Arial"/>
                            </a:rPr>
                            <m:t>true</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cs typeface="Arial"/>
                              <a:sym typeface="Arial"/>
                            </a:rPr>
                          </m:ctrlPr>
                        </m:sSubPr>
                        <m:e>
                          <m:r>
                            <a:rPr lang="en-US" sz="2200" b="0" i="1" smtClean="0">
                              <a:latin typeface="Cambria Math" panose="02040503050406030204" pitchFamily="18" charset="0"/>
                              <a:ea typeface="Cambria Math" panose="02040503050406030204" pitchFamily="18" charset="0"/>
                              <a:cs typeface="Arial"/>
                              <a:sym typeface="Arial"/>
                            </a:rPr>
                            <m:t>𝜖</m:t>
                          </m:r>
                        </m:e>
                        <m:sub>
                          <m:r>
                            <m:rPr>
                              <m:sty m:val="p"/>
                            </m:rPr>
                            <a:rPr lang="en-US" sz="2200" b="0" i="1" smtClean="0">
                              <a:latin typeface="Cambria Math" panose="02040503050406030204" pitchFamily="18" charset="0"/>
                              <a:cs typeface="Arial"/>
                              <a:sym typeface="Arial"/>
                            </a:rPr>
                            <m:t>bias</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b="0" i="1" smtClean="0">
                              <a:latin typeface="Cambria Math" panose="02040503050406030204" pitchFamily="18" charset="0"/>
                              <a:ea typeface="Cambria Math" panose="02040503050406030204" pitchFamily="18" charset="0"/>
                              <a:cs typeface="Arial"/>
                              <a:sym typeface="Arial"/>
                            </a:rPr>
                            <m:t>noise</m:t>
                          </m:r>
                        </m:sub>
                      </m:sSub>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assume that the noise </a:t>
                </a:r>
                <a14:m>
                  <m:oMath xmlns:m="http://schemas.openxmlformats.org/officeDocument/2006/math">
                    <m:sSub>
                      <m:sSubPr>
                        <m:ctrlPr>
                          <a:rPr lang="en-US" sz="2200" i="1" smtClean="0">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ea typeface="Cambria Math" panose="02040503050406030204" pitchFamily="18" charset="0"/>
                            <a:cs typeface="Arial"/>
                            <a:sym typeface="Arial"/>
                          </a:rPr>
                          <m:t>noise</m:t>
                        </m:r>
                      </m:sub>
                    </m:sSub>
                    <m:r>
                      <a:rPr lang="en-US" sz="220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𝒩</m:t>
                    </m:r>
                    <m:d>
                      <m:dPr>
                        <m:ctrlPr>
                          <a:rPr lang="en-US" sz="2200" b="0" i="1" smtClean="0">
                            <a:latin typeface="Cambria Math" panose="02040503050406030204" pitchFamily="18" charset="0"/>
                            <a:ea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0,</m:t>
                        </m:r>
                        <m:sSup>
                          <m:sSupPr>
                            <m:ctrlPr>
                              <a:rPr lang="en-US" sz="2200" b="0" i="1" smtClean="0">
                                <a:latin typeface="Cambria Math" panose="02040503050406030204" pitchFamily="18" charset="0"/>
                                <a:ea typeface="Cambria Math" panose="02040503050406030204" pitchFamily="18" charset="0"/>
                                <a:cs typeface="Arial"/>
                                <a:sym typeface="Arial"/>
                              </a:rPr>
                            </m:ctrlPr>
                          </m:sSupPr>
                          <m:e>
                            <m:r>
                              <a:rPr lang="en-US" sz="2200" b="0" i="1" smtClean="0">
                                <a:latin typeface="Cambria Math" panose="02040503050406030204" pitchFamily="18" charset="0"/>
                                <a:ea typeface="Cambria Math" panose="02040503050406030204" pitchFamily="18" charset="0"/>
                                <a:cs typeface="Arial"/>
                                <a:sym typeface="Arial"/>
                              </a:rPr>
                              <m:t>𝜎</m:t>
                            </m:r>
                          </m:e>
                          <m:sup>
                            <m:r>
                              <a:rPr lang="en-US" sz="2200" b="0" i="1" smtClean="0">
                                <a:latin typeface="Cambria Math" panose="02040503050406030204" pitchFamily="18" charset="0"/>
                                <a:ea typeface="Cambria Math" panose="02040503050406030204" pitchFamily="18" charset="0"/>
                                <a:cs typeface="Arial"/>
                                <a:sym typeface="Arial"/>
                              </a:rPr>
                              <m:t>2</m:t>
                            </m:r>
                          </m:sup>
                        </m:sSup>
                      </m:e>
                    </m:d>
                  </m:oMath>
                </a14:m>
                <a:r>
                  <a:rPr lang="en-US" sz="2200" dirty="0">
                    <a:latin typeface="Arial"/>
                    <a:ea typeface="Arial"/>
                    <a:cs typeface="Arial"/>
                    <a:sym typeface="Arial"/>
                  </a:rPr>
                  <a:t>, is “White Noise”, zero mean Gaussian noise.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When we integrate the bias over time we: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nary>
                        <m:naryPr>
                          <m:limLoc m:val="undOvr"/>
                          <m:subHide m:val="on"/>
                          <m:supHide m:val="on"/>
                          <m:ctrlPr>
                            <a:rPr lang="en-US" sz="2200" i="1" dirty="0" smtClean="0">
                              <a:latin typeface="Cambria Math" panose="02040503050406030204" pitchFamily="18" charset="0"/>
                              <a:cs typeface="Arial"/>
                              <a:sym typeface="Arial"/>
                            </a:rPr>
                          </m:ctrlPr>
                        </m:naryPr>
                        <m:sub/>
                        <m:sup/>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cs typeface="Arial"/>
                                  <a:sym typeface="Arial"/>
                                </a:rPr>
                                <m:t>bias</m:t>
                              </m:r>
                            </m:sub>
                          </m:sSub>
                        </m:e>
                      </m:nary>
                      <m:r>
                        <a:rPr lang="en-US" sz="2200" b="0" i="1" dirty="0" smtClean="0">
                          <a:latin typeface="Cambria Math" panose="02040503050406030204" pitchFamily="18" charset="0"/>
                          <a:cs typeface="Arial"/>
                          <a:sym typeface="Arial"/>
                        </a:rPr>
                        <m:t>𝑑𝑡</m:t>
                      </m:r>
                      <m:r>
                        <a:rPr lang="en-US" sz="2200" b="0" i="1" dirty="0" smtClean="0">
                          <a:latin typeface="Cambria Math" panose="02040503050406030204" pitchFamily="18" charset="0"/>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cs typeface="Arial"/>
                              <a:sym typeface="Arial"/>
                            </a:rPr>
                            <m:t>bias</m:t>
                          </m:r>
                        </m:sub>
                      </m:sSub>
                      <m:r>
                        <a:rPr lang="en-US" sz="220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b="0" i="1" dirty="0">
                  <a:latin typeface="Cambria Math" panose="02040503050406030204" pitchFamily="18" charset="0"/>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sym typeface="Arial"/>
                  </a:rPr>
                  <a:t>If the bias just 0.05 degrees / sec, how far off is our heading after 5 minutes?</a:t>
                </a:r>
              </a:p>
              <a:p>
                <a:pPr marL="0" indent="0">
                  <a:lnSpc>
                    <a:spcPct val="100000"/>
                  </a:lnSpc>
                  <a:spcBef>
                    <a:spcPts val="0"/>
                  </a:spcBef>
                  <a:buSzPts val="3000"/>
                  <a:buNone/>
                </a:pPr>
                <a:endParaRPr lang="en-US" sz="2000" b="0" i="1" dirty="0">
                  <a:latin typeface="+mj-lt"/>
                  <a:ea typeface="Cambria Math" panose="02040503050406030204" pitchFamily="18" charset="0"/>
                  <a:cs typeface="Arial"/>
                  <a:sym typeface="Arial"/>
                </a:endParaRPr>
              </a:p>
              <a:p>
                <a:pPr marL="0" indent="0" algn="ctr">
                  <a:lnSpc>
                    <a:spcPct val="100000"/>
                  </a:lnSpc>
                  <a:spcBef>
                    <a:spcPts val="0"/>
                  </a:spcBef>
                  <a:buSzPts val="3000"/>
                  <a:buNone/>
                </a:pPr>
                <a:r>
                  <a:rPr lang="en-US" sz="2000" b="1" dirty="0">
                    <a:latin typeface="+mj-lt"/>
                    <a:ea typeface="Cambria Math" panose="02040503050406030204" pitchFamily="18" charset="0"/>
                    <a:cs typeface="Arial"/>
                    <a:sym typeface="Arial"/>
                  </a:rPr>
                  <a:t>15 degrees!</a:t>
                </a:r>
              </a:p>
              <a:p>
                <a:pPr marL="0" indent="0" algn="ctr">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This is why we calibrate the IMU to measure and subtract </a:t>
                </a:r>
                <a:r>
                  <a:rPr lang="en-US" sz="2000" dirty="0">
                    <a:latin typeface="+mj-lt"/>
                    <a:ea typeface="Cambria Math" panose="02040503050406030204" pitchFamily="18" charset="0"/>
                    <a:cs typeface="Arial"/>
                    <a:sym typeface="Arial"/>
                  </a:rPr>
                  <a:t>the bias!</a:t>
                </a:r>
                <a14:m/>
              </a:p>
            </p:txBody>
          </p:sp>
        </mc:Choice>
        <mc:Fallback>
          <p:sp>
            <p:nvSpPr>
              <p:cNvPr id="118" name="Google Shape;118;p29">
                <a:extLst>
                  <a:ext uri="{FF2B5EF4-FFF2-40B4-BE49-F238E27FC236}">
                    <a16:creationId xmlns:a16="http://schemas.microsoft.com/office/drawing/2014/main" id="{C9D6B066-10FF-D37D-3D50-C7ECB17F38D3}"/>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692" t="-759" b="-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83F0A10-EFFC-5323-40FD-1D1FFBF6AA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3407A49-6C11-D874-6A32-3003F68BE0B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56CA6F7-0901-3CEC-6FB0-E66228551B0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4DC72C-6B58-7BA7-E1A4-C710EB414F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7F213B-A91E-60C5-230B-0D87CD6E77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D322F9-1A52-C598-EA3E-7C5CCB0AD8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FEA3B39-C278-7651-9DBE-3B8CBD5733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65763C4-E967-CB76-B11A-580F7400131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03355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14EA17-22FA-3DF2-3D01-D1CD2FDCC49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3F55EEE2-CDC3-7698-846D-CF39C2D6695A}"/>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Now with the bias removed we now have White Noise that remains.</a:t>
                </a:r>
              </a:p>
              <a:p>
                <a:pPr marL="0" indent="0">
                  <a:lnSpc>
                    <a:spcPct val="100000"/>
                  </a:lnSpc>
                  <a:spcBef>
                    <a:spcPts val="0"/>
                  </a:spcBef>
                  <a:buSzPts val="3000"/>
                  <a:buNone/>
                </a:pPr>
                <a:endParaRPr lang="en-US" sz="2000" b="0" dirty="0">
                  <a:latin typeface="Arial"/>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𝜔</m:t>
                          </m:r>
                        </m:e>
                        <m:sub>
                          <m:r>
                            <m:rPr>
                              <m:sty m:val="p"/>
                            </m:rPr>
                            <a:rPr lang="en-US" sz="2000" i="1">
                              <a:latin typeface="Cambria Math" panose="02040503050406030204" pitchFamily="18" charset="0"/>
                              <a:ea typeface="Arial"/>
                              <a:cs typeface="Arial"/>
                              <a:sym typeface="Arial"/>
                            </a:rPr>
                            <m:t>gyro</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𝜔</m:t>
                          </m:r>
                        </m:e>
                        <m:sub>
                          <m:r>
                            <m:rPr>
                              <m:sty m:val="p"/>
                            </m:rPr>
                            <a:rPr lang="en-US" sz="2000" i="1">
                              <a:latin typeface="Cambria Math" panose="02040503050406030204" pitchFamily="18" charset="0"/>
                              <a:ea typeface="Arial"/>
                              <a:cs typeface="Arial"/>
                              <a:sym typeface="Arial"/>
                            </a:rPr>
                            <m:t>true</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ea typeface="Cambria Math" panose="02040503050406030204" pitchFamily="18" charset="0"/>
                              <a:cs typeface="Arial"/>
                              <a:sym typeface="Arial"/>
                            </a:rPr>
                            <m:t>𝜖</m:t>
                          </m:r>
                        </m:e>
                        <m:sub>
                          <m:r>
                            <m:rPr>
                              <m:sty m:val="p"/>
                            </m:rPr>
                            <a:rPr lang="en-US" sz="2000" i="1">
                              <a:latin typeface="Cambria Math" panose="02040503050406030204" pitchFamily="18" charset="0"/>
                              <a:ea typeface="Cambria Math" panose="02040503050406030204" pitchFamily="18" charset="0"/>
                              <a:cs typeface="Arial"/>
                              <a:sym typeface="Arial"/>
                            </a:rPr>
                            <m:t>noise</m:t>
                          </m:r>
                        </m:sub>
                      </m:sSub>
                    </m:oMath>
                  </m:oMathPara>
                </a14:m>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Integrating </a:t>
                </a:r>
                <a:r>
                  <a:rPr lang="en-US" sz="2000" dirty="0">
                    <a:latin typeface="+mj-lt"/>
                    <a:ea typeface="Cambria Math" panose="02040503050406030204" pitchFamily="18" charset="0"/>
                    <a:cs typeface="Arial"/>
                    <a:sym typeface="Arial"/>
                  </a:rPr>
                  <a:t>white noise results in a “</a:t>
                </a:r>
                <a:r>
                  <a:rPr lang="en-US" sz="2000" b="1" dirty="0">
                    <a:latin typeface="+mj-lt"/>
                    <a:ea typeface="Cambria Math" panose="02040503050406030204" pitchFamily="18" charset="0"/>
                    <a:cs typeface="Arial"/>
                    <a:sym typeface="Arial"/>
                  </a:rPr>
                  <a:t>Random Walk</a:t>
                </a:r>
                <a:r>
                  <a:rPr lang="en-US" sz="2000" dirty="0">
                    <a:latin typeface="+mj-lt"/>
                    <a:ea typeface="Cambria Math" panose="02040503050406030204" pitchFamily="18" charset="0"/>
                    <a:cs typeface="Arial"/>
                    <a:sym typeface="Arial"/>
                  </a:rPr>
                  <a:t>” (a Wiener process in stochastic calculus).</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mean of the error over multiple “Random Walk” runs is centered at </a:t>
                </a: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0</m:t>
                    </m:r>
                  </m:oMath>
                </a14:m>
                <a:r>
                  <a:rPr lang="en-US" sz="2000" b="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The variance of the error grows linearly with time </a:t>
                </a:r>
                <a14:m>
                  <m:oMath xmlns:m="http://schemas.openxmlformats.org/officeDocument/2006/math">
                    <m:sSubSup>
                      <m:sSubSupPr>
                        <m:ctrlPr>
                          <a:rPr lang="en-US" sz="2000" b="0" i="1" dirty="0" smtClean="0">
                            <a:latin typeface="Cambria Math" panose="02040503050406030204" pitchFamily="18" charset="0"/>
                            <a:ea typeface="Cambria Math" panose="02040503050406030204" pitchFamily="18" charset="0"/>
                            <a:cs typeface="Arial"/>
                            <a:sym typeface="Arial"/>
                          </a:rPr>
                        </m:ctrlPr>
                      </m:sSubSupPr>
                      <m:e>
                        <m:r>
                          <a:rPr lang="en-US" sz="2000" b="0" i="1" dirty="0" smtClean="0">
                            <a:latin typeface="Cambria Math" panose="02040503050406030204" pitchFamily="18" charset="0"/>
                            <a:ea typeface="Cambria Math" panose="02040503050406030204" pitchFamily="18" charset="0"/>
                            <a:cs typeface="Arial"/>
                            <a:sym typeface="Arial"/>
                          </a:rPr>
                          <m:t>𝜎</m:t>
                        </m:r>
                      </m:e>
                      <m:sub>
                        <m:r>
                          <a:rPr lang="en-US" sz="2000" b="0" i="1" dirty="0" smtClean="0">
                            <a:latin typeface="Cambria Math" panose="02040503050406030204" pitchFamily="18" charset="0"/>
                            <a:ea typeface="Cambria Math" panose="02040503050406030204" pitchFamily="18" charset="0"/>
                            <a:cs typeface="Arial"/>
                            <a:sym typeface="Arial"/>
                          </a:rPr>
                          <m:t>𝜑</m:t>
                        </m:r>
                      </m:sub>
                      <m:sup>
                        <m:r>
                          <a:rPr lang="en-US" sz="2000" b="0" i="1" dirty="0" smtClean="0">
                            <a:latin typeface="Cambria Math" panose="02040503050406030204" pitchFamily="18" charset="0"/>
                            <a:ea typeface="Cambria Math" panose="02040503050406030204" pitchFamily="18" charset="0"/>
                            <a:cs typeface="Arial"/>
                            <a:sym typeface="Arial"/>
                          </a:rPr>
                          <m:t>2</m:t>
                        </m:r>
                      </m:sup>
                    </m:sSubSup>
                    <m:r>
                      <a:rPr lang="en-US" sz="2000" b="0" i="1" dirty="0" smtClean="0">
                        <a:latin typeface="Cambria Math" panose="02040503050406030204" pitchFamily="18" charset="0"/>
                        <a:ea typeface="Cambria Math" panose="02040503050406030204" pitchFamily="18" charset="0"/>
                        <a:cs typeface="Arial"/>
                        <a:sym typeface="Arial"/>
                      </a:rPr>
                      <m:t>=</m:t>
                    </m:r>
                    <m:sSubSup>
                      <m:sSubSupPr>
                        <m:ctrlPr>
                          <a:rPr lang="en-US" sz="2000" b="0" i="1" dirty="0" smtClean="0">
                            <a:latin typeface="Cambria Math" panose="02040503050406030204" pitchFamily="18" charset="0"/>
                            <a:ea typeface="Cambria Math" panose="02040503050406030204" pitchFamily="18" charset="0"/>
                            <a:cs typeface="Arial"/>
                            <a:sym typeface="Arial"/>
                          </a:rPr>
                        </m:ctrlPr>
                      </m:sSubSupPr>
                      <m:e>
                        <m:r>
                          <a:rPr lang="en-US" sz="2000" i="1" dirty="0">
                            <a:latin typeface="Cambria Math" panose="02040503050406030204" pitchFamily="18" charset="0"/>
                            <a:ea typeface="Cambria Math" panose="02040503050406030204" pitchFamily="18" charset="0"/>
                            <a:cs typeface="Arial"/>
                            <a:sym typeface="Arial"/>
                          </a:rPr>
                          <m:t>𝜎</m:t>
                        </m:r>
                      </m:e>
                      <m:sub>
                        <m:r>
                          <a:rPr lang="en-US" sz="2000" i="1" dirty="0" smtClean="0">
                            <a:latin typeface="Cambria Math" panose="02040503050406030204" pitchFamily="18" charset="0"/>
                            <a:ea typeface="Cambria Math" panose="02040503050406030204" pitchFamily="18" charset="0"/>
                            <a:cs typeface="Arial"/>
                            <a:sym typeface="Arial"/>
                          </a:rPr>
                          <m:t>𝜔</m:t>
                        </m:r>
                      </m:sub>
                      <m:sup>
                        <m:r>
                          <a:rPr lang="en-US" sz="2000" i="1" dirty="0">
                            <a:latin typeface="Cambria Math" panose="02040503050406030204" pitchFamily="18" charset="0"/>
                            <a:ea typeface="Cambria Math" panose="02040503050406030204" pitchFamily="18" charset="0"/>
                            <a:cs typeface="Arial"/>
                            <a:sym typeface="Arial"/>
                          </a:rPr>
                          <m:t>2</m:t>
                        </m:r>
                      </m:sup>
                    </m:sSubSup>
                    <m:r>
                      <m:rPr>
                        <m:sty m:val="p"/>
                      </m:rPr>
                      <a:rPr lang="en-US" sz="2000" i="0" dirty="0" smtClean="0">
                        <a:latin typeface="Cambria Math" panose="02040503050406030204" pitchFamily="18" charset="0"/>
                        <a:ea typeface="Cambria Math" panose="02040503050406030204" pitchFamily="18" charset="0"/>
                        <a:cs typeface="Arial"/>
                        <a:sym typeface="Arial"/>
                      </a:rPr>
                      <m:t>Δ</m:t>
                    </m:r>
                    <m:r>
                      <a:rPr lang="en-US" sz="2000" i="1" dirty="0" smtClean="0">
                        <a:latin typeface="Cambria Math" panose="02040503050406030204" pitchFamily="18" charset="0"/>
                        <a:ea typeface="Cambria Math" panose="02040503050406030204" pitchFamily="18" charset="0"/>
                        <a:cs typeface="Arial"/>
                        <a:sym typeface="Arial"/>
                      </a:rPr>
                      <m:t>𝑡</m:t>
                    </m:r>
                  </m:oMath>
                </a14:m>
                <a:r>
                  <a:rPr lang="en-US" sz="2000" b="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The standard deviation (the actual angular error) grows proportional to the square root of time </a:t>
                </a: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 </m:t>
                    </m:r>
                    <m:rad>
                      <m:radPr>
                        <m:degHide m:val="on"/>
                        <m:ctrlPr>
                          <a:rPr lang="en-US" sz="2000" b="0" i="1" smtClean="0">
                            <a:latin typeface="Cambria Math" panose="02040503050406030204" pitchFamily="18" charset="0"/>
                            <a:ea typeface="Cambria Math" panose="02040503050406030204" pitchFamily="18" charset="0"/>
                            <a:cs typeface="Arial"/>
                            <a:sym typeface="Arial"/>
                          </a:rPr>
                        </m:ctrlPr>
                      </m:radPr>
                      <m:deg/>
                      <m:e>
                        <m:r>
                          <m:rPr>
                            <m:sty m:val="p"/>
                          </m:rPr>
                          <a:rPr lang="en-US" sz="2000" b="0" i="1" smtClean="0">
                            <a:latin typeface="Cambria Math" panose="02040503050406030204" pitchFamily="18" charset="0"/>
                            <a:ea typeface="Cambria Math" panose="02040503050406030204" pitchFamily="18" charset="0"/>
                            <a:cs typeface="Arial"/>
                            <a:sym typeface="Arial"/>
                          </a:rPr>
                          <m:t>t</m:t>
                        </m:r>
                      </m:e>
                    </m:rad>
                  </m:oMath>
                </a14:m>
                <a:r>
                  <a:rPr lang="en-US" sz="2000" b="0" dirty="0">
                    <a:latin typeface="+mj-lt"/>
                    <a:ea typeface="Cambria Math" panose="02040503050406030204" pitchFamily="18" charset="0"/>
                    <a:cs typeface="Arial"/>
                    <a:sym typeface="Arial"/>
                  </a:rPr>
                  <a:t>. The math for proving this is very complicated, so just take it as truth!</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Thus, over long period, the gyro’s heading becomes entirely unreliable!</a:t>
                </a:r>
              </a:p>
            </p:txBody>
          </p:sp>
        </mc:Choice>
        <mc:Fallback>
          <p:sp>
            <p:nvSpPr>
              <p:cNvPr id="118" name="Google Shape;118;p29">
                <a:extLst>
                  <a:ext uri="{FF2B5EF4-FFF2-40B4-BE49-F238E27FC236}">
                    <a16:creationId xmlns:a16="http://schemas.microsoft.com/office/drawing/2014/main" id="{3F55EEE2-CDC3-7698-846D-CF39C2D6695A}"/>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586" t="-632" r="-42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CCA73AD-AA1E-2D97-1917-94C9CDB2005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BE9989F-8446-367B-618F-9DB175E76A2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E7F7F1A-01A7-55F0-5779-25826F9F00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1E1EBB-952C-3C2F-0907-D4E69F11975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13308A-B3D1-2B72-D5B6-B72A8F7580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B07FE0D-ED47-C4D3-E1D6-FB8D8946832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89F874-F92D-A95D-E31C-7183544FF0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2073D7-C169-435E-AFF0-A93F4C88DA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276704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A7F0F48-FD66-0068-0226-3C6653FA95F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D9362EA-C21F-AC39-D262-FB7E55F37A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3010643-9872-014A-0B92-EE6B2A60F20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536A73D-1A13-80E5-A640-A1746D95917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170DFE-6B7C-76DE-03C6-BD9005BC38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2E760C-D6C1-3E9C-55A1-9C9AB59AD35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7436059-DAF3-0389-B9F7-FCC00B3406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F9F0C8-EDDD-B2B7-55CC-FDE177E364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9F9111-220C-C228-C249-7BB180BFE2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7E1B50D1-3054-D474-FE00-026AAFAE2E96}"/>
              </a:ext>
            </a:extLst>
          </p:cNvPr>
          <p:cNvSpPr>
            <a:spLocks noGrp="1"/>
          </p:cNvSpPr>
          <p:nvPr>
            <p:ph type="body" idx="1"/>
          </p:nvPr>
        </p:nvSpPr>
        <p:spPr/>
        <p:txBody>
          <a:bodyPr/>
          <a:lstStyle/>
          <a:p>
            <a:endParaRPr lang="en-US" dirty="0"/>
          </a:p>
        </p:txBody>
      </p:sp>
      <p:pic>
        <p:nvPicPr>
          <p:cNvPr id="5" name="Graphic 4">
            <a:extLst>
              <a:ext uri="{FF2B5EF4-FFF2-40B4-BE49-F238E27FC236}">
                <a16:creationId xmlns:a16="http://schemas.microsoft.com/office/drawing/2014/main" id="{51BAB843-7088-724C-E33B-5C28CB5B436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71725" y="931562"/>
            <a:ext cx="7448550" cy="5592478"/>
          </a:xfrm>
          <a:prstGeom prst="rect">
            <a:avLst/>
          </a:prstGeom>
        </p:spPr>
      </p:pic>
    </p:spTree>
    <p:extLst>
      <p:ext uri="{BB962C8B-B14F-4D97-AF65-F5344CB8AC3E}">
        <p14:creationId xmlns:p14="http://schemas.microsoft.com/office/powerpoint/2010/main" val="14912800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EB7BBF-8F98-212E-9B38-36FE45DFCD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A399D8-64C2-AE55-3A69-840F4E06BC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99A499A-632D-6A56-C2F5-1855F4F2DC6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4B2CCCD-63B6-C535-4B41-062E4AF9879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EC8CDA-780F-8BB0-B80E-D99CCB7632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BDBDA4-CB51-BA47-3436-AA41BF9E44C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BBD68F-B9D8-6300-DB49-7583D7FF6F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9B3F97-F3C8-481A-6A8A-8F517BC689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9D2E4EF-9215-4863-9B7F-F8EDB9C571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315ED8E6-1A93-6BA4-35DD-15A6BF9A800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5100" y="1412985"/>
            <a:ext cx="5848350" cy="4391025"/>
          </a:xfrm>
          <a:prstGeom prst="rect">
            <a:avLst/>
          </a:prstGeom>
        </p:spPr>
      </p:pic>
      <p:pic>
        <p:nvPicPr>
          <p:cNvPr id="9" name="Graphic 8">
            <a:extLst>
              <a:ext uri="{FF2B5EF4-FFF2-40B4-BE49-F238E27FC236}">
                <a16:creationId xmlns:a16="http://schemas.microsoft.com/office/drawing/2014/main" id="{5EDCFAED-D88C-BF40-EBFD-F63257E520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178550" y="1412985"/>
            <a:ext cx="5848350" cy="4391025"/>
          </a:xfrm>
          <a:prstGeom prst="rect">
            <a:avLst/>
          </a:prstGeom>
        </p:spPr>
      </p:pic>
    </p:spTree>
    <p:extLst>
      <p:ext uri="{BB962C8B-B14F-4D97-AF65-F5344CB8AC3E}">
        <p14:creationId xmlns:p14="http://schemas.microsoft.com/office/powerpoint/2010/main" val="19967536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D56EF7-A6A6-2EEE-0343-809D003BA8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A269514-6DAD-F5AA-6FFB-B6127160743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mj-lt"/>
                <a:ea typeface="Cambria Math" panose="02040503050406030204" pitchFamily="18" charset="0"/>
                <a:cs typeface="Arial"/>
                <a:sym typeface="Arial"/>
              </a:rPr>
              <a:t>Encoders</a:t>
            </a:r>
            <a:r>
              <a:rPr lang="en-US" sz="2000" dirty="0">
                <a:latin typeface="+mj-lt"/>
                <a:ea typeface="Cambria Math" panose="02040503050406030204" pitchFamily="18" charset="0"/>
                <a:cs typeface="Arial"/>
                <a:sym typeface="Arial"/>
              </a:rPr>
              <a:t> are good at low speeds and measuring exact distance, but terrible at heading due to wheel slip.</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1" dirty="0">
                <a:latin typeface="+mj-lt"/>
                <a:ea typeface="Cambria Math" panose="02040503050406030204" pitchFamily="18" charset="0"/>
                <a:cs typeface="Arial"/>
                <a:sym typeface="Arial"/>
              </a:rPr>
              <a:t>Gyroscopes</a:t>
            </a:r>
            <a:r>
              <a:rPr lang="en-US" sz="2000" dirty="0">
                <a:latin typeface="+mj-lt"/>
                <a:ea typeface="Cambria Math" panose="02040503050406030204" pitchFamily="18" charset="0"/>
                <a:cs typeface="Arial"/>
                <a:sym typeface="Arial"/>
              </a:rPr>
              <a:t> are highly accurate for rapid rotations and </a:t>
            </a:r>
            <a:r>
              <a:rPr lang="en-US" sz="2000" b="1" dirty="0">
                <a:latin typeface="+mj-lt"/>
                <a:ea typeface="Cambria Math" panose="02040503050406030204" pitchFamily="18" charset="0"/>
                <a:cs typeface="Arial"/>
                <a:sym typeface="Arial"/>
              </a:rPr>
              <a:t>immune to wheel slip</a:t>
            </a:r>
            <a:r>
              <a:rPr lang="en-US" sz="2000" dirty="0">
                <a:latin typeface="+mj-lt"/>
                <a:ea typeface="Cambria Math" panose="02040503050406030204" pitchFamily="18" charset="0"/>
                <a:cs typeface="Arial"/>
                <a:sym typeface="Arial"/>
              </a:rPr>
              <a:t>, but drift over time due to integrated noise.</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Sensor Fusion is the mathematical process of combining these complementary sensors.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use algorithms like Complementary Filters or Kalman Filters to merge the data.</a:t>
            </a:r>
          </a:p>
        </p:txBody>
      </p:sp>
      <p:sp>
        <p:nvSpPr>
          <p:cNvPr id="119" name="Google Shape;119;p29">
            <a:extLst>
              <a:ext uri="{FF2B5EF4-FFF2-40B4-BE49-F238E27FC236}">
                <a16:creationId xmlns:a16="http://schemas.microsoft.com/office/drawing/2014/main" id="{D3E99706-43F5-E2CC-6110-681317CD10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3A37D41-05DF-EED9-C42F-2D6CCB04BE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F5148C3-83FA-3D56-C528-763CF889AB1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08BDAD-B6E3-ABF9-6DC7-443405D705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760EB37-479E-38C3-2C5B-4C5A086254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4E265C-005B-78DB-F324-FBFBF4223E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1559F94-09E0-04AF-0EB1-3385ABF453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B3DD9B-DE85-4A97-D002-0876EB133A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273098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DA8285-DC09-1ED3-C502-2D0EE0A7887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47B62C66-340C-F490-FF7C-9F3B56DFC07F}"/>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Very briefly the Complementary Filter (very simple filter) blends a </a:t>
                </a:r>
                <a:r>
                  <a:rPr lang="en-US" sz="2000" b="1" dirty="0">
                    <a:latin typeface="+mj-lt"/>
                    <a:ea typeface="Cambria Math" panose="02040503050406030204" pitchFamily="18" charset="0"/>
                    <a:cs typeface="Arial"/>
                    <a:sym typeface="Arial"/>
                  </a:rPr>
                  <a:t>high-pass</a:t>
                </a:r>
                <a:r>
                  <a:rPr lang="en-US" sz="2000" dirty="0">
                    <a:latin typeface="+mj-lt"/>
                    <a:ea typeface="Cambria Math" panose="02040503050406030204" pitchFamily="18" charset="0"/>
                    <a:cs typeface="Arial"/>
                    <a:sym typeface="Arial"/>
                  </a:rPr>
                  <a:t> filtered signal and a </a:t>
                </a:r>
                <a:r>
                  <a:rPr lang="en-US" sz="2000" b="1" dirty="0">
                    <a:latin typeface="+mj-lt"/>
                    <a:ea typeface="Cambria Math" panose="02040503050406030204" pitchFamily="18" charset="0"/>
                    <a:cs typeface="Arial"/>
                    <a:sym typeface="Arial"/>
                  </a:rPr>
                  <a:t>low-pass</a:t>
                </a:r>
                <a:r>
                  <a:rPr lang="en-US" sz="2000" dirty="0">
                    <a:latin typeface="+mj-lt"/>
                    <a:ea typeface="Cambria Math" panose="02040503050406030204" pitchFamily="18" charset="0"/>
                    <a:cs typeface="Arial"/>
                    <a:sym typeface="Arial"/>
                  </a:rPr>
                  <a:t> filtered signal. </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For heading, we pass the integrated Gyro data through a </a:t>
                </a:r>
                <a:r>
                  <a:rPr lang="en-US" sz="2000" b="1" dirty="0">
                    <a:latin typeface="+mj-lt"/>
                    <a:ea typeface="Cambria Math" panose="02040503050406030204" pitchFamily="18" charset="0"/>
                    <a:cs typeface="Arial"/>
                    <a:sym typeface="Arial"/>
                  </a:rPr>
                  <a:t>High-Pass</a:t>
                </a:r>
                <a:r>
                  <a:rPr lang="en-US" sz="2000" dirty="0">
                    <a:latin typeface="+mj-lt"/>
                    <a:ea typeface="Cambria Math" panose="02040503050406030204" pitchFamily="18" charset="0"/>
                    <a:cs typeface="Arial"/>
                    <a:sym typeface="Arial"/>
                  </a:rPr>
                  <a:t> filter (trusting it in the short term).</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pass an absolute heading measurement (like a Magnetometer, if available) through a </a:t>
                </a:r>
                <a:r>
                  <a:rPr lang="en-US" sz="2000" b="1" dirty="0">
                    <a:latin typeface="+mj-lt"/>
                    <a:ea typeface="Cambria Math" panose="02040503050406030204" pitchFamily="18" charset="0"/>
                    <a:cs typeface="Arial"/>
                    <a:sym typeface="Arial"/>
                  </a:rPr>
                  <a:t>Low-Pass</a:t>
                </a:r>
                <a:r>
                  <a:rPr lang="en-US" sz="2000" dirty="0">
                    <a:latin typeface="+mj-lt"/>
                    <a:ea typeface="Cambria Math" panose="02040503050406030204" pitchFamily="18" charset="0"/>
                    <a:cs typeface="Arial"/>
                    <a:sym typeface="Arial"/>
                  </a:rPr>
                  <a:t> filter (trusting it in the long term).</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𝑓𝑢𝑠𝑒𝑑</m:t>
                          </m:r>
                        </m:sub>
                      </m:sSub>
                      <m:r>
                        <a:rPr lang="en-US" sz="2000" b="0" i="1" dirty="0" smtClean="0">
                          <a:latin typeface="Cambria Math" panose="02040503050406030204" pitchFamily="18" charset="0"/>
                          <a:ea typeface="Cambria Math" panose="02040503050406030204" pitchFamily="18" charset="0"/>
                          <a:cs typeface="Arial"/>
                          <a:sym typeface="Arial"/>
                        </a:rPr>
                        <m:t>=</m:t>
                      </m:r>
                      <m:r>
                        <a:rPr lang="en-US" sz="2000" b="0" i="1" dirty="0" smtClean="0">
                          <a:latin typeface="Cambria Math" panose="02040503050406030204" pitchFamily="18" charset="0"/>
                          <a:ea typeface="Cambria Math" panose="02040503050406030204" pitchFamily="18" charset="0"/>
                          <a:cs typeface="Arial"/>
                          <a:sym typeface="Arial"/>
                        </a:rPr>
                        <m:t>𝛼</m:t>
                      </m:r>
                      <m:d>
                        <m:dPr>
                          <m:ctrlPr>
                            <a:rPr lang="en-US" sz="2000" b="0" i="1" dirty="0" smtClean="0">
                              <a:latin typeface="Cambria Math" panose="02040503050406030204" pitchFamily="18" charset="0"/>
                              <a:ea typeface="Cambria Math" panose="02040503050406030204" pitchFamily="18" charset="0"/>
                              <a:cs typeface="Arial"/>
                              <a:sym typeface="Arial"/>
                            </a:rPr>
                          </m:ctrlPr>
                        </m:dPr>
                        <m:e>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𝑓𝑢𝑠𝑒𝑑</m:t>
                              </m:r>
                            </m:sub>
                          </m:sSub>
                          <m:r>
                            <a:rPr lang="en-US" sz="2000" b="0" i="1" dirty="0" smtClean="0">
                              <a:latin typeface="Cambria Math" panose="02040503050406030204" pitchFamily="18" charset="0"/>
                              <a:ea typeface="Cambria Math" panose="02040503050406030204" pitchFamily="18" charset="0"/>
                              <a:cs typeface="Arial"/>
                              <a:sym typeface="Arial"/>
                            </a:rPr>
                            <m:t>+</m:t>
                          </m:r>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𝜔</m:t>
                              </m:r>
                            </m:e>
                            <m:sub>
                              <m:r>
                                <a:rPr lang="en-US" sz="2000" b="0" i="1" dirty="0" smtClean="0">
                                  <a:latin typeface="Cambria Math" panose="02040503050406030204" pitchFamily="18" charset="0"/>
                                  <a:ea typeface="Cambria Math" panose="02040503050406030204" pitchFamily="18" charset="0"/>
                                  <a:cs typeface="Arial"/>
                                  <a:sym typeface="Arial"/>
                                </a:rPr>
                                <m:t>𝑔𝑦𝑟𝑜</m:t>
                              </m:r>
                            </m:sub>
                          </m:sSub>
                          <m:r>
                            <m:rPr>
                              <m:sty m:val="p"/>
                            </m:rPr>
                            <a:rPr lang="en-US" sz="2000" b="0" i="0" dirty="0" smtClean="0">
                              <a:latin typeface="Cambria Math" panose="02040503050406030204" pitchFamily="18" charset="0"/>
                              <a:ea typeface="Cambria Math" panose="02040503050406030204" pitchFamily="18" charset="0"/>
                              <a:cs typeface="Arial"/>
                              <a:sym typeface="Arial"/>
                            </a:rPr>
                            <m:t>Δ</m:t>
                          </m:r>
                          <m:r>
                            <a:rPr lang="en-US" sz="2000" b="0" i="1" dirty="0" smtClean="0">
                              <a:latin typeface="Cambria Math" panose="02040503050406030204" pitchFamily="18" charset="0"/>
                              <a:ea typeface="Cambria Math" panose="02040503050406030204" pitchFamily="18" charset="0"/>
                              <a:cs typeface="Arial"/>
                              <a:sym typeface="Arial"/>
                            </a:rPr>
                            <m:t>𝑡</m:t>
                          </m:r>
                        </m:e>
                      </m:d>
                      <m:r>
                        <a:rPr lang="en-US" sz="2000" b="0" i="1" dirty="0" smtClean="0">
                          <a:latin typeface="Cambria Math" panose="02040503050406030204" pitchFamily="18" charset="0"/>
                          <a:ea typeface="Cambria Math" panose="02040503050406030204" pitchFamily="18" charset="0"/>
                          <a:cs typeface="Arial"/>
                          <a:sym typeface="Arial"/>
                        </a:rPr>
                        <m:t>+</m:t>
                      </m:r>
                      <m:d>
                        <m:dPr>
                          <m:ctrlPr>
                            <a:rPr lang="en-US" sz="2000" b="0" i="1" dirty="0" smtClean="0">
                              <a:latin typeface="Cambria Math" panose="02040503050406030204" pitchFamily="18" charset="0"/>
                              <a:ea typeface="Cambria Math" panose="02040503050406030204" pitchFamily="18" charset="0"/>
                              <a:cs typeface="Arial"/>
                              <a:sym typeface="Arial"/>
                            </a:rPr>
                          </m:ctrlPr>
                        </m:dPr>
                        <m:e>
                          <m:r>
                            <a:rPr lang="en-US" sz="2000" b="0" i="1" dirty="0" smtClean="0">
                              <a:latin typeface="Cambria Math" panose="02040503050406030204" pitchFamily="18" charset="0"/>
                              <a:ea typeface="Cambria Math" panose="02040503050406030204" pitchFamily="18" charset="0"/>
                              <a:cs typeface="Arial"/>
                              <a:sym typeface="Arial"/>
                            </a:rPr>
                            <m:t>1−</m:t>
                          </m:r>
                          <m:r>
                            <a:rPr lang="en-US" sz="2000" b="0" i="1" dirty="0" smtClean="0">
                              <a:latin typeface="Cambria Math" panose="02040503050406030204" pitchFamily="18" charset="0"/>
                              <a:ea typeface="Cambria Math" panose="02040503050406030204" pitchFamily="18" charset="0"/>
                              <a:cs typeface="Arial"/>
                              <a:sym typeface="Arial"/>
                            </a:rPr>
                            <m:t>𝛼</m:t>
                          </m:r>
                        </m:e>
                      </m:d>
                      <m:d>
                        <m:dPr>
                          <m:ctrlPr>
                            <a:rPr lang="en-US" sz="2000" b="0" i="1" dirty="0" smtClean="0">
                              <a:latin typeface="Cambria Math" panose="02040503050406030204" pitchFamily="18" charset="0"/>
                              <a:ea typeface="Cambria Math" panose="02040503050406030204" pitchFamily="18" charset="0"/>
                              <a:cs typeface="Arial"/>
                              <a:sym typeface="Arial"/>
                            </a:rPr>
                          </m:ctrlPr>
                        </m:dPr>
                        <m:e>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𝑚𝑎𝑔</m:t>
                              </m:r>
                            </m:sub>
                          </m:sSub>
                        </m:e>
                      </m:d>
                    </m:oMath>
                  </m:oMathPara>
                </a14:m>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Where </a:t>
                </a:r>
                <a14:m>
                  <m:oMath xmlns:m="http://schemas.openxmlformats.org/officeDocument/2006/math">
                    <m:r>
                      <a:rPr lang="en-US" sz="2000" i="1" dirty="0">
                        <a:latin typeface="Cambria Math" panose="02040503050406030204" pitchFamily="18" charset="0"/>
                        <a:ea typeface="Cambria Math" panose="02040503050406030204" pitchFamily="18" charset="0"/>
                        <a:cs typeface="Arial"/>
                        <a:sym typeface="Arial"/>
                      </a:rPr>
                      <m:t>𝛼</m:t>
                    </m:r>
                  </m:oMath>
                </a14:m>
                <a:r>
                  <a:rPr lang="en-US" sz="2000" b="0" dirty="0">
                    <a:latin typeface="+mj-lt"/>
                    <a:ea typeface="Cambria Math" panose="02040503050406030204" pitchFamily="18" charset="0"/>
                    <a:cs typeface="Arial"/>
                    <a:sym typeface="Arial"/>
                  </a:rPr>
                  <a:t> is a tuning constant close to 1 (e.g., 0.98).</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This is essential an </a:t>
                </a:r>
                <a:r>
                  <a:rPr lang="en-US" sz="2000" b="1" dirty="0">
                    <a:latin typeface="+mj-lt"/>
                    <a:ea typeface="Cambria Math" panose="02040503050406030204" pitchFamily="18" charset="0"/>
                    <a:cs typeface="Arial"/>
                    <a:sym typeface="Arial"/>
                  </a:rPr>
                  <a:t>exponential moving average</a:t>
                </a:r>
                <a:r>
                  <a:rPr lang="en-US" sz="2000" b="0" dirty="0">
                    <a:latin typeface="+mj-lt"/>
                    <a:ea typeface="Cambria Math" panose="02040503050406030204" pitchFamily="18" charset="0"/>
                    <a:cs typeface="Arial"/>
                    <a:sym typeface="Arial"/>
                  </a:rPr>
                  <a:t>,</a:t>
                </a:r>
              </a:p>
            </p:txBody>
          </p:sp>
        </mc:Choice>
        <mc:Fallback>
          <p:sp>
            <p:nvSpPr>
              <p:cNvPr id="118" name="Google Shape;118;p29">
                <a:extLst>
                  <a:ext uri="{FF2B5EF4-FFF2-40B4-BE49-F238E27FC236}">
                    <a16:creationId xmlns:a16="http://schemas.microsoft.com/office/drawing/2014/main" id="{47B62C66-340C-F490-FF7C-9F3B56DFC07F}"/>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586" t="-632" r="-3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4B87A26-8095-AF99-227F-510FB5C3BA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EE31207-2716-447E-2BA9-E1B9A7D251C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42A9982-05DB-6F73-B8EC-D09B27E42C8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99DEF0-5402-0DB2-7D7A-3DBD5AFDE8C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F00F84-60E9-B614-EAC2-ED2315745D6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C4F01B-EC53-802F-C922-49E25B4406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412205-CE9E-29CB-0CEC-BF3D44E908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177C12-A39B-4531-DC7D-AED77A785D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06081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F40AAD7-3C70-0239-BE97-EF6B1AEBBC16}"/>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B381550B-E51B-39E7-AB68-DF10E73EB82D}"/>
              </a:ext>
            </a:extLst>
          </p:cNvPr>
          <p:cNvSpPr txBox="1"/>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SLAM</a:t>
            </a:r>
            <a:endParaRPr dirty="0"/>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rial"/>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rial"/>
                <a:ea typeface="Arial"/>
                <a:cs typeface="Arial"/>
                <a:sym typeface="Arial"/>
              </a:rPr>
              <a:t>(A VERY brief introduction.)</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886C8F2C-3094-70B9-E5B7-0A254DCCDB7B}"/>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49ED9E9-3E25-C0E2-CB1B-3FCF0628DC3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44D8AC0-C32F-A041-B910-965B57F1823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A6DDEACD-1773-6FF9-7690-1230679E5BC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E4695ABA-95A9-C78B-810A-C68E4452EC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926152-23DF-12CF-E52B-4C5D5F6CA9C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C32CFBC-7B48-C0B6-0953-B829AB823F69}"/>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D90CE1-8CF2-827A-46DE-1DE9B00D24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371DF5EA-F26C-A777-C778-5B0F0DF4A3A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4891720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0EB45AC-EA78-3764-0C90-46082F038F4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2CD263-623E-E1DA-AC7D-BD304FCD99FC}"/>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Even with perfect sensor fusion of internal sensors, drift will eventually occur.</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To truly fix our global position, we must look at the external world using active or passive sensors.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detect </a:t>
            </a:r>
            <a:r>
              <a:rPr lang="en-US" sz="2000" b="1" dirty="0">
                <a:latin typeface="+mj-lt"/>
                <a:ea typeface="Cambria Math" panose="02040503050406030204" pitchFamily="18" charset="0"/>
                <a:cs typeface="Arial"/>
                <a:sym typeface="Arial"/>
              </a:rPr>
              <a:t>Landmarks</a:t>
            </a:r>
            <a:r>
              <a:rPr lang="en-US" sz="2000" dirty="0">
                <a:latin typeface="+mj-lt"/>
                <a:ea typeface="Cambria Math" panose="02040503050406030204" pitchFamily="18" charset="0"/>
                <a:cs typeface="Arial"/>
                <a:sym typeface="Arial"/>
              </a:rPr>
              <a:t>: recognizable, distinct features in the environment with known coordinates.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When we see a landmark, we calculate our relative distance to it and use that to instantly reset our accumulated odometry error.</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When you are driving / walking and you are lost what are some landmarks that you use to relocate yourself?</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Examples: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Specific buildings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Specific road names</a:t>
            </a:r>
          </a:p>
        </p:txBody>
      </p:sp>
      <p:sp>
        <p:nvSpPr>
          <p:cNvPr id="119" name="Google Shape;119;p29">
            <a:extLst>
              <a:ext uri="{FF2B5EF4-FFF2-40B4-BE49-F238E27FC236}">
                <a16:creationId xmlns:a16="http://schemas.microsoft.com/office/drawing/2014/main" id="{37B0DD54-FC64-0F3B-F71B-8C1058204A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4D2AB1D-5CF6-B189-3F48-52DE03AEB19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57EE7A8-1B97-72AC-E06B-2EBD3A60E6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7044C4-B1F4-C675-0908-CB705CD61D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3C3E96-5D03-CF53-7CB2-38025197893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CCF6D3-45A9-68B5-8CDD-17CA1675D7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2EA43F-98B8-E675-26FE-19217803E8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A9E4EA-919D-2DE5-13C6-78E390C584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48347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0" end="1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11" end="1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20967-0045-E533-F966-4754683C97A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513AC27-5103-E9B7-BB43-E214728B8C7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2 sensors that we can use in our robot is the LiDAR and the camera.</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For the camera, we can create specific tags to place in the environment as landmarks. The most common is called </a:t>
            </a:r>
            <a:r>
              <a:rPr lang="en-US" sz="2000" dirty="0" err="1">
                <a:latin typeface="+mj-lt"/>
                <a:ea typeface="Cambria Math" panose="02040503050406030204" pitchFamily="18" charset="0"/>
                <a:cs typeface="Arial"/>
                <a:sym typeface="Arial"/>
              </a:rPr>
              <a:t>AprilTags</a:t>
            </a:r>
            <a:r>
              <a:rPr lang="en-US" sz="2000" dirty="0">
                <a:latin typeface="+mj-lt"/>
                <a:ea typeface="Cambria Math" panose="02040503050406030204" pitchFamily="18" charset="0"/>
                <a:cs typeface="Arial"/>
                <a:sym typeface="Arial"/>
              </a:rPr>
              <a:t>, </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If you cannot place landmarks in your environment, then it becomes much more complicated as a process: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Look at images, find pixels that represent landmarks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At the next frame match to find those previous landmarks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Calculate the 6DOF movement your camera did to achieve the landmark transform</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Calculculate the odometry</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If you perform a loop, correct any error through loop closure</a:t>
            </a:r>
          </a:p>
        </p:txBody>
      </p:sp>
      <p:sp>
        <p:nvSpPr>
          <p:cNvPr id="119" name="Google Shape;119;p29">
            <a:extLst>
              <a:ext uri="{FF2B5EF4-FFF2-40B4-BE49-F238E27FC236}">
                <a16:creationId xmlns:a16="http://schemas.microsoft.com/office/drawing/2014/main" id="{37281661-9413-8F8C-B65D-A007B4F965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742C6EE-4DE4-86E2-C13A-CA06F30AC7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AE86D17-8E98-6A63-6B74-D2408714F3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F4C9FC-87B0-08FB-A25B-DA4A75C8A2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DFA5E1E-7EB5-751C-7BD1-C1810D3816C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2F08FA-B9EE-CE20-0AE6-266072DD1CF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C10FC1-36A0-F976-0DB8-6F992C4FC83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AA4580-E7EB-4864-2967-CE885B803F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06409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A8ACF3-73D5-55D0-CFD9-1C5F0433204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F6559EB-E085-7ED1-DBA5-EBF170C9C6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A9A4914-5ED0-DC4A-37F7-3B2C6E997D8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FC8F399-7B1F-2B67-C6D7-59AAD64389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5AD0B2-69C1-51AB-7871-70CC031F9A6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7DF00C-6079-0A18-5CEA-A4BE451EC4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9B5354-B8AA-C744-144F-8BA91C99C6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8FB027-9172-FA8F-FA88-F24C844172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59704A-6EAA-B4AD-6978-179821A836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58F76EE2-92E0-0223-2826-F4330C0AA86E}"/>
              </a:ext>
            </a:extLst>
          </p:cNvPr>
          <p:cNvSpPr>
            <a:spLocks noGrp="1"/>
          </p:cNvSpPr>
          <p:nvPr>
            <p:ph type="body" idx="1"/>
          </p:nvPr>
        </p:nvSpPr>
        <p:spPr/>
        <p:txBody>
          <a:bodyPr/>
          <a:lstStyle/>
          <a:p>
            <a:endParaRPr lang="en-US" dirty="0"/>
          </a:p>
        </p:txBody>
      </p:sp>
      <p:pic>
        <p:nvPicPr>
          <p:cNvPr id="2050" name="Picture 2" descr="The visualization interface showing the results of the ORB-SLAM and... |  Download Scientific Diagram">
            <a:extLst>
              <a:ext uri="{FF2B5EF4-FFF2-40B4-BE49-F238E27FC236}">
                <a16:creationId xmlns:a16="http://schemas.microsoft.com/office/drawing/2014/main" id="{3FF978FE-3B23-FBD7-7C9B-C9235E17DC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78762" y="961569"/>
            <a:ext cx="5127513" cy="524777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64AF9AD-162D-1E9E-9C01-61B463D08624}"/>
              </a:ext>
            </a:extLst>
          </p:cNvPr>
          <p:cNvSpPr txBox="1"/>
          <p:nvPr/>
        </p:nvSpPr>
        <p:spPr>
          <a:xfrm>
            <a:off x="6978762" y="6170559"/>
            <a:ext cx="5067300" cy="369332"/>
          </a:xfrm>
          <a:prstGeom prst="rect">
            <a:avLst/>
          </a:prstGeom>
          <a:noFill/>
        </p:spPr>
        <p:txBody>
          <a:bodyPr wrap="square">
            <a:spAutoFit/>
          </a:bodyPr>
          <a:lstStyle/>
          <a:p>
            <a:pPr algn="ctr"/>
            <a:r>
              <a:rPr lang="en-US" sz="900" dirty="0">
                <a:hlinkClick r:id="rId5"/>
              </a:rPr>
              <a:t>https://www.researchgate.net/publication/355183350_PSL-SLAM_a_monocular_SLAM_system_using_points_and_structure_lines_in_Manhattan_World</a:t>
            </a:r>
            <a:r>
              <a:rPr lang="en-US" sz="900" dirty="0"/>
              <a:t> </a:t>
            </a:r>
          </a:p>
        </p:txBody>
      </p:sp>
      <p:pic>
        <p:nvPicPr>
          <p:cNvPr id="3074" name="Picture 2" descr="AprilTag">
            <a:extLst>
              <a:ext uri="{FF2B5EF4-FFF2-40B4-BE49-F238E27FC236}">
                <a16:creationId xmlns:a16="http://schemas.microsoft.com/office/drawing/2014/main" id="{75E36511-A060-74B2-042C-98B852A9EFA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0" y="1786841"/>
            <a:ext cx="6979146" cy="353374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CFB65907-4711-BE75-9EBD-F89FDFB51589}"/>
              </a:ext>
            </a:extLst>
          </p:cNvPr>
          <p:cNvSpPr txBox="1"/>
          <p:nvPr/>
        </p:nvSpPr>
        <p:spPr>
          <a:xfrm>
            <a:off x="1606798" y="6228302"/>
            <a:ext cx="3765550" cy="246221"/>
          </a:xfrm>
          <a:prstGeom prst="rect">
            <a:avLst/>
          </a:prstGeom>
          <a:noFill/>
        </p:spPr>
        <p:txBody>
          <a:bodyPr wrap="square">
            <a:spAutoFit/>
          </a:bodyPr>
          <a:lstStyle/>
          <a:p>
            <a:pPr algn="ctr"/>
            <a:r>
              <a:rPr lang="en-US" sz="1000" dirty="0">
                <a:hlinkClick r:id="rId7"/>
              </a:rPr>
              <a:t>https://april.eecs.umich.edu/software/apriltag</a:t>
            </a:r>
            <a:r>
              <a:rPr lang="en-US" sz="1000" dirty="0"/>
              <a:t> </a:t>
            </a:r>
          </a:p>
        </p:txBody>
      </p:sp>
    </p:spTree>
    <p:extLst>
      <p:ext uri="{BB962C8B-B14F-4D97-AF65-F5344CB8AC3E}">
        <p14:creationId xmlns:p14="http://schemas.microsoft.com/office/powerpoint/2010/main" val="12006633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C8282C2-B8F7-2C7A-F07C-5EF82EFDEC3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CE1ED7-1976-2C3A-F985-18B04F2C078A}"/>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What if there are no </a:t>
            </a:r>
            <a:r>
              <a:rPr lang="en-US" sz="2000" dirty="0" err="1">
                <a:latin typeface="+mj-lt"/>
                <a:ea typeface="Cambria Math" panose="02040503050406030204" pitchFamily="18" charset="0"/>
                <a:cs typeface="Arial"/>
                <a:sym typeface="Arial"/>
              </a:rPr>
              <a:t>AprilTags</a:t>
            </a:r>
            <a:r>
              <a:rPr lang="en-US" sz="2000" dirty="0">
                <a:latin typeface="+mj-lt"/>
                <a:ea typeface="Cambria Math" panose="02040503050406030204" pitchFamily="18" charset="0"/>
                <a:cs typeface="Arial"/>
                <a:sym typeface="Arial"/>
              </a:rPr>
              <a:t> and we don’t know the map beforehand?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use </a:t>
            </a:r>
            <a:r>
              <a:rPr lang="en-US" sz="2000" b="1" dirty="0">
                <a:latin typeface="+mj-lt"/>
                <a:ea typeface="Cambria Math" panose="02040503050406030204" pitchFamily="18" charset="0"/>
                <a:cs typeface="Arial"/>
                <a:sym typeface="Arial"/>
              </a:rPr>
              <a:t>SLAM: Simultaneous Localization and Mapping</a:t>
            </a:r>
            <a:r>
              <a:rPr lang="en-US" sz="200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rapidly spinning LiDAR generates a dense 2D point cloud.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As the robot moves, it takes a new point cloud scan and compares it to the previous scan.</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How do we align two-point clouds taken a few seconds apart?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a:t>
            </a:r>
            <a:r>
              <a:rPr lang="en-US" sz="2000" b="1" dirty="0">
                <a:latin typeface="+mj-lt"/>
                <a:ea typeface="Cambria Math" panose="02040503050406030204" pitchFamily="18" charset="0"/>
                <a:cs typeface="Arial"/>
                <a:sym typeface="Arial"/>
              </a:rPr>
              <a:t>Iterative Closest Point </a:t>
            </a:r>
            <a:r>
              <a:rPr lang="en-US" sz="2000" dirty="0">
                <a:latin typeface="+mj-lt"/>
                <a:ea typeface="Cambria Math" panose="02040503050406030204" pitchFamily="18" charset="0"/>
                <a:cs typeface="Arial"/>
                <a:sym typeface="Arial"/>
              </a:rPr>
              <a:t>(ICP) algorithm rotates and translates the new scan until it best overlaps with the old scan.</a:t>
            </a: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required rotation and translation to make them match is exactly how much the robot moved.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This provides highly accurate odometry without relying on wheel friction!</a:t>
            </a:r>
          </a:p>
        </p:txBody>
      </p:sp>
      <p:sp>
        <p:nvSpPr>
          <p:cNvPr id="119" name="Google Shape;119;p29">
            <a:extLst>
              <a:ext uri="{FF2B5EF4-FFF2-40B4-BE49-F238E27FC236}">
                <a16:creationId xmlns:a16="http://schemas.microsoft.com/office/drawing/2014/main" id="{3D2CBD79-B09D-4A1A-D424-198FE3FCF82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21CF9B9-16B9-FD6A-65BB-39BA1BC53D4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EA74EE3-353C-BFEB-02A1-EB2ADA66BB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EDBA326-B5E5-2C59-1228-C66D18D7C7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534A93-68BD-813E-749E-0067982419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32EEC3-8BF1-8EEE-86F6-1FC36B036F5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F00C73-C1E8-9FBB-D56F-9D11722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2CF559-1ACB-C91F-F963-7AFB3AB9111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36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402C20-D953-7C0C-D93B-860DAD41BED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86DAF9B-3B5F-D59E-B260-648DB1D97B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7B7ACA-492A-FE25-9EF8-B9DADD80945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5335854-BF20-4E4F-D021-B1F0B24AAD0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A6A320B-E0AF-7459-5905-3E723742E5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5D5065-1E47-71C0-FB3B-D7D0402DE4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48CC38-4904-8F30-D988-0446753908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35E5C1-F08F-6552-9591-AC3C2BDB49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01CCFAA-C4F6-1B3E-8241-1AF794E32A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17BFE57B-5E75-7438-0A86-EE797C3EFD47}"/>
              </a:ext>
            </a:extLst>
          </p:cNvPr>
          <p:cNvSpPr>
            <a:spLocks noGrp="1"/>
          </p:cNvSpPr>
          <p:nvPr>
            <p:ph type="body" idx="1"/>
          </p:nvPr>
        </p:nvSpPr>
        <p:spPr/>
        <p:txBody>
          <a:bodyPr/>
          <a:lstStyle/>
          <a:p>
            <a:endParaRPr lang="en-US"/>
          </a:p>
        </p:txBody>
      </p:sp>
      <p:pic>
        <p:nvPicPr>
          <p:cNvPr id="4098" name="Picture 2" descr="iterative-closest-point-stanford-bunny-converging-iterations-point2point-point2plane">
            <a:extLst>
              <a:ext uri="{FF2B5EF4-FFF2-40B4-BE49-F238E27FC236}">
                <a16:creationId xmlns:a16="http://schemas.microsoft.com/office/drawing/2014/main" id="{38F2D035-EEDF-B5B1-7F00-156C87F5E5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07672" y="1344132"/>
            <a:ext cx="6555753" cy="4169737"/>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06B1B59-D863-F10E-30F1-E16A89DDD63E}"/>
              </a:ext>
            </a:extLst>
          </p:cNvPr>
          <p:cNvSpPr txBox="1"/>
          <p:nvPr/>
        </p:nvSpPr>
        <p:spPr>
          <a:xfrm>
            <a:off x="3048000" y="6184228"/>
            <a:ext cx="6096000" cy="246221"/>
          </a:xfrm>
          <a:prstGeom prst="rect">
            <a:avLst/>
          </a:prstGeom>
          <a:noFill/>
        </p:spPr>
        <p:txBody>
          <a:bodyPr wrap="square">
            <a:spAutoFit/>
          </a:bodyPr>
          <a:lstStyle/>
          <a:p>
            <a:pPr algn="ctr"/>
            <a:r>
              <a:rPr lang="en-US" sz="1000" dirty="0">
                <a:hlinkClick r:id="rId5"/>
              </a:rPr>
              <a:t>https://learnopencv.com/iterative-closest-point-icp-explained/</a:t>
            </a:r>
            <a:r>
              <a:rPr lang="en-US" sz="1000" dirty="0"/>
              <a:t> </a:t>
            </a:r>
          </a:p>
        </p:txBody>
      </p:sp>
      <p:pic>
        <p:nvPicPr>
          <p:cNvPr id="7" name="Picture 6">
            <a:extLst>
              <a:ext uri="{FF2B5EF4-FFF2-40B4-BE49-F238E27FC236}">
                <a16:creationId xmlns:a16="http://schemas.microsoft.com/office/drawing/2014/main" id="{749C5622-0D26-7FC2-2E63-53E62FF28A68}"/>
              </a:ext>
            </a:extLst>
          </p:cNvPr>
          <p:cNvPicPr>
            <a:picLocks noChangeAspect="1"/>
          </p:cNvPicPr>
          <p:nvPr/>
        </p:nvPicPr>
        <p:blipFill>
          <a:blip r:embed="rId6"/>
          <a:stretch>
            <a:fillRect/>
          </a:stretch>
        </p:blipFill>
        <p:spPr>
          <a:xfrm>
            <a:off x="28575" y="1347554"/>
            <a:ext cx="5550522" cy="4162892"/>
          </a:xfrm>
          <a:prstGeom prst="rect">
            <a:avLst/>
          </a:prstGeom>
        </p:spPr>
      </p:pic>
    </p:spTree>
    <p:extLst>
      <p:ext uri="{BB962C8B-B14F-4D97-AF65-F5344CB8AC3E}">
        <p14:creationId xmlns:p14="http://schemas.microsoft.com/office/powerpoint/2010/main" val="170419843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1079</TotalTime>
  <Words>2773</Words>
  <Application>Microsoft Office PowerPoint</Application>
  <PresentationFormat>Widescreen</PresentationFormat>
  <Paragraphs>438</Paragraphs>
  <Slides>45</Slides>
  <Notes>45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45</vt:i4>
      </vt:variant>
    </vt:vector>
  </HeadingPairs>
  <TitlesOfParts>
    <vt:vector size="49"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215</cp:revision>
  <dcterms:created xsi:type="dcterms:W3CDTF">2019-01-14T22:06:33Z</dcterms:created>
  <dcterms:modified xsi:type="dcterms:W3CDTF">2026-03-11T06:16:07Z</dcterms:modified>
</cp:coreProperties>
</file>